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25.webp" ContentType="image/webp"/>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83"/>
  </p:notesMasterIdLst>
  <p:sldIdLst>
    <p:sldId id="256" r:id="rId4"/>
    <p:sldId id="381" r:id="rId5"/>
    <p:sldId id="260" r:id="rId6"/>
    <p:sldId id="513" r:id="rId7"/>
    <p:sldId id="514" r:id="rId8"/>
    <p:sldId id="515" r:id="rId9"/>
    <p:sldId id="516" r:id="rId10"/>
    <p:sldId id="518" r:id="rId11"/>
    <p:sldId id="519" r:id="rId12"/>
    <p:sldId id="520" r:id="rId13"/>
    <p:sldId id="521" r:id="rId14"/>
    <p:sldId id="522" r:id="rId15"/>
    <p:sldId id="523" r:id="rId16"/>
    <p:sldId id="524" r:id="rId17"/>
    <p:sldId id="525" r:id="rId18"/>
    <p:sldId id="526" r:id="rId19"/>
    <p:sldId id="527" r:id="rId20"/>
    <p:sldId id="528" r:id="rId21"/>
    <p:sldId id="529" r:id="rId22"/>
    <p:sldId id="530" r:id="rId23"/>
    <p:sldId id="531" r:id="rId24"/>
    <p:sldId id="532" r:id="rId25"/>
    <p:sldId id="533" r:id="rId26"/>
    <p:sldId id="537" r:id="rId27"/>
    <p:sldId id="536" r:id="rId28"/>
    <p:sldId id="534" r:id="rId29"/>
    <p:sldId id="538" r:id="rId30"/>
    <p:sldId id="542" r:id="rId31"/>
    <p:sldId id="539" r:id="rId32"/>
    <p:sldId id="540" r:id="rId33"/>
    <p:sldId id="541" r:id="rId34"/>
    <p:sldId id="543" r:id="rId35"/>
    <p:sldId id="544" r:id="rId36"/>
    <p:sldId id="545" r:id="rId37"/>
    <p:sldId id="546" r:id="rId38"/>
    <p:sldId id="547" r:id="rId39"/>
    <p:sldId id="548" r:id="rId40"/>
    <p:sldId id="549" r:id="rId41"/>
    <p:sldId id="550" r:id="rId42"/>
    <p:sldId id="551" r:id="rId43"/>
    <p:sldId id="553" r:id="rId44"/>
    <p:sldId id="554" r:id="rId45"/>
    <p:sldId id="552" r:id="rId46"/>
    <p:sldId id="555" r:id="rId47"/>
    <p:sldId id="556" r:id="rId48"/>
    <p:sldId id="557" r:id="rId49"/>
    <p:sldId id="559" r:id="rId50"/>
    <p:sldId id="560" r:id="rId51"/>
    <p:sldId id="561" r:id="rId52"/>
    <p:sldId id="562" r:id="rId53"/>
    <p:sldId id="563" r:id="rId54"/>
    <p:sldId id="564" r:id="rId55"/>
    <p:sldId id="565" r:id="rId56"/>
    <p:sldId id="566" r:id="rId57"/>
    <p:sldId id="567" r:id="rId58"/>
    <p:sldId id="568" r:id="rId59"/>
    <p:sldId id="569" r:id="rId60"/>
    <p:sldId id="570" r:id="rId61"/>
    <p:sldId id="571" r:id="rId62"/>
    <p:sldId id="572" r:id="rId63"/>
    <p:sldId id="573" r:id="rId64"/>
    <p:sldId id="574" r:id="rId65"/>
    <p:sldId id="575" r:id="rId66"/>
    <p:sldId id="576" r:id="rId67"/>
    <p:sldId id="577" r:id="rId68"/>
    <p:sldId id="578" r:id="rId69"/>
    <p:sldId id="579" r:id="rId70"/>
    <p:sldId id="580" r:id="rId71"/>
    <p:sldId id="589" r:id="rId72"/>
    <p:sldId id="581" r:id="rId73"/>
    <p:sldId id="582" r:id="rId74"/>
    <p:sldId id="583" r:id="rId75"/>
    <p:sldId id="584" r:id="rId76"/>
    <p:sldId id="585" r:id="rId77"/>
    <p:sldId id="586" r:id="rId78"/>
    <p:sldId id="587" r:id="rId79"/>
    <p:sldId id="588" r:id="rId80"/>
    <p:sldId id="380" r:id="rId81"/>
    <p:sldId id="283" r:id="rId82"/>
  </p:sldIdLst>
  <p:sldSz cx="12192000" cy="6858000"/>
  <p:notesSz cx="6858000" cy="9144000"/>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36209"/>
    <a:srgbClr val="577CCE"/>
    <a:srgbClr val="FF3300"/>
    <a:srgbClr val="ED4A39"/>
    <a:srgbClr val="815BC5"/>
    <a:srgbClr val="A388D5"/>
    <a:srgbClr val="D9D9D9"/>
    <a:srgbClr val="FFFFFF"/>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25" autoAdjust="0"/>
    <p:restoredTop sz="95519" autoAdjust="0"/>
  </p:normalViewPr>
  <p:slideViewPr>
    <p:cSldViewPr snapToGrid="0" showGuides="1">
      <p:cViewPr varScale="1">
        <p:scale>
          <a:sx n="91" d="100"/>
          <a:sy n="91" d="100"/>
        </p:scale>
        <p:origin x="211" y="72"/>
      </p:cViewPr>
      <p:guideLst>
        <p:guide orient="horz" pos="2160"/>
        <p:guide pos="3840"/>
      </p:guideLst>
    </p:cSldViewPr>
  </p:slideViewPr>
  <p:outlineViewPr>
    <p:cViewPr>
      <p:scale>
        <a:sx n="33" d="100"/>
        <a:sy n="33" d="100"/>
      </p:scale>
      <p:origin x="0" y="-1080"/>
    </p:cViewPr>
  </p:outlin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8" Type="http://schemas.openxmlformats.org/officeDocument/2006/relationships/tags" Target="tags/tag269.xml"/><Relationship Id="rId87" Type="http://schemas.openxmlformats.org/officeDocument/2006/relationships/commentAuthors" Target="commentAuthors.xml"/><Relationship Id="rId86" Type="http://schemas.openxmlformats.org/officeDocument/2006/relationships/tableStyles" Target="tableStyles.xml"/><Relationship Id="rId85" Type="http://schemas.openxmlformats.org/officeDocument/2006/relationships/viewProps" Target="viewProps.xml"/><Relationship Id="rId84" Type="http://schemas.openxmlformats.org/officeDocument/2006/relationships/presProps" Target="presProps.xml"/><Relationship Id="rId83" Type="http://schemas.openxmlformats.org/officeDocument/2006/relationships/notesMaster" Target="notesMasters/notesMaster1.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831" name="Rectangle 2"/>
          <p:cNvSpPr>
            <a:spLocks noGrp="1" noChangeArrowheads="1"/>
          </p:cNvSpPr>
          <p:nvPr>
            <p:ph type="hdr" sz="quarter"/>
          </p:nvPr>
        </p:nvSpPr>
        <p:spPr bwMode="auto">
          <a:xfrm>
            <a:off x="2" y="1"/>
            <a:ext cx="3076575" cy="512763"/>
          </a:xfrm>
          <a:prstGeom prst="rect">
            <a:avLst/>
          </a:prstGeom>
          <a:noFill/>
          <a:ln w="9525">
            <a:noFill/>
            <a:miter lim="800000"/>
          </a:ln>
          <a:effectLst/>
        </p:spPr>
        <p:txBody>
          <a:bodyPr vert="horz" wrap="square" lIns="91492" tIns="45745" rIns="91492" bIns="45745" numCol="1" anchor="t" anchorCtr="0" compatLnSpc="1"/>
          <a:lstStyle>
            <a:lvl1pPr algn="l">
              <a:defRPr sz="1100"/>
            </a:lvl1pPr>
          </a:lstStyle>
          <a:p>
            <a:endParaRPr lang="en-US"/>
          </a:p>
        </p:txBody>
      </p:sp>
      <p:sp>
        <p:nvSpPr>
          <p:cNvPr id="1048832" name="Rectangle 3"/>
          <p:cNvSpPr>
            <a:spLocks noGrp="1" noChangeArrowheads="1"/>
          </p:cNvSpPr>
          <p:nvPr>
            <p:ph type="dt" idx="1"/>
          </p:nvPr>
        </p:nvSpPr>
        <p:spPr bwMode="auto">
          <a:xfrm>
            <a:off x="4021139" y="1"/>
            <a:ext cx="3076575" cy="512763"/>
          </a:xfrm>
          <a:prstGeom prst="rect">
            <a:avLst/>
          </a:prstGeom>
          <a:noFill/>
          <a:ln w="9525">
            <a:noFill/>
            <a:miter lim="800000"/>
          </a:ln>
          <a:effectLst/>
        </p:spPr>
        <p:txBody>
          <a:bodyPr vert="horz" wrap="square" lIns="91492" tIns="45745" rIns="91492" bIns="45745" numCol="1" anchor="t" anchorCtr="0" compatLnSpc="1"/>
          <a:lstStyle>
            <a:lvl1pPr algn="r">
              <a:defRPr sz="1100"/>
            </a:lvl1pPr>
          </a:lstStyle>
          <a:p>
            <a:endParaRPr lang="en-US"/>
          </a:p>
        </p:txBody>
      </p:sp>
      <p:sp>
        <p:nvSpPr>
          <p:cNvPr id="1048833"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ln>
          <a:effectLst/>
        </p:spPr>
      </p:sp>
      <p:sp>
        <p:nvSpPr>
          <p:cNvPr id="1048834" name="Rectangle 5"/>
          <p:cNvSpPr>
            <a:spLocks noGrp="1" noChangeArrowheads="1"/>
          </p:cNvSpPr>
          <p:nvPr>
            <p:ph type="body" sz="quarter" idx="3"/>
          </p:nvPr>
        </p:nvSpPr>
        <p:spPr bwMode="auto">
          <a:xfrm>
            <a:off x="709614" y="4862514"/>
            <a:ext cx="5680075" cy="4605337"/>
          </a:xfrm>
          <a:prstGeom prst="rect">
            <a:avLst/>
          </a:prstGeom>
          <a:noFill/>
          <a:ln w="9525">
            <a:noFill/>
            <a:miter lim="800000"/>
          </a:ln>
          <a:effectLst/>
        </p:spPr>
        <p:txBody>
          <a:bodyPr vert="horz" wrap="square" lIns="91492" tIns="45745" rIns="91492" bIns="45745"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835" name="Rectangle 6"/>
          <p:cNvSpPr>
            <a:spLocks noGrp="1" noChangeArrowheads="1"/>
          </p:cNvSpPr>
          <p:nvPr>
            <p:ph type="ftr" sz="quarter" idx="4"/>
          </p:nvPr>
        </p:nvSpPr>
        <p:spPr bwMode="auto">
          <a:xfrm>
            <a:off x="2" y="9720264"/>
            <a:ext cx="3076575" cy="512762"/>
          </a:xfrm>
          <a:prstGeom prst="rect">
            <a:avLst/>
          </a:prstGeom>
          <a:noFill/>
          <a:ln w="9525">
            <a:noFill/>
            <a:miter lim="800000"/>
          </a:ln>
          <a:effectLst/>
        </p:spPr>
        <p:txBody>
          <a:bodyPr vert="horz" wrap="square" lIns="91492" tIns="45745" rIns="91492" bIns="45745" numCol="1" anchor="b" anchorCtr="0" compatLnSpc="1"/>
          <a:lstStyle>
            <a:lvl1pPr algn="l">
              <a:defRPr sz="1100"/>
            </a:lvl1pPr>
          </a:lstStyle>
          <a:p>
            <a:endParaRPr lang="en-US"/>
          </a:p>
        </p:txBody>
      </p:sp>
      <p:sp>
        <p:nvSpPr>
          <p:cNvPr id="1048836" name="Rectangle 7"/>
          <p:cNvSpPr>
            <a:spLocks noGrp="1" noChangeArrowheads="1"/>
          </p:cNvSpPr>
          <p:nvPr>
            <p:ph type="sldNum" sz="quarter" idx="5"/>
          </p:nvPr>
        </p:nvSpPr>
        <p:spPr bwMode="auto">
          <a:xfrm>
            <a:off x="4021139" y="9720264"/>
            <a:ext cx="3076575" cy="512762"/>
          </a:xfrm>
          <a:prstGeom prst="rect">
            <a:avLst/>
          </a:prstGeom>
          <a:noFill/>
          <a:ln w="9525">
            <a:noFill/>
            <a:miter lim="800000"/>
          </a:ln>
          <a:effectLst/>
        </p:spPr>
        <p:txBody>
          <a:bodyPr vert="horz" wrap="square" lIns="91492" tIns="45745" rIns="91492" bIns="45745" numCol="1" anchor="b" anchorCtr="0" compatLnSpc="1"/>
          <a:lstStyle>
            <a:lvl1pPr algn="r">
              <a:defRPr sz="1100"/>
            </a:lvl1pPr>
          </a:lstStyle>
          <a:p>
            <a:fld id="{A9A0EA98-5831-4853-B862-C702E6EB345C}" type="slidenum">
              <a:rPr lang="en-US"/>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70.xml"/><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4" Type="http://schemas.openxmlformats.org/officeDocument/2006/relationships/tags" Target="../tags/tag75.xml"/><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tags" Target="../tags/tag7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30.xml"/><Relationship Id="rId8" Type="http://schemas.openxmlformats.org/officeDocument/2006/relationships/tags" Target="../tags/tag129.xml"/><Relationship Id="rId7" Type="http://schemas.openxmlformats.org/officeDocument/2006/relationships/tags" Target="../tags/tag128.xml"/><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tags" Target="../tags/tag125.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7" Type="http://schemas.openxmlformats.org/officeDocument/2006/relationships/tags" Target="../tags/tag140.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48.xml"/><Relationship Id="rId8" Type="http://schemas.openxmlformats.org/officeDocument/2006/relationships/tags" Target="../tags/tag147.xml"/><Relationship Id="rId7" Type="http://schemas.openxmlformats.org/officeDocument/2006/relationships/tags" Target="../tags/tag146.xml"/><Relationship Id="rId6" Type="http://schemas.openxmlformats.org/officeDocument/2006/relationships/tags" Target="../tags/tag145.xml"/><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0" Type="http://schemas.openxmlformats.org/officeDocument/2006/relationships/tags" Target="../tags/tag14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57.xml"/><Relationship Id="rId8" Type="http://schemas.openxmlformats.org/officeDocument/2006/relationships/tags" Target="../tags/tag156.xml"/><Relationship Id="rId7" Type="http://schemas.openxmlformats.org/officeDocument/2006/relationships/tags" Target="../tags/tag155.xml"/><Relationship Id="rId6" Type="http://schemas.openxmlformats.org/officeDocument/2006/relationships/tags" Target="../tags/tag154.xml"/><Relationship Id="rId5" Type="http://schemas.openxmlformats.org/officeDocument/2006/relationships/tags" Target="../tags/tag153.xml"/><Relationship Id="rId4" Type="http://schemas.openxmlformats.org/officeDocument/2006/relationships/tags" Target="../tags/tag152.xml"/><Relationship Id="rId3" Type="http://schemas.openxmlformats.org/officeDocument/2006/relationships/tags" Target="../tags/tag151.xml"/><Relationship Id="rId2" Type="http://schemas.openxmlformats.org/officeDocument/2006/relationships/tags" Target="../tags/tag150.xml"/><Relationship Id="rId10" Type="http://schemas.openxmlformats.org/officeDocument/2006/relationships/tags" Target="../tags/tag158.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74.xml"/><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 Type="http://schemas.openxmlformats.org/officeDocument/2006/relationships/tags" Target="../tags/tag167.xml"/><Relationship Id="rId10" Type="http://schemas.openxmlformats.org/officeDocument/2006/relationships/tags" Target="../tags/tag175.xml"/><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7" Type="http://schemas.openxmlformats.org/officeDocument/2006/relationships/tags" Target="../tags/tag181.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775"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1048776"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048777"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78" name="页脚占位符 16"/>
          <p:cNvSpPr>
            <a:spLocks noGrp="1"/>
          </p:cNvSpPr>
          <p:nvPr>
            <p:ph type="ftr" sz="quarter" idx="11"/>
            <p:custDataLst>
              <p:tags r:id="rId5"/>
            </p:custDataLst>
          </p:nvPr>
        </p:nvSpPr>
        <p:spPr/>
        <p:txBody>
          <a:bodyPr/>
          <a:lstStyle/>
          <a:p>
            <a:endParaRPr lang="zh-CN" altLang="en-US" dirty="0"/>
          </a:p>
        </p:txBody>
      </p:sp>
      <p:sp>
        <p:nvSpPr>
          <p:cNvPr id="1048779"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789"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1048790"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791"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92" name="页脚占位符 4"/>
          <p:cNvSpPr>
            <a:spLocks noGrp="1"/>
          </p:cNvSpPr>
          <p:nvPr>
            <p:ph type="ftr" sz="quarter" idx="11"/>
            <p:custDataLst>
              <p:tags r:id="rId5"/>
            </p:custDataLst>
          </p:nvPr>
        </p:nvSpPr>
        <p:spPr/>
        <p:txBody>
          <a:bodyPr/>
          <a:lstStyle/>
          <a:p>
            <a:endParaRPr lang="zh-CN" altLang="en-US"/>
          </a:p>
        </p:txBody>
      </p:sp>
      <p:sp>
        <p:nvSpPr>
          <p:cNvPr id="1048793"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803"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1048804"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1048805"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806" name="页脚占位符 4"/>
          <p:cNvSpPr>
            <a:spLocks noGrp="1"/>
          </p:cNvSpPr>
          <p:nvPr>
            <p:ph type="ftr" sz="quarter" idx="11"/>
            <p:custDataLst>
              <p:tags r:id="rId5"/>
            </p:custDataLst>
          </p:nvPr>
        </p:nvSpPr>
        <p:spPr/>
        <p:txBody>
          <a:bodyPr/>
          <a:lstStyle/>
          <a:p>
            <a:endParaRPr lang="zh-CN" altLang="en-US"/>
          </a:p>
        </p:txBody>
      </p:sp>
      <p:sp>
        <p:nvSpPr>
          <p:cNvPr id="1048807"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808"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1048809"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10"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811"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48812" name="页脚占位符 5"/>
          <p:cNvSpPr>
            <a:spLocks noGrp="1"/>
          </p:cNvSpPr>
          <p:nvPr>
            <p:ph type="ftr" sz="quarter" idx="11"/>
            <p:custDataLst>
              <p:tags r:id="rId6"/>
            </p:custDataLst>
          </p:nvPr>
        </p:nvSpPr>
        <p:spPr/>
        <p:txBody>
          <a:bodyPr/>
          <a:lstStyle/>
          <a:p>
            <a:endParaRPr lang="zh-CN" altLang="en-US"/>
          </a:p>
        </p:txBody>
      </p:sp>
      <p:sp>
        <p:nvSpPr>
          <p:cNvPr id="1048813"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814"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1048815"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1048816"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17"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1048818"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48819"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1048820" name="页脚占位符 7"/>
          <p:cNvSpPr>
            <a:spLocks noGrp="1"/>
          </p:cNvSpPr>
          <p:nvPr>
            <p:ph type="ftr" sz="quarter" idx="11"/>
            <p:custDataLst>
              <p:tags r:id="rId8"/>
            </p:custDataLst>
          </p:nvPr>
        </p:nvSpPr>
        <p:spPr/>
        <p:txBody>
          <a:bodyPr/>
          <a:lstStyle/>
          <a:p>
            <a:endParaRPr lang="zh-CN" altLang="en-US"/>
          </a:p>
        </p:txBody>
      </p:sp>
      <p:sp>
        <p:nvSpPr>
          <p:cNvPr id="1048821"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780"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1048781"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1048782" name="页脚占位符 3"/>
          <p:cNvSpPr>
            <a:spLocks noGrp="1"/>
          </p:cNvSpPr>
          <p:nvPr>
            <p:ph type="ftr" sz="quarter" idx="11"/>
            <p:custDataLst>
              <p:tags r:id="rId4"/>
            </p:custDataLst>
          </p:nvPr>
        </p:nvSpPr>
        <p:spPr/>
        <p:txBody>
          <a:bodyPr/>
          <a:lstStyle/>
          <a:p>
            <a:endParaRPr lang="zh-CN" altLang="en-US"/>
          </a:p>
        </p:txBody>
      </p:sp>
      <p:sp>
        <p:nvSpPr>
          <p:cNvPr id="1048783"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82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048823" name="页脚占位符 2"/>
          <p:cNvSpPr>
            <a:spLocks noGrp="1"/>
          </p:cNvSpPr>
          <p:nvPr>
            <p:ph type="ftr" sz="quarter" idx="11"/>
            <p:custDataLst>
              <p:tags r:id="rId3"/>
            </p:custDataLst>
          </p:nvPr>
        </p:nvSpPr>
        <p:spPr/>
        <p:txBody>
          <a:bodyPr/>
          <a:lstStyle/>
          <a:p>
            <a:endParaRPr lang="zh-CN" altLang="en-US"/>
          </a:p>
        </p:txBody>
      </p:sp>
      <p:sp>
        <p:nvSpPr>
          <p:cNvPr id="104882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1048825"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1048826"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sp>
        <p:nvSpPr>
          <p:cNvPr id="1048827"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1048828" name="页脚占位符 5"/>
          <p:cNvSpPr>
            <a:spLocks noGrp="1"/>
          </p:cNvSpPr>
          <p:nvPr>
            <p:ph type="ftr" sz="quarter" idx="11"/>
            <p:custDataLst>
              <p:tags r:id="rId5"/>
            </p:custDataLst>
          </p:nvPr>
        </p:nvSpPr>
        <p:spPr/>
        <p:txBody>
          <a:bodyPr/>
          <a:lstStyle/>
          <a:p>
            <a:endParaRPr lang="zh-CN" altLang="en-US" dirty="0"/>
          </a:p>
        </p:txBody>
      </p:sp>
      <p:sp>
        <p:nvSpPr>
          <p:cNvPr id="1048829"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1048830"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794"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endParaRPr lang="zh-CN" altLang="en-US"/>
          </a:p>
        </p:txBody>
      </p:sp>
      <p:sp>
        <p:nvSpPr>
          <p:cNvPr id="1048795"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96"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97" name="页脚占位符 4"/>
          <p:cNvSpPr>
            <a:spLocks noGrp="1"/>
          </p:cNvSpPr>
          <p:nvPr>
            <p:ph type="ftr" sz="quarter" idx="11"/>
            <p:custDataLst>
              <p:tags r:id="rId5"/>
            </p:custDataLst>
          </p:nvPr>
        </p:nvSpPr>
        <p:spPr/>
        <p:txBody>
          <a:bodyPr/>
          <a:lstStyle/>
          <a:p>
            <a:endParaRPr lang="zh-CN" altLang="en-US"/>
          </a:p>
        </p:txBody>
      </p:sp>
      <p:sp>
        <p:nvSpPr>
          <p:cNvPr id="1048798"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1048799"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048800" name="页脚占位符 3"/>
          <p:cNvSpPr>
            <a:spLocks noGrp="1"/>
          </p:cNvSpPr>
          <p:nvPr>
            <p:ph type="ftr" sz="quarter" idx="11"/>
            <p:custDataLst>
              <p:tags r:id="rId3"/>
            </p:custDataLst>
          </p:nvPr>
        </p:nvSpPr>
        <p:spPr/>
        <p:txBody>
          <a:bodyPr/>
          <a:lstStyle/>
          <a:p>
            <a:endParaRPr lang="zh-CN" altLang="en-US"/>
          </a:p>
        </p:txBody>
      </p:sp>
      <p:sp>
        <p:nvSpPr>
          <p:cNvPr id="1048801"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048802"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1048784"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048785" name="页脚占位符 3"/>
          <p:cNvSpPr>
            <a:spLocks noGrp="1"/>
          </p:cNvSpPr>
          <p:nvPr>
            <p:ph type="ftr" sz="quarter" idx="11"/>
            <p:custDataLst>
              <p:tags r:id="rId3"/>
            </p:custDataLst>
          </p:nvPr>
        </p:nvSpPr>
        <p:spPr/>
        <p:txBody>
          <a:bodyPr/>
          <a:lstStyle/>
          <a:p>
            <a:endParaRPr lang="zh-CN" altLang="en-US"/>
          </a:p>
        </p:txBody>
      </p:sp>
      <p:sp>
        <p:nvSpPr>
          <p:cNvPr id="1048786"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048787"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endParaRPr lang="zh-CN" altLang="en-US"/>
          </a:p>
        </p:txBody>
      </p:sp>
      <p:sp>
        <p:nvSpPr>
          <p:cNvPr id="1048788"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048591" name="矩形 6"/>
          <p:cNvSpPr/>
          <p:nvPr userDrawn="1">
            <p:custDataLst>
              <p:tags r:id="rId2"/>
            </p:custDataLst>
          </p:nvPr>
        </p:nvSpPr>
        <p:spPr>
          <a:xfrm>
            <a:off x="274320" y="321260"/>
            <a:ext cx="11683455" cy="3930530"/>
          </a:xfrm>
          <a:prstGeom prst="rect">
            <a:avLst/>
          </a:prstGeom>
          <a:solidFill>
            <a:schemeClr val="tx2">
              <a:lumMod val="10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lt1"/>
              </a:solidFill>
              <a:highlight>
                <a:srgbClr val="1171F1"/>
              </a:highlight>
            </a:endParaRPr>
          </a:p>
        </p:txBody>
      </p:sp>
      <p:sp>
        <p:nvSpPr>
          <p:cNvPr id="1048592"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1048593"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solidFill>
                <a:schemeClr val="lt1"/>
              </a:solidFill>
              <a:highlight>
                <a:srgbClr val="1171F1"/>
              </a:highlight>
            </a:endParaRPr>
          </a:p>
        </p:txBody>
      </p:sp>
      <p:sp>
        <p:nvSpPr>
          <p:cNvPr id="1048594" name="矩形 9"/>
          <p:cNvSpPr/>
          <p:nvPr userDrawn="1">
            <p:custDataLst>
              <p:tags r:id="rId5"/>
            </p:custDataLst>
          </p:nvPr>
        </p:nvSpPr>
        <p:spPr>
          <a:xfrm>
            <a:off x="9471025" y="6254750"/>
            <a:ext cx="1800225"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48595" name="矩形 10"/>
          <p:cNvSpPr/>
          <p:nvPr userDrawn="1">
            <p:custDataLst>
              <p:tags r:id="rId6"/>
            </p:custDataLst>
          </p:nvPr>
        </p:nvSpPr>
        <p:spPr>
          <a:xfrm flipV="1">
            <a:off x="750570" y="6305550"/>
            <a:ext cx="715645"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48596" name="矩形 11"/>
          <p:cNvSpPr/>
          <p:nvPr userDrawn="1">
            <p:custDataLst>
              <p:tags r:id="rId7"/>
            </p:custDataLst>
          </p:nvPr>
        </p:nvSpPr>
        <p:spPr>
          <a:xfrm>
            <a:off x="1555115" y="6306820"/>
            <a:ext cx="88900"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48597" name="矩形 12"/>
          <p:cNvSpPr/>
          <p:nvPr userDrawn="1">
            <p:custDataLst>
              <p:tags r:id="rId8"/>
            </p:custDataLst>
          </p:nvPr>
        </p:nvSpPr>
        <p:spPr>
          <a:xfrm>
            <a:off x="1731010" y="6306820"/>
            <a:ext cx="253365" cy="76201"/>
          </a:xfrm>
          <a:prstGeom prst="rect">
            <a:avLst/>
          </a:prstGeom>
          <a:solidFill>
            <a:schemeClr val="bg2">
              <a:lumMod val="95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
        <p:nvSpPr>
          <p:cNvPr id="1048598"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048599" name="页脚占位符 16"/>
          <p:cNvSpPr>
            <a:spLocks noGrp="1"/>
          </p:cNvSpPr>
          <p:nvPr>
            <p:ph type="ftr" sz="quarter" idx="11"/>
            <p:custDataLst>
              <p:tags r:id="rId10"/>
            </p:custDataLst>
          </p:nvPr>
        </p:nvSpPr>
        <p:spPr/>
        <p:txBody>
          <a:bodyPr/>
          <a:lstStyle/>
          <a:p>
            <a:endParaRPr lang="zh-CN" altLang="en-US" dirty="0"/>
          </a:p>
        </p:txBody>
      </p:sp>
      <p:sp>
        <p:nvSpPr>
          <p:cNvPr id="1048600"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1048601"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1048602"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85000"/>
                    <a:lumOff val="15000"/>
                  </a:schemeClr>
                </a:solidFill>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048603"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58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104858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58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585" name="页脚占位符 4"/>
          <p:cNvSpPr>
            <a:spLocks noGrp="1"/>
          </p:cNvSpPr>
          <p:nvPr>
            <p:ph type="ftr" sz="quarter" idx="11"/>
            <p:custDataLst>
              <p:tags r:id="rId5"/>
            </p:custDataLst>
          </p:nvPr>
        </p:nvSpPr>
        <p:spPr/>
        <p:txBody>
          <a:bodyPr/>
          <a:lstStyle/>
          <a:p>
            <a:endParaRPr lang="zh-CN" altLang="en-US"/>
          </a:p>
        </p:txBody>
      </p:sp>
      <p:sp>
        <p:nvSpPr>
          <p:cNvPr id="104858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750" name="矩形 13"/>
          <p:cNvSpPr/>
          <p:nvPr userDrawn="1">
            <p:custDataLst>
              <p:tags r:id="rId2"/>
            </p:custDataLst>
          </p:nvPr>
        </p:nvSpPr>
        <p:spPr>
          <a:xfrm>
            <a:off x="0" y="6474460"/>
            <a:ext cx="12192000" cy="383540"/>
          </a:xfrm>
          <a:prstGeom prst="rect">
            <a:avLst/>
          </a:prstGeom>
          <a:solidFill>
            <a:schemeClr val="tx2">
              <a:lumMod val="10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1048751"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1048752"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1048753"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48754" name="页脚占位符 4"/>
          <p:cNvSpPr>
            <a:spLocks noGrp="1"/>
          </p:cNvSpPr>
          <p:nvPr>
            <p:ph type="ftr" sz="quarter" idx="11"/>
            <p:custDataLst>
              <p:tags r:id="rId6"/>
            </p:custDataLst>
          </p:nvPr>
        </p:nvSpPr>
        <p:spPr/>
        <p:txBody>
          <a:bodyPr/>
          <a:lstStyle/>
          <a:p>
            <a:endParaRPr lang="zh-CN" altLang="en-US"/>
          </a:p>
        </p:txBody>
      </p:sp>
      <p:sp>
        <p:nvSpPr>
          <p:cNvPr id="1048755"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690"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1048691" name="内容占位符 2"/>
          <p:cNvSpPr>
            <a:spLocks noGrp="1"/>
          </p:cNvSpPr>
          <p:nvPr>
            <p:ph sz="half" idx="1"/>
            <p:custDataLst>
              <p:tags r:id="rId3"/>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048692" name="内容占位符 3"/>
          <p:cNvSpPr>
            <a:spLocks noGrp="1"/>
          </p:cNvSpPr>
          <p:nvPr>
            <p:ph sz="half" idx="2"/>
            <p:custDataLst>
              <p:tags r:id="rId4"/>
            </p:custDataLst>
          </p:nvPr>
        </p:nvSpPr>
        <p:spPr>
          <a:xfrm>
            <a:off x="6238877" y="952508"/>
            <a:ext cx="5283242" cy="5388907"/>
          </a:xfrm>
        </p:spPr>
        <p:txBody>
          <a:bodyPr>
            <a:no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693"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48694" name="页脚占位符 5"/>
          <p:cNvSpPr>
            <a:spLocks noGrp="1"/>
          </p:cNvSpPr>
          <p:nvPr>
            <p:ph type="ftr" sz="quarter" idx="11"/>
            <p:custDataLst>
              <p:tags r:id="rId6"/>
            </p:custDataLst>
          </p:nvPr>
        </p:nvSpPr>
        <p:spPr/>
        <p:txBody>
          <a:bodyPr/>
          <a:lstStyle/>
          <a:p>
            <a:endParaRPr lang="zh-CN" altLang="en-US"/>
          </a:p>
        </p:txBody>
      </p:sp>
      <p:sp>
        <p:nvSpPr>
          <p:cNvPr id="1048695"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76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104876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104876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76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104876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76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1048768" name="页脚占位符 7"/>
          <p:cNvSpPr>
            <a:spLocks noGrp="1"/>
          </p:cNvSpPr>
          <p:nvPr>
            <p:ph type="ftr" sz="quarter" idx="11"/>
            <p:custDataLst>
              <p:tags r:id="rId8"/>
            </p:custDataLst>
          </p:nvPr>
        </p:nvSpPr>
        <p:spPr/>
        <p:txBody>
          <a:bodyPr/>
          <a:lstStyle/>
          <a:p>
            <a:endParaRPr lang="zh-CN" altLang="en-US"/>
          </a:p>
        </p:txBody>
      </p:sp>
      <p:sp>
        <p:nvSpPr>
          <p:cNvPr id="104876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720"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1048721"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1048722" name="页脚占位符 3"/>
          <p:cNvSpPr>
            <a:spLocks noGrp="1"/>
          </p:cNvSpPr>
          <p:nvPr>
            <p:ph type="ftr" sz="quarter" idx="11"/>
            <p:custDataLst>
              <p:tags r:id="rId4"/>
            </p:custDataLst>
          </p:nvPr>
        </p:nvSpPr>
        <p:spPr/>
        <p:txBody>
          <a:bodyPr/>
          <a:lstStyle/>
          <a:p>
            <a:endParaRPr lang="zh-CN" altLang="en-US"/>
          </a:p>
        </p:txBody>
      </p:sp>
      <p:sp>
        <p:nvSpPr>
          <p:cNvPr id="1048723"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669"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048670" name="页脚占位符 2"/>
          <p:cNvSpPr>
            <a:spLocks noGrp="1"/>
          </p:cNvSpPr>
          <p:nvPr>
            <p:ph type="ftr" sz="quarter" idx="11"/>
            <p:custDataLst>
              <p:tags r:id="rId3"/>
            </p:custDataLst>
          </p:nvPr>
        </p:nvSpPr>
        <p:spPr/>
        <p:txBody>
          <a:bodyPr/>
          <a:lstStyle/>
          <a:p>
            <a:endParaRPr lang="zh-CN" altLang="en-US"/>
          </a:p>
        </p:txBody>
      </p:sp>
      <p:sp>
        <p:nvSpPr>
          <p:cNvPr id="1048671"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1048705"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1048706"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latin typeface="+mn-lt"/>
                <a:ea typeface="+mn-ea"/>
                <a:cs typeface="+mn-cs"/>
                <a:sym typeface="+mn-ea"/>
              </a:defRPr>
            </a:lvl5pPr>
          </a:lstStyle>
          <a:p>
            <a:pPr lvl="0"/>
            <a:endParaRPr dirty="0">
              <a:sym typeface="+mn-ea"/>
            </a:endParaRPr>
          </a:p>
        </p:txBody>
      </p:sp>
      <p:sp>
        <p:nvSpPr>
          <p:cNvPr id="1048707"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1048708"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1048709" name="页脚占位符 5"/>
          <p:cNvSpPr>
            <a:spLocks noGrp="1"/>
          </p:cNvSpPr>
          <p:nvPr>
            <p:ph type="ftr" sz="quarter" idx="11"/>
            <p:custDataLst>
              <p:tags r:id="rId6"/>
            </p:custDataLst>
          </p:nvPr>
        </p:nvSpPr>
        <p:spPr/>
        <p:txBody>
          <a:bodyPr/>
          <a:lstStyle/>
          <a:p>
            <a:endParaRPr lang="zh-CN" altLang="en-US" dirty="0"/>
          </a:p>
        </p:txBody>
      </p:sp>
      <p:sp>
        <p:nvSpPr>
          <p:cNvPr id="1048710"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737"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1048738"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39"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40" name="页脚占位符 4"/>
          <p:cNvSpPr>
            <a:spLocks noGrp="1"/>
          </p:cNvSpPr>
          <p:nvPr>
            <p:ph type="ftr" sz="quarter" idx="11"/>
            <p:custDataLst>
              <p:tags r:id="rId5"/>
            </p:custDataLst>
          </p:nvPr>
        </p:nvSpPr>
        <p:spPr/>
        <p:txBody>
          <a:bodyPr/>
          <a:lstStyle/>
          <a:p>
            <a:endParaRPr lang="zh-CN" altLang="en-US"/>
          </a:p>
        </p:txBody>
      </p:sp>
      <p:sp>
        <p:nvSpPr>
          <p:cNvPr id="1048741"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1048678"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048679" name="页脚占位符 3"/>
          <p:cNvSpPr>
            <a:spLocks noGrp="1"/>
          </p:cNvSpPr>
          <p:nvPr>
            <p:ph type="ftr" sz="quarter" idx="11"/>
            <p:custDataLst>
              <p:tags r:id="rId3"/>
            </p:custDataLst>
          </p:nvPr>
        </p:nvSpPr>
        <p:spPr/>
        <p:txBody>
          <a:bodyPr/>
          <a:lstStyle/>
          <a:p>
            <a:endParaRPr lang="zh-CN" altLang="en-US"/>
          </a:p>
        </p:txBody>
      </p:sp>
      <p:sp>
        <p:nvSpPr>
          <p:cNvPr id="1048680"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1048681" name="内容占位符 6"/>
          <p:cNvSpPr>
            <a:spLocks noGrp="1"/>
          </p:cNvSpPr>
          <p:nvPr>
            <p:ph sz="quarter" idx="13"/>
            <p:custDataLst>
              <p:tags r:id="rId5"/>
            </p:custDataLst>
          </p:nvPr>
        </p:nvSpPr>
        <p:spPr>
          <a:xfrm>
            <a:off x="669930" y="952508"/>
            <a:ext cx="10852237" cy="5388907"/>
          </a:xfrm>
        </p:spPr>
        <p:txBody>
          <a:bodyPr/>
          <a:lstStyle>
            <a:lvl1pPr>
              <a:defRPr baseline="0">
                <a:latin typeface="Arial" panose="020B0604020202020204" pitchFamily="34" charset="0"/>
              </a:defRPr>
            </a:lvl1pPr>
            <a:lvl2pPr>
              <a:defRPr baseline="0">
                <a:latin typeface="Arial" panose="020B0604020202020204" pitchFamily="34" charset="0"/>
              </a:defRPr>
            </a:lvl2pPr>
            <a:lvl3pPr>
              <a:defRPr baseline="0">
                <a:latin typeface="Arial" panose="020B0604020202020204" pitchFamily="34" charset="0"/>
              </a:defRPr>
            </a:lvl3pPr>
            <a:lvl4pPr>
              <a:defRPr baseline="0">
                <a:latin typeface="Arial" panose="020B0604020202020204" pitchFamily="34" charset="0"/>
              </a:defRPr>
            </a:lvl4pPr>
            <a:lvl5pPr>
              <a:defRPr baseline="0">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1048682" name="矩形 5"/>
          <p:cNvSpPr/>
          <p:nvPr userDrawn="1">
            <p:custDataLst>
              <p:tags r:id="rId2"/>
            </p:custDataLst>
          </p:nvPr>
        </p:nvSpPr>
        <p:spPr>
          <a:xfrm>
            <a:off x="262255" y="318135"/>
            <a:ext cx="11683365" cy="5634990"/>
          </a:xfrm>
          <a:prstGeom prst="rect">
            <a:avLst/>
          </a:prstGeom>
          <a:solidFill>
            <a:schemeClr val="tx2">
              <a:lumMod val="10000"/>
              <a:alpha val="8000"/>
            </a:schemeClr>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1048683"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84"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0"/>
                </a:schemeClr>
              </a:gs>
              <a:gs pos="100000">
                <a:schemeClr val="bg2">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685"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alpha val="5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686"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latin typeface="Arial" panose="020B0604020202020204" pitchFamily="34" charset="0"/>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1048687"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1048688" name="页脚占位符 3"/>
          <p:cNvSpPr>
            <a:spLocks noGrp="1"/>
          </p:cNvSpPr>
          <p:nvPr>
            <p:ph type="ftr" sz="quarter" idx="11"/>
            <p:custDataLst>
              <p:tags r:id="rId8"/>
            </p:custDataLst>
          </p:nvPr>
        </p:nvSpPr>
        <p:spPr/>
        <p:txBody>
          <a:bodyPr/>
          <a:lstStyle/>
          <a:p>
            <a:endParaRPr lang="zh-CN" altLang="en-US"/>
          </a:p>
        </p:txBody>
      </p:sp>
      <p:sp>
        <p:nvSpPr>
          <p:cNvPr id="1048689"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sp>
        <p:nvSpPr>
          <p:cNvPr id="1048733" name="标题 1"/>
          <p:cNvSpPr>
            <a:spLocks noGrp="1"/>
          </p:cNvSpPr>
          <p:nvPr>
            <p:ph type="title"/>
            <p:custDataLst>
              <p:tags r:id="rId2"/>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1048734"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1048735" name="页脚占位符 3"/>
          <p:cNvSpPr>
            <a:spLocks noGrp="1"/>
          </p:cNvSpPr>
          <p:nvPr>
            <p:ph type="ftr" sz="quarter" idx="11"/>
            <p:custDataLst>
              <p:tags r:id="rId4"/>
            </p:custDataLst>
          </p:nvPr>
        </p:nvSpPr>
        <p:spPr/>
        <p:txBody>
          <a:bodyPr/>
          <a:lstStyle/>
          <a:p>
            <a:endParaRPr lang="zh-CN" altLang="en-US" dirty="0"/>
          </a:p>
        </p:txBody>
      </p:sp>
      <p:sp>
        <p:nvSpPr>
          <p:cNvPr id="1048736"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相框">
    <p:bg>
      <p:bgPr>
        <a:gradFill>
          <a:gsLst>
            <a:gs pos="0">
              <a:schemeClr val="tx2"/>
            </a:gs>
            <a:gs pos="100000">
              <a:schemeClr val="tx2"/>
            </a:gs>
          </a:gsLst>
          <a:lin ang="5400000" scaled="0"/>
        </a:gradFill>
        <a:effectLst/>
      </p:bgPr>
    </p:bg>
    <p:spTree>
      <p:nvGrpSpPr>
        <p:cNvPr id="1" name=""/>
        <p:cNvGrpSpPr/>
        <p:nvPr/>
      </p:nvGrpSpPr>
      <p:grpSpPr>
        <a:xfrm>
          <a:off x="0" y="0"/>
          <a:ext cx="0" cy="0"/>
          <a:chOff x="0" y="0"/>
          <a:chExt cx="0" cy="0"/>
        </a:xfrm>
      </p:grpSpPr>
      <p:sp>
        <p:nvSpPr>
          <p:cNvPr id="1048672" name="矩形 7"/>
          <p:cNvSpPr/>
          <p:nvPr userDrawn="1">
            <p:custDataLst>
              <p:tags r:id="rId2"/>
            </p:custDataLst>
          </p:nvPr>
        </p:nvSpPr>
        <p:spPr>
          <a:xfrm>
            <a:off x="292800" y="304200"/>
            <a:ext cx="11606400" cy="62496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73" name="标题 1"/>
          <p:cNvSpPr>
            <a:spLocks noGrp="1"/>
          </p:cNvSpPr>
          <p:nvPr>
            <p:ph type="title" hasCustomPrompt="1"/>
            <p:custDataLst>
              <p:tags r:id="rId3"/>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1048674" name="内容占位符 6"/>
          <p:cNvSpPr>
            <a:spLocks noGrp="1"/>
          </p:cNvSpPr>
          <p:nvPr>
            <p:ph sz="quarter" idx="13"/>
            <p:custDataLst>
              <p:tags r:id="rId4"/>
            </p:custDataLst>
          </p:nvPr>
        </p:nvSpPr>
        <p:spPr>
          <a:xfrm>
            <a:off x="1281113" y="2163600"/>
            <a:ext cx="9626600" cy="3445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675"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48676" name="页脚占位符 3"/>
          <p:cNvSpPr>
            <a:spLocks noGrp="1"/>
          </p:cNvSpPr>
          <p:nvPr>
            <p:ph type="ftr" sz="quarter" idx="11"/>
            <p:custDataLst>
              <p:tags r:id="rId6"/>
            </p:custDataLst>
          </p:nvPr>
        </p:nvSpPr>
        <p:spPr/>
        <p:txBody>
          <a:bodyPr/>
          <a:lstStyle/>
          <a:p>
            <a:endParaRPr lang="zh-CN" altLang="en-US" dirty="0"/>
          </a:p>
        </p:txBody>
      </p:sp>
      <p:sp>
        <p:nvSpPr>
          <p:cNvPr id="1048677"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左右">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48724" name="矩形 7"/>
          <p:cNvSpPr/>
          <p:nvPr userDrawn="1">
            <p:custDataLst>
              <p:tags r:id="rId2"/>
            </p:custDataLst>
          </p:nvPr>
        </p:nvSpPr>
        <p:spPr>
          <a:xfrm>
            <a:off x="0" y="0"/>
            <a:ext cx="4823460" cy="6866255"/>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1048725" name="任意形状 8"/>
          <p:cNvSpPr/>
          <p:nvPr userDrawn="1">
            <p:custDataLst>
              <p:tags r:id="rId3"/>
            </p:custDataLst>
          </p:nvPr>
        </p:nvSpPr>
        <p:spPr>
          <a:xfrm rot="16200000">
            <a:off x="-21591" y="21328"/>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40000"/>
                </a:schemeClr>
              </a:gs>
              <a:gs pos="100000">
                <a:schemeClr val="bg2">
                  <a:alpha val="10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726" name="任意形状 9"/>
          <p:cNvSpPr/>
          <p:nvPr userDrawn="1">
            <p:custDataLst>
              <p:tags r:id="rId4"/>
            </p:custDataLst>
          </p:nvPr>
        </p:nvSpPr>
        <p:spPr>
          <a:xfrm rot="10800000">
            <a:off x="0" y="5905547"/>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40000"/>
                </a:schemeClr>
              </a:gs>
              <a:gs pos="100000">
                <a:schemeClr val="bg2">
                  <a:alpha val="10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727"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1048728"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1048729" name="页脚占位符 3"/>
          <p:cNvSpPr>
            <a:spLocks noGrp="1"/>
          </p:cNvSpPr>
          <p:nvPr>
            <p:ph type="ftr" sz="quarter" idx="11"/>
            <p:custDataLst>
              <p:tags r:id="rId7"/>
            </p:custDataLst>
          </p:nvPr>
        </p:nvSpPr>
        <p:spPr/>
        <p:txBody>
          <a:bodyPr/>
          <a:lstStyle/>
          <a:p>
            <a:endParaRPr lang="zh-CN" altLang="en-US" dirty="0"/>
          </a:p>
        </p:txBody>
      </p:sp>
      <p:sp>
        <p:nvSpPr>
          <p:cNvPr id="1048730"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1048731"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32"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上下">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48696" name="矩形 9"/>
          <p:cNvSpPr/>
          <p:nvPr userDrawn="1">
            <p:custDataLst>
              <p:tags r:id="rId2"/>
            </p:custDataLst>
          </p:nvPr>
        </p:nvSpPr>
        <p:spPr>
          <a:xfrm>
            <a:off x="-635" y="-10160"/>
            <a:ext cx="12192000" cy="2663825"/>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48697" name="任意形状 9"/>
          <p:cNvSpPr/>
          <p:nvPr userDrawn="1">
            <p:custDataLst>
              <p:tags r:id="rId3"/>
            </p:custDataLst>
          </p:nvPr>
        </p:nvSpPr>
        <p:spPr>
          <a:xfrm rot="16200000">
            <a:off x="-15208" y="508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20000"/>
                </a:schemeClr>
              </a:gs>
              <a:gs pos="100000">
                <a:schemeClr val="bg2">
                  <a:alpha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698" name="任意形状 8"/>
          <p:cNvSpPr/>
          <p:nvPr userDrawn="1">
            <p:custDataLst>
              <p:tags r:id="rId4"/>
            </p:custDataLst>
          </p:nvPr>
        </p:nvSpPr>
        <p:spPr>
          <a:xfrm>
            <a:off x="10349230" y="-9939"/>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40000"/>
                </a:schemeClr>
              </a:gs>
              <a:gs pos="100000">
                <a:schemeClr val="bg2">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699"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1048700"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1048701" name="页脚占位符 3"/>
          <p:cNvSpPr>
            <a:spLocks noGrp="1"/>
          </p:cNvSpPr>
          <p:nvPr>
            <p:ph type="ftr" sz="quarter" idx="11"/>
            <p:custDataLst>
              <p:tags r:id="rId7"/>
            </p:custDataLst>
          </p:nvPr>
        </p:nvSpPr>
        <p:spPr/>
        <p:txBody>
          <a:bodyPr/>
          <a:lstStyle/>
          <a:p>
            <a:endParaRPr lang="zh-CN" altLang="en-US" dirty="0"/>
          </a:p>
        </p:txBody>
      </p:sp>
      <p:sp>
        <p:nvSpPr>
          <p:cNvPr id="1048702"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1048703"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048704"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下上">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48742" name="矩形 7"/>
          <p:cNvSpPr/>
          <p:nvPr userDrawn="1">
            <p:custDataLst>
              <p:tags r:id="rId2"/>
            </p:custDataLst>
          </p:nvPr>
        </p:nvSpPr>
        <p:spPr>
          <a:xfrm>
            <a:off x="3810" y="5026661"/>
            <a:ext cx="12192000" cy="1828799"/>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48743" name="任意形状 9"/>
          <p:cNvSpPr/>
          <p:nvPr userDrawn="1">
            <p:custDataLst>
              <p:tags r:id="rId3"/>
            </p:custDataLst>
          </p:nvPr>
        </p:nvSpPr>
        <p:spPr>
          <a:xfrm rot="10800000">
            <a:off x="0" y="590296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5000"/>
                  <a:alpha val="20000"/>
                </a:schemeClr>
              </a:gs>
              <a:gs pos="100000">
                <a:schemeClr val="bg2">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48744"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1048745"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1048746" name="页脚占位符 3"/>
          <p:cNvSpPr>
            <a:spLocks noGrp="1"/>
          </p:cNvSpPr>
          <p:nvPr>
            <p:ph type="ftr" sz="quarter" idx="11"/>
            <p:custDataLst>
              <p:tags r:id="rId6"/>
            </p:custDataLst>
          </p:nvPr>
        </p:nvSpPr>
        <p:spPr/>
        <p:txBody>
          <a:bodyPr/>
          <a:lstStyle/>
          <a:p>
            <a:endParaRPr lang="zh-CN" altLang="en-US" dirty="0"/>
          </a:p>
        </p:txBody>
      </p:sp>
      <p:sp>
        <p:nvSpPr>
          <p:cNvPr id="1048747"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1048748"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4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导航">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48711" name="矩形 9"/>
          <p:cNvSpPr/>
          <p:nvPr userDrawn="1">
            <p:custDataLst>
              <p:tags r:id="rId2"/>
            </p:custDataLst>
          </p:nvPr>
        </p:nvSpPr>
        <p:spPr>
          <a:xfrm>
            <a:off x="0" y="0"/>
            <a:ext cx="12192000" cy="914400"/>
          </a:xfrm>
          <a:prstGeom prst="rect">
            <a:avLst/>
          </a:prstGeom>
          <a:solidFill>
            <a:schemeClr val="tx2">
              <a:lumMod val="10000"/>
              <a:alpha val="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48712" name="标题 1"/>
          <p:cNvSpPr>
            <a:spLocks noGrp="1"/>
          </p:cNvSpPr>
          <p:nvPr>
            <p:ph type="title"/>
            <p:custDataLst>
              <p:tags r:id="rId3"/>
            </p:custDataLst>
          </p:nvPr>
        </p:nvSpPr>
        <p:spPr>
          <a:xfrm>
            <a:off x="579755" y="237490"/>
            <a:ext cx="11031220" cy="506730"/>
          </a:xfrm>
        </p:spPr>
        <p:txBody>
          <a:bodyPr wrap="none">
            <a:noAutofit/>
          </a:bodyPr>
          <a:lstStyle>
            <a:lvl1pPr algn="l">
              <a:defRPr sz="28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104871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14" name="页脚占位符 3"/>
          <p:cNvSpPr>
            <a:spLocks noGrp="1"/>
          </p:cNvSpPr>
          <p:nvPr>
            <p:ph type="ftr" sz="quarter" idx="11"/>
            <p:custDataLst>
              <p:tags r:id="rId5"/>
            </p:custDataLst>
          </p:nvPr>
        </p:nvSpPr>
        <p:spPr/>
        <p:txBody>
          <a:bodyPr/>
          <a:lstStyle/>
          <a:p>
            <a:endParaRPr lang="zh-CN" altLang="en-US" dirty="0"/>
          </a:p>
        </p:txBody>
      </p:sp>
      <p:sp>
        <p:nvSpPr>
          <p:cNvPr id="104871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048716"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17"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18"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048719"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腰带">
    <p:bg>
      <p:bgPr>
        <a:gradFill>
          <a:gsLst>
            <a:gs pos="0">
              <a:schemeClr val="tx2"/>
            </a:gs>
            <a:gs pos="100000">
              <a:schemeClr val="bg2">
                <a:lumMod val="95000"/>
              </a:schemeClr>
            </a:gs>
          </a:gsLst>
          <a:lin ang="5400000" scaled="0"/>
        </a:gradFill>
        <a:effectLst/>
      </p:bgPr>
    </p:bg>
    <p:spTree>
      <p:nvGrpSpPr>
        <p:cNvPr id="1" name=""/>
        <p:cNvGrpSpPr/>
        <p:nvPr/>
      </p:nvGrpSpPr>
      <p:grpSpPr>
        <a:xfrm>
          <a:off x="0" y="0"/>
          <a:ext cx="0" cy="0"/>
          <a:chOff x="0" y="0"/>
          <a:chExt cx="0" cy="0"/>
        </a:xfrm>
      </p:grpSpPr>
      <p:sp>
        <p:nvSpPr>
          <p:cNvPr id="1048756" name="矩形 9"/>
          <p:cNvSpPr/>
          <p:nvPr userDrawn="1">
            <p:custDataLst>
              <p:tags r:id="rId2"/>
            </p:custDataLst>
          </p:nvPr>
        </p:nvSpPr>
        <p:spPr>
          <a:xfrm>
            <a:off x="0" y="959224"/>
            <a:ext cx="12192000" cy="4939553"/>
          </a:xfrm>
          <a:prstGeom prst="rect">
            <a:avLst/>
          </a:prstGeom>
          <a:solidFill>
            <a:schemeClr val="bg2">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48757"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1048758"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048759" name="页脚占位符 3"/>
          <p:cNvSpPr>
            <a:spLocks noGrp="1"/>
          </p:cNvSpPr>
          <p:nvPr>
            <p:ph type="ftr" sz="quarter" idx="11"/>
            <p:custDataLst>
              <p:tags r:id="rId5"/>
            </p:custDataLst>
          </p:nvPr>
        </p:nvSpPr>
        <p:spPr/>
        <p:txBody>
          <a:bodyPr/>
          <a:lstStyle/>
          <a:p>
            <a:endParaRPr lang="zh-CN" altLang="en-US" dirty="0"/>
          </a:p>
        </p:txBody>
      </p:sp>
      <p:sp>
        <p:nvSpPr>
          <p:cNvPr id="1048760"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048761"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5" Type="http://schemas.openxmlformats.org/officeDocument/2006/relationships/theme" Target="../theme/theme2.xml"/><Relationship Id="rId24" Type="http://schemas.openxmlformats.org/officeDocument/2006/relationships/tags" Target="../tags/tag187.xml"/><Relationship Id="rId23" Type="http://schemas.openxmlformats.org/officeDocument/2006/relationships/tags" Target="../tags/tag186.xml"/><Relationship Id="rId22" Type="http://schemas.openxmlformats.org/officeDocument/2006/relationships/tags" Target="../tags/tag185.xml"/><Relationship Id="rId21" Type="http://schemas.openxmlformats.org/officeDocument/2006/relationships/tags" Target="../tags/tag184.xml"/><Relationship Id="rId20" Type="http://schemas.openxmlformats.org/officeDocument/2006/relationships/tags" Target="../tags/tag183.xml"/><Relationship Id="rId2" Type="http://schemas.openxmlformats.org/officeDocument/2006/relationships/slideLayout" Target="../slideLayouts/slideLayout13.xml"/><Relationship Id="rId19" Type="http://schemas.openxmlformats.org/officeDocument/2006/relationships/tags" Target="../tags/tag182.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1048770"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1048771"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772"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1048773"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1048774"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chemeClr val="bg2"/>
            </a:gs>
            <a:gs pos="100000">
              <a:schemeClr val="tx2"/>
            </a:gs>
          </a:gsLst>
          <a:lin ang="5400000" scaled="0"/>
        </a:gradFill>
        <a:effectLst/>
      </p:bgPr>
    </p:bg>
    <p:spTree>
      <p:nvGrpSpPr>
        <p:cNvPr id="1" name=""/>
        <p:cNvGrpSpPr/>
        <p:nvPr/>
      </p:nvGrpSpPr>
      <p:grpSpPr>
        <a:xfrm>
          <a:off x="0" y="0"/>
          <a:ext cx="0" cy="0"/>
          <a:chOff x="0" y="0"/>
          <a:chExt cx="0" cy="0"/>
        </a:xfrm>
      </p:grpSpPr>
      <p:sp>
        <p:nvSpPr>
          <p:cNvPr id="1048576" name="标题占位符 1"/>
          <p:cNvSpPr>
            <a:spLocks noGrp="1"/>
          </p:cNvSpPr>
          <p:nvPr>
            <p:ph type="title"/>
            <p:custDataLst>
              <p:tags r:id="rId19"/>
            </p:custDataLst>
          </p:nvPr>
        </p:nvSpPr>
        <p:spPr>
          <a:xfrm>
            <a:off x="669882" y="443230"/>
            <a:ext cx="10852237" cy="441964"/>
          </a:xfrm>
          <a:prstGeom prst="rect">
            <a:avLst/>
          </a:prstGeom>
        </p:spPr>
        <p:txBody>
          <a:bodyPr vert="horz" lIns="91440" tIns="45720" rIns="91440" bIns="45720" rtlCol="0" anchor="t" anchorCtr="0">
            <a:normAutofit/>
          </a:bodyPr>
          <a:lstStyle/>
          <a:p>
            <a:r>
              <a:rPr lang="zh-CN" altLang="en-US" dirty="0"/>
              <a:t>单击此处编辑母版标题样式</a:t>
            </a:r>
            <a:endParaRPr lang="zh-CN" altLang="en-US" dirty="0"/>
          </a:p>
        </p:txBody>
      </p:sp>
      <p:sp>
        <p:nvSpPr>
          <p:cNvPr id="1048577" name="文本占位符 2"/>
          <p:cNvSpPr>
            <a:spLocks noGrp="1"/>
          </p:cNvSpPr>
          <p:nvPr>
            <p:ph type="body" idx="1"/>
            <p:custDataLst>
              <p:tags r:id="rId20"/>
            </p:custDataLst>
          </p:nvPr>
        </p:nvSpPr>
        <p:spPr>
          <a:xfrm>
            <a:off x="669882" y="952508"/>
            <a:ext cx="10852237" cy="5388907"/>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48578"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1048579"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1048580"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1048581"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9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95.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97.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98.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99.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00.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0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4.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08.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09.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0.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11.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12.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4.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8.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1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1.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22.xml"/><Relationship Id="rId1"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23.xml"/><Relationship Id="rId1" Type="http://schemas.openxmlformats.org/officeDocument/2006/relationships/image" Target="../media/image11.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4.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5.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26.xml"/><Relationship Id="rId1" Type="http://schemas.openxmlformats.org/officeDocument/2006/relationships/image" Target="../media/image12.png"/></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227.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28.xml"/><Relationship Id="rId1" Type="http://schemas.openxmlformats.org/officeDocument/2006/relationships/image" Target="../media/image16.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2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0.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1.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32.xml"/><Relationship Id="rId1" Type="http://schemas.openxmlformats.org/officeDocument/2006/relationships/image" Target="../media/image17.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33.xml"/><Relationship Id="rId1" Type="http://schemas.openxmlformats.org/officeDocument/2006/relationships/image" Target="../media/image18.pn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34.xml"/><Relationship Id="rId2" Type="http://schemas.openxmlformats.org/officeDocument/2006/relationships/image" Target="../media/image20.png"/><Relationship Id="rId1" Type="http://schemas.openxmlformats.org/officeDocument/2006/relationships/image" Target="../media/image19.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5.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36.xml"/><Relationship Id="rId1" Type="http://schemas.openxmlformats.org/officeDocument/2006/relationships/image" Target="../media/image21.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37.xml"/><Relationship Id="rId2" Type="http://schemas.openxmlformats.org/officeDocument/2006/relationships/image" Target="../media/image21.png"/><Relationship Id="rId1" Type="http://schemas.openxmlformats.org/officeDocument/2006/relationships/image" Target="../media/image22.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38.xml"/></Relationships>
</file>

<file path=ppt/slides/_rels/slide50.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239.xml"/><Relationship Id="rId4" Type="http://schemas.openxmlformats.org/officeDocument/2006/relationships/image" Target="../media/image26.png"/><Relationship Id="rId3" Type="http://schemas.openxmlformats.org/officeDocument/2006/relationships/image" Target="../media/image25.webp"/><Relationship Id="rId2" Type="http://schemas.openxmlformats.org/officeDocument/2006/relationships/image" Target="../media/image24.png"/><Relationship Id="rId1" Type="http://schemas.openxmlformats.org/officeDocument/2006/relationships/image" Target="../media/image23.png"/></Relationships>
</file>

<file path=ppt/slides/_rels/slide51.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240.xml"/><Relationship Id="rId4" Type="http://schemas.openxmlformats.org/officeDocument/2006/relationships/image" Target="../media/image28.jpeg"/><Relationship Id="rId3" Type="http://schemas.openxmlformats.org/officeDocument/2006/relationships/image" Target="../media/image25.webp"/><Relationship Id="rId2" Type="http://schemas.openxmlformats.org/officeDocument/2006/relationships/image" Target="../media/image27.png"/><Relationship Id="rId1" Type="http://schemas.openxmlformats.org/officeDocument/2006/relationships/image" Target="../media/image23.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41.xml"/><Relationship Id="rId2" Type="http://schemas.openxmlformats.org/officeDocument/2006/relationships/image" Target="../media/image29.png"/><Relationship Id="rId1" Type="http://schemas.openxmlformats.org/officeDocument/2006/relationships/image" Target="../media/image23.png"/></Relationships>
</file>

<file path=ppt/slides/_rels/slide53.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42.xml"/><Relationship Id="rId2" Type="http://schemas.openxmlformats.org/officeDocument/2006/relationships/image" Target="../media/image30.png"/><Relationship Id="rId1" Type="http://schemas.openxmlformats.org/officeDocument/2006/relationships/image" Target="../media/image23.png"/></Relationships>
</file>

<file path=ppt/slides/_rels/slide54.xml.rels><?xml version="1.0" encoding="UTF-8" standalone="yes"?>
<Relationships xmlns="http://schemas.openxmlformats.org/package/2006/relationships"><Relationship Id="rId6" Type="http://schemas.openxmlformats.org/officeDocument/2006/relationships/slideLayout" Target="../slideLayouts/slideLayout13.xml"/><Relationship Id="rId5" Type="http://schemas.openxmlformats.org/officeDocument/2006/relationships/tags" Target="../tags/tag243.xml"/><Relationship Id="rId4" Type="http://schemas.openxmlformats.org/officeDocument/2006/relationships/image" Target="../media/image32.jpeg"/><Relationship Id="rId3" Type="http://schemas.openxmlformats.org/officeDocument/2006/relationships/image" Target="../media/image25.webp"/><Relationship Id="rId2" Type="http://schemas.openxmlformats.org/officeDocument/2006/relationships/image" Target="../media/image31.png"/><Relationship Id="rId1" Type="http://schemas.openxmlformats.org/officeDocument/2006/relationships/image" Target="../media/image23.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44.xml"/><Relationship Id="rId1" Type="http://schemas.openxmlformats.org/officeDocument/2006/relationships/image" Target="../media/image33.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45.xml"/><Relationship Id="rId1" Type="http://schemas.openxmlformats.org/officeDocument/2006/relationships/image" Target="../media/image34.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6.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47.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48.xml"/><Relationship Id="rId1" Type="http://schemas.openxmlformats.org/officeDocument/2006/relationships/image" Target="../media/image35.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49.xml"/><Relationship Id="rId1" Type="http://schemas.openxmlformats.org/officeDocument/2006/relationships/image" Target="../media/image35.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50.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1.xml"/><Relationship Id="rId1" Type="http://schemas.openxmlformats.org/officeDocument/2006/relationships/image" Target="../media/image36.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5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53.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54.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5.xml"/><Relationship Id="rId1" Type="http://schemas.openxmlformats.org/officeDocument/2006/relationships/image" Target="../media/image37.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6.xml"/><Relationship Id="rId1" Type="http://schemas.openxmlformats.org/officeDocument/2006/relationships/image" Target="../media/image38.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7.xml"/><Relationship Id="rId1" Type="http://schemas.openxmlformats.org/officeDocument/2006/relationships/image" Target="../media/image39.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58.xml"/><Relationship Id="rId1" Type="http://schemas.openxmlformats.org/officeDocument/2006/relationships/image" Target="../media/image40.png"/></Relationships>
</file>

<file path=ppt/slides/_rels/slide70.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59.xml"/><Relationship Id="rId2" Type="http://schemas.openxmlformats.org/officeDocument/2006/relationships/image" Target="../media/image41.png"/><Relationship Id="rId1" Type="http://schemas.openxmlformats.org/officeDocument/2006/relationships/image" Target="../media/image40.png"/></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tags" Target="../tags/tag260.xml"/><Relationship Id="rId2" Type="http://schemas.openxmlformats.org/officeDocument/2006/relationships/image" Target="../media/image43.png"/><Relationship Id="rId1" Type="http://schemas.openxmlformats.org/officeDocument/2006/relationships/image" Target="../media/image42.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1.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3.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4.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65.xml"/><Relationship Id="rId1" Type="http://schemas.openxmlformats.org/officeDocument/2006/relationships/image" Target="../media/image44.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66.xml"/><Relationship Id="rId1" Type="http://schemas.openxmlformats.org/officeDocument/2006/relationships/image" Target="../media/image45.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7.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标题 3"/>
          <p:cNvSpPr>
            <a:spLocks noGrp="1"/>
          </p:cNvSpPr>
          <p:nvPr>
            <p:ph type="ctrTitle"/>
            <p:custDataLst>
              <p:tags r:id="rId1"/>
            </p:custDataLst>
          </p:nvPr>
        </p:nvSpPr>
        <p:spPr>
          <a:xfrm>
            <a:off x="1717675" y="1674448"/>
            <a:ext cx="8316595" cy="1896745"/>
          </a:xfrm>
        </p:spPr>
        <p:txBody>
          <a:bodyPr>
            <a:normAutofit fontScale="90000"/>
          </a:bodyPr>
          <a:lstStyle/>
          <a:p>
            <a:r>
              <a:rPr lang="zh-CN" altLang="en-US" dirty="0">
                <a:solidFill>
                  <a:schemeClr val="accent1"/>
                </a:solidFill>
                <a:sym typeface="Arial" panose="020B0604020202020204" pitchFamily="34" charset="0"/>
              </a:rPr>
              <a:t>人工智能入门实践</a:t>
            </a:r>
            <a:br>
              <a:rPr lang="zh-CN" altLang="en-US" dirty="0">
                <a:sym typeface="Arial" panose="020B0604020202020204" pitchFamily="34" charset="0"/>
              </a:rPr>
            </a:br>
            <a:endParaRPr lang="zh-CN" altLang="en-US" dirty="0">
              <a:sym typeface="Arial" panose="020B0604020202020204" pitchFamily="34" charset="0"/>
            </a:endParaRPr>
          </a:p>
        </p:txBody>
      </p:sp>
      <p:sp>
        <p:nvSpPr>
          <p:cNvPr id="1048605" name="文本占位符 4"/>
          <p:cNvSpPr>
            <a:spLocks noGrp="1"/>
          </p:cNvSpPr>
          <p:nvPr>
            <p:ph type="body" sz="quarter" idx="13"/>
            <p:custDataLst>
              <p:tags r:id="rId2"/>
            </p:custDataLst>
          </p:nvPr>
        </p:nvSpPr>
        <p:spPr>
          <a:xfrm>
            <a:off x="1717675" y="4747260"/>
            <a:ext cx="8370570" cy="1427480"/>
          </a:xfrm>
        </p:spPr>
        <p:txBody>
          <a:bodyPr>
            <a:normAutofit/>
          </a:bodyPr>
          <a:lstStyle/>
          <a:p>
            <a:r>
              <a:rPr lang="en-US" altLang="zh-CN" dirty="0">
                <a:solidFill>
                  <a:schemeClr val="accent1">
                    <a:lumMod val="75000"/>
                  </a:schemeClr>
                </a:solidFill>
                <a:sym typeface="Arial" panose="020B0604020202020204" pitchFamily="34" charset="0"/>
              </a:rPr>
              <a:t>演讲者：</a:t>
            </a:r>
            <a:endParaRPr lang="en-US" altLang="zh-CN" dirty="0">
              <a:solidFill>
                <a:schemeClr val="accent1">
                  <a:lumMod val="75000"/>
                </a:schemeClr>
              </a:solidFill>
              <a:sym typeface="Arial" panose="020B0604020202020204" pitchFamily="34" charset="0"/>
            </a:endParaRPr>
          </a:p>
        </p:txBody>
      </p:sp>
    </p:spTree>
    <p:custDataLst>
      <p:tags r:id="rId3"/>
    </p:custData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6967" y="485174"/>
            <a:ext cx="9832340" cy="441960"/>
          </a:xfrm>
        </p:spPr>
        <p:txBody>
          <a:bodyPr/>
          <a:lstStyle/>
          <a:p>
            <a:r>
              <a:rPr lang="zh-CN" altLang="en-US" sz="3600" dirty="0"/>
              <a:t>第五章 </a:t>
            </a:r>
            <a:r>
              <a:rPr lang="en-US" altLang="zh-CN" sz="3600" dirty="0" err="1"/>
              <a:t>Pytorch</a:t>
            </a:r>
            <a:r>
              <a:rPr lang="zh-CN" altLang="en-US" sz="3600" dirty="0"/>
              <a:t>基础</a:t>
            </a:r>
            <a:endParaRPr lang="zh-CN" altLang="en-US" sz="3600" dirty="0"/>
          </a:p>
        </p:txBody>
      </p:sp>
      <p:sp>
        <p:nvSpPr>
          <p:cNvPr id="9" name="文本框 8"/>
          <p:cNvSpPr txBox="1"/>
          <p:nvPr/>
        </p:nvSpPr>
        <p:spPr>
          <a:xfrm>
            <a:off x="456967" y="1627463"/>
            <a:ext cx="8355435" cy="3970318"/>
          </a:xfrm>
          <a:prstGeom prst="rect">
            <a:avLst/>
          </a:prstGeom>
          <a:noFill/>
        </p:spPr>
        <p:txBody>
          <a:bodyPr wrap="square" rtlCol="0">
            <a:spAutoFit/>
          </a:bodyPr>
          <a:lstStyle/>
          <a:p>
            <a:pPr marL="457200" indent="-457200">
              <a:buFont typeface="Arial" panose="020B0604020202020204" pitchFamily="34" charset="0"/>
              <a:buChar char="•"/>
            </a:pPr>
            <a:r>
              <a:rPr lang="en-US" altLang="zh-CN" sz="2800" b="1" dirty="0">
                <a:solidFill>
                  <a:srgbClr val="577CCE"/>
                </a:solidFill>
                <a:latin typeface="+mj-ea"/>
                <a:ea typeface="+mj-ea"/>
              </a:rPr>
              <a:t>5.1 </a:t>
            </a:r>
            <a:r>
              <a:rPr lang="en-US" altLang="zh-CN" sz="2800" b="1" dirty="0" err="1">
                <a:solidFill>
                  <a:srgbClr val="577CCE"/>
                </a:solidFill>
                <a:latin typeface="+mj-ea"/>
                <a:ea typeface="+mj-ea"/>
              </a:rPr>
              <a:t>PyTorch</a:t>
            </a:r>
            <a:r>
              <a:rPr lang="en-US" altLang="zh-CN" sz="2800" b="1" dirty="0">
                <a:solidFill>
                  <a:srgbClr val="577CCE"/>
                </a:solidFill>
                <a:latin typeface="+mj-ea"/>
                <a:ea typeface="+mj-ea"/>
              </a:rPr>
              <a:t> </a:t>
            </a:r>
            <a:r>
              <a:rPr lang="zh-CN" altLang="en-US" sz="2800" b="1" dirty="0">
                <a:solidFill>
                  <a:srgbClr val="577CCE"/>
                </a:solidFill>
                <a:latin typeface="+mj-ea"/>
                <a:ea typeface="+mj-ea"/>
              </a:rPr>
              <a:t>概述</a:t>
            </a:r>
            <a:endParaRPr lang="en-US" altLang="zh-CN" sz="2800" b="1" dirty="0">
              <a:solidFill>
                <a:srgbClr val="577CCE"/>
              </a:solidFill>
              <a:latin typeface="+mj-ea"/>
              <a:ea typeface="+mj-ea"/>
            </a:endParaRPr>
          </a:p>
          <a:p>
            <a:pPr marL="457200" indent="-457200">
              <a:buFont typeface="Arial" panose="020B0604020202020204" pitchFamily="34" charset="0"/>
              <a:buChar char="•"/>
            </a:pPr>
            <a:endParaRPr lang="zh-CN" altLang="en-US" sz="2800" b="1" dirty="0">
              <a:solidFill>
                <a:srgbClr val="577CCE"/>
              </a:solidFill>
              <a:latin typeface="+mj-ea"/>
              <a:ea typeface="+mj-ea"/>
            </a:endParaRPr>
          </a:p>
          <a:p>
            <a:pPr marL="457200" indent="-457200">
              <a:buFont typeface="Arial" panose="020B0604020202020204" pitchFamily="34" charset="0"/>
              <a:buChar char="•"/>
            </a:pPr>
            <a:r>
              <a:rPr lang="en-US" altLang="zh-CN" sz="2800" b="1" dirty="0">
                <a:solidFill>
                  <a:srgbClr val="577CCE"/>
                </a:solidFill>
                <a:latin typeface="+mj-ea"/>
                <a:ea typeface="+mj-ea"/>
              </a:rPr>
              <a:t>5.2 </a:t>
            </a:r>
            <a:r>
              <a:rPr lang="zh-CN" altLang="en-US" sz="2800" b="1" dirty="0">
                <a:solidFill>
                  <a:srgbClr val="577CCE"/>
                </a:solidFill>
                <a:latin typeface="+mj-ea"/>
                <a:ea typeface="+mj-ea"/>
              </a:rPr>
              <a:t>张量与自动求导</a:t>
            </a:r>
            <a:endParaRPr lang="en-US" altLang="zh-CN" sz="2800" b="1" dirty="0">
              <a:solidFill>
                <a:srgbClr val="577CCE"/>
              </a:solidFill>
              <a:latin typeface="+mj-ea"/>
              <a:ea typeface="+mj-ea"/>
            </a:endParaRPr>
          </a:p>
          <a:p>
            <a:pPr marL="457200" indent="-457200">
              <a:buFont typeface="Arial" panose="020B0604020202020204" pitchFamily="34" charset="0"/>
              <a:buChar char="•"/>
            </a:pPr>
            <a:endParaRPr lang="zh-CN" altLang="en-US" sz="2800" b="1" dirty="0">
              <a:solidFill>
                <a:srgbClr val="577CCE"/>
              </a:solidFill>
              <a:latin typeface="+mj-ea"/>
              <a:ea typeface="+mj-ea"/>
            </a:endParaRPr>
          </a:p>
          <a:p>
            <a:pPr marL="457200" indent="-457200">
              <a:buFont typeface="Arial" panose="020B0604020202020204" pitchFamily="34" charset="0"/>
              <a:buChar char="•"/>
            </a:pPr>
            <a:r>
              <a:rPr lang="en-US" altLang="zh-CN" sz="2800" b="1" dirty="0">
                <a:solidFill>
                  <a:srgbClr val="577CCE"/>
                </a:solidFill>
                <a:latin typeface="+mj-ea"/>
                <a:ea typeface="+mj-ea"/>
              </a:rPr>
              <a:t>5.3 </a:t>
            </a:r>
            <a:r>
              <a:rPr lang="en-US" altLang="zh-CN" sz="2800" b="1" dirty="0" err="1">
                <a:solidFill>
                  <a:srgbClr val="577CCE"/>
                </a:solidFill>
                <a:latin typeface="+mj-ea"/>
                <a:ea typeface="+mj-ea"/>
              </a:rPr>
              <a:t>PyTorch</a:t>
            </a:r>
            <a:r>
              <a:rPr lang="en-US" altLang="zh-CN" sz="2800" b="1" dirty="0">
                <a:solidFill>
                  <a:srgbClr val="577CCE"/>
                </a:solidFill>
                <a:latin typeface="+mj-ea"/>
                <a:ea typeface="+mj-ea"/>
              </a:rPr>
              <a:t> </a:t>
            </a:r>
            <a:r>
              <a:rPr lang="zh-CN" altLang="en-US" sz="2800" b="1" dirty="0">
                <a:solidFill>
                  <a:srgbClr val="577CCE"/>
                </a:solidFill>
                <a:latin typeface="+mj-ea"/>
                <a:ea typeface="+mj-ea"/>
              </a:rPr>
              <a:t>神经网络工具箱</a:t>
            </a:r>
            <a:endParaRPr lang="en-US" altLang="zh-CN" sz="2800" b="1" dirty="0">
              <a:solidFill>
                <a:srgbClr val="577CCE"/>
              </a:solidFill>
              <a:latin typeface="+mj-ea"/>
              <a:ea typeface="+mj-ea"/>
            </a:endParaRPr>
          </a:p>
          <a:p>
            <a:pPr marL="457200" indent="-457200">
              <a:buFont typeface="Arial" panose="020B0604020202020204" pitchFamily="34" charset="0"/>
              <a:buChar char="•"/>
            </a:pPr>
            <a:endParaRPr lang="zh-CN" altLang="en-US" sz="2800" b="1" dirty="0">
              <a:solidFill>
                <a:srgbClr val="577CCE"/>
              </a:solidFill>
              <a:latin typeface="+mj-ea"/>
              <a:ea typeface="+mj-ea"/>
            </a:endParaRPr>
          </a:p>
          <a:p>
            <a:pPr marL="457200" indent="-457200">
              <a:buFont typeface="Arial" panose="020B0604020202020204" pitchFamily="34" charset="0"/>
              <a:buChar char="•"/>
            </a:pPr>
            <a:r>
              <a:rPr lang="en-US" altLang="zh-CN" sz="2800" b="1" dirty="0">
                <a:solidFill>
                  <a:srgbClr val="577CCE"/>
                </a:solidFill>
                <a:latin typeface="+mj-ea"/>
                <a:ea typeface="+mj-ea"/>
              </a:rPr>
              <a:t>5.4 </a:t>
            </a:r>
            <a:r>
              <a:rPr lang="en-US" altLang="zh-CN" sz="2800" b="1" dirty="0" err="1">
                <a:solidFill>
                  <a:srgbClr val="577CCE"/>
                </a:solidFill>
                <a:latin typeface="+mj-ea"/>
                <a:ea typeface="+mj-ea"/>
              </a:rPr>
              <a:t>PyTorch</a:t>
            </a:r>
            <a:r>
              <a:rPr lang="zh-CN" altLang="en-US" sz="2800" b="1" dirty="0">
                <a:solidFill>
                  <a:srgbClr val="577CCE"/>
                </a:solidFill>
                <a:latin typeface="+mj-ea"/>
                <a:ea typeface="+mj-ea"/>
              </a:rPr>
              <a:t>常用工具介绍</a:t>
            </a:r>
            <a:endParaRPr lang="en-US" altLang="zh-CN" sz="2800" b="1" dirty="0">
              <a:solidFill>
                <a:srgbClr val="577CCE"/>
              </a:solidFill>
              <a:latin typeface="+mj-ea"/>
              <a:ea typeface="+mj-ea"/>
            </a:endParaRPr>
          </a:p>
          <a:p>
            <a:pPr marL="457200" indent="-457200">
              <a:buFont typeface="Arial" panose="020B0604020202020204" pitchFamily="34" charset="0"/>
              <a:buChar char="•"/>
            </a:pPr>
            <a:endParaRPr lang="zh-CN" altLang="en-US" sz="2800" b="1" dirty="0">
              <a:solidFill>
                <a:srgbClr val="577CCE"/>
              </a:solidFill>
              <a:latin typeface="+mj-ea"/>
              <a:ea typeface="+mj-ea"/>
            </a:endParaRPr>
          </a:p>
          <a:p>
            <a:pPr marL="457200" indent="-457200">
              <a:buFont typeface="Arial" panose="020B0604020202020204" pitchFamily="34" charset="0"/>
              <a:buChar char="•"/>
            </a:pPr>
            <a:r>
              <a:rPr lang="en-US" altLang="zh-CN" sz="2800" b="1" dirty="0">
                <a:solidFill>
                  <a:srgbClr val="577CCE"/>
                </a:solidFill>
                <a:latin typeface="+mj-ea"/>
                <a:ea typeface="+mj-ea"/>
              </a:rPr>
              <a:t>5.5 </a:t>
            </a:r>
            <a:r>
              <a:rPr lang="en-US" altLang="zh-CN" sz="2800" b="1" dirty="0" err="1">
                <a:solidFill>
                  <a:srgbClr val="577CCE"/>
                </a:solidFill>
                <a:latin typeface="+mj-ea"/>
                <a:ea typeface="+mj-ea"/>
              </a:rPr>
              <a:t>PyTorch</a:t>
            </a:r>
            <a:r>
              <a:rPr lang="en-US" altLang="zh-CN" sz="2800" b="1" dirty="0">
                <a:solidFill>
                  <a:srgbClr val="577CCE"/>
                </a:solidFill>
                <a:latin typeface="+mj-ea"/>
                <a:ea typeface="+mj-ea"/>
              </a:rPr>
              <a:t> </a:t>
            </a:r>
            <a:r>
              <a:rPr lang="zh-CN" altLang="en-US" sz="2800" b="1" dirty="0">
                <a:solidFill>
                  <a:srgbClr val="577CCE"/>
                </a:solidFill>
                <a:latin typeface="+mj-ea"/>
                <a:ea typeface="+mj-ea"/>
              </a:rPr>
              <a:t>回归实战</a:t>
            </a:r>
            <a:endParaRPr lang="zh-CN" altLang="en-US" sz="2800" b="1" dirty="0">
              <a:solidFill>
                <a:srgbClr val="577CCE"/>
              </a:solidFill>
              <a:latin typeface="+mj-ea"/>
              <a:ea typeface="+mj-ea"/>
            </a:endParaRPr>
          </a:p>
        </p:txBody>
      </p:sp>
    </p:spTree>
    <p:custDataLst>
      <p:tags r:id="rId1"/>
    </p:custData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5.1 </a:t>
            </a:r>
            <a:r>
              <a:rPr lang="en-US" altLang="zh-CN" sz="3200" dirty="0" err="1">
                <a:sym typeface="+mn-ea"/>
              </a:rPr>
              <a:t>PyTorch</a:t>
            </a:r>
            <a:r>
              <a:rPr lang="en-US" altLang="zh-CN" sz="3200" dirty="0">
                <a:sym typeface="+mn-ea"/>
              </a:rPr>
              <a:t> </a:t>
            </a:r>
            <a:r>
              <a:rPr lang="zh-CN" altLang="en-US" sz="3200" dirty="0">
                <a:sym typeface="+mn-ea"/>
              </a:rPr>
              <a:t>概述</a:t>
            </a:r>
            <a:endParaRPr lang="zh-CN" altLang="en-US" sz="3200" dirty="0">
              <a:solidFill>
                <a:srgbClr val="FF0000"/>
              </a:solidFill>
              <a:sym typeface="+mn-ea"/>
            </a:endParaRPr>
          </a:p>
        </p:txBody>
      </p:sp>
      <p:sp>
        <p:nvSpPr>
          <p:cNvPr id="8" name="文本框 7"/>
          <p:cNvSpPr txBox="1"/>
          <p:nvPr/>
        </p:nvSpPr>
        <p:spPr>
          <a:xfrm>
            <a:off x="501014" y="1444270"/>
            <a:ext cx="11465653"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在第一章中已经简要介绍了 </a:t>
            </a:r>
            <a:r>
              <a:rPr lang="en-US" altLang="zh-CN" b="0" dirty="0" err="1">
                <a:solidFill>
                  <a:srgbClr val="577CCE"/>
                </a:solidFill>
                <a:effectLst/>
                <a:latin typeface="Consolas" panose="020B0609020204030204" pitchFamily="49" charset="0"/>
              </a:rPr>
              <a:t>PyTorch</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深度学习框架的特点。 </a:t>
            </a:r>
            <a:r>
              <a:rPr lang="en-US" altLang="zh-CN" b="0" dirty="0" err="1">
                <a:solidFill>
                  <a:srgbClr val="577CCE"/>
                </a:solidFill>
                <a:effectLst/>
                <a:latin typeface="Consolas" panose="020B0609020204030204" pitchFamily="49" charset="0"/>
              </a:rPr>
              <a:t>PyTorch</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相对于当前流行的其他深度学习框架，如 </a:t>
            </a:r>
            <a:r>
              <a:rPr lang="en-US" altLang="zh-CN" b="0" dirty="0">
                <a:solidFill>
                  <a:srgbClr val="577CCE"/>
                </a:solidFill>
                <a:effectLst/>
                <a:latin typeface="Consolas" panose="020B0609020204030204" pitchFamily="49" charset="0"/>
              </a:rPr>
              <a:t>TensorFlow</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等，更易于初学者学习和使用。同学们在掌握了 </a:t>
            </a:r>
            <a:r>
              <a:rPr lang="en-US" altLang="zh-CN" b="0" dirty="0" err="1">
                <a:solidFill>
                  <a:srgbClr val="577CCE"/>
                </a:solidFill>
                <a:effectLst/>
                <a:latin typeface="Consolas" panose="020B0609020204030204" pitchFamily="49" charset="0"/>
              </a:rPr>
              <a:t>PyTorch</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深度学习框架的基本使用方法后，会很容易地学习其他深度学习框架。</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501014" y="2698725"/>
            <a:ext cx="10689899" cy="923330"/>
          </a:xfrm>
          <a:prstGeom prst="rect">
            <a:avLst/>
          </a:prstGeom>
          <a:noFill/>
        </p:spPr>
        <p:txBody>
          <a:bodyPr wrap="square">
            <a:spAutoFit/>
          </a:bodyPr>
          <a:lstStyle/>
          <a:p>
            <a:r>
              <a:rPr lang="zh-CN" altLang="en-US" dirty="0"/>
              <a:t>安装 </a:t>
            </a:r>
            <a:r>
              <a:rPr lang="en-US" altLang="zh-CN" dirty="0" err="1">
                <a:solidFill>
                  <a:srgbClr val="577CCE"/>
                </a:solidFill>
              </a:rPr>
              <a:t>PyTorch</a:t>
            </a:r>
            <a:r>
              <a:rPr lang="en-US" altLang="zh-CN" dirty="0"/>
              <a:t> </a:t>
            </a:r>
            <a:r>
              <a:rPr lang="zh-CN" altLang="en-US" dirty="0"/>
              <a:t>有多种方法，访问其官网 </a:t>
            </a:r>
            <a:r>
              <a:rPr lang="en-US" altLang="zh-CN" b="1" i="1" dirty="0">
                <a:solidFill>
                  <a:srgbClr val="E36209"/>
                </a:solidFill>
              </a:rPr>
              <a:t>https://PyTorch.org/</a:t>
            </a:r>
            <a:r>
              <a:rPr lang="zh-CN" altLang="en-US" dirty="0"/>
              <a:t>，可以找到官网提供的 </a:t>
            </a:r>
            <a:r>
              <a:rPr lang="en-US" altLang="zh-CN" dirty="0" err="1">
                <a:solidFill>
                  <a:srgbClr val="577CCE"/>
                </a:solidFill>
              </a:rPr>
              <a:t>PyTorch</a:t>
            </a:r>
            <a:r>
              <a:rPr lang="en-US" altLang="zh-CN" dirty="0">
                <a:solidFill>
                  <a:srgbClr val="577CCE"/>
                </a:solidFill>
              </a:rPr>
              <a:t> </a:t>
            </a:r>
            <a:r>
              <a:rPr lang="zh-CN" altLang="en-US" dirty="0"/>
              <a:t>在不同环境下的安装方法，如图 </a:t>
            </a:r>
            <a:r>
              <a:rPr lang="en-US" altLang="zh-CN" dirty="0"/>
              <a:t>5-1 </a:t>
            </a:r>
            <a:r>
              <a:rPr lang="zh-CN" altLang="en-US" dirty="0"/>
              <a:t>所示。用户选择不同的需求和环境选项，最后一行页面给出的对应安装命令也不同。</a:t>
            </a:r>
            <a:endParaRPr lang="zh-CN" altLang="en-US" dirty="0"/>
          </a:p>
        </p:txBody>
      </p:sp>
      <p:pic>
        <p:nvPicPr>
          <p:cNvPr id="4" name="图片 3"/>
          <p:cNvPicPr>
            <a:picLocks noChangeAspect="1"/>
          </p:cNvPicPr>
          <p:nvPr/>
        </p:nvPicPr>
        <p:blipFill>
          <a:blip r:embed="rId1"/>
          <a:stretch>
            <a:fillRect/>
          </a:stretch>
        </p:blipFill>
        <p:spPr>
          <a:xfrm>
            <a:off x="2513716" y="3628347"/>
            <a:ext cx="6664494" cy="2840261"/>
          </a:xfrm>
          <a:prstGeom prst="rect">
            <a:avLst/>
          </a:prstGeom>
        </p:spPr>
      </p:pic>
    </p:spTree>
    <p:custDataLst>
      <p:tags r:id="rId2"/>
    </p:custData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5.1 </a:t>
            </a:r>
            <a:r>
              <a:rPr lang="en-US" altLang="zh-CN" sz="3200" dirty="0" err="1">
                <a:sym typeface="+mn-ea"/>
              </a:rPr>
              <a:t>PyTorch</a:t>
            </a:r>
            <a:r>
              <a:rPr lang="en-US" altLang="zh-CN" sz="3200" dirty="0">
                <a:sym typeface="+mn-ea"/>
              </a:rPr>
              <a:t> </a:t>
            </a:r>
            <a:r>
              <a:rPr lang="zh-CN" altLang="en-US" sz="3200" dirty="0">
                <a:sym typeface="+mn-ea"/>
              </a:rPr>
              <a:t>概述</a:t>
            </a:r>
            <a:endParaRPr lang="zh-CN" altLang="en-US" sz="3200" dirty="0">
              <a:solidFill>
                <a:srgbClr val="FF0000"/>
              </a:solidFill>
              <a:sym typeface="+mn-ea"/>
            </a:endParaRPr>
          </a:p>
        </p:txBody>
      </p:sp>
      <p:sp>
        <p:nvSpPr>
          <p:cNvPr id="7" name="文本框 6"/>
          <p:cNvSpPr txBox="1"/>
          <p:nvPr/>
        </p:nvSpPr>
        <p:spPr>
          <a:xfrm>
            <a:off x="507769" y="1225689"/>
            <a:ext cx="10689899" cy="5632311"/>
          </a:xfrm>
          <a:prstGeom prst="rect">
            <a:avLst/>
          </a:prstGeom>
          <a:noFill/>
        </p:spPr>
        <p:txBody>
          <a:bodyPr wrap="square">
            <a:spAutoFit/>
          </a:bodyPr>
          <a:lstStyle/>
          <a:p>
            <a:pPr marL="342900" indent="-342900">
              <a:buFont typeface="+mj-lt"/>
              <a:buAutoNum type="arabicPeriod"/>
            </a:pPr>
            <a:r>
              <a:rPr lang="zh-CN" altLang="en-US" b="0" dirty="0">
                <a:solidFill>
                  <a:srgbClr val="24292E"/>
                </a:solidFill>
                <a:effectLst/>
                <a:latin typeface="Consolas" panose="020B0609020204030204" pitchFamily="49" charset="0"/>
              </a:rPr>
              <a:t>图中第一行选择安装的 </a:t>
            </a:r>
            <a:r>
              <a:rPr lang="en-US" altLang="zh-CN" b="0" dirty="0" err="1">
                <a:solidFill>
                  <a:srgbClr val="577CCE"/>
                </a:solidFill>
                <a:effectLst/>
                <a:latin typeface="Consolas" panose="020B0609020204030204" pitchFamily="49" charset="0"/>
              </a:rPr>
              <a:t>PyTorch</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类别， 分为适用于大多数用户的</a:t>
            </a:r>
            <a:r>
              <a:rPr lang="zh-CN" altLang="en-US" b="0" dirty="0">
                <a:solidFill>
                  <a:srgbClr val="FF0000"/>
                </a:solidFill>
                <a:effectLst/>
                <a:latin typeface="Consolas" panose="020B0609020204030204" pitchFamily="49" charset="0"/>
              </a:rPr>
              <a:t>稳定版（</a:t>
            </a:r>
            <a:r>
              <a:rPr lang="en-US" altLang="zh-CN" b="0" dirty="0">
                <a:solidFill>
                  <a:srgbClr val="FF0000"/>
                </a:solidFill>
                <a:effectLst/>
                <a:latin typeface="Consolas" panose="020B0609020204030204" pitchFamily="49" charset="0"/>
              </a:rPr>
              <a:t>Stable</a:t>
            </a:r>
            <a:r>
              <a:rPr lang="zh-CN" altLang="en-US" b="0" dirty="0">
                <a:solidFill>
                  <a:srgbClr val="FF0000"/>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 喜欢关注最新功能的</a:t>
            </a:r>
            <a:r>
              <a:rPr lang="zh-CN" altLang="en-US" b="0" dirty="0">
                <a:solidFill>
                  <a:srgbClr val="FF0000"/>
                </a:solidFill>
                <a:effectLst/>
                <a:latin typeface="Consolas" panose="020B0609020204030204" pitchFamily="49" charset="0"/>
              </a:rPr>
              <a:t>预览版（</a:t>
            </a:r>
            <a:r>
              <a:rPr lang="en-US" altLang="zh-CN" b="0" dirty="0">
                <a:solidFill>
                  <a:srgbClr val="FF0000"/>
                </a:solidFill>
                <a:effectLst/>
                <a:latin typeface="Consolas" panose="020B0609020204030204" pitchFamily="49" charset="0"/>
              </a:rPr>
              <a:t>Preview</a:t>
            </a:r>
            <a:r>
              <a:rPr lang="zh-CN" altLang="en-US" b="0" dirty="0">
                <a:solidFill>
                  <a:srgbClr val="FF0000"/>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和适用于企业的的</a:t>
            </a:r>
            <a:r>
              <a:rPr lang="zh-CN" altLang="en-US" b="0" dirty="0">
                <a:solidFill>
                  <a:srgbClr val="FF0000"/>
                </a:solidFill>
                <a:effectLst/>
                <a:latin typeface="Consolas" panose="020B0609020204030204" pitchFamily="49" charset="0"/>
              </a:rPr>
              <a:t>长期支持版（</a:t>
            </a:r>
            <a:r>
              <a:rPr lang="en-US" altLang="zh-CN" b="0" dirty="0">
                <a:solidFill>
                  <a:srgbClr val="FF0000"/>
                </a:solidFill>
                <a:effectLst/>
                <a:latin typeface="Consolas" panose="020B0609020204030204" pitchFamily="49" charset="0"/>
              </a:rPr>
              <a:t>LTS</a:t>
            </a:r>
            <a:r>
              <a:rPr lang="zh-CN" altLang="en-US" b="0" dirty="0">
                <a:solidFill>
                  <a:srgbClr val="FF0000"/>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a:t>
            </a:r>
            <a:endParaRPr lang="en-US" altLang="zh-CN" dirty="0"/>
          </a:p>
          <a:p>
            <a:pPr marL="342900" indent="-342900">
              <a:buFont typeface="+mj-lt"/>
              <a:buAutoNum type="arabicPeriod"/>
            </a:pPr>
            <a:endParaRPr lang="en-US" altLang="zh-CN" dirty="0"/>
          </a:p>
          <a:p>
            <a:pPr marL="342900" indent="-342900">
              <a:buFont typeface="+mj-lt"/>
              <a:buAutoNum type="arabicPeriod"/>
            </a:pPr>
            <a:r>
              <a:rPr lang="zh-CN" altLang="en-US" dirty="0"/>
              <a:t>第二行选择用户自己的操作系统</a:t>
            </a:r>
            <a:endParaRPr lang="en-US" altLang="zh-CN" dirty="0"/>
          </a:p>
          <a:p>
            <a:pPr marL="342900" indent="-342900">
              <a:buFont typeface="+mj-lt"/>
              <a:buAutoNum type="arabicPeriod"/>
            </a:pPr>
            <a:endParaRPr lang="en-US" altLang="zh-CN" dirty="0"/>
          </a:p>
          <a:p>
            <a:pPr marL="342900" indent="-342900">
              <a:buFont typeface="+mj-lt"/>
              <a:buAutoNum type="arabicPeriod"/>
            </a:pPr>
            <a:r>
              <a:rPr lang="zh-CN" altLang="en-US" dirty="0"/>
              <a:t>第三行选择安装方式， 通常使用 </a:t>
            </a:r>
            <a:r>
              <a:rPr lang="en-US" altLang="zh-CN" dirty="0" err="1">
                <a:solidFill>
                  <a:srgbClr val="FF0000"/>
                </a:solidFill>
              </a:rPr>
              <a:t>Conda</a:t>
            </a:r>
            <a:r>
              <a:rPr lang="en-US" altLang="zh-CN" dirty="0">
                <a:solidFill>
                  <a:srgbClr val="FF0000"/>
                </a:solidFill>
              </a:rPr>
              <a:t> </a:t>
            </a:r>
            <a:r>
              <a:rPr lang="zh-CN" altLang="en-US" dirty="0">
                <a:solidFill>
                  <a:srgbClr val="FF0000"/>
                </a:solidFill>
              </a:rPr>
              <a:t>或 </a:t>
            </a:r>
            <a:r>
              <a:rPr lang="en-US" altLang="zh-CN" dirty="0">
                <a:solidFill>
                  <a:srgbClr val="FF0000"/>
                </a:solidFill>
              </a:rPr>
              <a:t>Pip</a:t>
            </a:r>
            <a:r>
              <a:rPr lang="zh-CN" altLang="en-US" dirty="0"/>
              <a:t>。</a:t>
            </a:r>
            <a:endParaRPr lang="en-US" altLang="zh-CN" dirty="0"/>
          </a:p>
          <a:p>
            <a:pPr marL="342900" indent="-342900">
              <a:buFont typeface="+mj-lt"/>
              <a:buAutoNum type="arabicPeriod"/>
            </a:pPr>
            <a:endParaRPr lang="en-US" altLang="zh-CN" dirty="0"/>
          </a:p>
          <a:p>
            <a:pPr marL="342900" indent="-342900">
              <a:buFont typeface="+mj-lt"/>
              <a:buAutoNum type="arabicPeriod"/>
            </a:pPr>
            <a:r>
              <a:rPr lang="zh-CN" altLang="en-US" dirty="0"/>
              <a:t>第四行选择使用 </a:t>
            </a:r>
            <a:r>
              <a:rPr lang="zh-CN" altLang="en-US" dirty="0">
                <a:solidFill>
                  <a:srgbClr val="577CCE"/>
                </a:solidFill>
              </a:rPr>
              <a:t>PyTorch</a:t>
            </a:r>
            <a:r>
              <a:rPr lang="zh-CN" altLang="en-US" dirty="0"/>
              <a:t> 的开发语言， </a:t>
            </a:r>
            <a:r>
              <a:rPr lang="zh-CN" altLang="en-US" dirty="0">
                <a:solidFill>
                  <a:srgbClr val="577CCE"/>
                </a:solidFill>
              </a:rPr>
              <a:t>PyTorch</a:t>
            </a:r>
            <a:r>
              <a:rPr lang="zh-CN" altLang="en-US" dirty="0"/>
              <a:t> 支持 </a:t>
            </a:r>
            <a:r>
              <a:rPr lang="zh-CN" altLang="en-US" dirty="0">
                <a:solidFill>
                  <a:srgbClr val="FF0000"/>
                </a:solidFill>
              </a:rPr>
              <a:t>Python 语言、 C++和 Java</a:t>
            </a:r>
            <a:r>
              <a:rPr lang="zh-CN" altLang="en-US" dirty="0"/>
              <a:t>， 需要注意的是， 选择C++和 Java 语言只能采用 </a:t>
            </a:r>
            <a:r>
              <a:rPr lang="zh-CN" altLang="en-US" dirty="0">
                <a:solidFill>
                  <a:srgbClr val="FF0000"/>
                </a:solidFill>
              </a:rPr>
              <a:t>LibTorch</a:t>
            </a:r>
            <a:r>
              <a:rPr lang="zh-CN" altLang="en-US" dirty="0"/>
              <a:t> 进行安装。</a:t>
            </a:r>
            <a:endParaRPr lang="en-US" altLang="zh-CN" dirty="0"/>
          </a:p>
          <a:p>
            <a:pPr marL="342900" indent="-342900">
              <a:buFont typeface="+mj-lt"/>
              <a:buAutoNum type="arabicPeriod"/>
            </a:pPr>
            <a:endParaRPr lang="en-US" altLang="zh-CN" dirty="0"/>
          </a:p>
          <a:p>
            <a:pPr marL="342900" indent="-342900">
              <a:buFont typeface="+mj-lt"/>
              <a:buAutoNum type="arabicPeriod"/>
            </a:pPr>
            <a:r>
              <a:rPr lang="zh-CN" altLang="en-US" dirty="0"/>
              <a:t>第四行选择 </a:t>
            </a:r>
            <a:r>
              <a:rPr lang="zh-CN" altLang="en-US" dirty="0">
                <a:solidFill>
                  <a:srgbClr val="577CCE"/>
                </a:solidFill>
              </a:rPr>
              <a:t>PyTorch</a:t>
            </a:r>
            <a:r>
              <a:rPr lang="zh-CN" altLang="en-US" dirty="0"/>
              <a:t> 在开发或应用时的计算环境， 若自己的系统有英伟达公司的 GPU 支持， 则可以选择系统中相应的 </a:t>
            </a:r>
            <a:r>
              <a:rPr lang="zh-CN" altLang="en-US" dirty="0">
                <a:solidFill>
                  <a:srgbClr val="FF0000"/>
                </a:solidFill>
              </a:rPr>
              <a:t>CUDA 环境</a:t>
            </a:r>
            <a:r>
              <a:rPr lang="zh-CN" altLang="en-US" dirty="0"/>
              <a:t>， 这样可以加快模型的训练和推理速度， 否则， 就在 CPU 环境下进行运算。 CUDA 是由英伟达推出的通用并行计算架构， 可使 GPU 能够快速进行复杂的计算问题， 如矩阵乘法运算。</a:t>
            </a:r>
            <a:endParaRPr lang="zh-CN" altLang="en-US" dirty="0"/>
          </a:p>
          <a:p>
            <a:pPr marL="342900" indent="-342900">
              <a:buFont typeface="+mj-lt"/>
              <a:buAutoNum type="arabicPeriod"/>
            </a:pPr>
            <a:endParaRPr lang="zh-CN" altLang="en-US" dirty="0"/>
          </a:p>
          <a:p>
            <a:pPr marL="342900" indent="-342900">
              <a:buFont typeface="+mj-lt"/>
              <a:buAutoNum type="arabicPeriod"/>
            </a:pPr>
            <a:r>
              <a:rPr lang="zh-CN" altLang="en-US" dirty="0"/>
              <a:t>在图中最后一行给出的安装命令中可以发现， 除了安装 </a:t>
            </a:r>
            <a:r>
              <a:rPr lang="zh-CN" altLang="en-US" dirty="0">
                <a:solidFill>
                  <a:srgbClr val="577CCE"/>
                </a:solidFill>
              </a:rPr>
              <a:t>PyTorch</a:t>
            </a:r>
            <a:r>
              <a:rPr lang="zh-CN" altLang="en-US" dirty="0"/>
              <a:t> 框架外， 默认还会安装 </a:t>
            </a:r>
            <a:r>
              <a:rPr lang="zh-CN" altLang="en-US" dirty="0">
                <a:solidFill>
                  <a:srgbClr val="FF0000"/>
                </a:solidFill>
              </a:rPr>
              <a:t>torchvision</a:t>
            </a:r>
            <a:r>
              <a:rPr lang="zh-CN" altLang="en-US" dirty="0"/>
              <a:t> 和 </a:t>
            </a:r>
            <a:r>
              <a:rPr lang="zh-CN" altLang="en-US" dirty="0">
                <a:solidFill>
                  <a:srgbClr val="FF0000"/>
                </a:solidFill>
              </a:rPr>
              <a:t>torchaudio</a:t>
            </a:r>
            <a:r>
              <a:rPr lang="zh-CN" altLang="en-US" dirty="0"/>
              <a:t> 两个扩展包。 其中 </a:t>
            </a:r>
            <a:r>
              <a:rPr lang="zh-CN" altLang="en-US" dirty="0">
                <a:solidFill>
                  <a:srgbClr val="FF0000"/>
                </a:solidFill>
              </a:rPr>
              <a:t>torchvision</a:t>
            </a:r>
            <a:r>
              <a:rPr lang="zh-CN" altLang="en-US" dirty="0"/>
              <a:t> 包括了流行的</a:t>
            </a:r>
            <a:r>
              <a:rPr lang="zh-CN" altLang="en-US" dirty="0">
                <a:solidFill>
                  <a:srgbClr val="FF0000"/>
                </a:solidFill>
              </a:rPr>
              <a:t>计算机视觉数据集、 模型架构和常见图像转换库</a:t>
            </a:r>
            <a:r>
              <a:rPr lang="zh-CN" altLang="en-US" dirty="0"/>
              <a:t>， </a:t>
            </a:r>
            <a:r>
              <a:rPr lang="zh-CN" altLang="en-US" dirty="0">
                <a:solidFill>
                  <a:srgbClr val="FF0000"/>
                </a:solidFill>
              </a:rPr>
              <a:t>torchaudio</a:t>
            </a:r>
            <a:r>
              <a:rPr lang="zh-CN" altLang="en-US" dirty="0"/>
              <a:t> 是</a:t>
            </a:r>
            <a:r>
              <a:rPr lang="zh-CN" altLang="en-US" dirty="0">
                <a:solidFill>
                  <a:srgbClr val="FF0000"/>
                </a:solidFill>
              </a:rPr>
              <a:t>音频和信号处理库， 提供 I/O、 信号和数据处理功能、 数据集、 模型实现和应用程序组件</a:t>
            </a:r>
            <a:r>
              <a:rPr lang="zh-CN" altLang="en-US" dirty="0"/>
              <a:t>等。 在安装 PyTorch 时， 可根据自己的需要选择是否安装这两个包。</a:t>
            </a:r>
            <a:endParaRPr lang="zh-CN" altLang="en-US" dirty="0"/>
          </a:p>
          <a:p>
            <a:pPr marL="342900" indent="-342900">
              <a:buFont typeface="+mj-lt"/>
              <a:buAutoNum type="arabicPeriod"/>
            </a:pPr>
            <a:endParaRPr lang="zh-CN" altLang="en-US" dirty="0"/>
          </a:p>
        </p:txBody>
      </p:sp>
    </p:spTree>
    <p:custDataLst>
      <p:tags r:id="rId1"/>
    </p:custData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5.1 </a:t>
            </a:r>
            <a:r>
              <a:rPr lang="en-US" altLang="zh-CN" sz="3200" dirty="0" err="1">
                <a:sym typeface="+mn-ea"/>
              </a:rPr>
              <a:t>PyTorch</a:t>
            </a:r>
            <a:r>
              <a:rPr lang="en-US" altLang="zh-CN" sz="3200" dirty="0">
                <a:sym typeface="+mn-ea"/>
              </a:rPr>
              <a:t> </a:t>
            </a:r>
            <a:r>
              <a:rPr lang="zh-CN" altLang="en-US" sz="3200" dirty="0">
                <a:sym typeface="+mn-ea"/>
              </a:rPr>
              <a:t>概述</a:t>
            </a:r>
            <a:endParaRPr lang="zh-CN" altLang="en-US" sz="3200" dirty="0">
              <a:solidFill>
                <a:srgbClr val="FF0000"/>
              </a:solidFill>
              <a:sym typeface="+mn-ea"/>
            </a:endParaRPr>
          </a:p>
        </p:txBody>
      </p:sp>
      <p:sp>
        <p:nvSpPr>
          <p:cNvPr id="8" name="文本框 7"/>
          <p:cNvSpPr txBox="1"/>
          <p:nvPr/>
        </p:nvSpPr>
        <p:spPr>
          <a:xfrm>
            <a:off x="501014" y="1444270"/>
            <a:ext cx="11465653"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需要注意的是，在安装命令后面的“</a:t>
            </a:r>
            <a:r>
              <a:rPr lang="en-US" altLang="zh-CN" b="0" dirty="0">
                <a:solidFill>
                  <a:srgbClr val="577CCE"/>
                </a:solidFill>
                <a:effectLst/>
                <a:latin typeface="Consolas" panose="020B0609020204030204" pitchFamily="49" charset="0"/>
              </a:rPr>
              <a:t>-c </a:t>
            </a:r>
            <a:r>
              <a:rPr lang="en-US" altLang="zh-CN" b="0" dirty="0" err="1">
                <a:solidFill>
                  <a:srgbClr val="577CCE"/>
                </a:solidFill>
                <a:effectLst/>
                <a:latin typeface="Consolas" panose="020B0609020204030204" pitchFamily="49" charset="0"/>
              </a:rPr>
              <a:t>pytorch</a:t>
            </a:r>
            <a:r>
              <a:rPr lang="zh-CN" altLang="en-US" dirty="0">
                <a:solidFill>
                  <a:srgbClr val="24292E"/>
                </a:solidFill>
                <a:latin typeface="Consolas" panose="020B0609020204030204" pitchFamily="49" charset="0"/>
              </a:rPr>
              <a:t>”</a:t>
            </a:r>
            <a:r>
              <a:rPr lang="zh-CN" altLang="en-US" b="0" dirty="0">
                <a:solidFill>
                  <a:srgbClr val="24292E"/>
                </a:solidFill>
                <a:effectLst/>
                <a:latin typeface="Consolas" panose="020B0609020204030204" pitchFamily="49" charset="0"/>
              </a:rPr>
              <a:t>表示使用名为 </a:t>
            </a:r>
            <a:r>
              <a:rPr lang="en-US" altLang="zh-CN" b="0" dirty="0" err="1">
                <a:solidFill>
                  <a:srgbClr val="24292E"/>
                </a:solidFill>
                <a:effectLst/>
                <a:latin typeface="Consolas" panose="020B0609020204030204" pitchFamily="49" charset="0"/>
              </a:rPr>
              <a:t>pytorch</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的 </a:t>
            </a:r>
            <a:r>
              <a:rPr lang="en-US" altLang="zh-CN" b="0" dirty="0" err="1">
                <a:solidFill>
                  <a:srgbClr val="24292E"/>
                </a:solidFill>
                <a:effectLst/>
                <a:latin typeface="Consolas" panose="020B0609020204030204" pitchFamily="49" charset="0"/>
              </a:rPr>
              <a:t>Conda</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通道进行安装。如果你的 </a:t>
            </a:r>
            <a:r>
              <a:rPr lang="en-US" altLang="zh-CN" b="0" dirty="0" err="1">
                <a:solidFill>
                  <a:srgbClr val="24292E"/>
                </a:solidFill>
                <a:effectLst/>
                <a:latin typeface="Consolas" panose="020B0609020204030204" pitchFamily="49" charset="0"/>
              </a:rPr>
              <a:t>Conda</a:t>
            </a:r>
            <a:r>
              <a:rPr lang="en-US" altLang="zh-CN" b="0" dirty="0">
                <a:solidFill>
                  <a:srgbClr val="24292E"/>
                </a:solidFill>
                <a:effectLst/>
                <a:latin typeface="Consolas" panose="020B0609020204030204" pitchFamily="49" charset="0"/>
              </a:rPr>
              <a:t> </a:t>
            </a:r>
            <a:r>
              <a:rPr lang="zh-CN" altLang="en-US" b="0" dirty="0">
                <a:solidFill>
                  <a:srgbClr val="24292E"/>
                </a:solidFill>
                <a:effectLst/>
                <a:latin typeface="Consolas" panose="020B0609020204030204" pitchFamily="49" charset="0"/>
              </a:rPr>
              <a:t>环境未配置该通道，可以删除“</a:t>
            </a:r>
            <a:r>
              <a:rPr lang="en-US" altLang="zh-CN" b="0" dirty="0">
                <a:solidFill>
                  <a:srgbClr val="577CCE"/>
                </a:solidFill>
                <a:effectLst/>
                <a:latin typeface="Consolas" panose="020B0609020204030204" pitchFamily="49" charset="0"/>
              </a:rPr>
              <a:t>-c </a:t>
            </a:r>
            <a:r>
              <a:rPr lang="en-US" altLang="zh-CN" b="0" dirty="0" err="1">
                <a:solidFill>
                  <a:srgbClr val="577CCE"/>
                </a:solidFill>
                <a:effectLst/>
                <a:latin typeface="Consolas" panose="020B0609020204030204" pitchFamily="49" charset="0"/>
              </a:rPr>
              <a:t>pytorch</a:t>
            </a:r>
            <a:r>
              <a:rPr lang="zh-CN" altLang="en-US" dirty="0">
                <a:solidFill>
                  <a:srgbClr val="24292E"/>
                </a:solidFill>
                <a:latin typeface="Consolas" panose="020B0609020204030204" pitchFamily="49" charset="0"/>
              </a:rPr>
              <a:t>”</a:t>
            </a:r>
            <a:r>
              <a:rPr lang="zh-CN" altLang="en-US" b="0" dirty="0">
                <a:solidFill>
                  <a:srgbClr val="24292E"/>
                </a:solidFill>
                <a:effectLst/>
                <a:latin typeface="Consolas" panose="020B0609020204030204" pitchFamily="49" charset="0"/>
              </a:rPr>
              <a:t>或使用自己配置的通道以加快安装速度。</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501014" y="2931761"/>
            <a:ext cx="11189971" cy="369332"/>
          </a:xfrm>
          <a:prstGeom prst="rect">
            <a:avLst/>
          </a:prstGeom>
          <a:noFill/>
        </p:spPr>
        <p:txBody>
          <a:bodyPr wrap="square">
            <a:spAutoFit/>
          </a:bodyPr>
          <a:lstStyle/>
          <a:p>
            <a:r>
              <a:rPr lang="zh-CN" altLang="en-US" dirty="0"/>
              <a:t>此外，你也可以使用 </a:t>
            </a:r>
            <a:r>
              <a:rPr lang="en-US" altLang="zh-CN" dirty="0"/>
              <a:t>pip </a:t>
            </a:r>
            <a:r>
              <a:rPr lang="zh-CN" altLang="en-US" dirty="0"/>
              <a:t>包管理器在 </a:t>
            </a:r>
            <a:r>
              <a:rPr lang="en-US" altLang="zh-CN" dirty="0"/>
              <a:t>Linux </a:t>
            </a:r>
            <a:r>
              <a:rPr lang="zh-CN" altLang="en-US" dirty="0"/>
              <a:t>平台下安装 </a:t>
            </a:r>
            <a:r>
              <a:rPr lang="en-US" altLang="zh-CN" dirty="0" err="1">
                <a:solidFill>
                  <a:srgbClr val="577CCE"/>
                </a:solidFill>
              </a:rPr>
              <a:t>Cuda</a:t>
            </a:r>
            <a:r>
              <a:rPr lang="en-US" altLang="zh-CN" dirty="0">
                <a:solidFill>
                  <a:srgbClr val="577CCE"/>
                </a:solidFill>
              </a:rPr>
              <a:t> 11.3 </a:t>
            </a:r>
            <a:r>
              <a:rPr lang="zh-CN" altLang="en-US" dirty="0"/>
              <a:t>版本的 </a:t>
            </a:r>
            <a:r>
              <a:rPr lang="en-US" altLang="zh-CN" dirty="0" err="1">
                <a:solidFill>
                  <a:srgbClr val="577CCE"/>
                </a:solidFill>
              </a:rPr>
              <a:t>PyTorch</a:t>
            </a:r>
            <a:r>
              <a:rPr lang="en-US" altLang="zh-CN" dirty="0">
                <a:solidFill>
                  <a:srgbClr val="577CCE"/>
                </a:solidFill>
              </a:rPr>
              <a:t> 1.10.2</a:t>
            </a:r>
            <a:r>
              <a:rPr lang="zh-CN" altLang="en-US" dirty="0"/>
              <a:t>。安装命令如下：</a:t>
            </a:r>
            <a:endParaRPr lang="zh-CN" altLang="en-US" dirty="0"/>
          </a:p>
        </p:txBody>
      </p:sp>
      <p:sp>
        <p:nvSpPr>
          <p:cNvPr id="6" name="文本框 5"/>
          <p:cNvSpPr txBox="1"/>
          <p:nvPr/>
        </p:nvSpPr>
        <p:spPr>
          <a:xfrm>
            <a:off x="1173642" y="3537007"/>
            <a:ext cx="10689899"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pip3 install torch</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1.10</a:t>
            </a:r>
            <a:r>
              <a:rPr lang="en-US" altLang="zh-CN" b="0" dirty="0">
                <a:solidFill>
                  <a:srgbClr val="24292E"/>
                </a:solidFill>
                <a:effectLst/>
                <a:latin typeface="Consolas" panose="020B0609020204030204" pitchFamily="49" charset="0"/>
              </a:rPr>
              <a:t>.2</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cu113 </a:t>
            </a:r>
            <a:r>
              <a:rPr lang="en-US" altLang="zh-CN" b="0" dirty="0" err="1">
                <a:solidFill>
                  <a:srgbClr val="24292E"/>
                </a:solidFill>
                <a:effectLst/>
                <a:latin typeface="Consolas" panose="020B0609020204030204" pitchFamily="49" charset="0"/>
              </a:rPr>
              <a:t>torchvision</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0.11</a:t>
            </a:r>
            <a:r>
              <a:rPr lang="en-US" altLang="zh-CN" b="0" dirty="0">
                <a:solidFill>
                  <a:srgbClr val="24292E"/>
                </a:solidFill>
                <a:effectLst/>
                <a:latin typeface="Consolas" panose="020B0609020204030204" pitchFamily="49" charset="0"/>
              </a:rPr>
              <a:t>.3</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cu113 </a:t>
            </a:r>
            <a:r>
              <a:rPr lang="en-US" altLang="zh-CN" b="0" dirty="0" err="1">
                <a:solidFill>
                  <a:srgbClr val="24292E"/>
                </a:solidFill>
                <a:effectLst/>
                <a:latin typeface="Consolas" panose="020B0609020204030204" pitchFamily="49" charset="0"/>
              </a:rPr>
              <a:t>torchaudio</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0.10</a:t>
            </a:r>
            <a:r>
              <a:rPr lang="en-US" altLang="zh-CN" b="0" dirty="0">
                <a:solidFill>
                  <a:srgbClr val="24292E"/>
                </a:solidFill>
                <a:effectLst/>
                <a:latin typeface="Consolas" panose="020B0609020204030204" pitchFamily="49" charset="0"/>
              </a:rPr>
              <a:t>.2</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cu113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f https:</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download.PyTorch.org</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whl</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cu113</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torch_stable.html</a:t>
            </a:r>
            <a:endParaRPr lang="en-US" altLang="zh-CN" b="0" dirty="0">
              <a:solidFill>
                <a:srgbClr val="24292E"/>
              </a:solidFill>
              <a:effectLst/>
              <a:latin typeface="Consolas" panose="020B0609020204030204" pitchFamily="49" charset="0"/>
            </a:endParaRPr>
          </a:p>
        </p:txBody>
      </p:sp>
      <p:sp>
        <p:nvSpPr>
          <p:cNvPr id="10" name="文本框 9"/>
          <p:cNvSpPr txBox="1"/>
          <p:nvPr/>
        </p:nvSpPr>
        <p:spPr>
          <a:xfrm>
            <a:off x="501014" y="4436543"/>
            <a:ext cx="11362527" cy="369332"/>
          </a:xfrm>
          <a:prstGeom prst="rect">
            <a:avLst/>
          </a:prstGeom>
          <a:noFill/>
        </p:spPr>
        <p:txBody>
          <a:bodyPr wrap="square">
            <a:spAutoFit/>
          </a:bodyPr>
          <a:lstStyle/>
          <a:p>
            <a:r>
              <a:rPr lang="zh-CN" altLang="en-US" dirty="0"/>
              <a:t>安装完成后，你可以进入 Python 环境检测是否成功安装 PyTorch，如下所示：</a:t>
            </a:r>
            <a:endParaRPr lang="zh-CN" altLang="en-US" dirty="0"/>
          </a:p>
        </p:txBody>
      </p:sp>
      <p:sp>
        <p:nvSpPr>
          <p:cNvPr id="12" name="文本框 11"/>
          <p:cNvSpPr txBox="1"/>
          <p:nvPr/>
        </p:nvSpPr>
        <p:spPr>
          <a:xfrm>
            <a:off x="1173641" y="5059080"/>
            <a:ext cx="9737521" cy="1477328"/>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torch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导入 </a:t>
            </a:r>
            <a:r>
              <a:rPr lang="en-US" altLang="zh-CN" b="0" dirty="0" err="1">
                <a:solidFill>
                  <a:srgbClr val="6A737D"/>
                </a:solidFill>
                <a:effectLst/>
                <a:latin typeface="Consolas" panose="020B0609020204030204" pitchFamily="49" charset="0"/>
              </a:rPr>
              <a:t>PyTorch</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D73A49"/>
                </a:solidFill>
                <a:effectLst/>
                <a:latin typeface="Consolas" panose="020B0609020204030204" pitchFamily="49" charset="0"/>
              </a:rPr>
              <a:t>f</a:t>
            </a:r>
            <a:r>
              <a:rPr lang="en-US" altLang="zh-CN" b="0" dirty="0" err="1">
                <a:solidFill>
                  <a:srgbClr val="032F62"/>
                </a:solidFill>
                <a:effectLst/>
                <a:latin typeface="Consolas" panose="020B0609020204030204" pitchFamily="49" charset="0"/>
              </a:rPr>
              <a:t>'Torch</a:t>
            </a:r>
            <a:r>
              <a:rPr lang="en-US" altLang="zh-CN" b="0" dirty="0">
                <a:solidFill>
                  <a:srgbClr val="032F62"/>
                </a:solidFill>
                <a:effectLst/>
                <a:latin typeface="Consolas" panose="020B0609020204030204" pitchFamily="49" charset="0"/>
              </a:rPr>
              <a:t> </a:t>
            </a:r>
            <a:r>
              <a:rPr lang="zh-CN" altLang="en-US" b="0" dirty="0">
                <a:solidFill>
                  <a:srgbClr val="032F62"/>
                </a:solidFill>
                <a:effectLst/>
                <a:latin typeface="Consolas" panose="020B0609020204030204" pitchFamily="49" charset="0"/>
              </a:rPr>
              <a:t>版本为</a:t>
            </a:r>
            <a:r>
              <a:rPr lang="en-US" altLang="zh-CN" b="0" dirty="0">
                <a:solidFill>
                  <a:srgbClr val="032F62"/>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torch.</a:t>
            </a:r>
            <a:r>
              <a:rPr lang="en-US" altLang="zh-CN" b="0" dirty="0" err="1">
                <a:solidFill>
                  <a:srgbClr val="005CC5"/>
                </a:solidFill>
                <a:effectLst/>
                <a:latin typeface="Consolas" panose="020B0609020204030204" pitchFamily="49" charset="0"/>
              </a:rPr>
              <a:t>__version</a:t>
            </a:r>
            <a:r>
              <a:rPr lang="en-US" altLang="zh-CN" b="0" dirty="0">
                <a:solidFill>
                  <a:srgbClr val="005CC5"/>
                </a:solidFill>
                <a:effectLst/>
                <a:latin typeface="Consolas" panose="020B0609020204030204" pitchFamily="49" charset="0"/>
              </a:rPr>
              <a:t>__}</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Torch </a:t>
            </a:r>
            <a:r>
              <a:rPr lang="zh-CN" altLang="en-US" b="0" dirty="0">
                <a:solidFill>
                  <a:srgbClr val="24292E"/>
                </a:solidFill>
                <a:effectLst/>
                <a:latin typeface="Consolas" panose="020B0609020204030204" pitchFamily="49" charset="0"/>
              </a:rPr>
              <a:t>版本为 </a:t>
            </a:r>
            <a:r>
              <a:rPr lang="en-US" altLang="zh-CN" b="0" dirty="0">
                <a:solidFill>
                  <a:srgbClr val="005CC5"/>
                </a:solidFill>
                <a:effectLst/>
                <a:latin typeface="Consolas" panose="020B0609020204030204" pitchFamily="49" charset="0"/>
              </a:rPr>
              <a:t>1.10</a:t>
            </a:r>
            <a:r>
              <a:rPr lang="en-US" altLang="zh-CN" b="0" dirty="0">
                <a:solidFill>
                  <a:srgbClr val="24292E"/>
                </a:solidFill>
                <a:effectLst/>
                <a:latin typeface="Consolas" panose="020B0609020204030204" pitchFamily="49" charset="0"/>
              </a:rPr>
              <a:t>.2</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cu113</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&gt;&gt;&gt;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D73A49"/>
                </a:solidFill>
                <a:effectLst/>
                <a:latin typeface="Consolas" panose="020B0609020204030204" pitchFamily="49" charset="0"/>
              </a:rPr>
              <a:t>f</a:t>
            </a:r>
            <a:r>
              <a:rPr lang="en-US" altLang="zh-CN" b="0" dirty="0" err="1">
                <a:solidFill>
                  <a:srgbClr val="032F62"/>
                </a:solidFill>
                <a:effectLst/>
                <a:latin typeface="Consolas" panose="020B0609020204030204" pitchFamily="49" charset="0"/>
              </a:rPr>
              <a:t>'Torch</a:t>
            </a:r>
            <a:r>
              <a:rPr lang="en-US" altLang="zh-CN" b="0" dirty="0">
                <a:solidFill>
                  <a:srgbClr val="032F62"/>
                </a:solidFill>
                <a:effectLst/>
                <a:latin typeface="Consolas" panose="020B0609020204030204" pitchFamily="49" charset="0"/>
              </a:rPr>
              <a:t> </a:t>
            </a:r>
            <a:r>
              <a:rPr lang="zh-CN" altLang="en-US" b="0" dirty="0">
                <a:solidFill>
                  <a:srgbClr val="032F62"/>
                </a:solidFill>
                <a:effectLst/>
                <a:latin typeface="Consolas" panose="020B0609020204030204" pitchFamily="49" charset="0"/>
              </a:rPr>
              <a:t>是否可使用 </a:t>
            </a:r>
            <a:r>
              <a:rPr lang="en-US" altLang="zh-CN" b="0" dirty="0">
                <a:solidFill>
                  <a:srgbClr val="032F62"/>
                </a:solidFill>
                <a:effectLst/>
                <a:latin typeface="Consolas" panose="020B0609020204030204" pitchFamily="49" charset="0"/>
              </a:rPr>
              <a:t>CUDA</a:t>
            </a:r>
            <a:r>
              <a:rPr lang="zh-CN" altLang="en-US" b="0" dirty="0">
                <a:solidFill>
                  <a:srgbClr val="032F62"/>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torch.cuda.is_available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Torch </a:t>
            </a:r>
            <a:r>
              <a:rPr lang="zh-CN" altLang="en-US" b="0" dirty="0">
                <a:solidFill>
                  <a:srgbClr val="24292E"/>
                </a:solidFill>
                <a:effectLst/>
                <a:latin typeface="Consolas" panose="020B0609020204030204" pitchFamily="49" charset="0"/>
              </a:rPr>
              <a:t>是否可使用 </a:t>
            </a:r>
            <a:r>
              <a:rPr lang="en-US" altLang="zh-CN" b="0" dirty="0">
                <a:solidFill>
                  <a:srgbClr val="005CC5"/>
                </a:solidFill>
                <a:effectLst/>
                <a:latin typeface="Consolas" panose="020B0609020204030204" pitchFamily="49" charset="0"/>
              </a:rPr>
              <a:t>CUDA</a:t>
            </a:r>
            <a:r>
              <a:rPr lang="zh-CN" altLang="en-US"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True</a:t>
            </a:r>
            <a:endParaRPr lang="en-US" altLang="zh-CN" b="0" dirty="0">
              <a:solidFill>
                <a:srgbClr val="24292E"/>
              </a:solidFill>
              <a:effectLst/>
              <a:latin typeface="Consolas" panose="020B0609020204030204" pitchFamily="49" charset="0"/>
            </a:endParaRPr>
          </a:p>
        </p:txBody>
      </p:sp>
      <p:sp>
        <p:nvSpPr>
          <p:cNvPr id="14" name="文本框 13"/>
          <p:cNvSpPr txBox="1"/>
          <p:nvPr/>
        </p:nvSpPr>
        <p:spPr>
          <a:xfrm>
            <a:off x="1173641" y="2326515"/>
            <a:ext cx="9522321"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conda</a:t>
            </a:r>
            <a:r>
              <a:rPr lang="en-US" altLang="zh-CN" b="0" dirty="0">
                <a:solidFill>
                  <a:srgbClr val="24292E"/>
                </a:solidFill>
                <a:effectLst/>
                <a:latin typeface="Consolas" panose="020B0609020204030204" pitchFamily="49" charset="0"/>
              </a:rPr>
              <a:t> install </a:t>
            </a:r>
            <a:r>
              <a:rPr lang="en-US" altLang="zh-CN" b="0" dirty="0" err="1">
                <a:solidFill>
                  <a:srgbClr val="24292E"/>
                </a:solidFill>
                <a:effectLst/>
                <a:latin typeface="Consolas" panose="020B0609020204030204" pitchFamily="49" charset="0"/>
              </a:rPr>
              <a:t>pytorch</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torchvision</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torchaudio</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cpuonly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c </a:t>
            </a:r>
            <a:r>
              <a:rPr lang="en-US" altLang="zh-CN" b="0" dirty="0" err="1">
                <a:solidFill>
                  <a:srgbClr val="24292E"/>
                </a:solidFill>
                <a:effectLst/>
                <a:latin typeface="Consolas" panose="020B0609020204030204" pitchFamily="49" charset="0"/>
              </a:rPr>
              <a:t>pytorch</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7" name="文本框 6"/>
          <p:cNvSpPr txBox="1"/>
          <p:nvPr/>
        </p:nvSpPr>
        <p:spPr>
          <a:xfrm>
            <a:off x="1346200" y="2347592"/>
            <a:ext cx="9522321" cy="646331"/>
          </a:xfrm>
          <a:prstGeom prst="rect">
            <a:avLst/>
          </a:prstGeom>
          <a:noFill/>
        </p:spPr>
        <p:txBody>
          <a:bodyPr wrap="square">
            <a:spAutoFit/>
          </a:bodyPr>
          <a:lstStyle/>
          <a:p>
            <a:r>
              <a:rPr lang="zh-CN" altLang="en-US" dirty="0"/>
              <a:t>张量可以用</a:t>
            </a:r>
            <a:r>
              <a:rPr lang="en-US" altLang="zh-CN" dirty="0"/>
              <a:t>Python</a:t>
            </a:r>
            <a:r>
              <a:rPr lang="zh-CN" altLang="en-US" dirty="0"/>
              <a:t>的</a:t>
            </a:r>
            <a:r>
              <a:rPr lang="en-US" altLang="zh-CN" dirty="0">
                <a:solidFill>
                  <a:srgbClr val="577CCE"/>
                </a:solidFill>
              </a:rPr>
              <a:t>list</a:t>
            </a:r>
            <a:r>
              <a:rPr lang="zh-CN" altLang="en-US" dirty="0">
                <a:solidFill>
                  <a:srgbClr val="577CCE"/>
                </a:solidFill>
              </a:rPr>
              <a:t>数据进行初始化</a:t>
            </a:r>
            <a:r>
              <a:rPr lang="zh-CN" altLang="en-US" dirty="0"/>
              <a:t>，并</a:t>
            </a:r>
            <a:r>
              <a:rPr lang="zh-CN" altLang="en-US" dirty="0">
                <a:solidFill>
                  <a:srgbClr val="577CCE"/>
                </a:solidFill>
              </a:rPr>
              <a:t>自动判断其数据类型</a:t>
            </a:r>
            <a:r>
              <a:rPr lang="zh-CN" altLang="en-US" dirty="0"/>
              <a:t>，也可以使用</a:t>
            </a:r>
            <a:r>
              <a:rPr lang="en-US" altLang="zh-CN" dirty="0">
                <a:solidFill>
                  <a:srgbClr val="577CCE"/>
                </a:solidFill>
              </a:rPr>
              <a:t>NumPy</a:t>
            </a:r>
            <a:r>
              <a:rPr lang="zh-CN" altLang="en-US" dirty="0"/>
              <a:t>数组进行初始化。</a:t>
            </a:r>
            <a:r>
              <a:rPr lang="zh-CN" altLang="en-US" dirty="0">
                <a:solidFill>
                  <a:srgbClr val="577CCE"/>
                </a:solidFill>
              </a:rPr>
              <a:t>张量和</a:t>
            </a:r>
            <a:r>
              <a:rPr lang="en-US" altLang="zh-CN" dirty="0">
                <a:solidFill>
                  <a:srgbClr val="577CCE"/>
                </a:solidFill>
              </a:rPr>
              <a:t>NumPy</a:t>
            </a:r>
            <a:r>
              <a:rPr lang="zh-CN" altLang="en-US" dirty="0">
                <a:solidFill>
                  <a:srgbClr val="577CCE"/>
                </a:solidFill>
              </a:rPr>
              <a:t>数组也可以互相转化</a:t>
            </a:r>
            <a:r>
              <a:rPr lang="zh-CN" altLang="en-US" dirty="0"/>
              <a:t>。例子如下：</a:t>
            </a:r>
            <a:endParaRPr lang="zh-CN" altLang="en-US" dirty="0"/>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1. </a:t>
            </a:r>
            <a:r>
              <a:rPr lang="zh-CN" altLang="en-US" b="0" dirty="0">
                <a:solidFill>
                  <a:srgbClr val="24292E"/>
                </a:solidFill>
                <a:effectLst/>
                <a:latin typeface="Consolas" panose="020B0609020204030204" pitchFamily="49" charset="0"/>
              </a:rPr>
              <a:t>初始化张量</a:t>
            </a:r>
            <a:endParaRPr lang="en-US" altLang="zh-CN" b="0" dirty="0">
              <a:solidFill>
                <a:srgbClr val="24292E"/>
              </a:solidFill>
              <a:effectLst/>
              <a:latin typeface="Consolas" panose="020B0609020204030204" pitchFamily="49" charset="0"/>
            </a:endParaRPr>
          </a:p>
        </p:txBody>
      </p:sp>
      <p:sp>
        <p:nvSpPr>
          <p:cNvPr id="5" name="文本框 4"/>
          <p:cNvSpPr txBox="1"/>
          <p:nvPr/>
        </p:nvSpPr>
        <p:spPr>
          <a:xfrm>
            <a:off x="1788249" y="3076252"/>
            <a:ext cx="9460685" cy="3139321"/>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导入</a:t>
            </a:r>
            <a:r>
              <a:rPr lang="en-US" altLang="zh-CN" b="0" dirty="0" err="1">
                <a:solidFill>
                  <a:srgbClr val="6A737D"/>
                </a:solidFill>
                <a:effectLst/>
                <a:latin typeface="Consolas" panose="020B0609020204030204" pitchFamily="49" charset="0"/>
              </a:rPr>
              <a:t>PyTorch</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numpy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np</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导入</a:t>
            </a:r>
            <a:r>
              <a:rPr lang="en-US" altLang="zh-CN" b="0" dirty="0">
                <a:solidFill>
                  <a:srgbClr val="6A737D"/>
                </a:solidFill>
                <a:effectLst/>
                <a:latin typeface="Consolas" panose="020B0609020204030204" pitchFamily="49" charset="0"/>
              </a:rPr>
              <a:t>NumPy</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data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np_array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array</a:t>
            </a:r>
            <a:r>
              <a:rPr lang="en-US" altLang="zh-CN" b="0" dirty="0">
                <a:solidFill>
                  <a:srgbClr val="24292E"/>
                </a:solidFill>
                <a:effectLst/>
                <a:latin typeface="Consolas" panose="020B0609020204030204" pitchFamily="49" charset="0"/>
              </a:rPr>
              <a:t>(data)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用</a:t>
            </a:r>
            <a:r>
              <a:rPr lang="en-US" altLang="zh-CN" b="0" dirty="0">
                <a:solidFill>
                  <a:srgbClr val="6A737D"/>
                </a:solidFill>
                <a:effectLst/>
                <a:latin typeface="Consolas" panose="020B0609020204030204" pitchFamily="49" charset="0"/>
              </a:rPr>
              <a:t>list</a:t>
            </a:r>
            <a:r>
              <a:rPr lang="zh-CN" altLang="en-US" b="0" dirty="0">
                <a:solidFill>
                  <a:srgbClr val="6A737D"/>
                </a:solidFill>
                <a:effectLst/>
                <a:latin typeface="Consolas" panose="020B0609020204030204" pitchFamily="49" charset="0"/>
              </a:rPr>
              <a:t>数组创建</a:t>
            </a:r>
            <a:r>
              <a:rPr lang="en-US" altLang="zh-CN" b="0" dirty="0" err="1">
                <a:solidFill>
                  <a:srgbClr val="6A737D"/>
                </a:solidFill>
                <a:effectLst/>
                <a:latin typeface="Consolas" panose="020B0609020204030204" pitchFamily="49" charset="0"/>
              </a:rPr>
              <a:t>Numpy</a:t>
            </a:r>
            <a:r>
              <a:rPr lang="zh-CN" altLang="en-US" b="0" dirty="0">
                <a:solidFill>
                  <a:srgbClr val="6A737D"/>
                </a:solidFill>
                <a:effectLst/>
                <a:latin typeface="Consolas" panose="020B0609020204030204" pitchFamily="49" charset="0"/>
              </a:rPr>
              <a:t>对象</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tensor</a:t>
            </a:r>
            <a:r>
              <a:rPr lang="en-US" altLang="zh-CN" b="0" dirty="0">
                <a:solidFill>
                  <a:srgbClr val="24292E"/>
                </a:solidFill>
                <a:effectLst/>
                <a:latin typeface="Consolas" panose="020B0609020204030204" pitchFamily="49" charset="0"/>
              </a:rPr>
              <a:t>(data)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用</a:t>
            </a:r>
            <a:r>
              <a:rPr lang="en-US" altLang="zh-CN" b="0" dirty="0">
                <a:solidFill>
                  <a:srgbClr val="6A737D"/>
                </a:solidFill>
                <a:effectLst/>
                <a:latin typeface="Consolas" panose="020B0609020204030204" pitchFamily="49" charset="0"/>
              </a:rPr>
              <a:t>list</a:t>
            </a:r>
            <a:r>
              <a:rPr lang="zh-CN" altLang="en-US" b="0" dirty="0">
                <a:solidFill>
                  <a:srgbClr val="6A737D"/>
                </a:solidFill>
                <a:effectLst/>
                <a:latin typeface="Consolas" panose="020B0609020204030204" pitchFamily="49" charset="0"/>
              </a:rPr>
              <a:t>数组创建</a:t>
            </a:r>
            <a:r>
              <a:rPr lang="en-US" altLang="zh-CN" b="0" dirty="0">
                <a:solidFill>
                  <a:srgbClr val="6A737D"/>
                </a:solidFill>
                <a:effectLst/>
                <a:latin typeface="Consolas" panose="020B0609020204030204" pitchFamily="49" charset="0"/>
              </a:rPr>
              <a:t>Tensor</a:t>
            </a:r>
            <a:r>
              <a:rPr lang="zh-CN" altLang="en-US" b="0" dirty="0">
                <a:solidFill>
                  <a:srgbClr val="6A737D"/>
                </a:solidFill>
                <a:effectLst/>
                <a:latin typeface="Consolas" panose="020B0609020204030204" pitchFamily="49" charset="0"/>
              </a:rPr>
              <a:t>对象</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tensor_from_np</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from_numpy</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np_array</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用</a:t>
            </a:r>
            <a:r>
              <a:rPr lang="en-US" altLang="zh-CN" b="0" dirty="0">
                <a:solidFill>
                  <a:srgbClr val="6A737D"/>
                </a:solidFill>
                <a:effectLst/>
                <a:latin typeface="Consolas" panose="020B0609020204030204" pitchFamily="49" charset="0"/>
              </a:rPr>
              <a:t>NumPy</a:t>
            </a:r>
            <a:r>
              <a:rPr lang="zh-CN" altLang="en-US" b="0" dirty="0">
                <a:solidFill>
                  <a:srgbClr val="6A737D"/>
                </a:solidFill>
                <a:effectLst/>
                <a:latin typeface="Consolas" panose="020B0609020204030204" pitchFamily="49" charset="0"/>
              </a:rPr>
              <a:t>数组创建</a:t>
            </a:r>
            <a:r>
              <a:rPr lang="en-US" altLang="zh-CN" b="0" dirty="0">
                <a:solidFill>
                  <a:srgbClr val="6A737D"/>
                </a:solidFill>
                <a:effectLst/>
                <a:latin typeface="Consolas" panose="020B0609020204030204" pitchFamily="49" charset="0"/>
              </a:rPr>
              <a:t>Tensor</a:t>
            </a:r>
            <a:r>
              <a:rPr lang="zh-CN" altLang="en-US" b="0" dirty="0">
                <a:solidFill>
                  <a:srgbClr val="6A737D"/>
                </a:solidFill>
                <a:effectLst/>
                <a:latin typeface="Consolas" panose="020B0609020204030204" pitchFamily="49" charset="0"/>
              </a:rPr>
              <a:t>对象</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r>
              <a:rPr lang="en-US" altLang="zh-CN" b="0" dirty="0" err="1">
                <a:solidFill>
                  <a:srgbClr val="24292E"/>
                </a:solidFill>
                <a:effectLst/>
                <a:latin typeface="Consolas" panose="020B0609020204030204" pitchFamily="49" charset="0"/>
              </a:rPr>
              <a:t>np_from_tensor</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a:t>
            </a:r>
            <a:r>
              <a:rPr lang="en-US" altLang="zh-CN" b="0" dirty="0" err="1">
                <a:solidFill>
                  <a:srgbClr val="6F42C1"/>
                </a:solidFill>
                <a:effectLst/>
                <a:latin typeface="Consolas" panose="020B0609020204030204" pitchFamily="49" charset="0"/>
              </a:rPr>
              <a:t>numpy</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将</a:t>
            </a:r>
            <a:r>
              <a:rPr lang="en-US" altLang="zh-CN" b="0" dirty="0">
                <a:solidFill>
                  <a:srgbClr val="6A737D"/>
                </a:solidFill>
                <a:effectLst/>
                <a:latin typeface="Consolas" panose="020B0609020204030204" pitchFamily="49" charset="0"/>
              </a:rPr>
              <a:t>Tensor</a:t>
            </a:r>
            <a:r>
              <a:rPr lang="zh-CN" altLang="en-US" b="0" dirty="0">
                <a:solidFill>
                  <a:srgbClr val="6A737D"/>
                </a:solidFill>
                <a:effectLst/>
                <a:latin typeface="Consolas" panose="020B0609020204030204" pitchFamily="49" charset="0"/>
              </a:rPr>
              <a:t>对象转换为</a:t>
            </a:r>
            <a:r>
              <a:rPr lang="en-US" altLang="zh-CN" b="0" dirty="0">
                <a:solidFill>
                  <a:srgbClr val="6A737D"/>
                </a:solidFill>
                <a:effectLst/>
                <a:latin typeface="Consolas" panose="020B0609020204030204" pitchFamily="49" charset="0"/>
              </a:rPr>
              <a:t>NumPy</a:t>
            </a:r>
            <a:r>
              <a:rPr lang="zh-CN" altLang="en-US" b="0" dirty="0">
                <a:solidFill>
                  <a:srgbClr val="6A737D"/>
                </a:solidFill>
                <a:effectLst/>
                <a:latin typeface="Consolas" panose="020B0609020204030204" pitchFamily="49" charset="0"/>
              </a:rPr>
              <a:t>数组</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listdata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tensor_from_np.</a:t>
            </a:r>
            <a:r>
              <a:rPr lang="en-US" altLang="zh-CN" b="0" dirty="0" err="1">
                <a:solidFill>
                  <a:srgbClr val="6F42C1"/>
                </a:solidFill>
                <a:effectLst/>
                <a:latin typeface="Consolas" panose="020B0609020204030204" pitchFamily="49" charset="0"/>
              </a:rPr>
              <a:t>tolist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将</a:t>
            </a:r>
            <a:r>
              <a:rPr lang="en-US" altLang="zh-CN" b="0" dirty="0">
                <a:solidFill>
                  <a:srgbClr val="6A737D"/>
                </a:solidFill>
                <a:effectLst/>
                <a:latin typeface="Consolas" panose="020B0609020204030204" pitchFamily="49" charset="0"/>
              </a:rPr>
              <a:t>Tensor</a:t>
            </a:r>
            <a:r>
              <a:rPr lang="zh-CN" altLang="en-US" b="0" dirty="0">
                <a:solidFill>
                  <a:srgbClr val="6A737D"/>
                </a:solidFill>
                <a:effectLst/>
                <a:latin typeface="Consolas" panose="020B0609020204030204" pitchFamily="49" charset="0"/>
              </a:rPr>
              <a:t>对象转换为</a:t>
            </a:r>
            <a:r>
              <a:rPr lang="en-US" altLang="zh-CN" b="0" dirty="0">
                <a:solidFill>
                  <a:srgbClr val="6A737D"/>
                </a:solidFill>
                <a:effectLst/>
                <a:latin typeface="Consolas" panose="020B0609020204030204" pitchFamily="49" charset="0"/>
              </a:rPr>
              <a:t>list</a:t>
            </a:r>
            <a:r>
              <a:rPr lang="zh-CN" altLang="en-US" b="0" dirty="0">
                <a:solidFill>
                  <a:srgbClr val="6A737D"/>
                </a:solidFill>
                <a:effectLst/>
                <a:latin typeface="Consolas" panose="020B0609020204030204" pitchFamily="49" charset="0"/>
              </a:rPr>
              <a:t>数组</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(t, </a:t>
            </a:r>
            <a:r>
              <a:rPr lang="en-US" altLang="zh-CN" b="0" dirty="0">
                <a:solidFill>
                  <a:srgbClr val="032F62"/>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\n</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np_from_tensor</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\n</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listdata</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11" name="图片 10"/>
          <p:cNvPicPr>
            <a:picLocks noChangeAspect="1"/>
          </p:cNvPicPr>
          <p:nvPr/>
        </p:nvPicPr>
        <p:blipFill>
          <a:blip r:embed="rId1"/>
          <a:stretch>
            <a:fillRect/>
          </a:stretch>
        </p:blipFill>
        <p:spPr>
          <a:xfrm>
            <a:off x="8808579" y="453808"/>
            <a:ext cx="2440355" cy="1694032"/>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7" name="文本框 6"/>
          <p:cNvSpPr txBox="1"/>
          <p:nvPr/>
        </p:nvSpPr>
        <p:spPr>
          <a:xfrm>
            <a:off x="1346200" y="2347592"/>
            <a:ext cx="9522321"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也可以从另一个张量对象复制数据来初始化新的张量，例如：</a:t>
            </a:r>
            <a:endParaRPr lang="zh-CN" altLang="en-US" b="0" dirty="0">
              <a:solidFill>
                <a:srgbClr val="24292E"/>
              </a:solidFill>
              <a:effectLst/>
              <a:latin typeface="Consolas" panose="020B0609020204030204" pitchFamily="49" charset="0"/>
            </a:endParaRPr>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1. </a:t>
            </a:r>
            <a:r>
              <a:rPr lang="zh-CN" altLang="en-US" b="0" dirty="0">
                <a:solidFill>
                  <a:srgbClr val="24292E"/>
                </a:solidFill>
                <a:effectLst/>
                <a:latin typeface="Consolas" panose="020B0609020204030204" pitchFamily="49" charset="0"/>
              </a:rPr>
              <a:t>初始化张量</a:t>
            </a:r>
            <a:endParaRPr lang="en-US" altLang="zh-CN" b="0" dirty="0">
              <a:solidFill>
                <a:srgbClr val="24292E"/>
              </a:solidFill>
              <a:effectLst/>
              <a:latin typeface="Consolas" panose="020B0609020204030204" pitchFamily="49" charset="0"/>
            </a:endParaRPr>
          </a:p>
        </p:txBody>
      </p:sp>
      <p:sp>
        <p:nvSpPr>
          <p:cNvPr id="5" name="文本框 4"/>
          <p:cNvSpPr txBox="1"/>
          <p:nvPr/>
        </p:nvSpPr>
        <p:spPr>
          <a:xfrm>
            <a:off x="1788249" y="2799253"/>
            <a:ext cx="9460685" cy="1754326"/>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tensor_data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a:t>
            </a:r>
            <a:r>
              <a:rPr lang="en-US" altLang="zh-CN" b="0" dirty="0" err="1">
                <a:solidFill>
                  <a:srgbClr val="6F42C1"/>
                </a:solidFill>
                <a:effectLst/>
                <a:latin typeface="Consolas" panose="020B0609020204030204" pitchFamily="49" charset="0"/>
              </a:rPr>
              <a:t>clone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返回与</a:t>
            </a:r>
            <a:r>
              <a:rPr lang="en-US" altLang="zh-CN" b="0" dirty="0">
                <a:solidFill>
                  <a:srgbClr val="6A737D"/>
                </a:solidFill>
                <a:effectLst/>
                <a:latin typeface="Consolas" panose="020B0609020204030204" pitchFamily="49" charset="0"/>
              </a:rPr>
              <a:t>t</a:t>
            </a:r>
            <a:r>
              <a:rPr lang="zh-CN" altLang="en-US" b="0" dirty="0">
                <a:solidFill>
                  <a:srgbClr val="6A737D"/>
                </a:solidFill>
                <a:effectLst/>
                <a:latin typeface="Consolas" panose="020B0609020204030204" pitchFamily="49" charset="0"/>
              </a:rPr>
              <a:t>值相同的</a:t>
            </a:r>
            <a:r>
              <a:rPr lang="en-US" altLang="zh-CN" b="0" dirty="0">
                <a:solidFill>
                  <a:srgbClr val="6A737D"/>
                </a:solidFill>
                <a:effectLst/>
                <a:latin typeface="Consolas" panose="020B0609020204030204" pitchFamily="49" charset="0"/>
              </a:rPr>
              <a:t>tensor,</a:t>
            </a:r>
            <a:r>
              <a:rPr lang="zh-CN" altLang="en-US" b="0" dirty="0">
                <a:solidFill>
                  <a:srgbClr val="6A737D"/>
                </a:solidFill>
                <a:effectLst/>
                <a:latin typeface="Consolas" panose="020B0609020204030204" pitchFamily="49" charset="0"/>
              </a:rPr>
              <a:t>新对象存储在新的内存中</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new_data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a:t>
            </a:r>
            <a:r>
              <a:rPr lang="en-US" altLang="zh-CN" b="0" dirty="0" err="1">
                <a:solidFill>
                  <a:srgbClr val="6F42C1"/>
                </a:solidFill>
                <a:effectLst/>
                <a:latin typeface="Consolas" panose="020B0609020204030204" pitchFamily="49" charset="0"/>
              </a:rPr>
              <a:t>detach</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返回与</a:t>
            </a:r>
            <a:r>
              <a:rPr lang="en-US" altLang="zh-CN" b="0" dirty="0">
                <a:solidFill>
                  <a:srgbClr val="6A737D"/>
                </a:solidFill>
                <a:effectLst/>
                <a:latin typeface="Consolas" panose="020B0609020204030204" pitchFamily="49" charset="0"/>
              </a:rPr>
              <a:t>t</a:t>
            </a:r>
            <a:r>
              <a:rPr lang="zh-CN" altLang="en-US" b="0" dirty="0">
                <a:solidFill>
                  <a:srgbClr val="6A737D"/>
                </a:solidFill>
                <a:effectLst/>
                <a:latin typeface="Consolas" panose="020B0609020204030204" pitchFamily="49" charset="0"/>
              </a:rPr>
              <a:t>完全相同的</a:t>
            </a:r>
            <a:r>
              <a:rPr lang="en-US" altLang="zh-CN" b="0" dirty="0">
                <a:solidFill>
                  <a:srgbClr val="6A737D"/>
                </a:solidFill>
                <a:effectLst/>
                <a:latin typeface="Consolas" panose="020B0609020204030204" pitchFamily="49" charset="0"/>
              </a:rPr>
              <a:t>tensor,</a:t>
            </a:r>
            <a:r>
              <a:rPr lang="zh-CN" altLang="en-US" b="0" dirty="0">
                <a:solidFill>
                  <a:srgbClr val="6A737D"/>
                </a:solidFill>
                <a:effectLst/>
                <a:latin typeface="Consolas" panose="020B0609020204030204" pitchFamily="49" charset="0"/>
              </a:rPr>
              <a:t>新对象与旧对象</a:t>
            </a:r>
            <a:r>
              <a:rPr lang="en-US" altLang="zh-CN" b="0" dirty="0">
                <a:solidFill>
                  <a:srgbClr val="6A737D"/>
                </a:solidFill>
                <a:effectLst/>
                <a:latin typeface="Consolas" panose="020B0609020204030204" pitchFamily="49" charset="0"/>
              </a:rPr>
              <a:t>t</a:t>
            </a:r>
            <a:r>
              <a:rPr lang="zh-CN" altLang="en-US" b="0" dirty="0">
                <a:solidFill>
                  <a:srgbClr val="6A737D"/>
                </a:solidFill>
                <a:effectLst/>
                <a:latin typeface="Consolas" panose="020B0609020204030204" pitchFamily="49" charset="0"/>
              </a:rPr>
              <a:t>共享内存</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ones_data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ones_like</a:t>
            </a:r>
            <a:r>
              <a:rPr lang="en-US" altLang="zh-CN" b="0" dirty="0">
                <a:solidFill>
                  <a:srgbClr val="24292E"/>
                </a:solidFill>
                <a:effectLst/>
                <a:latin typeface="Consolas" panose="020B0609020204030204" pitchFamily="49" charset="0"/>
              </a:rPr>
              <a:t>(t)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和</a:t>
            </a:r>
            <a:r>
              <a:rPr lang="en-US" altLang="zh-CN" b="0" dirty="0">
                <a:solidFill>
                  <a:srgbClr val="6A737D"/>
                </a:solidFill>
                <a:effectLst/>
                <a:latin typeface="Consolas" panose="020B0609020204030204" pitchFamily="49" charset="0"/>
              </a:rPr>
              <a:t>t</a:t>
            </a:r>
            <a:r>
              <a:rPr lang="zh-CN" altLang="en-US" b="0" dirty="0">
                <a:solidFill>
                  <a:srgbClr val="6A737D"/>
                </a:solidFill>
                <a:effectLst/>
                <a:latin typeface="Consolas" panose="020B0609020204030204" pitchFamily="49" charset="0"/>
              </a:rPr>
              <a:t>形状一致的全</a:t>
            </a:r>
            <a:r>
              <a:rPr lang="en-US" altLang="zh-CN" b="0" dirty="0">
                <a:solidFill>
                  <a:srgbClr val="6A737D"/>
                </a:solidFill>
                <a:effectLst/>
                <a:latin typeface="Consolas" panose="020B0609020204030204" pitchFamily="49" charset="0"/>
              </a:rPr>
              <a:t>1</a:t>
            </a:r>
            <a:r>
              <a:rPr lang="zh-CN" altLang="en-US" b="0" dirty="0">
                <a:solidFill>
                  <a:srgbClr val="6A737D"/>
                </a:solidFill>
                <a:effectLst/>
                <a:latin typeface="Consolas" panose="020B0609020204030204" pitchFamily="49" charset="0"/>
              </a:rPr>
              <a:t>张量</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zeros_data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zeros_like</a:t>
            </a:r>
            <a:r>
              <a:rPr lang="en-US" altLang="zh-CN" b="0" dirty="0">
                <a:solidFill>
                  <a:srgbClr val="24292E"/>
                </a:solidFill>
                <a:effectLst/>
                <a:latin typeface="Consolas" panose="020B0609020204030204" pitchFamily="49" charset="0"/>
              </a:rPr>
              <a:t>(t)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和</a:t>
            </a:r>
            <a:r>
              <a:rPr lang="en-US" altLang="zh-CN" b="0" dirty="0">
                <a:solidFill>
                  <a:srgbClr val="6A737D"/>
                </a:solidFill>
                <a:effectLst/>
                <a:latin typeface="Consolas" panose="020B0609020204030204" pitchFamily="49" charset="0"/>
              </a:rPr>
              <a:t>t</a:t>
            </a:r>
            <a:r>
              <a:rPr lang="zh-CN" altLang="en-US" b="0" dirty="0">
                <a:solidFill>
                  <a:srgbClr val="6A737D"/>
                </a:solidFill>
                <a:effectLst/>
                <a:latin typeface="Consolas" panose="020B0609020204030204" pitchFamily="49" charset="0"/>
              </a:rPr>
              <a:t>形状一致的全</a:t>
            </a:r>
            <a:r>
              <a:rPr lang="en-US" altLang="zh-CN" b="0" dirty="0">
                <a:solidFill>
                  <a:srgbClr val="6A737D"/>
                </a:solidFill>
                <a:effectLst/>
                <a:latin typeface="Consolas" panose="020B0609020204030204" pitchFamily="49" charset="0"/>
              </a:rPr>
              <a:t>0</a:t>
            </a:r>
            <a:r>
              <a:rPr lang="zh-CN" altLang="en-US" b="0" dirty="0">
                <a:solidFill>
                  <a:srgbClr val="6A737D"/>
                </a:solidFill>
                <a:effectLst/>
                <a:latin typeface="Consolas" panose="020B0609020204030204" pitchFamily="49" charset="0"/>
              </a:rPr>
              <a:t>张量</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rand_data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rand_like</a:t>
            </a:r>
            <a:r>
              <a:rPr lang="en-US" altLang="zh-CN" b="0" dirty="0">
                <a:solidFill>
                  <a:srgbClr val="24292E"/>
                </a:solidFill>
                <a:effectLst/>
                <a:latin typeface="Consolas" panose="020B0609020204030204" pitchFamily="49" charset="0"/>
              </a:rPr>
              <a:t>(t, </a:t>
            </a:r>
            <a:r>
              <a:rPr lang="en-US" altLang="zh-CN" b="0" dirty="0" err="1">
                <a:solidFill>
                  <a:srgbClr val="E36209"/>
                </a:solidFill>
                <a:effectLst/>
                <a:latin typeface="Consolas" panose="020B0609020204030204" pitchFamily="49" charset="0"/>
              </a:rPr>
              <a:t>dtype</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.float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和</a:t>
            </a:r>
            <a:r>
              <a:rPr lang="en-US" altLang="zh-CN" b="0" dirty="0">
                <a:solidFill>
                  <a:srgbClr val="6A737D"/>
                </a:solidFill>
                <a:effectLst/>
                <a:latin typeface="Consolas" panose="020B0609020204030204" pitchFamily="49" charset="0"/>
              </a:rPr>
              <a:t>t</a:t>
            </a:r>
            <a:r>
              <a:rPr lang="zh-CN" altLang="en-US" b="0" dirty="0">
                <a:solidFill>
                  <a:srgbClr val="6A737D"/>
                </a:solidFill>
                <a:effectLst/>
                <a:latin typeface="Consolas" panose="020B0609020204030204" pitchFamily="49" charset="0"/>
              </a:rPr>
              <a:t>形状一致的随机浮点数张量</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7" name="文本框 6"/>
          <p:cNvSpPr txBox="1"/>
          <p:nvPr/>
        </p:nvSpPr>
        <p:spPr>
          <a:xfrm>
            <a:off x="1346200" y="2347592"/>
            <a:ext cx="9522321" cy="1200329"/>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张量的</a:t>
            </a:r>
            <a:r>
              <a:rPr lang="zh-CN" altLang="en-US" b="0" dirty="0">
                <a:solidFill>
                  <a:srgbClr val="FF0000"/>
                </a:solidFill>
                <a:effectLst/>
                <a:latin typeface="Consolas" panose="020B0609020204030204" pitchFamily="49" charset="0"/>
              </a:rPr>
              <a:t>属性</a:t>
            </a:r>
            <a:r>
              <a:rPr lang="zh-CN" altLang="en-US" b="0" dirty="0">
                <a:solidFill>
                  <a:srgbClr val="24292E"/>
                </a:solidFill>
                <a:effectLst/>
                <a:latin typeface="Consolas" panose="020B0609020204030204" pitchFamily="49" charset="0"/>
              </a:rPr>
              <a:t>描述了其</a:t>
            </a:r>
            <a:r>
              <a:rPr lang="zh-CN" altLang="en-US" b="0" dirty="0">
                <a:solidFill>
                  <a:srgbClr val="FF0000"/>
                </a:solidFill>
                <a:effectLst/>
                <a:latin typeface="Consolas" panose="020B0609020204030204" pitchFamily="49" charset="0"/>
              </a:rPr>
              <a:t>形状</a:t>
            </a:r>
            <a:r>
              <a:rPr lang="zh-CN" altLang="en-US" b="0" dirty="0">
                <a:solidFill>
                  <a:srgbClr val="24292E"/>
                </a:solidFill>
                <a:effectLst/>
                <a:latin typeface="Consolas" panose="020B0609020204030204" pitchFamily="49" charset="0"/>
              </a:rPr>
              <a:t>、</a:t>
            </a:r>
            <a:r>
              <a:rPr lang="zh-CN" altLang="en-US" b="0" dirty="0">
                <a:solidFill>
                  <a:srgbClr val="FF0000"/>
                </a:solidFill>
                <a:effectLst/>
                <a:latin typeface="Consolas" panose="020B0609020204030204" pitchFamily="49" charset="0"/>
              </a:rPr>
              <a:t>数据类型</a:t>
            </a:r>
            <a:r>
              <a:rPr lang="zh-CN" altLang="en-US" b="0" dirty="0">
                <a:solidFill>
                  <a:srgbClr val="24292E"/>
                </a:solidFill>
                <a:effectLst/>
                <a:latin typeface="Consolas" panose="020B0609020204030204" pitchFamily="49" charset="0"/>
              </a:rPr>
              <a:t>、</a:t>
            </a:r>
            <a:r>
              <a:rPr lang="zh-CN" altLang="en-US" b="0" dirty="0">
                <a:solidFill>
                  <a:srgbClr val="FF0000"/>
                </a:solidFill>
                <a:effectLst/>
                <a:latin typeface="Consolas" panose="020B0609020204030204" pitchFamily="49" charset="0"/>
              </a:rPr>
              <a:t>存储设备</a:t>
            </a:r>
            <a:r>
              <a:rPr lang="zh-CN" altLang="en-US" b="0" dirty="0">
                <a:solidFill>
                  <a:srgbClr val="24292E"/>
                </a:solidFill>
                <a:effectLst/>
                <a:latin typeface="Consolas" panose="020B0609020204030204" pitchFamily="49" charset="0"/>
              </a:rPr>
              <a:t>及</a:t>
            </a:r>
            <a:r>
              <a:rPr lang="zh-CN" altLang="en-US" b="0" dirty="0">
                <a:solidFill>
                  <a:srgbClr val="FF0000"/>
                </a:solidFill>
                <a:effectLst/>
                <a:latin typeface="Consolas" panose="020B0609020204030204" pitchFamily="49" charset="0"/>
              </a:rPr>
              <a:t>在内存中的存储形式等信息</a:t>
            </a:r>
            <a:r>
              <a:rPr lang="zh-CN" altLang="en-US" b="0" dirty="0">
                <a:solidFill>
                  <a:srgbClr val="24292E"/>
                </a:solidFill>
                <a:effectLst/>
                <a:latin typeface="Consolas" panose="020B0609020204030204" pitchFamily="49" charset="0"/>
              </a:rPr>
              <a:t>。张量的形状表示各个维度的大小。张量支持的数据类型主要是</a:t>
            </a:r>
            <a:r>
              <a:rPr lang="zh-CN" altLang="en-US" b="0" dirty="0">
                <a:solidFill>
                  <a:srgbClr val="FF0000"/>
                </a:solidFill>
                <a:effectLst/>
                <a:latin typeface="Consolas" panose="020B0609020204030204" pitchFamily="49" charset="0"/>
              </a:rPr>
              <a:t>不同精度的浮点数和整数</a:t>
            </a:r>
            <a:r>
              <a:rPr lang="zh-CN" altLang="en-US" b="0" dirty="0">
                <a:solidFill>
                  <a:srgbClr val="24292E"/>
                </a:solidFill>
                <a:effectLst/>
                <a:latin typeface="Consolas" panose="020B0609020204030204" pitchFamily="49" charset="0"/>
              </a:rPr>
              <a:t>，如</a:t>
            </a:r>
            <a:r>
              <a:rPr lang="en-US" altLang="zh-CN" b="0" dirty="0">
                <a:solidFill>
                  <a:srgbClr val="24292E"/>
                </a:solidFill>
                <a:effectLst/>
                <a:latin typeface="Consolas" panose="020B0609020204030204" pitchFamily="49" charset="0"/>
              </a:rPr>
              <a:t>32bit</a:t>
            </a:r>
            <a:r>
              <a:rPr lang="zh-CN" altLang="en-US" b="0" dirty="0">
                <a:solidFill>
                  <a:srgbClr val="24292E"/>
                </a:solidFill>
                <a:effectLst/>
                <a:latin typeface="Consolas" panose="020B0609020204030204" pitchFamily="49" charset="0"/>
              </a:rPr>
              <a:t>的</a:t>
            </a:r>
            <a:r>
              <a:rPr lang="en-US" altLang="zh-CN" b="0" dirty="0">
                <a:solidFill>
                  <a:srgbClr val="24292E"/>
                </a:solidFill>
                <a:effectLst/>
                <a:latin typeface="Consolas" panose="020B0609020204030204" pitchFamily="49" charset="0"/>
              </a:rPr>
              <a:t>float</a:t>
            </a:r>
            <a:r>
              <a:rPr lang="zh-CN" altLang="en-US" b="0" dirty="0">
                <a:solidFill>
                  <a:srgbClr val="24292E"/>
                </a:solidFill>
                <a:effectLst/>
                <a:latin typeface="Consolas" panose="020B0609020204030204" pitchFamily="49" charset="0"/>
              </a:rPr>
              <a:t>类型、</a:t>
            </a:r>
            <a:r>
              <a:rPr lang="en-US" altLang="zh-CN" b="0" dirty="0">
                <a:solidFill>
                  <a:srgbClr val="24292E"/>
                </a:solidFill>
                <a:effectLst/>
                <a:latin typeface="Consolas" panose="020B0609020204030204" pitchFamily="49" charset="0"/>
              </a:rPr>
              <a:t>64bit</a:t>
            </a:r>
            <a:r>
              <a:rPr lang="zh-CN" altLang="en-US" b="0" dirty="0">
                <a:solidFill>
                  <a:srgbClr val="24292E"/>
                </a:solidFill>
                <a:effectLst/>
                <a:latin typeface="Consolas" panose="020B0609020204030204" pitchFamily="49" charset="0"/>
              </a:rPr>
              <a:t>的</a:t>
            </a:r>
            <a:r>
              <a:rPr lang="en-US" altLang="zh-CN" b="0" dirty="0">
                <a:solidFill>
                  <a:srgbClr val="24292E"/>
                </a:solidFill>
                <a:effectLst/>
                <a:latin typeface="Consolas" panose="020B0609020204030204" pitchFamily="49" charset="0"/>
              </a:rPr>
              <a:t>double</a:t>
            </a:r>
            <a:r>
              <a:rPr lang="zh-CN" altLang="en-US" b="0" dirty="0">
                <a:solidFill>
                  <a:srgbClr val="24292E"/>
                </a:solidFill>
                <a:effectLst/>
                <a:latin typeface="Consolas" panose="020B0609020204030204" pitchFamily="49" charset="0"/>
              </a:rPr>
              <a:t>类型等。</a:t>
            </a:r>
            <a:r>
              <a:rPr lang="zh-CN" altLang="en-US" b="0" dirty="0">
                <a:solidFill>
                  <a:srgbClr val="FF0000"/>
                </a:solidFill>
                <a:effectLst/>
                <a:latin typeface="Consolas" panose="020B0609020204030204" pitchFamily="49" charset="0"/>
              </a:rPr>
              <a:t>存储设备是指张量在</a:t>
            </a:r>
            <a:r>
              <a:rPr lang="en-US" altLang="zh-CN" b="0" dirty="0">
                <a:solidFill>
                  <a:srgbClr val="FF0000"/>
                </a:solidFill>
                <a:effectLst/>
                <a:latin typeface="Consolas" panose="020B0609020204030204" pitchFamily="49" charset="0"/>
              </a:rPr>
              <a:t>CPU</a:t>
            </a:r>
            <a:r>
              <a:rPr lang="zh-CN" altLang="en-US" b="0" dirty="0">
                <a:solidFill>
                  <a:srgbClr val="FF0000"/>
                </a:solidFill>
                <a:effectLst/>
                <a:latin typeface="Consolas" panose="020B0609020204030204" pitchFamily="49" charset="0"/>
              </a:rPr>
              <a:t>上计算，还是在</a:t>
            </a:r>
            <a:r>
              <a:rPr lang="en-US" altLang="zh-CN" b="0" dirty="0">
                <a:solidFill>
                  <a:srgbClr val="FF0000"/>
                </a:solidFill>
                <a:effectLst/>
                <a:latin typeface="Consolas" panose="020B0609020204030204" pitchFamily="49" charset="0"/>
              </a:rPr>
              <a:t>GPU</a:t>
            </a:r>
            <a:r>
              <a:rPr lang="zh-CN" altLang="en-US" b="0" dirty="0">
                <a:solidFill>
                  <a:srgbClr val="FF0000"/>
                </a:solidFill>
                <a:effectLst/>
                <a:latin typeface="Consolas" panose="020B0609020204030204" pitchFamily="49" charset="0"/>
              </a:rPr>
              <a:t>上计算</a:t>
            </a:r>
            <a:r>
              <a:rPr lang="zh-CN" altLang="en-US" b="0" dirty="0">
                <a:solidFill>
                  <a:srgbClr val="24292E"/>
                </a:solidFill>
                <a:effectLst/>
                <a:latin typeface="Consolas" panose="020B0609020204030204" pitchFamily="49" charset="0"/>
              </a:rPr>
              <a:t>。张量在内存中的存储形式表示是按</a:t>
            </a:r>
            <a:r>
              <a:rPr lang="zh-CN" altLang="en-US" b="0" dirty="0">
                <a:solidFill>
                  <a:srgbClr val="FF0000"/>
                </a:solidFill>
                <a:effectLst/>
                <a:latin typeface="Consolas" panose="020B0609020204030204" pitchFamily="49" charset="0"/>
              </a:rPr>
              <a:t>稠密矩阵</a:t>
            </a:r>
            <a:r>
              <a:rPr lang="zh-CN" altLang="en-US" b="0" dirty="0">
                <a:solidFill>
                  <a:srgbClr val="24292E"/>
                </a:solidFill>
                <a:effectLst/>
                <a:latin typeface="Consolas" panose="020B0609020204030204" pitchFamily="49" charset="0"/>
              </a:rPr>
              <a:t>存储，还是按</a:t>
            </a:r>
            <a:r>
              <a:rPr lang="zh-CN" altLang="en-US" b="0" dirty="0">
                <a:solidFill>
                  <a:srgbClr val="FF0000"/>
                </a:solidFill>
                <a:effectLst/>
                <a:latin typeface="Consolas" panose="020B0609020204030204" pitchFamily="49" charset="0"/>
              </a:rPr>
              <a:t>稀疏矩阵</a:t>
            </a:r>
            <a:r>
              <a:rPr lang="zh-CN" altLang="en-US" b="0" dirty="0">
                <a:solidFill>
                  <a:srgbClr val="24292E"/>
                </a:solidFill>
                <a:effectLst/>
                <a:latin typeface="Consolas" panose="020B0609020204030204" pitchFamily="49" charset="0"/>
              </a:rPr>
              <a:t>存储。例如：</a:t>
            </a:r>
            <a:endParaRPr lang="zh-CN" altLang="en-US" b="0" dirty="0">
              <a:solidFill>
                <a:srgbClr val="24292E"/>
              </a:solidFill>
              <a:effectLst/>
              <a:latin typeface="Consolas" panose="020B0609020204030204" pitchFamily="49" charset="0"/>
            </a:endParaRPr>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2. </a:t>
            </a:r>
            <a:r>
              <a:rPr lang="zh-CN" altLang="en-US" b="0" dirty="0">
                <a:solidFill>
                  <a:srgbClr val="24292E"/>
                </a:solidFill>
                <a:effectLst/>
                <a:latin typeface="Consolas" panose="020B0609020204030204" pitchFamily="49" charset="0"/>
              </a:rPr>
              <a:t>张量的属性</a:t>
            </a:r>
            <a:endParaRPr lang="en-US" altLang="zh-CN" b="0" dirty="0">
              <a:solidFill>
                <a:srgbClr val="24292E"/>
              </a:solidFill>
              <a:effectLst/>
              <a:latin typeface="Consolas" panose="020B0609020204030204" pitchFamily="49" charset="0"/>
            </a:endParaRPr>
          </a:p>
        </p:txBody>
      </p:sp>
      <p:sp>
        <p:nvSpPr>
          <p:cNvPr id="3" name="文本框 2"/>
          <p:cNvSpPr txBox="1"/>
          <p:nvPr/>
        </p:nvSpPr>
        <p:spPr>
          <a:xfrm>
            <a:off x="3186539" y="3630250"/>
            <a:ext cx="6094602" cy="1200329"/>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tensor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3x4</a:t>
            </a:r>
            <a:r>
              <a:rPr lang="zh-CN" altLang="en-US" b="0" dirty="0">
                <a:solidFill>
                  <a:srgbClr val="6A737D"/>
                </a:solidFill>
                <a:effectLst/>
                <a:latin typeface="Consolas" panose="020B0609020204030204" pitchFamily="49" charset="0"/>
              </a:rPr>
              <a:t>的随机</a:t>
            </a:r>
            <a:r>
              <a:rPr lang="en-US" altLang="zh-CN" b="0" dirty="0">
                <a:solidFill>
                  <a:srgbClr val="6A737D"/>
                </a:solidFill>
                <a:effectLst/>
                <a:latin typeface="Consolas" panose="020B0609020204030204" pitchFamily="49" charset="0"/>
              </a:rPr>
              <a:t>tensor</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f</a:t>
            </a:r>
            <a:r>
              <a:rPr lang="en-US" altLang="zh-CN" b="0" dirty="0">
                <a:solidFill>
                  <a:srgbClr val="032F62"/>
                </a:solidFill>
                <a:effectLst/>
                <a:latin typeface="Consolas" panose="020B0609020204030204" pitchFamily="49" charset="0"/>
              </a:rPr>
              <a:t>"</a:t>
            </a:r>
            <a:r>
              <a:rPr lang="zh-CN" altLang="en-US" b="0" dirty="0">
                <a:solidFill>
                  <a:srgbClr val="032F62"/>
                </a:solidFill>
                <a:effectLst/>
                <a:latin typeface="Consolas" panose="020B0609020204030204" pitchFamily="49" charset="0"/>
              </a:rPr>
              <a:t>张量形状</a:t>
            </a:r>
            <a:r>
              <a:rPr lang="en-US" altLang="zh-CN" b="0" dirty="0">
                <a:solidFill>
                  <a:srgbClr val="032F62"/>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tensor.shape</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f</a:t>
            </a:r>
            <a:r>
              <a:rPr lang="en-US" altLang="zh-CN" b="0" dirty="0">
                <a:solidFill>
                  <a:srgbClr val="032F62"/>
                </a:solidFill>
                <a:effectLst/>
                <a:latin typeface="Consolas" panose="020B0609020204030204" pitchFamily="49" charset="0"/>
              </a:rPr>
              <a:t>"</a:t>
            </a:r>
            <a:r>
              <a:rPr lang="zh-CN" altLang="en-US" b="0" dirty="0">
                <a:solidFill>
                  <a:srgbClr val="032F62"/>
                </a:solidFill>
                <a:effectLst/>
                <a:latin typeface="Consolas" panose="020B0609020204030204" pitchFamily="49" charset="0"/>
              </a:rPr>
              <a:t>张量数据类型</a:t>
            </a:r>
            <a:r>
              <a:rPr lang="en-US" altLang="zh-CN" b="0" dirty="0">
                <a:solidFill>
                  <a:srgbClr val="032F62"/>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tensor.dtype</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f</a:t>
            </a:r>
            <a:r>
              <a:rPr lang="en-US" altLang="zh-CN" b="0" dirty="0">
                <a:solidFill>
                  <a:srgbClr val="032F62"/>
                </a:solidFill>
                <a:effectLst/>
                <a:latin typeface="Consolas" panose="020B0609020204030204" pitchFamily="49" charset="0"/>
              </a:rPr>
              <a:t>"</a:t>
            </a:r>
            <a:r>
              <a:rPr lang="zh-CN" altLang="en-US" b="0" dirty="0">
                <a:solidFill>
                  <a:srgbClr val="032F62"/>
                </a:solidFill>
                <a:effectLst/>
                <a:latin typeface="Consolas" panose="020B0609020204030204" pitchFamily="49" charset="0"/>
              </a:rPr>
              <a:t>张量存储设备</a:t>
            </a:r>
            <a:r>
              <a:rPr lang="en-US" altLang="zh-CN" b="0" dirty="0">
                <a:solidFill>
                  <a:srgbClr val="032F62"/>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tensor.device</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10" name="图片 9"/>
          <p:cNvPicPr>
            <a:picLocks noChangeAspect="1"/>
          </p:cNvPicPr>
          <p:nvPr/>
        </p:nvPicPr>
        <p:blipFill>
          <a:blip r:embed="rId1"/>
          <a:stretch>
            <a:fillRect/>
          </a:stretch>
        </p:blipFill>
        <p:spPr>
          <a:xfrm>
            <a:off x="4021838" y="5138331"/>
            <a:ext cx="4148323" cy="1190722"/>
          </a:xfrm>
          <a:prstGeom prst="rect">
            <a:avLst/>
          </a:prstGeom>
        </p:spPr>
      </p:pic>
    </p:spTree>
    <p:custDataLst>
      <p:tags r:id="rId2"/>
    </p:custData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7" name="文本框 6"/>
          <p:cNvSpPr txBox="1"/>
          <p:nvPr/>
        </p:nvSpPr>
        <p:spPr>
          <a:xfrm>
            <a:off x="1346200" y="2347592"/>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Tensor</a:t>
            </a:r>
            <a:r>
              <a:rPr lang="zh-CN" altLang="en-US" b="0" dirty="0">
                <a:solidFill>
                  <a:srgbClr val="24292E"/>
                </a:solidFill>
                <a:effectLst/>
                <a:latin typeface="Consolas" panose="020B0609020204030204" pitchFamily="49" charset="0"/>
              </a:rPr>
              <a:t>也可存储的</a:t>
            </a:r>
            <a:r>
              <a:rPr lang="en-US" altLang="zh-CN" b="0" dirty="0">
                <a:solidFill>
                  <a:srgbClr val="24292E"/>
                </a:solidFill>
                <a:effectLst/>
                <a:latin typeface="Consolas" panose="020B0609020204030204" pitchFamily="49" charset="0"/>
              </a:rPr>
              <a:t>GPU</a:t>
            </a:r>
            <a:r>
              <a:rPr lang="zh-CN" altLang="en-US" b="0" dirty="0">
                <a:solidFill>
                  <a:srgbClr val="24292E"/>
                </a:solidFill>
                <a:effectLst/>
                <a:latin typeface="Consolas" panose="020B0609020204030204" pitchFamily="49" charset="0"/>
              </a:rPr>
              <a:t>上进行加速运算，例如：</a:t>
            </a:r>
            <a:endParaRPr lang="zh-CN" altLang="en-US" b="0" dirty="0">
              <a:solidFill>
                <a:srgbClr val="24292E"/>
              </a:solidFill>
              <a:effectLst/>
              <a:latin typeface="Consolas" panose="020B0609020204030204" pitchFamily="49" charset="0"/>
            </a:endParaRPr>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2. </a:t>
            </a:r>
            <a:r>
              <a:rPr lang="zh-CN" altLang="en-US" b="0" dirty="0">
                <a:solidFill>
                  <a:srgbClr val="24292E"/>
                </a:solidFill>
                <a:effectLst/>
                <a:latin typeface="Consolas" panose="020B0609020204030204" pitchFamily="49" charset="0"/>
              </a:rPr>
              <a:t>张量的属性</a:t>
            </a:r>
            <a:endParaRPr lang="en-US" altLang="zh-CN" b="0" dirty="0">
              <a:solidFill>
                <a:srgbClr val="24292E"/>
              </a:solidFill>
              <a:effectLst/>
              <a:latin typeface="Consolas" panose="020B0609020204030204" pitchFamily="49" charset="0"/>
            </a:endParaRPr>
          </a:p>
        </p:txBody>
      </p:sp>
      <p:sp>
        <p:nvSpPr>
          <p:cNvPr id="4" name="文本框 3"/>
          <p:cNvSpPr txBox="1"/>
          <p:nvPr/>
        </p:nvSpPr>
        <p:spPr>
          <a:xfrm>
            <a:off x="3186539" y="2799253"/>
            <a:ext cx="6511134" cy="1477328"/>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device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cuda</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if</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cuda</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is_available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else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cpu</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判断是否可用</a:t>
            </a:r>
            <a:r>
              <a:rPr lang="en-US" altLang="zh-CN" b="0" dirty="0">
                <a:solidFill>
                  <a:srgbClr val="6A737D"/>
                </a:solidFill>
                <a:effectLst/>
                <a:latin typeface="Consolas" panose="020B0609020204030204" pitchFamily="49" charset="0"/>
              </a:rPr>
              <a:t>CUDA</a:t>
            </a:r>
            <a:r>
              <a:rPr lang="zh-CN" altLang="en-US" b="0" dirty="0">
                <a:solidFill>
                  <a:srgbClr val="6A737D"/>
                </a:solidFill>
                <a:effectLst/>
                <a:latin typeface="Consolas" panose="020B0609020204030204" pitchFamily="49" charset="0"/>
              </a:rPr>
              <a:t>加速运算</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(device)</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tensor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a:t>
            </a:r>
            <a:r>
              <a:rPr lang="en-US" altLang="zh-CN" b="0" dirty="0">
                <a:solidFill>
                  <a:srgbClr val="6F42C1"/>
                </a:solidFill>
                <a:effectLst/>
                <a:latin typeface="Consolas" panose="020B0609020204030204" pitchFamily="49" charset="0"/>
              </a:rPr>
              <a:t>to</a:t>
            </a:r>
            <a:r>
              <a:rPr lang="en-US" altLang="zh-CN" b="0" dirty="0">
                <a:solidFill>
                  <a:srgbClr val="24292E"/>
                </a:solidFill>
                <a:effectLst/>
                <a:latin typeface="Consolas" panose="020B0609020204030204" pitchFamily="49" charset="0"/>
              </a:rPr>
              <a:t>(device)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将</a:t>
            </a:r>
            <a:r>
              <a:rPr lang="en-US" altLang="zh-CN" b="0" dirty="0">
                <a:solidFill>
                  <a:srgbClr val="6A737D"/>
                </a:solidFill>
                <a:effectLst/>
                <a:latin typeface="Consolas" panose="020B0609020204030204" pitchFamily="49" charset="0"/>
              </a:rPr>
              <a:t>Tensor</a:t>
            </a:r>
            <a:r>
              <a:rPr lang="zh-CN" altLang="en-US" b="0" dirty="0">
                <a:solidFill>
                  <a:srgbClr val="6A737D"/>
                </a:solidFill>
                <a:effectLst/>
                <a:latin typeface="Consolas" panose="020B0609020204030204" pitchFamily="49" charset="0"/>
              </a:rPr>
              <a:t>放到</a:t>
            </a:r>
            <a:r>
              <a:rPr lang="en-US" altLang="zh-CN" b="0" dirty="0">
                <a:solidFill>
                  <a:srgbClr val="6A737D"/>
                </a:solidFill>
                <a:effectLst/>
                <a:latin typeface="Consolas" panose="020B0609020204030204" pitchFamily="49" charset="0"/>
              </a:rPr>
              <a:t>GPU</a:t>
            </a:r>
            <a:r>
              <a:rPr lang="zh-CN" altLang="en-US" b="0" dirty="0">
                <a:solidFill>
                  <a:srgbClr val="6A737D"/>
                </a:solidFill>
                <a:effectLst/>
                <a:latin typeface="Consolas" panose="020B0609020204030204" pitchFamily="49" charset="0"/>
              </a:rPr>
              <a:t>上</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f</a:t>
            </a:r>
            <a:r>
              <a:rPr lang="en-US" altLang="zh-CN" b="0" dirty="0">
                <a:solidFill>
                  <a:srgbClr val="032F62"/>
                </a:solidFill>
                <a:effectLst/>
                <a:latin typeface="Consolas" panose="020B0609020204030204" pitchFamily="49" charset="0"/>
              </a:rPr>
              <a:t>"</a:t>
            </a:r>
            <a:r>
              <a:rPr lang="zh-CN" altLang="en-US" b="0" dirty="0">
                <a:solidFill>
                  <a:srgbClr val="032F62"/>
                </a:solidFill>
                <a:effectLst/>
                <a:latin typeface="Consolas" panose="020B0609020204030204" pitchFamily="49" charset="0"/>
              </a:rPr>
              <a:t>张量存储设备</a:t>
            </a:r>
            <a:r>
              <a:rPr lang="en-US" altLang="zh-CN" b="0" dirty="0">
                <a:solidFill>
                  <a:srgbClr val="032F62"/>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tensor.device</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6" name="文本框 5"/>
          <p:cNvSpPr txBox="1"/>
          <p:nvPr/>
        </p:nvSpPr>
        <p:spPr>
          <a:xfrm>
            <a:off x="1521692" y="4587714"/>
            <a:ext cx="6094602" cy="369332"/>
          </a:xfrm>
          <a:prstGeom prst="rect">
            <a:avLst/>
          </a:prstGeom>
          <a:noFill/>
        </p:spPr>
        <p:txBody>
          <a:bodyPr wrap="square">
            <a:spAutoFit/>
          </a:bodyPr>
          <a:lstStyle/>
          <a:p>
            <a:r>
              <a:rPr lang="zh-CN" altLang="en-US" dirty="0"/>
              <a:t>若系统中有 CUDA 支持的 GPU， 执行结果如下：</a:t>
            </a:r>
            <a:endParaRPr lang="zh-CN" altLang="en-US" dirty="0"/>
          </a:p>
        </p:txBody>
      </p:sp>
      <p:sp>
        <p:nvSpPr>
          <p:cNvPr id="9" name="文本框 8"/>
          <p:cNvSpPr txBox="1"/>
          <p:nvPr/>
        </p:nvSpPr>
        <p:spPr>
          <a:xfrm>
            <a:off x="8462977" y="4587714"/>
            <a:ext cx="1942284" cy="369332"/>
          </a:xfrm>
          <a:prstGeom prst="rect">
            <a:avLst/>
          </a:prstGeom>
          <a:noFill/>
        </p:spPr>
        <p:txBody>
          <a:bodyPr wrap="square">
            <a:spAutoFit/>
          </a:bodyPr>
          <a:lstStyle/>
          <a:p>
            <a:r>
              <a:rPr lang="zh-CN" altLang="en-US" dirty="0"/>
              <a:t>否则如下：</a:t>
            </a:r>
            <a:endParaRPr lang="zh-CN" altLang="en-US" dirty="0"/>
          </a:p>
        </p:txBody>
      </p:sp>
      <p:sp>
        <p:nvSpPr>
          <p:cNvPr id="12" name="文本框 11"/>
          <p:cNvSpPr txBox="1"/>
          <p:nvPr/>
        </p:nvSpPr>
        <p:spPr>
          <a:xfrm>
            <a:off x="2490849" y="5224041"/>
            <a:ext cx="3043106" cy="646331"/>
          </a:xfrm>
          <a:prstGeom prst="rect">
            <a:avLst/>
          </a:prstGeom>
          <a:noFill/>
          <a:ln>
            <a:solidFill>
              <a:srgbClr val="577CCE"/>
            </a:solidFill>
          </a:ln>
        </p:spPr>
        <p:txBody>
          <a:bodyPr wrap="square">
            <a:spAutoFit/>
          </a:bodyPr>
          <a:lstStyle/>
          <a:p>
            <a:r>
              <a:rPr lang="en-US" altLang="zh-CN" b="0" dirty="0">
                <a:solidFill>
                  <a:srgbClr val="24292E"/>
                </a:solidFill>
                <a:effectLst/>
                <a:latin typeface="Consolas" panose="020B0609020204030204" pitchFamily="49" charset="0"/>
              </a:rPr>
              <a:t>device(</a:t>
            </a:r>
            <a:r>
              <a:rPr lang="en-US" altLang="zh-CN" b="0" dirty="0">
                <a:solidFill>
                  <a:srgbClr val="E36209"/>
                </a:solidFill>
                <a:effectLst/>
                <a:latin typeface="Consolas" panose="020B0609020204030204" pitchFamily="49" charset="0"/>
              </a:rPr>
              <a:t>type</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'cuda:0'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张量存储设备</a:t>
            </a:r>
            <a:r>
              <a:rPr lang="en-US" altLang="zh-CN" b="0" dirty="0">
                <a:solidFill>
                  <a:srgbClr val="24292E"/>
                </a:solidFill>
                <a:effectLst/>
                <a:latin typeface="Consolas" panose="020B0609020204030204" pitchFamily="49" charset="0"/>
              </a:rPr>
              <a:t>: cuda:</a:t>
            </a:r>
            <a:r>
              <a:rPr lang="en-US" altLang="zh-CN" b="0" dirty="0">
                <a:solidFill>
                  <a:srgbClr val="005CC5"/>
                </a:solidFill>
                <a:effectLst/>
                <a:latin typeface="Consolas" panose="020B0609020204030204" pitchFamily="49" charset="0"/>
              </a:rPr>
              <a:t>0</a:t>
            </a:r>
            <a:endParaRPr lang="en-US" altLang="zh-CN" b="0" dirty="0">
              <a:solidFill>
                <a:srgbClr val="24292E"/>
              </a:solidFill>
              <a:effectLst/>
              <a:latin typeface="Consolas" panose="020B0609020204030204" pitchFamily="49" charset="0"/>
            </a:endParaRPr>
          </a:p>
        </p:txBody>
      </p:sp>
      <p:sp>
        <p:nvSpPr>
          <p:cNvPr id="15" name="文本框 14"/>
          <p:cNvSpPr txBox="1"/>
          <p:nvPr/>
        </p:nvSpPr>
        <p:spPr>
          <a:xfrm>
            <a:off x="7909304" y="5204963"/>
            <a:ext cx="2648824" cy="646331"/>
          </a:xfrm>
          <a:prstGeom prst="rect">
            <a:avLst/>
          </a:prstGeom>
          <a:noFill/>
          <a:ln>
            <a:solidFill>
              <a:srgbClr val="577CCE"/>
            </a:solidFill>
          </a:ln>
        </p:spPr>
        <p:txBody>
          <a:bodyPr wrap="square">
            <a:spAutoFit/>
          </a:bodyPr>
          <a:lstStyle/>
          <a:p>
            <a:r>
              <a:rPr lang="en-US" altLang="zh-CN" b="0" dirty="0">
                <a:solidFill>
                  <a:srgbClr val="24292E"/>
                </a:solidFill>
                <a:effectLst/>
                <a:latin typeface="Consolas" panose="020B0609020204030204" pitchFamily="49" charset="0"/>
              </a:rPr>
              <a:t>device(</a:t>
            </a:r>
            <a:r>
              <a:rPr lang="en-US" altLang="zh-CN" b="0" dirty="0">
                <a:solidFill>
                  <a:srgbClr val="E36209"/>
                </a:solidFill>
                <a:effectLst/>
                <a:latin typeface="Consolas" panose="020B0609020204030204" pitchFamily="49" charset="0"/>
              </a:rPr>
              <a:t>type</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cpu</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张量存储设备</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cpu</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7" name="文本框 6"/>
          <p:cNvSpPr txBox="1"/>
          <p:nvPr/>
        </p:nvSpPr>
        <p:spPr>
          <a:xfrm>
            <a:off x="1346200" y="2347592"/>
            <a:ext cx="9522321"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张量的索引和切片类似</a:t>
            </a:r>
            <a:r>
              <a:rPr lang="en-US" altLang="zh-CN" b="0" dirty="0">
                <a:solidFill>
                  <a:srgbClr val="24292E"/>
                </a:solidFill>
                <a:effectLst/>
                <a:latin typeface="Consolas" panose="020B0609020204030204" pitchFamily="49" charset="0"/>
              </a:rPr>
              <a:t>NumPy</a:t>
            </a:r>
            <a:r>
              <a:rPr lang="zh-CN" altLang="en-US" b="0" dirty="0">
                <a:solidFill>
                  <a:srgbClr val="24292E"/>
                </a:solidFill>
                <a:effectLst/>
                <a:latin typeface="Consolas" panose="020B0609020204030204" pitchFamily="49" charset="0"/>
              </a:rPr>
              <a:t>的索引和切片。示例如下：</a:t>
            </a:r>
            <a:endParaRPr lang="zh-CN" altLang="en-US" b="0" dirty="0">
              <a:solidFill>
                <a:srgbClr val="24292E"/>
              </a:solidFill>
              <a:effectLst/>
              <a:latin typeface="Consolas" panose="020B0609020204030204" pitchFamily="49" charset="0"/>
            </a:endParaRPr>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3. </a:t>
            </a:r>
            <a:r>
              <a:rPr lang="zh-CN" altLang="en-US" b="0" dirty="0">
                <a:solidFill>
                  <a:srgbClr val="24292E"/>
                </a:solidFill>
                <a:effectLst/>
                <a:latin typeface="Consolas" panose="020B0609020204030204" pitchFamily="49" charset="0"/>
              </a:rPr>
              <a:t>索引和切片</a:t>
            </a:r>
            <a:endParaRPr lang="en-US" altLang="zh-CN" b="0" dirty="0">
              <a:solidFill>
                <a:srgbClr val="24292E"/>
              </a:solidFill>
              <a:effectLst/>
              <a:latin typeface="Consolas" panose="020B0609020204030204" pitchFamily="49" charset="0"/>
            </a:endParaRPr>
          </a:p>
        </p:txBody>
      </p:sp>
      <p:sp>
        <p:nvSpPr>
          <p:cNvPr id="4" name="文本框 3"/>
          <p:cNvSpPr txBox="1"/>
          <p:nvPr/>
        </p:nvSpPr>
        <p:spPr>
          <a:xfrm>
            <a:off x="1893059" y="2935038"/>
            <a:ext cx="9251066" cy="2031325"/>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tensor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#4</a:t>
            </a:r>
            <a:r>
              <a:rPr lang="zh-CN" altLang="en-US" b="0" dirty="0">
                <a:solidFill>
                  <a:srgbClr val="6A737D"/>
                </a:solidFill>
                <a:effectLst/>
                <a:latin typeface="Consolas" panose="020B0609020204030204" pitchFamily="49" charset="0"/>
              </a:rPr>
              <a:t>行</a:t>
            </a:r>
            <a:r>
              <a:rPr lang="en-US" altLang="zh-CN" b="0" dirty="0">
                <a:solidFill>
                  <a:srgbClr val="6A737D"/>
                </a:solidFill>
                <a:effectLst/>
                <a:latin typeface="Consolas" panose="020B0609020204030204" pitchFamily="49" charset="0"/>
              </a:rPr>
              <a:t>4</a:t>
            </a:r>
            <a:r>
              <a:rPr lang="zh-CN" altLang="en-US" b="0" dirty="0">
                <a:solidFill>
                  <a:srgbClr val="6A737D"/>
                </a:solidFill>
                <a:effectLst/>
                <a:latin typeface="Consolas" panose="020B0609020204030204" pitchFamily="49" charset="0"/>
              </a:rPr>
              <a:t>列，各元素值为</a:t>
            </a:r>
            <a:r>
              <a:rPr lang="en-US" altLang="zh-CN" b="0" dirty="0">
                <a:solidFill>
                  <a:srgbClr val="6A737D"/>
                </a:solidFill>
                <a:effectLst/>
                <a:latin typeface="Consolas" panose="020B0609020204030204" pitchFamily="49" charset="0"/>
              </a:rPr>
              <a:t>[1</a:t>
            </a:r>
            <a:r>
              <a:rPr lang="zh-CN" altLang="en-US" b="0" dirty="0">
                <a:solidFill>
                  <a:srgbClr val="6A737D"/>
                </a:solidFill>
                <a:effectLst/>
                <a:latin typeface="Consolas" panose="020B0609020204030204" pitchFamily="49" charset="0"/>
              </a:rPr>
              <a:t>，</a:t>
            </a:r>
            <a:r>
              <a:rPr lang="en-US" altLang="zh-CN" b="0" dirty="0">
                <a:solidFill>
                  <a:srgbClr val="6A737D"/>
                </a:solidFill>
                <a:effectLst/>
                <a:latin typeface="Consolas" panose="020B0609020204030204" pitchFamily="49" charset="0"/>
              </a:rPr>
              <a:t>100)</a:t>
            </a:r>
            <a:r>
              <a:rPr lang="zh-CN" altLang="en-US" b="0" dirty="0">
                <a:solidFill>
                  <a:srgbClr val="6A737D"/>
                </a:solidFill>
                <a:effectLst/>
                <a:latin typeface="Consolas" panose="020B0609020204030204" pitchFamily="49" charset="0"/>
              </a:rPr>
              <a:t>区间的随机数</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f</a:t>
            </a:r>
            <a:r>
              <a:rPr lang="en-US" altLang="zh-CN" b="0" dirty="0">
                <a:solidFill>
                  <a:srgbClr val="032F62"/>
                </a:solidFill>
                <a:effectLst/>
                <a:latin typeface="Consolas" panose="020B0609020204030204" pitchFamily="49" charset="0"/>
              </a:rPr>
              <a:t>"</a:t>
            </a:r>
            <a:r>
              <a:rPr lang="zh-CN" altLang="en-US" b="0" dirty="0">
                <a:solidFill>
                  <a:srgbClr val="032F62"/>
                </a:solidFill>
                <a:effectLst/>
                <a:latin typeface="Consolas" panose="020B0609020204030204" pitchFamily="49" charset="0"/>
              </a:rPr>
              <a:t>第一行</a:t>
            </a:r>
            <a:r>
              <a:rPr lang="en-US" altLang="zh-CN" b="0" dirty="0">
                <a:solidFill>
                  <a:srgbClr val="032F62"/>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tensor[</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f</a:t>
            </a:r>
            <a:r>
              <a:rPr lang="en-US" altLang="zh-CN" b="0" dirty="0">
                <a:solidFill>
                  <a:srgbClr val="032F62"/>
                </a:solidFill>
                <a:effectLst/>
                <a:latin typeface="Consolas" panose="020B0609020204030204" pitchFamily="49" charset="0"/>
              </a:rPr>
              <a:t>"</a:t>
            </a:r>
            <a:r>
              <a:rPr lang="zh-CN" altLang="en-US" b="0" dirty="0">
                <a:solidFill>
                  <a:srgbClr val="032F62"/>
                </a:solidFill>
                <a:effectLst/>
                <a:latin typeface="Consolas" panose="020B0609020204030204" pitchFamily="49" charset="0"/>
              </a:rPr>
              <a:t>第一列</a:t>
            </a:r>
            <a:r>
              <a:rPr lang="en-US" altLang="zh-CN" b="0" dirty="0">
                <a:solidFill>
                  <a:srgbClr val="032F62"/>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tensor[:,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f</a:t>
            </a:r>
            <a:r>
              <a:rPr lang="en-US" altLang="zh-CN" b="0" dirty="0">
                <a:solidFill>
                  <a:srgbClr val="032F62"/>
                </a:solidFill>
                <a:effectLst/>
                <a:latin typeface="Consolas" panose="020B0609020204030204" pitchFamily="49" charset="0"/>
              </a:rPr>
              <a:t>"</a:t>
            </a:r>
            <a:r>
              <a:rPr lang="zh-CN" altLang="en-US" b="0" dirty="0">
                <a:solidFill>
                  <a:srgbClr val="032F62"/>
                </a:solidFill>
                <a:effectLst/>
                <a:latin typeface="Consolas" panose="020B0609020204030204" pitchFamily="49" charset="0"/>
              </a:rPr>
              <a:t>最后一列</a:t>
            </a:r>
            <a:r>
              <a:rPr lang="en-US" altLang="zh-CN" b="0" dirty="0">
                <a:solidFill>
                  <a:srgbClr val="032F62"/>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tensor[</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和</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是一样的</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tensor[:,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第二列置为</a:t>
            </a:r>
            <a:r>
              <a:rPr lang="en-US" altLang="zh-CN" b="0" dirty="0">
                <a:solidFill>
                  <a:srgbClr val="6A737D"/>
                </a:solidFill>
                <a:effectLst/>
                <a:latin typeface="Consolas" panose="020B0609020204030204" pitchFamily="49" charset="0"/>
              </a:rPr>
              <a:t>0</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(tensor)</a:t>
            </a:r>
            <a:endParaRPr lang="en-US" altLang="zh-CN" b="0" dirty="0">
              <a:solidFill>
                <a:srgbClr val="24292E"/>
              </a:solidFill>
              <a:effectLst/>
              <a:latin typeface="Consolas" panose="020B0609020204030204" pitchFamily="49" charset="0"/>
            </a:endParaRPr>
          </a:p>
        </p:txBody>
      </p:sp>
      <p:pic>
        <p:nvPicPr>
          <p:cNvPr id="3" name="图片 2"/>
          <p:cNvPicPr>
            <a:picLocks noChangeAspect="1"/>
          </p:cNvPicPr>
          <p:nvPr/>
        </p:nvPicPr>
        <p:blipFill>
          <a:blip r:embed="rId1"/>
          <a:stretch>
            <a:fillRect/>
          </a:stretch>
        </p:blipFill>
        <p:spPr>
          <a:xfrm>
            <a:off x="7049970" y="4635446"/>
            <a:ext cx="4094155" cy="1944479"/>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7" name="文本框 6"/>
          <p:cNvSpPr txBox="1"/>
          <p:nvPr/>
        </p:nvSpPr>
        <p:spPr>
          <a:xfrm>
            <a:off x="1346200" y="2347592"/>
            <a:ext cx="9522321"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多个张量可以在某个维度上进行连接，除了要连接的维度值不同，其他维度的值应保持一致，否则不可以进行连接。例如两个张量的形状分别为</a:t>
            </a:r>
            <a:r>
              <a:rPr lang="en-US" altLang="zh-CN" b="0" dirty="0">
                <a:solidFill>
                  <a:srgbClr val="24292E"/>
                </a:solidFill>
                <a:effectLst/>
                <a:latin typeface="Consolas" panose="020B0609020204030204" pitchFamily="49" charset="0"/>
              </a:rPr>
              <a:t>[2, 4]</a:t>
            </a:r>
            <a:r>
              <a:rPr lang="zh-CN" altLang="en-US" b="0" dirty="0">
                <a:solidFill>
                  <a:srgbClr val="24292E"/>
                </a:solidFill>
                <a:effectLst/>
                <a:latin typeface="Consolas" panose="020B0609020204030204" pitchFamily="49" charset="0"/>
              </a:rPr>
              <a:t>和</a:t>
            </a:r>
            <a:r>
              <a:rPr lang="en-US" altLang="zh-CN" b="0" dirty="0">
                <a:solidFill>
                  <a:srgbClr val="24292E"/>
                </a:solidFill>
                <a:effectLst/>
                <a:latin typeface="Consolas" panose="020B0609020204030204" pitchFamily="49" charset="0"/>
              </a:rPr>
              <a:t>[3, 4]</a:t>
            </a:r>
            <a:r>
              <a:rPr lang="zh-CN" altLang="en-US" b="0" dirty="0">
                <a:solidFill>
                  <a:srgbClr val="24292E"/>
                </a:solidFill>
                <a:effectLst/>
                <a:latin typeface="Consolas" panose="020B0609020204030204" pitchFamily="49" charset="0"/>
              </a:rPr>
              <a:t>，则可以在第一个维度，即纵向上进行连接。示例如下：</a:t>
            </a:r>
            <a:endParaRPr lang="zh-CN" altLang="en-US" b="0" dirty="0">
              <a:solidFill>
                <a:srgbClr val="24292E"/>
              </a:solidFill>
              <a:effectLst/>
              <a:latin typeface="Consolas" panose="020B0609020204030204" pitchFamily="49" charset="0"/>
            </a:endParaRPr>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4. </a:t>
            </a:r>
            <a:r>
              <a:rPr lang="zh-CN" altLang="en-US" b="0" dirty="0">
                <a:solidFill>
                  <a:srgbClr val="24292E"/>
                </a:solidFill>
                <a:effectLst/>
                <a:latin typeface="Consolas" panose="020B0609020204030204" pitchFamily="49" charset="0"/>
              </a:rPr>
              <a:t>张量连接</a:t>
            </a:r>
            <a:endParaRPr lang="en-US" altLang="zh-CN" b="0" dirty="0">
              <a:solidFill>
                <a:srgbClr val="24292E"/>
              </a:solidFill>
              <a:effectLst/>
              <a:latin typeface="Consolas" panose="020B0609020204030204" pitchFamily="49" charset="0"/>
            </a:endParaRPr>
          </a:p>
        </p:txBody>
      </p:sp>
      <p:sp>
        <p:nvSpPr>
          <p:cNvPr id="5" name="文本框 4"/>
          <p:cNvSpPr txBox="1"/>
          <p:nvPr/>
        </p:nvSpPr>
        <p:spPr>
          <a:xfrm>
            <a:off x="1880151" y="3422736"/>
            <a:ext cx="9276882" cy="1754326"/>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tensor1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tensor2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tensor3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cat</a:t>
            </a:r>
            <a:r>
              <a:rPr lang="en-US" altLang="zh-CN" b="0" dirty="0">
                <a:solidFill>
                  <a:srgbClr val="24292E"/>
                </a:solidFill>
                <a:effectLst/>
                <a:latin typeface="Consolas" panose="020B0609020204030204" pitchFamily="49" charset="0"/>
              </a:rPr>
              <a:t>([tensor1, tensor2], </a:t>
            </a:r>
            <a:r>
              <a:rPr lang="en-US" altLang="zh-CN" b="0" dirty="0">
                <a:solidFill>
                  <a:srgbClr val="E36209"/>
                </a:solidFill>
                <a:effectLst/>
                <a:latin typeface="Consolas" panose="020B0609020204030204" pitchFamily="49" charset="0"/>
              </a:rPr>
              <a:t>dim</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纵向连接</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cat</a:t>
            </a:r>
            <a:r>
              <a:rPr lang="en-US" altLang="zh-CN" b="0" dirty="0">
                <a:solidFill>
                  <a:srgbClr val="24292E"/>
                </a:solidFill>
                <a:effectLst/>
                <a:latin typeface="Consolas" panose="020B0609020204030204" pitchFamily="49" charset="0"/>
              </a:rPr>
              <a:t>((tensor1, tensor3), </a:t>
            </a:r>
            <a:r>
              <a:rPr lang="en-US" altLang="zh-CN" b="0" dirty="0">
                <a:solidFill>
                  <a:srgbClr val="E36209"/>
                </a:solidFill>
                <a:effectLst/>
                <a:latin typeface="Consolas" panose="020B0609020204030204" pitchFamily="49" charset="0"/>
              </a:rPr>
              <a:t>dim</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横向连接</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用</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和</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均可</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(tensor1.shape, tensor2.shape, tensor3.shape, t1.shape, t2.shape)</a:t>
            </a:r>
            <a:endParaRPr lang="en-US" altLang="zh-CN" b="0" dirty="0">
              <a:solidFill>
                <a:srgbClr val="24292E"/>
              </a:solidFill>
              <a:effectLst/>
              <a:latin typeface="Consolas" panose="020B0609020204030204" pitchFamily="49" charset="0"/>
            </a:endParaRPr>
          </a:p>
        </p:txBody>
      </p:sp>
      <p:pic>
        <p:nvPicPr>
          <p:cNvPr id="9" name="图片 8"/>
          <p:cNvPicPr>
            <a:picLocks noChangeAspect="1"/>
          </p:cNvPicPr>
          <p:nvPr/>
        </p:nvPicPr>
        <p:blipFill>
          <a:blip r:embed="rId1"/>
          <a:stretch>
            <a:fillRect/>
          </a:stretch>
        </p:blipFill>
        <p:spPr>
          <a:xfrm>
            <a:off x="391700" y="5657466"/>
            <a:ext cx="11684280" cy="369331"/>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7" name="文本框 6"/>
          <p:cNvSpPr txBox="1"/>
          <p:nvPr/>
        </p:nvSpPr>
        <p:spPr>
          <a:xfrm>
            <a:off x="1346200" y="2347592"/>
            <a:ext cx="9522321" cy="923330"/>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torch.cat</a:t>
            </a:r>
            <a:r>
              <a:rPr lang="zh-CN" altLang="en-US" b="0" dirty="0">
                <a:solidFill>
                  <a:srgbClr val="24292E"/>
                </a:solidFill>
                <a:effectLst/>
                <a:latin typeface="Consolas" panose="020B0609020204030204" pitchFamily="49" charset="0"/>
              </a:rPr>
              <a:t>函数返回张量维度不会变，只是连接维度上的值变为各个被链接的张量在该维度的值之和。除了</a:t>
            </a:r>
            <a:r>
              <a:rPr lang="en-US" altLang="zh-CN" b="0" dirty="0">
                <a:solidFill>
                  <a:srgbClr val="24292E"/>
                </a:solidFill>
                <a:effectLst/>
                <a:latin typeface="Consolas" panose="020B0609020204030204" pitchFamily="49" charset="0"/>
              </a:rPr>
              <a:t>torch.cat</a:t>
            </a:r>
            <a:r>
              <a:rPr lang="zh-CN" altLang="en-US" b="0" dirty="0">
                <a:solidFill>
                  <a:srgbClr val="24292E"/>
                </a:solidFill>
                <a:effectLst/>
                <a:latin typeface="Consolas" panose="020B0609020204030204" pitchFamily="49" charset="0"/>
              </a:rPr>
              <a:t>函数外，</a:t>
            </a:r>
            <a:r>
              <a:rPr lang="en-US" altLang="zh-CN" b="0" dirty="0" err="1">
                <a:solidFill>
                  <a:srgbClr val="24292E"/>
                </a:solidFill>
                <a:effectLst/>
                <a:latin typeface="Consolas" panose="020B0609020204030204" pitchFamily="49" charset="0"/>
              </a:rPr>
              <a:t>torch.stack</a:t>
            </a:r>
            <a:r>
              <a:rPr lang="zh-CN" altLang="en-US" b="0" dirty="0">
                <a:solidFill>
                  <a:srgbClr val="24292E"/>
                </a:solidFill>
                <a:effectLst/>
                <a:latin typeface="Consolas" panose="020B0609020204030204" pitchFamily="49" charset="0"/>
              </a:rPr>
              <a:t>函数也可以进行连接，不过各个被链接的张量的各个维度值都应一致，返回的新张量维度会多增加一维。示例如下：</a:t>
            </a:r>
            <a:endParaRPr lang="zh-CN" altLang="en-US" b="0" dirty="0">
              <a:solidFill>
                <a:srgbClr val="24292E"/>
              </a:solidFill>
              <a:effectLst/>
              <a:latin typeface="Consolas" panose="020B0609020204030204" pitchFamily="49" charset="0"/>
            </a:endParaRPr>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4. </a:t>
            </a:r>
            <a:r>
              <a:rPr lang="zh-CN" altLang="en-US" b="0" dirty="0">
                <a:solidFill>
                  <a:srgbClr val="24292E"/>
                </a:solidFill>
                <a:effectLst/>
                <a:latin typeface="Consolas" panose="020B0609020204030204" pitchFamily="49" charset="0"/>
              </a:rPr>
              <a:t>张量连接</a:t>
            </a:r>
            <a:endParaRPr lang="en-US" altLang="zh-CN" b="0" dirty="0">
              <a:solidFill>
                <a:srgbClr val="24292E"/>
              </a:solidFill>
              <a:effectLst/>
              <a:latin typeface="Consolas" panose="020B0609020204030204" pitchFamily="49" charset="0"/>
            </a:endParaRPr>
          </a:p>
        </p:txBody>
      </p:sp>
      <p:sp>
        <p:nvSpPr>
          <p:cNvPr id="5" name="文本框 4"/>
          <p:cNvSpPr txBox="1"/>
          <p:nvPr/>
        </p:nvSpPr>
        <p:spPr>
          <a:xfrm>
            <a:off x="1639815" y="3541725"/>
            <a:ext cx="10431943" cy="2308324"/>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tensor1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tensor2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zeros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tensor3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ones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stack</a:t>
            </a:r>
            <a:r>
              <a:rPr lang="en-US" altLang="zh-CN" b="0" dirty="0">
                <a:solidFill>
                  <a:srgbClr val="24292E"/>
                </a:solidFill>
                <a:effectLst/>
                <a:latin typeface="Consolas" panose="020B0609020204030204" pitchFamily="49" charset="0"/>
              </a:rPr>
              <a:t>([tensor1, tensor2, tensor3],</a:t>
            </a:r>
            <a:r>
              <a:rPr lang="en-US" altLang="zh-CN" b="0" dirty="0">
                <a:solidFill>
                  <a:srgbClr val="E36209"/>
                </a:solidFill>
                <a:effectLst/>
                <a:latin typeface="Consolas" panose="020B0609020204030204" pitchFamily="49" charset="0"/>
              </a:rPr>
              <a:t>dim</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stack</a:t>
            </a:r>
            <a:r>
              <a:rPr lang="en-US" altLang="zh-CN" b="0" dirty="0">
                <a:solidFill>
                  <a:srgbClr val="24292E"/>
                </a:solidFill>
                <a:effectLst/>
                <a:latin typeface="Consolas" panose="020B0609020204030204" pitchFamily="49" charset="0"/>
              </a:rPr>
              <a:t>((tensor1, tensor2, tensor3),</a:t>
            </a:r>
            <a:r>
              <a:rPr lang="en-US" altLang="zh-CN" b="0" dirty="0">
                <a:solidFill>
                  <a:srgbClr val="E36209"/>
                </a:solidFill>
                <a:effectLst/>
                <a:latin typeface="Consolas" panose="020B0609020204030204" pitchFamily="49" charset="0"/>
              </a:rPr>
              <a:t>dim</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t3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stack</a:t>
            </a:r>
            <a:r>
              <a:rPr lang="en-US" altLang="zh-CN" b="0" dirty="0">
                <a:solidFill>
                  <a:srgbClr val="24292E"/>
                </a:solidFill>
                <a:effectLst/>
                <a:latin typeface="Consolas" panose="020B0609020204030204" pitchFamily="49" charset="0"/>
              </a:rPr>
              <a:t>((tensor1, tensor2, tensor3),</a:t>
            </a:r>
            <a:r>
              <a:rPr lang="en-US" altLang="zh-CN" b="0" dirty="0">
                <a:solidFill>
                  <a:srgbClr val="E36209"/>
                </a:solidFill>
                <a:effectLst/>
                <a:latin typeface="Consolas" panose="020B0609020204030204" pitchFamily="49" charset="0"/>
              </a:rPr>
              <a:t>dim</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(tensor1.shape, tensor2.shape, tensor3.shape, t1.shape, t2.shape, t3.shape)</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t1,t2,t3 </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209725" y="5495830"/>
            <a:ext cx="2759978" cy="1066970"/>
            <a:chOff x="67112" y="2474752"/>
            <a:chExt cx="2759978" cy="1066970"/>
          </a:xfrm>
        </p:grpSpPr>
        <p:sp>
          <p:nvSpPr>
            <p:cNvPr id="26" name="矩形 25"/>
            <p:cNvSpPr/>
            <p:nvPr/>
          </p:nvSpPr>
          <p:spPr>
            <a:xfrm>
              <a:off x="67112" y="2474752"/>
              <a:ext cx="2759978" cy="1066970"/>
            </a:xfrm>
            <a:prstGeom prst="rect">
              <a:avLst/>
            </a:prstGeom>
            <a:solidFill>
              <a:srgbClr val="577CCE">
                <a:alpha val="2902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文本框 23"/>
            <p:cNvSpPr txBox="1"/>
            <p:nvPr/>
          </p:nvSpPr>
          <p:spPr>
            <a:xfrm>
              <a:off x="874030" y="2575325"/>
              <a:ext cx="1206962"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tensor3</a:t>
              </a:r>
              <a:endParaRPr lang="en-US" altLang="zh-CN" b="0" dirty="0">
                <a:solidFill>
                  <a:srgbClr val="24292E"/>
                </a:solidFill>
                <a:effectLst/>
                <a:latin typeface="Consolas" panose="020B0609020204030204" pitchFamily="49" charset="0"/>
              </a:endParaRPr>
            </a:p>
          </p:txBody>
        </p:sp>
        <p:sp>
          <p:nvSpPr>
            <p:cNvPr id="25" name="文本框 24"/>
            <p:cNvSpPr txBox="1"/>
            <p:nvPr/>
          </p:nvSpPr>
          <p:spPr>
            <a:xfrm>
              <a:off x="253767" y="2987724"/>
              <a:ext cx="2447488" cy="369332"/>
            </a:xfrm>
            <a:prstGeom prst="rect">
              <a:avLst/>
            </a:prstGeom>
            <a:noFill/>
          </p:spPr>
          <p:txBody>
            <a:bodyPr wrap="square">
              <a:spAutoFit/>
            </a:bodyPr>
            <a:lstStyle/>
            <a:p>
              <a:r>
                <a:rPr lang="en-US" altLang="zh-CN" b="0" i="0" dirty="0" err="1">
                  <a:solidFill>
                    <a:srgbClr val="24292E"/>
                  </a:solidFill>
                  <a:effectLst/>
                  <a:latin typeface="Consolas" panose="020B0609020204030204" pitchFamily="49" charset="0"/>
                </a:rPr>
                <a:t>torch.Size</a:t>
              </a:r>
              <a:r>
                <a:rPr lang="en-US" altLang="zh-CN" b="0" i="0" dirty="0">
                  <a:solidFill>
                    <a:srgbClr val="24292E"/>
                  </a:solidFill>
                  <a:effectLst/>
                  <a:latin typeface="Consolas" panose="020B0609020204030204" pitchFamily="49" charset="0"/>
                </a:rPr>
                <a:t>([2, 4])</a:t>
              </a:r>
              <a:endParaRPr lang="zh-CN" altLang="en-US" dirty="0"/>
            </a:p>
          </p:txBody>
        </p:sp>
      </p:grpSp>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4. </a:t>
            </a:r>
            <a:r>
              <a:rPr lang="zh-CN" altLang="en-US" b="0" dirty="0">
                <a:solidFill>
                  <a:srgbClr val="24292E"/>
                </a:solidFill>
                <a:effectLst/>
                <a:latin typeface="Consolas" panose="020B0609020204030204" pitchFamily="49" charset="0"/>
              </a:rPr>
              <a:t>张量连接</a:t>
            </a:r>
            <a:endParaRPr lang="en-US" altLang="zh-CN" b="0" dirty="0">
              <a:solidFill>
                <a:srgbClr val="24292E"/>
              </a:solidFill>
              <a:effectLst/>
              <a:latin typeface="Consolas" panose="020B0609020204030204" pitchFamily="49" charset="0"/>
            </a:endParaRPr>
          </a:p>
        </p:txBody>
      </p:sp>
      <p:grpSp>
        <p:nvGrpSpPr>
          <p:cNvPr id="18" name="组合 17"/>
          <p:cNvGrpSpPr/>
          <p:nvPr/>
        </p:nvGrpSpPr>
        <p:grpSpPr>
          <a:xfrm>
            <a:off x="209725" y="2458568"/>
            <a:ext cx="2759978" cy="1066970"/>
            <a:chOff x="67112" y="2474752"/>
            <a:chExt cx="2759978" cy="1066970"/>
          </a:xfrm>
        </p:grpSpPr>
        <p:sp>
          <p:nvSpPr>
            <p:cNvPr id="3" name="文本框 2"/>
            <p:cNvSpPr txBox="1"/>
            <p:nvPr/>
          </p:nvSpPr>
          <p:spPr>
            <a:xfrm>
              <a:off x="874030" y="2575325"/>
              <a:ext cx="1206962"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tensor1</a:t>
              </a:r>
              <a:endParaRPr lang="en-US" altLang="zh-CN" b="0" dirty="0">
                <a:solidFill>
                  <a:srgbClr val="24292E"/>
                </a:solidFill>
                <a:effectLst/>
                <a:latin typeface="Consolas" panose="020B0609020204030204" pitchFamily="49" charset="0"/>
              </a:endParaRPr>
            </a:p>
          </p:txBody>
        </p:sp>
        <p:sp>
          <p:nvSpPr>
            <p:cNvPr id="10" name="文本框 9"/>
            <p:cNvSpPr txBox="1"/>
            <p:nvPr/>
          </p:nvSpPr>
          <p:spPr>
            <a:xfrm>
              <a:off x="253767" y="2987724"/>
              <a:ext cx="2447488" cy="369332"/>
            </a:xfrm>
            <a:prstGeom prst="rect">
              <a:avLst/>
            </a:prstGeom>
            <a:noFill/>
          </p:spPr>
          <p:txBody>
            <a:bodyPr wrap="square">
              <a:spAutoFit/>
            </a:bodyPr>
            <a:lstStyle/>
            <a:p>
              <a:r>
                <a:rPr lang="en-US" altLang="zh-CN" b="0" i="0" dirty="0" err="1">
                  <a:solidFill>
                    <a:srgbClr val="24292E"/>
                  </a:solidFill>
                  <a:effectLst/>
                  <a:latin typeface="Consolas" panose="020B0609020204030204" pitchFamily="49" charset="0"/>
                </a:rPr>
                <a:t>torch.Size</a:t>
              </a:r>
              <a:r>
                <a:rPr lang="en-US" altLang="zh-CN" b="0" i="0" dirty="0">
                  <a:solidFill>
                    <a:srgbClr val="24292E"/>
                  </a:solidFill>
                  <a:effectLst/>
                  <a:latin typeface="Consolas" panose="020B0609020204030204" pitchFamily="49" charset="0"/>
                </a:rPr>
                <a:t>([2, 4])</a:t>
              </a:r>
              <a:endParaRPr lang="zh-CN" altLang="en-US" dirty="0"/>
            </a:p>
          </p:txBody>
        </p:sp>
        <p:sp>
          <p:nvSpPr>
            <p:cNvPr id="13" name="矩形 12"/>
            <p:cNvSpPr/>
            <p:nvPr/>
          </p:nvSpPr>
          <p:spPr>
            <a:xfrm>
              <a:off x="67112" y="2474752"/>
              <a:ext cx="2759978" cy="1066970"/>
            </a:xfrm>
            <a:prstGeom prst="rect">
              <a:avLst/>
            </a:prstGeom>
            <a:solidFill>
              <a:srgbClr val="577CCE">
                <a:alpha val="2902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9" name="组合 18"/>
          <p:cNvGrpSpPr/>
          <p:nvPr/>
        </p:nvGrpSpPr>
        <p:grpSpPr>
          <a:xfrm>
            <a:off x="209725" y="3977199"/>
            <a:ext cx="2759978" cy="1066970"/>
            <a:chOff x="67112" y="2474752"/>
            <a:chExt cx="2759978" cy="1066970"/>
          </a:xfrm>
        </p:grpSpPr>
        <p:sp>
          <p:nvSpPr>
            <p:cNvPr id="22" name="矩形 21"/>
            <p:cNvSpPr/>
            <p:nvPr/>
          </p:nvSpPr>
          <p:spPr>
            <a:xfrm>
              <a:off x="67112" y="2474752"/>
              <a:ext cx="2759978" cy="1066970"/>
            </a:xfrm>
            <a:prstGeom prst="rect">
              <a:avLst/>
            </a:prstGeom>
            <a:solidFill>
              <a:srgbClr val="577CCE">
                <a:alpha val="2902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文本框 19"/>
            <p:cNvSpPr txBox="1"/>
            <p:nvPr/>
          </p:nvSpPr>
          <p:spPr>
            <a:xfrm>
              <a:off x="874030" y="2575325"/>
              <a:ext cx="1206962"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tensor2</a:t>
              </a:r>
              <a:endParaRPr lang="en-US" altLang="zh-CN" b="0" dirty="0">
                <a:solidFill>
                  <a:srgbClr val="24292E"/>
                </a:solidFill>
                <a:effectLst/>
                <a:latin typeface="Consolas" panose="020B0609020204030204" pitchFamily="49" charset="0"/>
              </a:endParaRPr>
            </a:p>
          </p:txBody>
        </p:sp>
        <p:sp>
          <p:nvSpPr>
            <p:cNvPr id="21" name="文本框 20"/>
            <p:cNvSpPr txBox="1"/>
            <p:nvPr/>
          </p:nvSpPr>
          <p:spPr>
            <a:xfrm>
              <a:off x="253767" y="2987724"/>
              <a:ext cx="2447488" cy="369332"/>
            </a:xfrm>
            <a:prstGeom prst="rect">
              <a:avLst/>
            </a:prstGeom>
            <a:noFill/>
          </p:spPr>
          <p:txBody>
            <a:bodyPr wrap="square">
              <a:spAutoFit/>
            </a:bodyPr>
            <a:lstStyle/>
            <a:p>
              <a:r>
                <a:rPr lang="en-US" altLang="zh-CN" b="0" i="0" dirty="0" err="1">
                  <a:solidFill>
                    <a:srgbClr val="24292E"/>
                  </a:solidFill>
                  <a:effectLst/>
                  <a:latin typeface="Consolas" panose="020B0609020204030204" pitchFamily="49" charset="0"/>
                </a:rPr>
                <a:t>torch.Size</a:t>
              </a:r>
              <a:r>
                <a:rPr lang="en-US" altLang="zh-CN" b="0" i="0" dirty="0">
                  <a:solidFill>
                    <a:srgbClr val="24292E"/>
                  </a:solidFill>
                  <a:effectLst/>
                  <a:latin typeface="Consolas" panose="020B0609020204030204" pitchFamily="49" charset="0"/>
                </a:rPr>
                <a:t>([2, 4])</a:t>
              </a:r>
              <a:endParaRPr lang="zh-CN" altLang="en-US" dirty="0"/>
            </a:p>
          </p:txBody>
        </p:sp>
      </p:grpSp>
      <p:sp>
        <p:nvSpPr>
          <p:cNvPr id="28" name="文本框 27"/>
          <p:cNvSpPr txBox="1"/>
          <p:nvPr/>
        </p:nvSpPr>
        <p:spPr>
          <a:xfrm>
            <a:off x="3441583" y="2829941"/>
            <a:ext cx="5165522" cy="369332"/>
          </a:xfrm>
          <a:prstGeom prst="rect">
            <a:avLst/>
          </a:prstGeom>
          <a:noFill/>
        </p:spPr>
        <p:txBody>
          <a:bodyPr wrap="square">
            <a:spAutoFit/>
          </a:bodyPr>
          <a:lstStyle/>
          <a:p>
            <a:r>
              <a:rPr lang="en-US" altLang="zh-CN" b="0" dirty="0">
                <a:solidFill>
                  <a:srgbClr val="6F42C1"/>
                </a:solidFill>
                <a:effectLst/>
                <a:latin typeface="Consolas" panose="020B0609020204030204" pitchFamily="49" charset="0"/>
              </a:rPr>
              <a:t>stack</a:t>
            </a:r>
            <a:r>
              <a:rPr lang="en-US" altLang="zh-CN" b="0" dirty="0">
                <a:solidFill>
                  <a:srgbClr val="24292E"/>
                </a:solidFill>
                <a:effectLst/>
                <a:latin typeface="Consolas" panose="020B0609020204030204" pitchFamily="49" charset="0"/>
              </a:rPr>
              <a:t>([tensor1, tensor2, tensor3],</a:t>
            </a:r>
            <a:r>
              <a:rPr lang="en-US" altLang="zh-CN" b="0" dirty="0">
                <a:solidFill>
                  <a:srgbClr val="E36209"/>
                </a:solidFill>
                <a:effectLst/>
                <a:latin typeface="Consolas" panose="020B0609020204030204" pitchFamily="49" charset="0"/>
              </a:rPr>
              <a:t>dim</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32" name="文本框 31"/>
          <p:cNvSpPr txBox="1"/>
          <p:nvPr/>
        </p:nvSpPr>
        <p:spPr>
          <a:xfrm>
            <a:off x="9770849" y="2829941"/>
            <a:ext cx="2195818" cy="369332"/>
          </a:xfrm>
          <a:prstGeom prst="rect">
            <a:avLst/>
          </a:prstGeom>
          <a:noFill/>
        </p:spPr>
        <p:txBody>
          <a:bodyPr wrap="square">
            <a:spAutoFit/>
          </a:bodyPr>
          <a:lstStyle/>
          <a:p>
            <a:r>
              <a:rPr lang="zh-CN" altLang="en-US" dirty="0"/>
              <a:t>torch.Size([3, 2, 4])</a:t>
            </a:r>
            <a:endParaRPr lang="zh-CN" altLang="en-US" dirty="0"/>
          </a:p>
        </p:txBody>
      </p:sp>
      <p:sp>
        <p:nvSpPr>
          <p:cNvPr id="33" name="箭头: 右 32"/>
          <p:cNvSpPr/>
          <p:nvPr/>
        </p:nvSpPr>
        <p:spPr>
          <a:xfrm>
            <a:off x="8798888" y="2874887"/>
            <a:ext cx="780177"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3441583" y="4305505"/>
            <a:ext cx="5165522" cy="369332"/>
          </a:xfrm>
          <a:prstGeom prst="rect">
            <a:avLst/>
          </a:prstGeom>
          <a:noFill/>
        </p:spPr>
        <p:txBody>
          <a:bodyPr wrap="square">
            <a:spAutoFit/>
          </a:bodyPr>
          <a:lstStyle/>
          <a:p>
            <a:r>
              <a:rPr lang="en-US" altLang="zh-CN" b="0" dirty="0">
                <a:solidFill>
                  <a:srgbClr val="6F42C1"/>
                </a:solidFill>
                <a:effectLst/>
                <a:latin typeface="Consolas" panose="020B0609020204030204" pitchFamily="49" charset="0"/>
              </a:rPr>
              <a:t>stack</a:t>
            </a:r>
            <a:r>
              <a:rPr lang="en-US" altLang="zh-CN" b="0" dirty="0">
                <a:solidFill>
                  <a:srgbClr val="24292E"/>
                </a:solidFill>
                <a:effectLst/>
                <a:latin typeface="Consolas" panose="020B0609020204030204" pitchFamily="49" charset="0"/>
              </a:rPr>
              <a:t>([tensor1, tensor2, tensor3],</a:t>
            </a:r>
            <a:r>
              <a:rPr lang="en-US" altLang="zh-CN" b="0" dirty="0">
                <a:solidFill>
                  <a:srgbClr val="E36209"/>
                </a:solidFill>
                <a:effectLst/>
                <a:latin typeface="Consolas" panose="020B0609020204030204" pitchFamily="49" charset="0"/>
              </a:rPr>
              <a:t>dim</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35" name="文本框 34"/>
          <p:cNvSpPr txBox="1"/>
          <p:nvPr/>
        </p:nvSpPr>
        <p:spPr>
          <a:xfrm>
            <a:off x="9770849" y="4305505"/>
            <a:ext cx="2195818" cy="369332"/>
          </a:xfrm>
          <a:prstGeom prst="rect">
            <a:avLst/>
          </a:prstGeom>
          <a:noFill/>
        </p:spPr>
        <p:txBody>
          <a:bodyPr wrap="square">
            <a:spAutoFit/>
          </a:bodyPr>
          <a:lstStyle/>
          <a:p>
            <a:r>
              <a:rPr lang="en-US" altLang="zh-CN" dirty="0" err="1"/>
              <a:t>torch.Size</a:t>
            </a:r>
            <a:r>
              <a:rPr lang="en-US" altLang="zh-CN" dirty="0"/>
              <a:t>([2, 3, 4])</a:t>
            </a:r>
            <a:endParaRPr lang="zh-CN" altLang="en-US" dirty="0"/>
          </a:p>
        </p:txBody>
      </p:sp>
      <p:sp>
        <p:nvSpPr>
          <p:cNvPr id="36" name="箭头: 右 35"/>
          <p:cNvSpPr/>
          <p:nvPr/>
        </p:nvSpPr>
        <p:spPr>
          <a:xfrm>
            <a:off x="8798888" y="4350451"/>
            <a:ext cx="780177"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3441583" y="5781069"/>
            <a:ext cx="5165522" cy="369332"/>
          </a:xfrm>
          <a:prstGeom prst="rect">
            <a:avLst/>
          </a:prstGeom>
          <a:noFill/>
        </p:spPr>
        <p:txBody>
          <a:bodyPr wrap="square">
            <a:spAutoFit/>
          </a:bodyPr>
          <a:lstStyle/>
          <a:p>
            <a:r>
              <a:rPr lang="en-US" altLang="zh-CN" b="0" dirty="0">
                <a:solidFill>
                  <a:srgbClr val="6F42C1"/>
                </a:solidFill>
                <a:effectLst/>
                <a:latin typeface="Consolas" panose="020B0609020204030204" pitchFamily="49" charset="0"/>
              </a:rPr>
              <a:t>stack</a:t>
            </a:r>
            <a:r>
              <a:rPr lang="en-US" altLang="zh-CN" b="0" dirty="0">
                <a:solidFill>
                  <a:srgbClr val="24292E"/>
                </a:solidFill>
                <a:effectLst/>
                <a:latin typeface="Consolas" panose="020B0609020204030204" pitchFamily="49" charset="0"/>
              </a:rPr>
              <a:t>([tensor1, tensor2, tensor3],</a:t>
            </a:r>
            <a:r>
              <a:rPr lang="en-US" altLang="zh-CN" b="0" dirty="0">
                <a:solidFill>
                  <a:srgbClr val="E36209"/>
                </a:solidFill>
                <a:effectLst/>
                <a:latin typeface="Consolas" panose="020B0609020204030204" pitchFamily="49" charset="0"/>
              </a:rPr>
              <a:t>dim</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38" name="文本框 37"/>
          <p:cNvSpPr txBox="1"/>
          <p:nvPr/>
        </p:nvSpPr>
        <p:spPr>
          <a:xfrm>
            <a:off x="9770849" y="5781069"/>
            <a:ext cx="2195818" cy="369332"/>
          </a:xfrm>
          <a:prstGeom prst="rect">
            <a:avLst/>
          </a:prstGeom>
          <a:noFill/>
        </p:spPr>
        <p:txBody>
          <a:bodyPr wrap="square">
            <a:spAutoFit/>
          </a:bodyPr>
          <a:lstStyle/>
          <a:p>
            <a:r>
              <a:rPr lang="en-US" altLang="zh-CN" dirty="0" err="1"/>
              <a:t>torch.Size</a:t>
            </a:r>
            <a:r>
              <a:rPr lang="en-US" altLang="zh-CN" dirty="0"/>
              <a:t>([2, 4, 3])</a:t>
            </a:r>
            <a:endParaRPr lang="zh-CN" altLang="en-US" dirty="0"/>
          </a:p>
        </p:txBody>
      </p:sp>
      <p:sp>
        <p:nvSpPr>
          <p:cNvPr id="39" name="箭头: 右 38"/>
          <p:cNvSpPr/>
          <p:nvPr/>
        </p:nvSpPr>
        <p:spPr>
          <a:xfrm>
            <a:off x="8798888" y="5826015"/>
            <a:ext cx="780177"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图片 40"/>
          <p:cNvPicPr>
            <a:picLocks noChangeAspect="1"/>
          </p:cNvPicPr>
          <p:nvPr/>
        </p:nvPicPr>
        <p:blipFill>
          <a:blip r:embed="rId1"/>
          <a:stretch>
            <a:fillRect/>
          </a:stretch>
        </p:blipFill>
        <p:spPr>
          <a:xfrm>
            <a:off x="3998970" y="1266300"/>
            <a:ext cx="3770651" cy="5421798"/>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ipe(down)">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down)">
                                      <p:cBhvr>
                                        <p:cTn id="15" dur="500"/>
                                        <p:tgtEl>
                                          <p:spTgt spid="36"/>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5"/>
                                        </p:tgtEl>
                                        <p:attrNameLst>
                                          <p:attrName>style.visibility</p:attrName>
                                        </p:attrNameLst>
                                      </p:cBhvr>
                                      <p:to>
                                        <p:strVal val="visible"/>
                                      </p:to>
                                    </p:set>
                                    <p:animEffect transition="in" filter="wipe(down)">
                                      <p:cBhvr>
                                        <p:cTn id="18" dur="500"/>
                                        <p:tgtEl>
                                          <p:spTgt spid="3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wipe(down)">
                                      <p:cBhvr>
                                        <p:cTn id="23" dur="500"/>
                                        <p:tgtEl>
                                          <p:spTgt spid="39"/>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wipe(down)">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fade">
                                      <p:cBhvr>
                                        <p:cTn id="3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animBg="1"/>
      <p:bldP spid="35" grpId="0"/>
      <p:bldP spid="36" grpId="0" animBg="1"/>
      <p:bldP spid="38" grpId="0"/>
      <p:bldP spid="3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5. </a:t>
            </a:r>
            <a:r>
              <a:rPr lang="zh-CN" altLang="en-US" b="0" dirty="0">
                <a:solidFill>
                  <a:srgbClr val="24292E"/>
                </a:solidFill>
                <a:effectLst/>
                <a:latin typeface="Consolas" panose="020B0609020204030204" pitchFamily="49" charset="0"/>
              </a:rPr>
              <a:t>数学运算</a:t>
            </a:r>
            <a:endParaRPr lang="en-US" altLang="zh-CN" b="0" dirty="0">
              <a:solidFill>
                <a:srgbClr val="24292E"/>
              </a:solidFill>
              <a:effectLst/>
              <a:latin typeface="Consolas" panose="020B0609020204030204" pitchFamily="49" charset="0"/>
            </a:endParaRPr>
          </a:p>
        </p:txBody>
      </p:sp>
      <p:sp>
        <p:nvSpPr>
          <p:cNvPr id="5" name="文本框 4"/>
          <p:cNvSpPr txBox="1"/>
          <p:nvPr/>
        </p:nvSpPr>
        <p:spPr>
          <a:xfrm>
            <a:off x="1346200" y="2347592"/>
            <a:ext cx="9522321" cy="369332"/>
          </a:xfrm>
          <a:prstGeom prst="rect">
            <a:avLst/>
          </a:prstGeom>
          <a:noFill/>
        </p:spPr>
        <p:txBody>
          <a:bodyPr wrap="square">
            <a:spAutoFit/>
          </a:bodyPr>
          <a:lstStyle/>
          <a:p>
            <a:r>
              <a:rPr lang="zh-CN" altLang="en-US" dirty="0">
                <a:solidFill>
                  <a:srgbClr val="24292E"/>
                </a:solidFill>
                <a:latin typeface="Consolas" panose="020B0609020204030204" pitchFamily="49" charset="0"/>
              </a:rPr>
              <a:t>张量作为矩阵，可以进行加、减、乘、转置、按元素乘、按元素除等操作。示例如下：</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2087687" y="3176758"/>
            <a:ext cx="9603298" cy="3416320"/>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tensor1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randint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tensor2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ones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t_add1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tensor1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tensor2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张量加法，本质上是按元素相加</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t_add2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tensor1.</a:t>
            </a:r>
            <a:r>
              <a:rPr lang="en-US" altLang="zh-CN" b="0" dirty="0">
                <a:solidFill>
                  <a:srgbClr val="6F42C1"/>
                </a:solidFill>
                <a:effectLst/>
                <a:latin typeface="Consolas" panose="020B0609020204030204" pitchFamily="49" charset="0"/>
              </a:rPr>
              <a:t>add</a:t>
            </a:r>
            <a:r>
              <a:rPr lang="en-US" altLang="zh-CN" b="0" dirty="0">
                <a:solidFill>
                  <a:srgbClr val="24292E"/>
                </a:solidFill>
                <a:effectLst/>
                <a:latin typeface="Consolas" panose="020B0609020204030204" pitchFamily="49" charset="0"/>
              </a:rPr>
              <a:t>(tensor2)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与上面的操作是一致的</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t_add3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add</a:t>
            </a:r>
            <a:r>
              <a:rPr lang="en-US" altLang="zh-CN" b="0" dirty="0">
                <a:solidFill>
                  <a:srgbClr val="24292E"/>
                </a:solidFill>
                <a:effectLst/>
                <a:latin typeface="Consolas" panose="020B0609020204030204" pitchFamily="49" charset="0"/>
              </a:rPr>
              <a:t>(tensor1, tensor2)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与上面的操作是一致的</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t_add4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tensor1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张量所有元素都加</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，得到新的张量，原张量未改变</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t_add5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tensor1.</a:t>
            </a:r>
            <a:r>
              <a:rPr lang="en-US" altLang="zh-CN" b="0" dirty="0">
                <a:solidFill>
                  <a:srgbClr val="6F42C1"/>
                </a:solidFill>
                <a:effectLst/>
                <a:latin typeface="Consolas" panose="020B0609020204030204" pitchFamily="49" charset="0"/>
              </a:rPr>
              <a:t>add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与上面的操作是一致的</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t_add6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add</a:t>
            </a:r>
            <a:r>
              <a:rPr lang="en-US" altLang="zh-CN" b="0" dirty="0">
                <a:solidFill>
                  <a:srgbClr val="24292E"/>
                </a:solidFill>
                <a:effectLst/>
                <a:latin typeface="Consolas" panose="020B0609020204030204" pitchFamily="49" charset="0"/>
              </a:rPr>
              <a:t>(tensor1,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与上面的操作是一致的</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t_add7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tensor1.</a:t>
            </a:r>
            <a:r>
              <a:rPr lang="en-US" altLang="zh-CN" b="0" dirty="0">
                <a:solidFill>
                  <a:srgbClr val="6F42C1"/>
                </a:solidFill>
                <a:effectLst/>
                <a:latin typeface="Consolas" panose="020B0609020204030204" pitchFamily="49" charset="0"/>
              </a:rPr>
              <a:t>add_</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张量所有元素都加</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，原张量</a:t>
            </a:r>
            <a:r>
              <a:rPr lang="en-US" altLang="zh-CN" b="0" dirty="0">
                <a:solidFill>
                  <a:srgbClr val="6A737D"/>
                </a:solidFill>
                <a:effectLst/>
                <a:latin typeface="Consolas" panose="020B0609020204030204" pitchFamily="49" charset="0"/>
              </a:rPr>
              <a:t>tensor1</a:t>
            </a:r>
            <a:r>
              <a:rPr lang="zh-CN" altLang="en-US" b="0" dirty="0">
                <a:solidFill>
                  <a:srgbClr val="6A737D"/>
                </a:solidFill>
                <a:effectLst/>
                <a:latin typeface="Consolas" panose="020B0609020204030204" pitchFamily="49" charset="0"/>
              </a:rPr>
              <a:t>也被修改。</a:t>
            </a:r>
            <a:endParaRPr lang="zh-CN" altLang="en-US" b="0" dirty="0">
              <a:solidFill>
                <a:srgbClr val="24292E"/>
              </a:solidFill>
              <a:effectLst/>
              <a:latin typeface="Consolas" panose="020B0609020204030204" pitchFamily="49" charset="0"/>
            </a:endParaRPr>
          </a:p>
        </p:txBody>
      </p:sp>
      <p:sp>
        <p:nvSpPr>
          <p:cNvPr id="11" name="文本框 10"/>
          <p:cNvSpPr txBox="1"/>
          <p:nvPr/>
        </p:nvSpPr>
        <p:spPr>
          <a:xfrm>
            <a:off x="1716943" y="2799253"/>
            <a:ext cx="6094602" cy="369332"/>
          </a:xfrm>
          <a:prstGeom prst="rect">
            <a:avLst/>
          </a:prstGeom>
          <a:noFill/>
        </p:spPr>
        <p:txBody>
          <a:bodyPr wrap="square">
            <a:spAutoFit/>
          </a:bodyPr>
          <a:lstStyle/>
          <a:p>
            <a:r>
              <a:rPr lang="zh-CN" altLang="en-US" dirty="0">
                <a:solidFill>
                  <a:srgbClr val="24292E"/>
                </a:solidFill>
                <a:latin typeface="Consolas" panose="020B0609020204030204" pitchFamily="49" charset="0"/>
              </a:rPr>
              <a:t>① </a:t>
            </a:r>
            <a:r>
              <a:rPr lang="zh-CN" altLang="en-US" b="0" dirty="0">
                <a:solidFill>
                  <a:srgbClr val="24292E"/>
                </a:solidFill>
                <a:effectLst/>
                <a:latin typeface="Consolas" panose="020B0609020204030204" pitchFamily="49" charset="0"/>
              </a:rPr>
              <a:t>张量加操作</a:t>
            </a:r>
            <a:endParaRPr lang="zh-CN" altLang="en-US" dirty="0"/>
          </a:p>
        </p:txBody>
      </p:sp>
    </p:spTree>
    <p:custDataLst>
      <p:tags r:id="rId1"/>
    </p:custData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5. </a:t>
            </a:r>
            <a:r>
              <a:rPr lang="zh-CN" altLang="en-US" b="0" dirty="0">
                <a:solidFill>
                  <a:srgbClr val="24292E"/>
                </a:solidFill>
                <a:effectLst/>
                <a:latin typeface="Consolas" panose="020B0609020204030204" pitchFamily="49" charset="0"/>
              </a:rPr>
              <a:t>数学运算</a:t>
            </a:r>
            <a:endParaRPr lang="en-US" altLang="zh-CN" b="0" dirty="0">
              <a:solidFill>
                <a:srgbClr val="24292E"/>
              </a:solidFill>
              <a:effectLst/>
              <a:latin typeface="Consolas" panose="020B0609020204030204" pitchFamily="49" charset="0"/>
            </a:endParaRPr>
          </a:p>
        </p:txBody>
      </p:sp>
      <p:sp>
        <p:nvSpPr>
          <p:cNvPr id="2" name="文本框 1"/>
          <p:cNvSpPr txBox="1"/>
          <p:nvPr/>
        </p:nvSpPr>
        <p:spPr>
          <a:xfrm>
            <a:off x="1716943" y="2347592"/>
            <a:ext cx="6094602" cy="369332"/>
          </a:xfrm>
          <a:prstGeom prst="rect">
            <a:avLst/>
          </a:prstGeom>
          <a:noFill/>
        </p:spPr>
        <p:txBody>
          <a:bodyPr wrap="square">
            <a:spAutoFit/>
          </a:bodyPr>
          <a:lstStyle/>
          <a:p>
            <a:r>
              <a:rPr lang="zh-CN" altLang="en-US" dirty="0">
                <a:solidFill>
                  <a:srgbClr val="24292E"/>
                </a:solidFill>
                <a:latin typeface="Consolas" panose="020B0609020204030204" pitchFamily="49" charset="0"/>
              </a:rPr>
              <a:t>② </a:t>
            </a:r>
            <a:r>
              <a:rPr lang="zh-CN" altLang="en-US" b="0" dirty="0">
                <a:solidFill>
                  <a:srgbClr val="24292E"/>
                </a:solidFill>
                <a:effectLst/>
                <a:latin typeface="Consolas" panose="020B0609020204030204" pitchFamily="49" charset="0"/>
              </a:rPr>
              <a:t>张量减操作</a:t>
            </a:r>
            <a:endParaRPr lang="zh-CN" altLang="en-US" dirty="0"/>
          </a:p>
        </p:txBody>
      </p:sp>
      <p:sp>
        <p:nvSpPr>
          <p:cNvPr id="4" name="文本框 3"/>
          <p:cNvSpPr txBox="1"/>
          <p:nvPr/>
        </p:nvSpPr>
        <p:spPr>
          <a:xfrm>
            <a:off x="2090956" y="2799253"/>
            <a:ext cx="8915400" cy="1200329"/>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t_sub1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tensor1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tensor2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张量减法</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t_sub2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tensor1.</a:t>
            </a:r>
            <a:r>
              <a:rPr lang="en-US" altLang="zh-CN" b="0" dirty="0">
                <a:solidFill>
                  <a:srgbClr val="6F42C1"/>
                </a:solidFill>
                <a:effectLst/>
                <a:latin typeface="Consolas" panose="020B0609020204030204" pitchFamily="49" charset="0"/>
              </a:rPr>
              <a:t>sub</a:t>
            </a:r>
            <a:r>
              <a:rPr lang="en-US" altLang="zh-CN" b="0" dirty="0">
                <a:solidFill>
                  <a:srgbClr val="24292E"/>
                </a:solidFill>
                <a:effectLst/>
                <a:latin typeface="Consolas" panose="020B0609020204030204" pitchFamily="49" charset="0"/>
              </a:rPr>
              <a:t>(tensor2)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与上面的操作是一致的</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t_sub4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tensor2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张量所有元素都被</a:t>
            </a:r>
            <a:r>
              <a:rPr lang="en-US" altLang="zh-CN" b="0" dirty="0">
                <a:solidFill>
                  <a:srgbClr val="6A737D"/>
                </a:solidFill>
                <a:effectLst/>
                <a:latin typeface="Consolas" panose="020B0609020204030204" pitchFamily="49" charset="0"/>
              </a:rPr>
              <a:t>1</a:t>
            </a:r>
            <a:r>
              <a:rPr lang="zh-CN" altLang="en-US" b="0" dirty="0">
                <a:solidFill>
                  <a:srgbClr val="6A737D"/>
                </a:solidFill>
                <a:effectLst/>
                <a:latin typeface="Consolas" panose="020B0609020204030204" pitchFamily="49" charset="0"/>
              </a:rPr>
              <a:t>减</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t_sub6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sub</a:t>
            </a:r>
            <a:r>
              <a:rPr lang="en-US" altLang="zh-CN" b="0" dirty="0">
                <a:solidFill>
                  <a:srgbClr val="24292E"/>
                </a:solidFill>
                <a:effectLst/>
                <a:latin typeface="Consolas" panose="020B0609020204030204" pitchFamily="49" charset="0"/>
              </a:rPr>
              <a:t>(tensor1,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张量所有元素都减</a:t>
            </a:r>
            <a:r>
              <a:rPr lang="en-US" altLang="zh-CN" b="0" dirty="0">
                <a:solidFill>
                  <a:srgbClr val="6A737D"/>
                </a:solidFill>
                <a:effectLst/>
                <a:latin typeface="Consolas" panose="020B0609020204030204" pitchFamily="49" charset="0"/>
              </a:rPr>
              <a:t>1</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1716943" y="4196203"/>
            <a:ext cx="6094602" cy="369332"/>
          </a:xfrm>
          <a:prstGeom prst="rect">
            <a:avLst/>
          </a:prstGeom>
          <a:noFill/>
        </p:spPr>
        <p:txBody>
          <a:bodyPr wrap="square">
            <a:spAutoFit/>
          </a:bodyPr>
          <a:lstStyle/>
          <a:p>
            <a:r>
              <a:rPr lang="zh-CN" altLang="en-US" dirty="0">
                <a:solidFill>
                  <a:srgbClr val="24292E"/>
                </a:solidFill>
                <a:latin typeface="Consolas" panose="020B0609020204030204" pitchFamily="49" charset="0"/>
              </a:rPr>
              <a:t>③ </a:t>
            </a:r>
            <a:r>
              <a:rPr lang="zh-CN" altLang="en-US" b="0" dirty="0">
                <a:solidFill>
                  <a:srgbClr val="24292E"/>
                </a:solidFill>
                <a:effectLst/>
                <a:latin typeface="Consolas" panose="020B0609020204030204" pitchFamily="49" charset="0"/>
              </a:rPr>
              <a:t>张量乘操作</a:t>
            </a:r>
            <a:endParaRPr lang="zh-CN" altLang="en-US" dirty="0"/>
          </a:p>
        </p:txBody>
      </p:sp>
      <p:sp>
        <p:nvSpPr>
          <p:cNvPr id="10" name="文本框 9"/>
          <p:cNvSpPr txBox="1"/>
          <p:nvPr/>
        </p:nvSpPr>
        <p:spPr>
          <a:xfrm>
            <a:off x="2090956" y="4762156"/>
            <a:ext cx="9363972" cy="1477328"/>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张量乘法，参与运算的张量类型需一致</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t_matmul1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tensor1.</a:t>
            </a:r>
            <a:r>
              <a:rPr lang="en-US" altLang="zh-CN" b="0" dirty="0">
                <a:solidFill>
                  <a:srgbClr val="6F42C1"/>
                </a:solidFill>
                <a:effectLst/>
                <a:latin typeface="Consolas" panose="020B0609020204030204" pitchFamily="49" charset="0"/>
              </a:rPr>
              <a:t>float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tensor2.T  </a:t>
            </a:r>
            <a:r>
              <a:rPr lang="en-US" altLang="zh-CN" b="0" dirty="0">
                <a:solidFill>
                  <a:srgbClr val="6A737D"/>
                </a:solidFill>
                <a:effectLst/>
                <a:latin typeface="Consolas" panose="020B0609020204030204" pitchFamily="49" charset="0"/>
              </a:rPr>
              <a:t># T</a:t>
            </a:r>
            <a:r>
              <a:rPr lang="zh-CN" altLang="en-US" b="0" dirty="0">
                <a:solidFill>
                  <a:srgbClr val="6A737D"/>
                </a:solidFill>
                <a:effectLst/>
                <a:latin typeface="Consolas" panose="020B0609020204030204" pitchFamily="49" charset="0"/>
              </a:rPr>
              <a:t>属性表示张量转置</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按单精度浮点数</a:t>
            </a:r>
            <a:r>
              <a:rPr lang="en-US" altLang="zh-CN" b="0" dirty="0">
                <a:solidFill>
                  <a:srgbClr val="6A737D"/>
                </a:solidFill>
                <a:effectLst/>
                <a:latin typeface="Consolas" panose="020B0609020204030204" pitchFamily="49" charset="0"/>
              </a:rPr>
              <a:t>(32bit)</a:t>
            </a:r>
            <a:r>
              <a:rPr lang="zh-CN" altLang="en-US" b="0" dirty="0">
                <a:solidFill>
                  <a:srgbClr val="6A737D"/>
                </a:solidFill>
                <a:effectLst/>
                <a:latin typeface="Consolas" panose="020B0609020204030204" pitchFamily="49" charset="0"/>
              </a:rPr>
              <a:t>进行相乘</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t_matmul2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tensor1.</a:t>
            </a:r>
            <a:r>
              <a:rPr lang="en-US" altLang="zh-CN" b="0" dirty="0">
                <a:solidFill>
                  <a:srgbClr val="6F42C1"/>
                </a:solidFill>
                <a:effectLst/>
                <a:latin typeface="Consolas" panose="020B0609020204030204" pitchFamily="49" charset="0"/>
              </a:rPr>
              <a:t>matmul</a:t>
            </a:r>
            <a:r>
              <a:rPr lang="en-US" altLang="zh-CN" b="0" dirty="0">
                <a:solidFill>
                  <a:srgbClr val="24292E"/>
                </a:solidFill>
                <a:effectLst/>
                <a:latin typeface="Consolas" panose="020B0609020204030204" pitchFamily="49" charset="0"/>
              </a:rPr>
              <a:t>(tensor2.T.</a:t>
            </a:r>
            <a:r>
              <a:rPr lang="en-US" altLang="zh-CN" b="0" dirty="0">
                <a:solidFill>
                  <a:srgbClr val="6F42C1"/>
                </a:solidFill>
                <a:effectLst/>
                <a:latin typeface="Consolas" panose="020B0609020204030204" pitchFamily="49" charset="0"/>
              </a:rPr>
              <a:t>long</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与上面的操作不同，两张量按长整型</a:t>
            </a:r>
            <a:r>
              <a:rPr lang="en-US" altLang="zh-CN" b="0" dirty="0">
                <a:solidFill>
                  <a:srgbClr val="6A737D"/>
                </a:solidFill>
                <a:effectLst/>
                <a:latin typeface="Consolas" panose="020B0609020204030204" pitchFamily="49" charset="0"/>
              </a:rPr>
              <a:t>(64bit)</a:t>
            </a:r>
            <a:r>
              <a:rPr lang="zh-CN" altLang="en-US" b="0" dirty="0">
                <a:solidFill>
                  <a:srgbClr val="6A737D"/>
                </a:solidFill>
                <a:effectLst/>
                <a:latin typeface="Consolas" panose="020B0609020204030204" pitchFamily="49" charset="0"/>
              </a:rPr>
              <a:t>进行相乘</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5. </a:t>
            </a:r>
            <a:r>
              <a:rPr lang="zh-CN" altLang="en-US" b="0" dirty="0">
                <a:solidFill>
                  <a:srgbClr val="24292E"/>
                </a:solidFill>
                <a:effectLst/>
                <a:latin typeface="Consolas" panose="020B0609020204030204" pitchFamily="49" charset="0"/>
              </a:rPr>
              <a:t>数学运算</a:t>
            </a:r>
            <a:endParaRPr lang="en-US" altLang="zh-CN" b="0" dirty="0">
              <a:solidFill>
                <a:srgbClr val="24292E"/>
              </a:solidFill>
              <a:effectLst/>
              <a:latin typeface="Consolas" panose="020B0609020204030204" pitchFamily="49" charset="0"/>
            </a:endParaRPr>
          </a:p>
        </p:txBody>
      </p:sp>
      <p:sp>
        <p:nvSpPr>
          <p:cNvPr id="2" name="文本框 1"/>
          <p:cNvSpPr txBox="1"/>
          <p:nvPr/>
        </p:nvSpPr>
        <p:spPr>
          <a:xfrm>
            <a:off x="1716943" y="2347592"/>
            <a:ext cx="6094602" cy="369332"/>
          </a:xfrm>
          <a:prstGeom prst="rect">
            <a:avLst/>
          </a:prstGeom>
          <a:noFill/>
        </p:spPr>
        <p:txBody>
          <a:bodyPr wrap="square">
            <a:spAutoFit/>
          </a:bodyPr>
          <a:lstStyle/>
          <a:p>
            <a:r>
              <a:rPr lang="zh-CN" altLang="en-US" dirty="0">
                <a:solidFill>
                  <a:srgbClr val="24292E"/>
                </a:solidFill>
                <a:latin typeface="Consolas" panose="020B0609020204030204" pitchFamily="49" charset="0"/>
              </a:rPr>
              <a:t>④ </a:t>
            </a:r>
            <a:r>
              <a:rPr lang="zh-CN" altLang="en-US" b="0" dirty="0">
                <a:solidFill>
                  <a:srgbClr val="24292E"/>
                </a:solidFill>
                <a:effectLst/>
                <a:latin typeface="Consolas" panose="020B0609020204030204" pitchFamily="49" charset="0"/>
              </a:rPr>
              <a:t>张量除操作</a:t>
            </a:r>
            <a:endParaRPr lang="zh-CN" altLang="en-US" dirty="0"/>
          </a:p>
        </p:txBody>
      </p:sp>
      <p:sp>
        <p:nvSpPr>
          <p:cNvPr id="4" name="文本框 3"/>
          <p:cNvSpPr txBox="1"/>
          <p:nvPr/>
        </p:nvSpPr>
        <p:spPr>
          <a:xfrm>
            <a:off x="2090956" y="2799253"/>
            <a:ext cx="8915400" cy="1200329"/>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按元素相除，参加运算的张量形状应一致</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t_div1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tensor1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tensor1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t_div2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tensor1.</a:t>
            </a:r>
            <a:r>
              <a:rPr lang="en-US" altLang="zh-CN" b="0" dirty="0">
                <a:solidFill>
                  <a:srgbClr val="6F42C1"/>
                </a:solidFill>
                <a:effectLst/>
                <a:latin typeface="Consolas" panose="020B0609020204030204" pitchFamily="49" charset="0"/>
              </a:rPr>
              <a:t>div</a:t>
            </a:r>
            <a:r>
              <a:rPr lang="en-US" altLang="zh-CN" b="0" dirty="0">
                <a:solidFill>
                  <a:srgbClr val="24292E"/>
                </a:solidFill>
                <a:effectLst/>
                <a:latin typeface="Consolas" panose="020B0609020204030204" pitchFamily="49" charset="0"/>
              </a:rPr>
              <a:t>(tensor2)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t_div3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div</a:t>
            </a:r>
            <a:r>
              <a:rPr lang="en-US" altLang="zh-CN" b="0" dirty="0">
                <a:solidFill>
                  <a:srgbClr val="24292E"/>
                </a:solidFill>
                <a:effectLst/>
                <a:latin typeface="Consolas" panose="020B0609020204030204" pitchFamily="49" charset="0"/>
              </a:rPr>
              <a:t>(tensor1, tensor2)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与上面的操作是一致的</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5. </a:t>
            </a:r>
            <a:r>
              <a:rPr lang="zh-CN" altLang="en-US" b="0" dirty="0">
                <a:solidFill>
                  <a:srgbClr val="24292E"/>
                </a:solidFill>
                <a:effectLst/>
                <a:latin typeface="Consolas" panose="020B0609020204030204" pitchFamily="49" charset="0"/>
              </a:rPr>
              <a:t>数学运算</a:t>
            </a:r>
            <a:endParaRPr lang="en-US" altLang="zh-CN" b="0" dirty="0">
              <a:solidFill>
                <a:srgbClr val="24292E"/>
              </a:solidFill>
              <a:effectLst/>
              <a:latin typeface="Consolas" panose="020B0609020204030204" pitchFamily="49" charset="0"/>
            </a:endParaRPr>
          </a:p>
        </p:txBody>
      </p:sp>
      <p:sp>
        <p:nvSpPr>
          <p:cNvPr id="2" name="文本框 1"/>
          <p:cNvSpPr txBox="1"/>
          <p:nvPr/>
        </p:nvSpPr>
        <p:spPr>
          <a:xfrm>
            <a:off x="1716942" y="2347592"/>
            <a:ext cx="9522321"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我们在实际应用中，会经常使用一维或二维张量的乘法操作，</a:t>
            </a:r>
            <a:r>
              <a:rPr lang="en-US" altLang="zh-CN" b="0" dirty="0" err="1">
                <a:solidFill>
                  <a:srgbClr val="577CCE"/>
                </a:solidFill>
                <a:effectLst/>
                <a:latin typeface="Consolas" panose="020B0609020204030204" pitchFamily="49" charset="0"/>
              </a:rPr>
              <a:t>PyTorch</a:t>
            </a:r>
            <a:r>
              <a:rPr lang="zh-CN" altLang="en-US" b="0" dirty="0">
                <a:solidFill>
                  <a:srgbClr val="24292E"/>
                </a:solidFill>
                <a:effectLst/>
                <a:latin typeface="Consolas" panose="020B0609020204030204" pitchFamily="49" charset="0"/>
              </a:rPr>
              <a:t>也提供了一些常用的特殊运算函数，如</a:t>
            </a:r>
            <a:r>
              <a:rPr lang="en-US" altLang="zh-CN" b="0" dirty="0">
                <a:solidFill>
                  <a:srgbClr val="577CCE"/>
                </a:solidFill>
                <a:effectLst/>
                <a:latin typeface="Consolas" panose="020B0609020204030204" pitchFamily="49" charset="0"/>
              </a:rPr>
              <a:t>dot</a:t>
            </a:r>
            <a:r>
              <a:rPr lang="zh-CN" altLang="en-US" b="0" dirty="0">
                <a:solidFill>
                  <a:srgbClr val="577CCE"/>
                </a:solidFill>
                <a:effectLst/>
                <a:latin typeface="Consolas" panose="020B0609020204030204" pitchFamily="49" charset="0"/>
              </a:rPr>
              <a:t>函数、</a:t>
            </a:r>
            <a:r>
              <a:rPr lang="en-US" altLang="zh-CN" b="0" dirty="0">
                <a:solidFill>
                  <a:srgbClr val="577CCE"/>
                </a:solidFill>
                <a:effectLst/>
                <a:latin typeface="Consolas" panose="020B0609020204030204" pitchFamily="49" charset="0"/>
              </a:rPr>
              <a:t>mm</a:t>
            </a:r>
            <a:r>
              <a:rPr lang="zh-CN" altLang="en-US" b="0" dirty="0">
                <a:solidFill>
                  <a:srgbClr val="577CCE"/>
                </a:solidFill>
                <a:effectLst/>
                <a:latin typeface="Consolas" panose="020B0609020204030204" pitchFamily="49" charset="0"/>
              </a:rPr>
              <a:t>函数等</a:t>
            </a:r>
            <a:r>
              <a:rPr lang="zh-CN" altLang="en-US" b="0" dirty="0">
                <a:solidFill>
                  <a:srgbClr val="24292E"/>
                </a:solidFill>
                <a:effectLst/>
                <a:latin typeface="Consolas" panose="020B0609020204030204" pitchFamily="49" charset="0"/>
              </a:rPr>
              <a:t>，示例如下。</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822120" y="3354839"/>
            <a:ext cx="5773495" cy="2585323"/>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t1</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一维张量</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t2</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ones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一维张量</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t3</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二维张量</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t4</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ones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二维张量</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t_d1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dot</a:t>
            </a:r>
            <a:r>
              <a:rPr lang="en-US" altLang="zh-CN" b="0" dirty="0">
                <a:solidFill>
                  <a:srgbClr val="24292E"/>
                </a:solidFill>
                <a:effectLst/>
                <a:latin typeface="Consolas" panose="020B0609020204030204" pitchFamily="49" charset="0"/>
              </a:rPr>
              <a:t>(t1, t2)  </a:t>
            </a:r>
            <a:r>
              <a:rPr lang="en-US" altLang="zh-CN" b="0" dirty="0">
                <a:solidFill>
                  <a:srgbClr val="6A737D"/>
                </a:solidFill>
                <a:effectLst/>
                <a:latin typeface="Consolas" panose="020B0609020204030204" pitchFamily="49" charset="0"/>
              </a:rPr>
              <a:t># dot</a:t>
            </a:r>
            <a:r>
              <a:rPr lang="zh-CN" altLang="en-US" b="0" dirty="0">
                <a:solidFill>
                  <a:srgbClr val="6A737D"/>
                </a:solidFill>
                <a:effectLst/>
                <a:latin typeface="Consolas" panose="020B0609020204030204" pitchFamily="49" charset="0"/>
              </a:rPr>
              <a:t>函数仅支持两个一维向量的点集</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t_d2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matmul</a:t>
            </a:r>
            <a:r>
              <a:rPr lang="en-US" altLang="zh-CN" b="0" dirty="0">
                <a:solidFill>
                  <a:srgbClr val="24292E"/>
                </a:solidFill>
                <a:effectLst/>
                <a:latin typeface="Consolas" panose="020B0609020204030204" pitchFamily="49" charset="0"/>
              </a:rPr>
              <a:t>(t1, t2)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与上面的操作是一致的</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(t_d1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t_d2)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观察两个结果是否相同</a:t>
            </a:r>
            <a:endParaRPr lang="zh-CN" altLang="en-US" b="0" dirty="0">
              <a:solidFill>
                <a:srgbClr val="24292E"/>
              </a:solidFill>
              <a:effectLst/>
              <a:latin typeface="Consolas" panose="020B0609020204030204" pitchFamily="49" charset="0"/>
            </a:endParaRPr>
          </a:p>
        </p:txBody>
      </p:sp>
      <p:sp>
        <p:nvSpPr>
          <p:cNvPr id="10" name="文本框 9"/>
          <p:cNvSpPr txBox="1"/>
          <p:nvPr/>
        </p:nvSpPr>
        <p:spPr>
          <a:xfrm>
            <a:off x="9135723" y="4324605"/>
            <a:ext cx="2103539" cy="369332"/>
          </a:xfrm>
          <a:prstGeom prst="rect">
            <a:avLst/>
          </a:prstGeom>
          <a:noFill/>
          <a:ln>
            <a:solidFill>
              <a:srgbClr val="577CCE"/>
            </a:solidFill>
          </a:ln>
        </p:spPr>
        <p:txBody>
          <a:bodyPr wrap="square">
            <a:spAutoFit/>
          </a:bodyPr>
          <a:lstStyle/>
          <a:p>
            <a:r>
              <a:rPr lang="en-US" altLang="zh-CN" b="0" i="0" dirty="0">
                <a:solidFill>
                  <a:srgbClr val="24292E"/>
                </a:solidFill>
                <a:effectLst/>
                <a:latin typeface="Consolas" panose="020B0609020204030204" pitchFamily="49" charset="0"/>
              </a:rPr>
              <a:t>tensor(True)</a:t>
            </a:r>
            <a:endParaRPr lang="zh-CN" altLang="en-US" dirty="0"/>
          </a:p>
        </p:txBody>
      </p:sp>
      <p:sp>
        <p:nvSpPr>
          <p:cNvPr id="11" name="箭头: 右 10"/>
          <p:cNvSpPr/>
          <p:nvPr/>
        </p:nvSpPr>
        <p:spPr>
          <a:xfrm>
            <a:off x="7139033" y="4301522"/>
            <a:ext cx="1476462" cy="5078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5. </a:t>
            </a:r>
            <a:r>
              <a:rPr lang="zh-CN" altLang="en-US" b="0" dirty="0">
                <a:solidFill>
                  <a:srgbClr val="24292E"/>
                </a:solidFill>
                <a:effectLst/>
                <a:latin typeface="Consolas" panose="020B0609020204030204" pitchFamily="49" charset="0"/>
              </a:rPr>
              <a:t>数学运算</a:t>
            </a:r>
            <a:endParaRPr lang="en-US" altLang="zh-CN" b="0" dirty="0">
              <a:solidFill>
                <a:srgbClr val="24292E"/>
              </a:solidFill>
              <a:effectLst/>
              <a:latin typeface="Consolas" panose="020B0609020204030204" pitchFamily="49" charset="0"/>
            </a:endParaRPr>
          </a:p>
        </p:txBody>
      </p:sp>
      <p:sp>
        <p:nvSpPr>
          <p:cNvPr id="2" name="文本框 1"/>
          <p:cNvSpPr txBox="1"/>
          <p:nvPr/>
        </p:nvSpPr>
        <p:spPr>
          <a:xfrm>
            <a:off x="1716942" y="2347592"/>
            <a:ext cx="9522321"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我们在实际应用中，会经常使用一维或二维张量的乘法操作，</a:t>
            </a:r>
            <a:r>
              <a:rPr lang="en-US" altLang="zh-CN" b="0" dirty="0" err="1">
                <a:solidFill>
                  <a:srgbClr val="577CCE"/>
                </a:solidFill>
                <a:effectLst/>
                <a:latin typeface="Consolas" panose="020B0609020204030204" pitchFamily="49" charset="0"/>
              </a:rPr>
              <a:t>PyTorch</a:t>
            </a:r>
            <a:r>
              <a:rPr lang="zh-CN" altLang="en-US" b="0" dirty="0">
                <a:solidFill>
                  <a:srgbClr val="24292E"/>
                </a:solidFill>
                <a:effectLst/>
                <a:latin typeface="Consolas" panose="020B0609020204030204" pitchFamily="49" charset="0"/>
              </a:rPr>
              <a:t>也提供了一些常用的特殊运算函数，如</a:t>
            </a:r>
            <a:r>
              <a:rPr lang="en-US" altLang="zh-CN" b="0" dirty="0">
                <a:solidFill>
                  <a:srgbClr val="577CCE"/>
                </a:solidFill>
                <a:effectLst/>
                <a:latin typeface="Consolas" panose="020B0609020204030204" pitchFamily="49" charset="0"/>
              </a:rPr>
              <a:t>dot</a:t>
            </a:r>
            <a:r>
              <a:rPr lang="zh-CN" altLang="en-US" b="0" dirty="0">
                <a:solidFill>
                  <a:srgbClr val="577CCE"/>
                </a:solidFill>
                <a:effectLst/>
                <a:latin typeface="Consolas" panose="020B0609020204030204" pitchFamily="49" charset="0"/>
              </a:rPr>
              <a:t>函数、</a:t>
            </a:r>
            <a:r>
              <a:rPr lang="en-US" altLang="zh-CN" b="0" dirty="0">
                <a:solidFill>
                  <a:srgbClr val="577CCE"/>
                </a:solidFill>
                <a:effectLst/>
                <a:latin typeface="Consolas" panose="020B0609020204030204" pitchFamily="49" charset="0"/>
              </a:rPr>
              <a:t>mm</a:t>
            </a:r>
            <a:r>
              <a:rPr lang="zh-CN" altLang="en-US" b="0" dirty="0">
                <a:solidFill>
                  <a:srgbClr val="577CCE"/>
                </a:solidFill>
                <a:effectLst/>
                <a:latin typeface="Consolas" panose="020B0609020204030204" pitchFamily="49" charset="0"/>
              </a:rPr>
              <a:t>函数等</a:t>
            </a:r>
            <a:r>
              <a:rPr lang="zh-CN" altLang="en-US" b="0" dirty="0">
                <a:solidFill>
                  <a:srgbClr val="24292E"/>
                </a:solidFill>
                <a:effectLst/>
                <a:latin typeface="Consolas" panose="020B0609020204030204" pitchFamily="49" charset="0"/>
              </a:rPr>
              <a:t>，示例如下。</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584904" y="3864078"/>
            <a:ext cx="6094602" cy="1200329"/>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t_m1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mm</a:t>
            </a:r>
            <a:r>
              <a:rPr lang="en-US" altLang="zh-CN" b="0" dirty="0">
                <a:solidFill>
                  <a:srgbClr val="24292E"/>
                </a:solidFill>
                <a:effectLst/>
                <a:latin typeface="Consolas" panose="020B0609020204030204" pitchFamily="49" charset="0"/>
              </a:rPr>
              <a:t>(t3, t4)  </a:t>
            </a:r>
            <a:r>
              <a:rPr lang="en-US" altLang="zh-CN" b="0" dirty="0">
                <a:solidFill>
                  <a:srgbClr val="6A737D"/>
                </a:solidFill>
                <a:effectLst/>
                <a:latin typeface="Consolas" panose="020B0609020204030204" pitchFamily="49" charset="0"/>
              </a:rPr>
              <a:t># mm</a:t>
            </a:r>
            <a:r>
              <a:rPr lang="zh-CN" altLang="en-US" b="0" dirty="0">
                <a:solidFill>
                  <a:srgbClr val="6A737D"/>
                </a:solidFill>
                <a:effectLst/>
                <a:latin typeface="Consolas" panose="020B0609020204030204" pitchFamily="49" charset="0"/>
              </a:rPr>
              <a:t>函数仅支持两个二维张量的相乘</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t_m2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matmul</a:t>
            </a:r>
            <a:r>
              <a:rPr lang="en-US" altLang="zh-CN" b="0" dirty="0">
                <a:solidFill>
                  <a:srgbClr val="24292E"/>
                </a:solidFill>
                <a:effectLst/>
                <a:latin typeface="Consolas" panose="020B0609020204030204" pitchFamily="49" charset="0"/>
              </a:rPr>
              <a:t>(t3, t4)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与上面的操作一致</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(t_m1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t_m2)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观察两个结果是否相同</a:t>
            </a:r>
            <a:endParaRPr lang="zh-CN" altLang="en-US" b="0" dirty="0">
              <a:solidFill>
                <a:srgbClr val="24292E"/>
              </a:solidFill>
              <a:effectLst/>
              <a:latin typeface="Consolas" panose="020B0609020204030204" pitchFamily="49" charset="0"/>
            </a:endParaRPr>
          </a:p>
        </p:txBody>
      </p:sp>
      <p:sp>
        <p:nvSpPr>
          <p:cNvPr id="10" name="文本框 9"/>
          <p:cNvSpPr txBox="1"/>
          <p:nvPr/>
        </p:nvSpPr>
        <p:spPr>
          <a:xfrm>
            <a:off x="9075022" y="4232271"/>
            <a:ext cx="2239749" cy="646331"/>
          </a:xfrm>
          <a:prstGeom prst="rect">
            <a:avLst/>
          </a:prstGeom>
          <a:noFill/>
          <a:ln>
            <a:solidFill>
              <a:srgbClr val="577CCE"/>
            </a:solidFill>
          </a:ln>
        </p:spPr>
        <p:txBody>
          <a:bodyPr wrap="square">
            <a:spAutoFit/>
          </a:bodyPr>
          <a:lstStyle/>
          <a:p>
            <a:r>
              <a:rPr lang="en-US" altLang="zh-CN" dirty="0"/>
              <a:t>tensor([[True, True], [True, True]])</a:t>
            </a:r>
            <a:endParaRPr lang="zh-CN" altLang="en-US" dirty="0"/>
          </a:p>
        </p:txBody>
      </p:sp>
      <p:sp>
        <p:nvSpPr>
          <p:cNvPr id="11" name="箭头: 右 10"/>
          <p:cNvSpPr/>
          <p:nvPr/>
        </p:nvSpPr>
        <p:spPr>
          <a:xfrm>
            <a:off x="7139033" y="4301522"/>
            <a:ext cx="1476462" cy="5078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5. </a:t>
            </a:r>
            <a:r>
              <a:rPr lang="zh-CN" altLang="en-US" b="0" dirty="0">
                <a:solidFill>
                  <a:srgbClr val="24292E"/>
                </a:solidFill>
                <a:effectLst/>
                <a:latin typeface="Consolas" panose="020B0609020204030204" pitchFamily="49" charset="0"/>
              </a:rPr>
              <a:t>数学运算</a:t>
            </a:r>
            <a:endParaRPr lang="en-US" altLang="zh-CN" b="0" dirty="0">
              <a:solidFill>
                <a:srgbClr val="24292E"/>
              </a:solidFill>
              <a:effectLst/>
              <a:latin typeface="Consolas" panose="020B0609020204030204" pitchFamily="49" charset="0"/>
            </a:endParaRPr>
          </a:p>
        </p:txBody>
      </p:sp>
      <p:sp>
        <p:nvSpPr>
          <p:cNvPr id="2" name="文本框 1"/>
          <p:cNvSpPr txBox="1"/>
          <p:nvPr/>
        </p:nvSpPr>
        <p:spPr>
          <a:xfrm>
            <a:off x="1716942" y="2347592"/>
            <a:ext cx="9522321"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我们在实际应用中，会经常使用一维或二维张量的乘法操作，</a:t>
            </a:r>
            <a:r>
              <a:rPr lang="en-US" altLang="zh-CN" b="0" dirty="0" err="1">
                <a:solidFill>
                  <a:srgbClr val="577CCE"/>
                </a:solidFill>
                <a:effectLst/>
                <a:latin typeface="Consolas" panose="020B0609020204030204" pitchFamily="49" charset="0"/>
              </a:rPr>
              <a:t>PyTorch</a:t>
            </a:r>
            <a:r>
              <a:rPr lang="zh-CN" altLang="en-US" b="0" dirty="0">
                <a:solidFill>
                  <a:srgbClr val="24292E"/>
                </a:solidFill>
                <a:effectLst/>
                <a:latin typeface="Consolas" panose="020B0609020204030204" pitchFamily="49" charset="0"/>
              </a:rPr>
              <a:t>也提供了一些常用的特殊运算函数，如</a:t>
            </a:r>
            <a:r>
              <a:rPr lang="en-US" altLang="zh-CN" b="0" dirty="0">
                <a:solidFill>
                  <a:srgbClr val="577CCE"/>
                </a:solidFill>
                <a:effectLst/>
                <a:latin typeface="Consolas" panose="020B0609020204030204" pitchFamily="49" charset="0"/>
              </a:rPr>
              <a:t>dot</a:t>
            </a:r>
            <a:r>
              <a:rPr lang="zh-CN" altLang="en-US" b="0" dirty="0">
                <a:solidFill>
                  <a:srgbClr val="577CCE"/>
                </a:solidFill>
                <a:effectLst/>
                <a:latin typeface="Consolas" panose="020B0609020204030204" pitchFamily="49" charset="0"/>
              </a:rPr>
              <a:t>函数、</a:t>
            </a:r>
            <a:r>
              <a:rPr lang="en-US" altLang="zh-CN" b="0" dirty="0">
                <a:solidFill>
                  <a:srgbClr val="577CCE"/>
                </a:solidFill>
                <a:effectLst/>
                <a:latin typeface="Consolas" panose="020B0609020204030204" pitchFamily="49" charset="0"/>
              </a:rPr>
              <a:t>mm</a:t>
            </a:r>
            <a:r>
              <a:rPr lang="zh-CN" altLang="en-US" b="0" dirty="0">
                <a:solidFill>
                  <a:srgbClr val="577CCE"/>
                </a:solidFill>
                <a:effectLst/>
                <a:latin typeface="Consolas" panose="020B0609020204030204" pitchFamily="49" charset="0"/>
              </a:rPr>
              <a:t>函数等</a:t>
            </a:r>
            <a:r>
              <a:rPr lang="zh-CN" altLang="en-US" b="0" dirty="0">
                <a:solidFill>
                  <a:srgbClr val="24292E"/>
                </a:solidFill>
                <a:effectLst/>
                <a:latin typeface="Consolas" panose="020B0609020204030204" pitchFamily="49" charset="0"/>
              </a:rPr>
              <a:t>，示例如下。</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584904" y="3864078"/>
            <a:ext cx="6094602" cy="1754326"/>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t_n1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matmul</a:t>
            </a:r>
            <a:r>
              <a:rPr lang="en-US" altLang="zh-CN" b="0" dirty="0">
                <a:solidFill>
                  <a:srgbClr val="24292E"/>
                </a:solidFill>
                <a:effectLst/>
                <a:latin typeface="Consolas" panose="020B0609020204030204" pitchFamily="49" charset="0"/>
              </a:rPr>
              <a:t>(t3, t1)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二维张量和一维张量相乘，一维张量自动维度扩展</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结果会删掉扩展维度</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(t_n1.shape)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打印计算结果形状</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t_n2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matmul</a:t>
            </a:r>
            <a:r>
              <a:rPr lang="en-US" altLang="zh-CN" b="0" dirty="0">
                <a:solidFill>
                  <a:srgbClr val="24292E"/>
                </a:solidFill>
                <a:effectLst/>
                <a:latin typeface="Consolas" panose="020B0609020204030204" pitchFamily="49" charset="0"/>
              </a:rPr>
              <a:t>(t3, t1.</a:t>
            </a:r>
            <a:r>
              <a:rPr lang="en-US" altLang="zh-CN" b="0" dirty="0">
                <a:solidFill>
                  <a:srgbClr val="6F42C1"/>
                </a:solidFill>
                <a:effectLst/>
                <a:latin typeface="Consolas" panose="020B0609020204030204" pitchFamily="49" charset="0"/>
              </a:rPr>
              <a:t>view</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手动扩展进行计算，与上面的操作结果一致</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(t_n1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t_n2)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观察两个结果是否相同</a:t>
            </a:r>
            <a:endParaRPr lang="zh-CN" altLang="en-US" b="0" dirty="0">
              <a:solidFill>
                <a:srgbClr val="24292E"/>
              </a:solidFill>
              <a:effectLst/>
              <a:latin typeface="Consolas" panose="020B0609020204030204" pitchFamily="49" charset="0"/>
            </a:endParaRPr>
          </a:p>
        </p:txBody>
      </p:sp>
      <p:sp>
        <p:nvSpPr>
          <p:cNvPr id="10" name="文本框 9"/>
          <p:cNvSpPr txBox="1"/>
          <p:nvPr/>
        </p:nvSpPr>
        <p:spPr>
          <a:xfrm>
            <a:off x="9075022" y="4232271"/>
            <a:ext cx="2239749" cy="646331"/>
          </a:xfrm>
          <a:prstGeom prst="rect">
            <a:avLst/>
          </a:prstGeom>
          <a:noFill/>
        </p:spPr>
        <p:txBody>
          <a:bodyPr wrap="square">
            <a:spAutoFit/>
          </a:bodyPr>
          <a:lstStyle/>
          <a:p>
            <a:r>
              <a:rPr lang="en-US" altLang="zh-CN" dirty="0" err="1"/>
              <a:t>torch.Size</a:t>
            </a:r>
            <a:r>
              <a:rPr lang="en-US" altLang="zh-CN" dirty="0"/>
              <a:t>([2]) tensor([[True, True]])</a:t>
            </a:r>
            <a:endParaRPr lang="zh-CN" altLang="en-US" dirty="0"/>
          </a:p>
        </p:txBody>
      </p:sp>
      <p:sp>
        <p:nvSpPr>
          <p:cNvPr id="11" name="箭头: 右 10"/>
          <p:cNvSpPr/>
          <p:nvPr/>
        </p:nvSpPr>
        <p:spPr>
          <a:xfrm>
            <a:off x="7139033" y="4301522"/>
            <a:ext cx="1476462" cy="5078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down)">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5. </a:t>
            </a:r>
            <a:r>
              <a:rPr lang="zh-CN" altLang="en-US" b="0" dirty="0">
                <a:solidFill>
                  <a:srgbClr val="24292E"/>
                </a:solidFill>
                <a:effectLst/>
                <a:latin typeface="Consolas" panose="020B0609020204030204" pitchFamily="49" charset="0"/>
              </a:rPr>
              <a:t>数学运算</a:t>
            </a:r>
            <a:endParaRPr lang="en-US" altLang="zh-CN" b="0" dirty="0">
              <a:solidFill>
                <a:srgbClr val="24292E"/>
              </a:solidFill>
              <a:effectLst/>
              <a:latin typeface="Consolas" panose="020B0609020204030204" pitchFamily="49" charset="0"/>
            </a:endParaRPr>
          </a:p>
        </p:txBody>
      </p:sp>
      <p:sp>
        <p:nvSpPr>
          <p:cNvPr id="2" name="文本框 1"/>
          <p:cNvSpPr txBox="1"/>
          <p:nvPr/>
        </p:nvSpPr>
        <p:spPr>
          <a:xfrm>
            <a:off x="1716942" y="2347592"/>
            <a:ext cx="9522321"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若要取张量中的某个元素，变为普通的数据类型进行运算，可使用</a:t>
            </a:r>
            <a:r>
              <a:rPr lang="en-US" altLang="zh-CN" b="0" dirty="0">
                <a:solidFill>
                  <a:srgbClr val="FF0000"/>
                </a:solidFill>
                <a:effectLst/>
                <a:latin typeface="Consolas" panose="020B0609020204030204" pitchFamily="49" charset="0"/>
              </a:rPr>
              <a:t>item()</a:t>
            </a:r>
            <a:r>
              <a:rPr lang="zh-CN" altLang="en-US" b="0" dirty="0">
                <a:solidFill>
                  <a:srgbClr val="FF0000"/>
                </a:solidFill>
                <a:effectLst/>
                <a:latin typeface="Consolas" panose="020B0609020204030204" pitchFamily="49" charset="0"/>
              </a:rPr>
              <a:t>函数</a:t>
            </a:r>
            <a:r>
              <a:rPr lang="zh-CN" altLang="en-US" b="0" dirty="0">
                <a:solidFill>
                  <a:srgbClr val="24292E"/>
                </a:solidFill>
                <a:effectLst/>
                <a:latin typeface="Consolas" panose="020B0609020204030204" pitchFamily="49" charset="0"/>
              </a:rPr>
              <a:t>。例如：</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4122957" y="2862080"/>
            <a:ext cx="6094602" cy="1754326"/>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tensor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randperm</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sum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tensor.</a:t>
            </a:r>
            <a:r>
              <a:rPr lang="en-US" altLang="zh-CN" b="0" dirty="0" err="1">
                <a:solidFill>
                  <a:srgbClr val="6F42C1"/>
                </a:solidFill>
                <a:effectLst/>
                <a:latin typeface="Consolas" panose="020B0609020204030204" pitchFamily="49" charset="0"/>
              </a:rPr>
              <a:t>sum</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sum_item</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sum.</a:t>
            </a:r>
            <a:r>
              <a:rPr lang="en-US" altLang="zh-CN" b="0" dirty="0" err="1">
                <a:solidFill>
                  <a:srgbClr val="6F42C1"/>
                </a:solidFill>
                <a:effectLst/>
                <a:latin typeface="Consolas" panose="020B0609020204030204" pitchFamily="49" charset="0"/>
              </a:rPr>
              <a:t>item</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(tensor)</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(sum, </a:t>
            </a:r>
            <a:r>
              <a:rPr lang="en-US" altLang="zh-CN" b="0" dirty="0">
                <a:solidFill>
                  <a:srgbClr val="6F42C1"/>
                </a:solidFill>
                <a:effectLst/>
                <a:latin typeface="Consolas" panose="020B0609020204030204" pitchFamily="49" charset="0"/>
              </a:rPr>
              <a:t>type</a:t>
            </a:r>
            <a:r>
              <a:rPr lang="en-US" altLang="zh-CN" b="0" dirty="0">
                <a:solidFill>
                  <a:srgbClr val="24292E"/>
                </a:solidFill>
                <a:effectLst/>
                <a:latin typeface="Consolas" panose="020B0609020204030204" pitchFamily="49" charset="0"/>
              </a:rPr>
              <a:t>(sum))</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sum_item</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type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sum_item</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6" name="图片 5"/>
          <p:cNvPicPr>
            <a:picLocks noChangeAspect="1"/>
          </p:cNvPicPr>
          <p:nvPr/>
        </p:nvPicPr>
        <p:blipFill>
          <a:blip r:embed="rId1"/>
          <a:stretch>
            <a:fillRect/>
          </a:stretch>
        </p:blipFill>
        <p:spPr>
          <a:xfrm>
            <a:off x="3242287" y="4960354"/>
            <a:ext cx="5983105" cy="1255888"/>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2"/>
    </p:custData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a:t>
            </a:r>
            <a:r>
              <a:rPr lang="en-US" altLang="zh-CN" b="0" dirty="0">
                <a:solidFill>
                  <a:srgbClr val="577CCE"/>
                </a:solidFill>
                <a:effectLst/>
                <a:latin typeface="Consolas" panose="020B0609020204030204" pitchFamily="49" charset="0"/>
              </a:rPr>
              <a:t>5.2.1 </a:t>
            </a:r>
            <a:r>
              <a:rPr lang="zh-CN" altLang="en-US" b="0" dirty="0">
                <a:solidFill>
                  <a:srgbClr val="577CCE"/>
                </a:solidFill>
                <a:effectLst/>
                <a:latin typeface="Consolas" panose="020B0609020204030204" pitchFamily="49" charset="0"/>
              </a:rPr>
              <a:t>张量</a:t>
            </a:r>
            <a:endParaRPr lang="zh-CN" altLang="en-US" b="0" dirty="0">
              <a:solidFill>
                <a:srgbClr val="577CCE"/>
              </a:solidFill>
              <a:effectLst/>
              <a:latin typeface="Consolas" panose="020B0609020204030204" pitchFamily="49" charset="0"/>
            </a:endParaRPr>
          </a:p>
        </p:txBody>
      </p:sp>
      <p:sp>
        <p:nvSpPr>
          <p:cNvPr id="14" name="文本框 13"/>
          <p:cNvSpPr txBox="1"/>
          <p:nvPr/>
        </p:nvSpPr>
        <p:spPr>
          <a:xfrm>
            <a:off x="1173642" y="1895931"/>
            <a:ext cx="9522321"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6. </a:t>
            </a:r>
            <a:r>
              <a:rPr lang="zh-CN" altLang="en-US" b="0" dirty="0">
                <a:solidFill>
                  <a:srgbClr val="24292E"/>
                </a:solidFill>
                <a:effectLst/>
                <a:latin typeface="Consolas" panose="020B0609020204030204" pitchFamily="49" charset="0"/>
              </a:rPr>
              <a:t>张量的其他运算</a:t>
            </a:r>
            <a:endParaRPr lang="zh-CN" altLang="en-US" b="0" dirty="0">
              <a:solidFill>
                <a:srgbClr val="24292E"/>
              </a:solidFill>
              <a:effectLst/>
              <a:latin typeface="Consolas" panose="020B0609020204030204" pitchFamily="49" charset="0"/>
            </a:endParaRPr>
          </a:p>
        </p:txBody>
      </p:sp>
      <p:sp>
        <p:nvSpPr>
          <p:cNvPr id="2" name="文本框 1"/>
          <p:cNvSpPr txBox="1"/>
          <p:nvPr/>
        </p:nvSpPr>
        <p:spPr>
          <a:xfrm>
            <a:off x="1716942" y="2347592"/>
            <a:ext cx="9522321" cy="646331"/>
          </a:xfrm>
          <a:prstGeom prst="rect">
            <a:avLst/>
          </a:prstGeom>
          <a:noFill/>
        </p:spPr>
        <p:txBody>
          <a:bodyPr wrap="square">
            <a:spAutoFit/>
          </a:bodyPr>
          <a:lstStyle/>
          <a:p>
            <a:r>
              <a:rPr lang="en-US" altLang="zh-CN" b="0" dirty="0" err="1">
                <a:solidFill>
                  <a:srgbClr val="577CCE"/>
                </a:solidFill>
                <a:effectLst/>
                <a:latin typeface="Consolas" panose="020B0609020204030204" pitchFamily="49" charset="0"/>
              </a:rPr>
              <a:t>PyTorch</a:t>
            </a:r>
            <a:r>
              <a:rPr lang="zh-CN" altLang="en-US" b="0" dirty="0">
                <a:solidFill>
                  <a:srgbClr val="24292E"/>
                </a:solidFill>
                <a:effectLst/>
                <a:latin typeface="Consolas" panose="020B0609020204030204" pitchFamily="49" charset="0"/>
              </a:rPr>
              <a:t>提供的张量运算函数是非常丰富的，如</a:t>
            </a:r>
            <a:r>
              <a:rPr lang="zh-CN" altLang="en-US" b="0" dirty="0">
                <a:solidFill>
                  <a:srgbClr val="FF0000"/>
                </a:solidFill>
                <a:effectLst/>
                <a:latin typeface="Consolas" panose="020B0609020204030204" pitchFamily="49" charset="0"/>
              </a:rPr>
              <a:t>幂运算、指数运算（以</a:t>
            </a:r>
            <a:r>
              <a:rPr lang="en-US" altLang="zh-CN" b="0" dirty="0">
                <a:solidFill>
                  <a:srgbClr val="FF0000"/>
                </a:solidFill>
                <a:effectLst/>
                <a:latin typeface="Consolas" panose="020B0609020204030204" pitchFamily="49" charset="0"/>
              </a:rPr>
              <a:t>e</a:t>
            </a:r>
            <a:r>
              <a:rPr lang="zh-CN" altLang="en-US" b="0" dirty="0">
                <a:solidFill>
                  <a:srgbClr val="FF0000"/>
                </a:solidFill>
                <a:effectLst/>
                <a:latin typeface="Consolas" panose="020B0609020204030204" pitchFamily="49" charset="0"/>
              </a:rPr>
              <a:t>为底数）、对数运算、近似运算（如取整）、统计运算（如取平均值）</a:t>
            </a:r>
            <a:r>
              <a:rPr lang="zh-CN" altLang="en-US" b="0" dirty="0">
                <a:solidFill>
                  <a:srgbClr val="24292E"/>
                </a:solidFill>
                <a:effectLst/>
                <a:latin typeface="Consolas" panose="020B0609020204030204" pitchFamily="49" charset="0"/>
              </a:rPr>
              <a:t>等等，在此不再给出更多示例。</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2359403" y="3125436"/>
            <a:ext cx="6094602" cy="3539430"/>
          </a:xfrm>
          <a:prstGeom prst="rect">
            <a:avLst/>
          </a:prstGeom>
          <a:noFill/>
        </p:spPr>
        <p:txBody>
          <a:bodyPr wrap="square">
            <a:spAutoFit/>
          </a:bodyPr>
          <a:lstStyle/>
          <a:p>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返回以 </a:t>
            </a:r>
            <a:r>
              <a:rPr lang="en-US" altLang="zh-CN" sz="1600" b="0" dirty="0">
                <a:solidFill>
                  <a:srgbClr val="6A737D"/>
                </a:solidFill>
                <a:effectLst/>
                <a:latin typeface="Consolas" panose="020B0609020204030204" pitchFamily="49" charset="0"/>
              </a:rPr>
              <a:t>e </a:t>
            </a:r>
            <a:r>
              <a:rPr lang="zh-CN" altLang="en-US" sz="1600" b="0" dirty="0">
                <a:solidFill>
                  <a:srgbClr val="6A737D"/>
                </a:solidFill>
                <a:effectLst/>
                <a:latin typeface="Consolas" panose="020B0609020204030204" pitchFamily="49" charset="0"/>
              </a:rPr>
              <a:t>为底</a:t>
            </a:r>
            <a:r>
              <a:rPr lang="zh-CN" altLang="en-US" sz="1600" dirty="0">
                <a:solidFill>
                  <a:srgbClr val="6A737D"/>
                </a:solidFill>
                <a:effectLst/>
                <a:latin typeface="Consolas" panose="020B0609020204030204" pitchFamily="49" charset="0"/>
              </a:rPr>
              <a:t>的对数</a:t>
            </a:r>
            <a:endParaRPr lang="zh-CN" altLang="en-US" sz="1600" dirty="0">
              <a:solidFill>
                <a:srgbClr val="24292E"/>
              </a:solidFill>
              <a:effectLst/>
              <a:latin typeface="Consolas" panose="020B0609020204030204" pitchFamily="49" charset="0"/>
            </a:endParaRPr>
          </a:p>
          <a:p>
            <a:r>
              <a:rPr lang="en-US" altLang="zh-CN" sz="1600" dirty="0">
                <a:solidFill>
                  <a:srgbClr val="24292E"/>
                </a:solidFill>
                <a:effectLst/>
                <a:latin typeface="Consolas" panose="020B0609020204030204" pitchFamily="49" charset="0"/>
              </a:rPr>
              <a:t>torch.log(</a:t>
            </a:r>
            <a:r>
              <a:rPr lang="en-US" altLang="zh-CN" sz="1600" dirty="0">
                <a:solidFill>
                  <a:srgbClr val="6F42C1"/>
                </a:solidFill>
                <a:effectLst/>
                <a:latin typeface="Consolas" panose="020B0609020204030204" pitchFamily="49" charset="0"/>
              </a:rPr>
              <a:t>input</a:t>
            </a:r>
            <a:r>
              <a:rPr lang="en-US" altLang="zh-CN" sz="1600" dirty="0">
                <a:solidFill>
                  <a:srgbClr val="24292E"/>
                </a:solidFill>
                <a:effectLst/>
                <a:latin typeface="Consolas" panose="020B0609020204030204" pitchFamily="49" charset="0"/>
              </a:rPr>
              <a:t>, </a:t>
            </a:r>
            <a:r>
              <a:rPr lang="en-US" altLang="zh-CN" sz="1600" dirty="0">
                <a:solidFill>
                  <a:srgbClr val="E36209"/>
                </a:solidFill>
                <a:effectLst/>
                <a:latin typeface="Consolas" panose="020B0609020204030204" pitchFamily="49" charset="0"/>
              </a:rPr>
              <a:t>out</a:t>
            </a:r>
            <a:r>
              <a:rPr lang="en-US" altLang="zh-CN" sz="1600" dirty="0">
                <a:solidFill>
                  <a:srgbClr val="D73A49"/>
                </a:solidFill>
                <a:effectLst/>
                <a:latin typeface="Consolas" panose="020B0609020204030204" pitchFamily="49" charset="0"/>
              </a:rPr>
              <a:t>=</a:t>
            </a:r>
            <a:r>
              <a:rPr lang="en-US" altLang="zh-CN" sz="1600" dirty="0">
                <a:solidFill>
                  <a:srgbClr val="005CC5"/>
                </a:solidFill>
                <a:effectLst/>
                <a:latin typeface="Consolas" panose="020B0609020204030204" pitchFamily="49" charset="0"/>
              </a:rPr>
              <a:t>None</a:t>
            </a:r>
            <a:r>
              <a:rPr lang="en-US" altLang="zh-CN" sz="1600" dirty="0">
                <a:solidFill>
                  <a:srgbClr val="24292E"/>
                </a:solidFill>
                <a:effectLst/>
                <a:latin typeface="Consolas" panose="020B0609020204030204" pitchFamily="49" charset="0"/>
              </a:rPr>
              <a:t>)</a:t>
            </a:r>
            <a:endParaRPr lang="en-US" altLang="zh-CN" sz="1600" dirty="0">
              <a:solidFill>
                <a:srgbClr val="24292E"/>
              </a:solidFill>
              <a:effectLst/>
              <a:latin typeface="Consolas" panose="020B0609020204030204" pitchFamily="49" charset="0"/>
            </a:endParaRPr>
          </a:p>
          <a:p>
            <a:br>
              <a:rPr lang="en-US" altLang="zh-CN" sz="1600" dirty="0">
                <a:solidFill>
                  <a:srgbClr val="24292E"/>
                </a:solidFill>
                <a:effectLst/>
                <a:latin typeface="Consolas" panose="020B0609020204030204" pitchFamily="49" charset="0"/>
              </a:rPr>
            </a:br>
            <a:r>
              <a:rPr lang="en-US" altLang="zh-CN" sz="1600" dirty="0">
                <a:solidFill>
                  <a:srgbClr val="6A737D"/>
                </a:solidFill>
                <a:effectLst/>
                <a:latin typeface="Consolas" panose="020B0609020204030204" pitchFamily="49" charset="0"/>
              </a:rPr>
              <a:t># </a:t>
            </a:r>
            <a:r>
              <a:rPr lang="zh-CN" altLang="en-US" sz="1600" dirty="0">
                <a:solidFill>
                  <a:srgbClr val="6A737D"/>
                </a:solidFill>
                <a:effectLst/>
                <a:latin typeface="Consolas" panose="020B0609020204030204" pitchFamily="49" charset="0"/>
              </a:rPr>
              <a:t>返回以 </a:t>
            </a:r>
            <a:r>
              <a:rPr lang="en-US" altLang="zh-CN" sz="1600" dirty="0">
                <a:solidFill>
                  <a:srgbClr val="6A737D"/>
                </a:solidFill>
                <a:effectLst/>
                <a:latin typeface="Consolas" panose="020B0609020204030204" pitchFamily="49" charset="0"/>
              </a:rPr>
              <a:t>2 </a:t>
            </a:r>
            <a:r>
              <a:rPr lang="zh-CN" altLang="en-US" sz="1600" dirty="0">
                <a:solidFill>
                  <a:srgbClr val="6A737D"/>
                </a:solidFill>
                <a:effectLst/>
                <a:latin typeface="Consolas" panose="020B0609020204030204" pitchFamily="49" charset="0"/>
              </a:rPr>
              <a:t>为底的对数</a:t>
            </a:r>
            <a:endParaRPr lang="zh-CN" altLang="en-US" sz="1600" dirty="0">
              <a:solidFill>
                <a:srgbClr val="24292E"/>
              </a:solidFill>
              <a:effectLst/>
              <a:latin typeface="Consolas" panose="020B0609020204030204" pitchFamily="49" charset="0"/>
            </a:endParaRPr>
          </a:p>
          <a:p>
            <a:r>
              <a:rPr lang="en-US" altLang="zh-CN" sz="1600" dirty="0">
                <a:solidFill>
                  <a:srgbClr val="24292E"/>
                </a:solidFill>
                <a:effectLst/>
                <a:latin typeface="Consolas" panose="020B0609020204030204" pitchFamily="49" charset="0"/>
              </a:rPr>
              <a:t>torch.log2(</a:t>
            </a:r>
            <a:r>
              <a:rPr lang="en-US" altLang="zh-CN" sz="1600" dirty="0">
                <a:solidFill>
                  <a:srgbClr val="6F42C1"/>
                </a:solidFill>
                <a:effectLst/>
                <a:latin typeface="Consolas" panose="020B0609020204030204" pitchFamily="49" charset="0"/>
              </a:rPr>
              <a:t>input</a:t>
            </a:r>
            <a:r>
              <a:rPr lang="en-US" altLang="zh-CN" sz="1600" dirty="0">
                <a:solidFill>
                  <a:srgbClr val="24292E"/>
                </a:solidFill>
                <a:effectLst/>
                <a:latin typeface="Consolas" panose="020B0609020204030204" pitchFamily="49" charset="0"/>
              </a:rPr>
              <a:t>, </a:t>
            </a:r>
            <a:r>
              <a:rPr lang="en-US" altLang="zh-CN" sz="1600" dirty="0">
                <a:solidFill>
                  <a:srgbClr val="E36209"/>
                </a:solidFill>
                <a:effectLst/>
                <a:latin typeface="Consolas" panose="020B0609020204030204" pitchFamily="49" charset="0"/>
              </a:rPr>
              <a:t>out</a:t>
            </a:r>
            <a:r>
              <a:rPr lang="en-US" altLang="zh-CN" sz="1600" dirty="0">
                <a:solidFill>
                  <a:srgbClr val="D73A49"/>
                </a:solidFill>
                <a:effectLst/>
                <a:latin typeface="Consolas" panose="020B0609020204030204" pitchFamily="49" charset="0"/>
              </a:rPr>
              <a:t>=</a:t>
            </a:r>
            <a:r>
              <a:rPr lang="en-US" altLang="zh-CN" sz="1600" dirty="0">
                <a:solidFill>
                  <a:srgbClr val="005CC5"/>
                </a:solidFill>
                <a:effectLst/>
                <a:latin typeface="Consolas" panose="020B0609020204030204" pitchFamily="49" charset="0"/>
              </a:rPr>
              <a:t>None</a:t>
            </a:r>
            <a:r>
              <a:rPr lang="en-US" altLang="zh-CN" sz="1600" dirty="0">
                <a:solidFill>
                  <a:srgbClr val="24292E"/>
                </a:solidFill>
                <a:effectLst/>
                <a:latin typeface="Consolas" panose="020B0609020204030204" pitchFamily="49" charset="0"/>
              </a:rPr>
              <a:t>)</a:t>
            </a:r>
            <a:endParaRPr lang="en-US" altLang="zh-CN" sz="1600" dirty="0">
              <a:solidFill>
                <a:srgbClr val="24292E"/>
              </a:solidFill>
              <a:effectLst/>
              <a:latin typeface="Consolas" panose="020B0609020204030204" pitchFamily="49" charset="0"/>
            </a:endParaRPr>
          </a:p>
          <a:p>
            <a:br>
              <a:rPr lang="en-US" altLang="zh-CN" sz="1600" b="0" dirty="0">
                <a:solidFill>
                  <a:srgbClr val="24292E"/>
                </a:solidFill>
                <a:effectLst/>
                <a:latin typeface="Consolas" panose="020B0609020204030204" pitchFamily="49" charset="0"/>
              </a:rPr>
            </a:b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返回以 </a:t>
            </a:r>
            <a:r>
              <a:rPr lang="en-US" altLang="zh-CN" sz="1600" b="0" dirty="0">
                <a:solidFill>
                  <a:srgbClr val="6A737D"/>
                </a:solidFill>
                <a:effectLst/>
                <a:latin typeface="Consolas" panose="020B0609020204030204" pitchFamily="49" charset="0"/>
              </a:rPr>
              <a:t>10 </a:t>
            </a:r>
            <a:r>
              <a:rPr lang="zh-CN" altLang="en-US" sz="1600" b="0" dirty="0">
                <a:solidFill>
                  <a:srgbClr val="6A737D"/>
                </a:solidFill>
                <a:effectLst/>
                <a:latin typeface="Consolas" panose="020B0609020204030204" pitchFamily="49" charset="0"/>
              </a:rPr>
              <a:t>为底的对数</a:t>
            </a:r>
            <a:endParaRPr lang="zh-CN" altLang="en-US"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torch.log10(</a:t>
            </a:r>
            <a:r>
              <a:rPr lang="en-US" altLang="zh-CN" sz="1600" b="0" dirty="0">
                <a:solidFill>
                  <a:srgbClr val="6F42C1"/>
                </a:solidFill>
                <a:effectLst/>
                <a:latin typeface="Consolas" panose="020B0609020204030204" pitchFamily="49" charset="0"/>
              </a:rPr>
              <a:t>i</a:t>
            </a:r>
            <a:r>
              <a:rPr lang="en-US" altLang="zh-CN" sz="1600" b="0" dirty="0">
                <a:solidFill>
                  <a:srgbClr val="A388D5"/>
                </a:solidFill>
                <a:effectLst/>
                <a:latin typeface="Consolas" panose="020B0609020204030204" pitchFamily="49" charset="0"/>
              </a:rPr>
              <a:t>nput</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out</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None</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br>
              <a:rPr lang="en-US" altLang="zh-CN" sz="1600" b="0" dirty="0">
                <a:solidFill>
                  <a:srgbClr val="24292E"/>
                </a:solidFill>
                <a:effectLst/>
                <a:latin typeface="Consolas" panose="020B0609020204030204" pitchFamily="49" charset="0"/>
              </a:rPr>
            </a:b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返回以 </a:t>
            </a:r>
            <a:r>
              <a:rPr lang="en-US" altLang="zh-CN" sz="1600" b="0" dirty="0">
                <a:solidFill>
                  <a:srgbClr val="6A737D"/>
                </a:solidFill>
                <a:effectLst/>
                <a:latin typeface="Consolas" panose="020B0609020204030204" pitchFamily="49" charset="0"/>
              </a:rPr>
              <a:t>e </a:t>
            </a:r>
            <a:r>
              <a:rPr lang="zh-CN" altLang="en-US" sz="1600" b="0" dirty="0">
                <a:solidFill>
                  <a:srgbClr val="6A737D"/>
                </a:solidFill>
                <a:effectLst/>
                <a:latin typeface="Consolas" panose="020B0609020204030204" pitchFamily="49" charset="0"/>
              </a:rPr>
              <a:t>为底的指数</a:t>
            </a:r>
            <a:endParaRPr lang="zh-CN" altLang="en-US"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torch.exp</a:t>
            </a:r>
            <a:r>
              <a:rPr lang="en-US" altLang="zh-CN" sz="1600" b="0" dirty="0">
                <a:solidFill>
                  <a:srgbClr val="24292E"/>
                </a:solidFill>
                <a:effectLst/>
                <a:latin typeface="Consolas" panose="020B0609020204030204" pitchFamily="49" charset="0"/>
              </a:rPr>
              <a:t>(tensor, </a:t>
            </a:r>
            <a:r>
              <a:rPr lang="en-US" altLang="zh-CN" sz="1600" b="0" dirty="0">
                <a:solidFill>
                  <a:srgbClr val="E36209"/>
                </a:solidFill>
                <a:effectLst/>
                <a:latin typeface="Consolas" panose="020B0609020204030204" pitchFamily="49" charset="0"/>
              </a:rPr>
              <a:t>out</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None</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br>
              <a:rPr lang="en-US" altLang="zh-CN" sz="1600" b="0" dirty="0">
                <a:solidFill>
                  <a:srgbClr val="24292E"/>
                </a:solidFill>
                <a:effectLst/>
                <a:latin typeface="Consolas" panose="020B0609020204030204" pitchFamily="49" charset="0"/>
              </a:rPr>
            </a:b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返回向正方向取得最小整数</a:t>
            </a:r>
            <a:endParaRPr lang="zh-CN" altLang="en-US"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torch.ceil</a:t>
            </a:r>
            <a:r>
              <a:rPr lang="en-US" altLang="zh-CN" sz="1600" b="0" dirty="0">
                <a:solidFill>
                  <a:srgbClr val="24292E"/>
                </a:solidFill>
                <a:effectLst/>
                <a:latin typeface="Consolas" panose="020B0609020204030204" pitchFamily="49" charset="0"/>
              </a:rPr>
              <a:t>(</a:t>
            </a:r>
            <a:r>
              <a:rPr lang="en-US" altLang="zh-CN" sz="1600" b="0" dirty="0">
                <a:solidFill>
                  <a:srgbClr val="6F42C1"/>
                </a:solidFill>
                <a:effectLst/>
                <a:latin typeface="Consolas" panose="020B0609020204030204" pitchFamily="49" charset="0"/>
              </a:rPr>
              <a:t>input</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out</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None</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p:txBody>
      </p:sp>
      <p:sp>
        <p:nvSpPr>
          <p:cNvPr id="9" name="文本框 8"/>
          <p:cNvSpPr txBox="1"/>
          <p:nvPr/>
        </p:nvSpPr>
        <p:spPr>
          <a:xfrm>
            <a:off x="6025393" y="3125436"/>
            <a:ext cx="4586680" cy="2708434"/>
          </a:xfrm>
          <a:prstGeom prst="rect">
            <a:avLst/>
          </a:prstGeom>
          <a:noFill/>
        </p:spPr>
        <p:txBody>
          <a:bodyPr wrap="square">
            <a:spAutoFit/>
          </a:bodyPr>
          <a:lstStyle/>
          <a:p>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返回向负方向取得最大整数</a:t>
            </a:r>
            <a:endParaRPr lang="zh-CN" altLang="en-US"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torch.floor</a:t>
            </a:r>
            <a:r>
              <a:rPr lang="en-US" altLang="zh-CN" sz="1600" b="0" dirty="0">
                <a:solidFill>
                  <a:srgbClr val="24292E"/>
                </a:solidFill>
                <a:effectLst/>
                <a:latin typeface="Consolas" panose="020B0609020204030204" pitchFamily="49" charset="0"/>
              </a:rPr>
              <a:t>(</a:t>
            </a:r>
            <a:r>
              <a:rPr lang="en-US" altLang="zh-CN" sz="1600" b="0" dirty="0">
                <a:solidFill>
                  <a:srgbClr val="6F42C1"/>
                </a:solidFill>
                <a:effectLst/>
                <a:latin typeface="Consolas" panose="020B0609020204030204" pitchFamily="49" charset="0"/>
              </a:rPr>
              <a:t>input</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out</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None</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br>
              <a:rPr lang="en-US" altLang="zh-CN" sz="1600" b="0" dirty="0">
                <a:solidFill>
                  <a:srgbClr val="24292E"/>
                </a:solidFill>
                <a:effectLst/>
                <a:latin typeface="Consolas" panose="020B0609020204030204" pitchFamily="49" charset="0"/>
              </a:rPr>
            </a:b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返回相邻最近的整数， 四舍五入</a:t>
            </a:r>
            <a:endParaRPr lang="zh-CN" altLang="en-US"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torch.round</a:t>
            </a:r>
            <a:r>
              <a:rPr lang="en-US" altLang="zh-CN" sz="1600" b="0" dirty="0">
                <a:solidFill>
                  <a:srgbClr val="24292E"/>
                </a:solidFill>
                <a:effectLst/>
                <a:latin typeface="Consolas" panose="020B0609020204030204" pitchFamily="49" charset="0"/>
              </a:rPr>
              <a:t>(</a:t>
            </a:r>
            <a:r>
              <a:rPr lang="en-US" altLang="zh-CN" sz="1600" b="0" dirty="0">
                <a:solidFill>
                  <a:srgbClr val="6F42C1"/>
                </a:solidFill>
                <a:effectLst/>
                <a:latin typeface="Consolas" panose="020B0609020204030204" pitchFamily="49" charset="0"/>
              </a:rPr>
              <a:t>input</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out</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None</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br>
              <a:rPr lang="en-US" altLang="zh-CN" sz="1600" b="0" dirty="0">
                <a:solidFill>
                  <a:srgbClr val="24292E"/>
                </a:solidFill>
                <a:effectLst/>
                <a:latin typeface="Consolas" panose="020B0609020204030204" pitchFamily="49" charset="0"/>
              </a:rPr>
            </a:br>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返回整数部分数值</a:t>
            </a:r>
            <a:endParaRPr lang="zh-CN" altLang="en-US"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torch.trunc</a:t>
            </a:r>
            <a:r>
              <a:rPr lang="en-US" altLang="zh-CN" sz="1600" b="0" dirty="0">
                <a:solidFill>
                  <a:srgbClr val="24292E"/>
                </a:solidFill>
                <a:effectLst/>
                <a:latin typeface="Consolas" panose="020B0609020204030204" pitchFamily="49" charset="0"/>
              </a:rPr>
              <a:t>(</a:t>
            </a:r>
            <a:r>
              <a:rPr lang="en-US" altLang="zh-CN" sz="1600" b="0" dirty="0">
                <a:solidFill>
                  <a:srgbClr val="6F42C1"/>
                </a:solidFill>
                <a:effectLst/>
                <a:latin typeface="Consolas" panose="020B0609020204030204" pitchFamily="49" charset="0"/>
              </a:rPr>
              <a:t>input</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out</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None</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endParaRPr lang="en-US" altLang="zh-CN" dirty="0">
              <a:solidFill>
                <a:srgbClr val="24292E"/>
              </a:solidFill>
              <a:latin typeface="Consolas" panose="020B0609020204030204" pitchFamily="49" charset="0"/>
            </a:endParaRPr>
          </a:p>
          <a:p>
            <a:r>
              <a:rPr lang="en-US" altLang="zh-CN" sz="2400" b="1" dirty="0">
                <a:solidFill>
                  <a:srgbClr val="A388D5"/>
                </a:solidFill>
                <a:effectLst/>
                <a:latin typeface="Consolas" panose="020B0609020204030204" pitchFamily="49" charset="0"/>
              </a:rPr>
              <a:t>…………</a:t>
            </a:r>
            <a:endParaRPr lang="en-US" altLang="zh-CN" sz="2400" b="1" dirty="0">
              <a:solidFill>
                <a:srgbClr val="A388D5"/>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5.2 </a:t>
            </a:r>
            <a:r>
              <a:rPr lang="zh-CN" altLang="en-US" sz="3200" dirty="0">
                <a:sym typeface="+mn-ea"/>
              </a:rPr>
              <a:t>张量与自动求导</a:t>
            </a:r>
            <a:endParaRPr lang="zh-CN" altLang="en-US" sz="3200" dirty="0">
              <a:solidFill>
                <a:srgbClr val="FF0000"/>
              </a:solidFill>
              <a:sym typeface="+mn-ea"/>
            </a:endParaRPr>
          </a:p>
        </p:txBody>
      </p:sp>
      <p:sp>
        <p:nvSpPr>
          <p:cNvPr id="8" name="文本框 7"/>
          <p:cNvSpPr txBox="1"/>
          <p:nvPr/>
        </p:nvSpPr>
        <p:spPr>
          <a:xfrm>
            <a:off x="501014" y="1444270"/>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(2) </a:t>
            </a:r>
            <a:r>
              <a:rPr lang="en-US" altLang="zh-CN" b="0" dirty="0">
                <a:solidFill>
                  <a:srgbClr val="577CCE"/>
                </a:solidFill>
                <a:effectLst/>
                <a:latin typeface="Consolas" panose="020B0609020204030204" pitchFamily="49" charset="0"/>
              </a:rPr>
              <a:t>5.2.2 </a:t>
            </a:r>
            <a:r>
              <a:rPr lang="en-US" altLang="zh-CN" b="0" dirty="0" err="1">
                <a:solidFill>
                  <a:srgbClr val="577CCE"/>
                </a:solidFill>
                <a:effectLst/>
                <a:latin typeface="Consolas" panose="020B0609020204030204" pitchFamily="49" charset="0"/>
              </a:rPr>
              <a:t>Autograd</a:t>
            </a:r>
            <a:r>
              <a:rPr lang="zh-CN" altLang="en-US" b="0" dirty="0">
                <a:solidFill>
                  <a:srgbClr val="577CCE"/>
                </a:solidFill>
                <a:effectLst/>
                <a:latin typeface="Consolas" panose="020B0609020204030204" pitchFamily="49" charset="0"/>
              </a:rPr>
              <a:t>自动求导</a:t>
            </a:r>
            <a:endParaRPr lang="zh-CN" altLang="en-US" b="0" dirty="0">
              <a:solidFill>
                <a:srgbClr val="577CCE"/>
              </a:solidFill>
              <a:effectLst/>
              <a:latin typeface="Consolas" panose="020B0609020204030204" pitchFamily="49" charset="0"/>
            </a:endParaRPr>
          </a:p>
        </p:txBody>
      </p:sp>
      <p:sp>
        <p:nvSpPr>
          <p:cNvPr id="14" name="文本框 13"/>
          <p:cNvSpPr txBox="1"/>
          <p:nvPr/>
        </p:nvSpPr>
        <p:spPr>
          <a:xfrm>
            <a:off x="1173642" y="1895931"/>
            <a:ext cx="10517343" cy="1754326"/>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神经网络模型训练时，最常用的是</a:t>
            </a:r>
            <a:r>
              <a:rPr lang="en-US" altLang="zh-CN" b="0" dirty="0">
                <a:solidFill>
                  <a:srgbClr val="FF0000"/>
                </a:solidFill>
                <a:effectLst/>
                <a:latin typeface="Consolas" panose="020B0609020204030204" pitchFamily="49" charset="0"/>
              </a:rPr>
              <a:t>BP</a:t>
            </a:r>
            <a:r>
              <a:rPr lang="zh-CN" altLang="en-US" b="0" dirty="0">
                <a:solidFill>
                  <a:srgbClr val="FF0000"/>
                </a:solidFill>
                <a:effectLst/>
                <a:latin typeface="Consolas" panose="020B0609020204030204" pitchFamily="49" charset="0"/>
              </a:rPr>
              <a:t>算法</a:t>
            </a:r>
            <a:r>
              <a:rPr lang="zh-CN" altLang="en-US" b="0" dirty="0">
                <a:solidFill>
                  <a:srgbClr val="24292E"/>
                </a:solidFill>
                <a:effectLst/>
                <a:latin typeface="Consolas" panose="020B0609020204030204" pitchFamily="49" charset="0"/>
              </a:rPr>
              <a:t>，即反向传播算法。模型参数根据梯度进行学习，为了计算梯度，</a:t>
            </a:r>
            <a:r>
              <a:rPr lang="en-US" altLang="zh-CN" b="0" dirty="0" err="1">
                <a:solidFill>
                  <a:srgbClr val="577CCE"/>
                </a:solidFill>
                <a:effectLst/>
                <a:latin typeface="Consolas" panose="020B0609020204030204" pitchFamily="49" charset="0"/>
              </a:rPr>
              <a:t>PyTorch</a:t>
            </a:r>
            <a:r>
              <a:rPr lang="zh-CN" altLang="en-US" b="0" dirty="0">
                <a:solidFill>
                  <a:srgbClr val="24292E"/>
                </a:solidFill>
                <a:effectLst/>
                <a:latin typeface="Consolas" panose="020B0609020204030204" pitchFamily="49" charset="0"/>
              </a:rPr>
              <a:t>提供了</a:t>
            </a:r>
            <a:r>
              <a:rPr lang="en-US" altLang="zh-CN" b="0" dirty="0" err="1">
                <a:solidFill>
                  <a:srgbClr val="FF0000"/>
                </a:solidFill>
                <a:effectLst/>
                <a:latin typeface="Consolas" panose="020B0609020204030204" pitchFamily="49" charset="0"/>
              </a:rPr>
              <a:t>Autograd</a:t>
            </a:r>
            <a:r>
              <a:rPr lang="zh-CN" altLang="en-US" b="0" dirty="0">
                <a:solidFill>
                  <a:srgbClr val="24292E"/>
                </a:solidFill>
                <a:effectLst/>
                <a:latin typeface="Consolas" panose="020B0609020204030204" pitchFamily="49" charset="0"/>
              </a:rPr>
              <a:t>支持自动求导来计算梯度。</a:t>
            </a:r>
            <a:endParaRPr lang="zh-CN" altLang="en-US" b="0" dirty="0">
              <a:solidFill>
                <a:srgbClr val="24292E"/>
              </a:solidFill>
              <a:effectLst/>
              <a:latin typeface="Consolas" panose="020B0609020204030204" pitchFamily="49" charset="0"/>
            </a:endParaRPr>
          </a:p>
          <a:p>
            <a:endParaRPr lang="en-US" altLang="zh-CN"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下面以最简单的一层神经网络为例，给出</a:t>
            </a:r>
            <a:r>
              <a:rPr lang="en-US" altLang="zh-CN" b="0" dirty="0" err="1">
                <a:solidFill>
                  <a:srgbClr val="FF0000"/>
                </a:solidFill>
                <a:effectLst/>
                <a:latin typeface="Consolas" panose="020B0609020204030204" pitchFamily="49" charset="0"/>
              </a:rPr>
              <a:t>Autograd</a:t>
            </a:r>
            <a:r>
              <a:rPr lang="zh-CN" altLang="en-US" b="0" dirty="0">
                <a:solidFill>
                  <a:srgbClr val="24292E"/>
                </a:solidFill>
                <a:effectLst/>
                <a:latin typeface="Consolas" panose="020B0609020204030204" pitchFamily="49" charset="0"/>
              </a:rPr>
              <a:t>进行</a:t>
            </a:r>
            <a:r>
              <a:rPr lang="zh-CN" altLang="en-US" b="0" dirty="0">
                <a:solidFill>
                  <a:srgbClr val="FF0000"/>
                </a:solidFill>
                <a:effectLst/>
                <a:latin typeface="Consolas" panose="020B0609020204030204" pitchFamily="49" charset="0"/>
              </a:rPr>
              <a:t>反向传播优化参数</a:t>
            </a:r>
            <a:r>
              <a:rPr lang="zh-CN" altLang="en-US" b="0" dirty="0">
                <a:solidFill>
                  <a:srgbClr val="24292E"/>
                </a:solidFill>
                <a:effectLst/>
                <a:latin typeface="Consolas" panose="020B0609020204030204" pitchFamily="49" charset="0"/>
              </a:rPr>
              <a:t>的示例。例子中，设</a:t>
            </a:r>
            <a:r>
              <a:rPr lang="en-US" altLang="zh-CN" b="0" dirty="0">
                <a:solidFill>
                  <a:srgbClr val="24292E"/>
                </a:solidFill>
                <a:effectLst/>
                <a:latin typeface="Consolas" panose="020B0609020204030204" pitchFamily="49" charset="0"/>
              </a:rPr>
              <a:t>x</a:t>
            </a:r>
            <a:r>
              <a:rPr lang="zh-CN" altLang="en-US" b="0" dirty="0">
                <a:solidFill>
                  <a:srgbClr val="24292E"/>
                </a:solidFill>
                <a:effectLst/>
                <a:latin typeface="Consolas" panose="020B0609020204030204" pitchFamily="49" charset="0"/>
              </a:rPr>
              <a:t>和</a:t>
            </a:r>
            <a:r>
              <a:rPr lang="en-US" altLang="zh-CN" b="0" dirty="0">
                <a:solidFill>
                  <a:srgbClr val="24292E"/>
                </a:solidFill>
                <a:effectLst/>
                <a:latin typeface="Consolas" panose="020B0609020204030204" pitchFamily="49" charset="0"/>
              </a:rPr>
              <a:t>y</a:t>
            </a:r>
            <a:r>
              <a:rPr lang="zh-CN" altLang="en-US" b="0" dirty="0">
                <a:solidFill>
                  <a:srgbClr val="24292E"/>
                </a:solidFill>
                <a:effectLst/>
                <a:latin typeface="Consolas" panose="020B0609020204030204" pitchFamily="49" charset="0"/>
              </a:rPr>
              <a:t>是真实数据，</a:t>
            </a:r>
            <a:r>
              <a:rPr lang="en-US" altLang="zh-CN" b="0" dirty="0">
                <a:solidFill>
                  <a:srgbClr val="24292E"/>
                </a:solidFill>
                <a:effectLst/>
                <a:latin typeface="Consolas" panose="020B0609020204030204" pitchFamily="49" charset="0"/>
              </a:rPr>
              <a:t>z</a:t>
            </a:r>
            <a:r>
              <a:rPr lang="zh-CN" altLang="en-US" b="0" dirty="0">
                <a:solidFill>
                  <a:srgbClr val="24292E"/>
                </a:solidFill>
                <a:effectLst/>
                <a:latin typeface="Consolas" panose="020B0609020204030204" pitchFamily="49" charset="0"/>
              </a:rPr>
              <a:t>为模型预测值，设</a:t>
            </a:r>
            <a:r>
              <a:rPr lang="en-US" altLang="zh-CN" b="1" i="1" u="sng" dirty="0">
                <a:solidFill>
                  <a:srgbClr val="815BC5"/>
                </a:solidFill>
                <a:effectLst/>
                <a:latin typeface="Consolas" panose="020B0609020204030204" pitchFamily="49" charset="0"/>
              </a:rPr>
              <a:t>z = w * x + b</a:t>
            </a:r>
            <a:r>
              <a:rPr lang="zh-CN" altLang="en-US" b="0" dirty="0">
                <a:solidFill>
                  <a:srgbClr val="24292E"/>
                </a:solidFill>
                <a:effectLst/>
                <a:latin typeface="Consolas" panose="020B0609020204030204" pitchFamily="49" charset="0"/>
              </a:rPr>
              <a:t>，则</a:t>
            </a:r>
            <a:r>
              <a:rPr lang="en-US" altLang="zh-CN" b="0" dirty="0">
                <a:solidFill>
                  <a:srgbClr val="24292E"/>
                </a:solidFill>
                <a:effectLst/>
                <a:latin typeface="Consolas" panose="020B0609020204030204" pitchFamily="49" charset="0"/>
              </a:rPr>
              <a:t>w</a:t>
            </a:r>
            <a:r>
              <a:rPr lang="zh-CN" altLang="en-US" b="0" dirty="0">
                <a:solidFill>
                  <a:srgbClr val="24292E"/>
                </a:solidFill>
                <a:effectLst/>
                <a:latin typeface="Consolas" panose="020B0609020204030204" pitchFamily="49" charset="0"/>
              </a:rPr>
              <a:t>和</a:t>
            </a:r>
            <a:r>
              <a:rPr lang="en-US" altLang="zh-CN" b="0" dirty="0">
                <a:solidFill>
                  <a:srgbClr val="24292E"/>
                </a:solidFill>
                <a:effectLst/>
                <a:latin typeface="Consolas" panose="020B0609020204030204" pitchFamily="49" charset="0"/>
              </a:rPr>
              <a:t>b</a:t>
            </a:r>
            <a:r>
              <a:rPr lang="zh-CN" altLang="en-US" b="0" dirty="0">
                <a:solidFill>
                  <a:srgbClr val="24292E"/>
                </a:solidFill>
                <a:effectLst/>
                <a:latin typeface="Consolas" panose="020B0609020204030204" pitchFamily="49" charset="0"/>
              </a:rPr>
              <a:t>是模型需要优化的参数，通过</a:t>
            </a:r>
            <a:r>
              <a:rPr lang="en-US" altLang="zh-CN" b="0" dirty="0">
                <a:solidFill>
                  <a:srgbClr val="24292E"/>
                </a:solidFill>
                <a:effectLst/>
                <a:latin typeface="Consolas" panose="020B0609020204030204" pitchFamily="49" charset="0"/>
              </a:rPr>
              <a:t>loss</a:t>
            </a:r>
            <a:r>
              <a:rPr lang="zh-CN" altLang="en-US" b="0" dirty="0">
                <a:solidFill>
                  <a:srgbClr val="24292E"/>
                </a:solidFill>
                <a:effectLst/>
                <a:latin typeface="Consolas" panose="020B0609020204030204" pitchFamily="49" charset="0"/>
              </a:rPr>
              <a:t>损失可根据梯度下降法来优化</a:t>
            </a:r>
            <a:r>
              <a:rPr lang="en-US" altLang="zh-CN" b="0" dirty="0">
                <a:solidFill>
                  <a:srgbClr val="24292E"/>
                </a:solidFill>
                <a:effectLst/>
                <a:latin typeface="Consolas" panose="020B0609020204030204" pitchFamily="49" charset="0"/>
              </a:rPr>
              <a:t>w</a:t>
            </a:r>
            <a:r>
              <a:rPr lang="zh-CN" altLang="en-US" b="0" dirty="0">
                <a:solidFill>
                  <a:srgbClr val="24292E"/>
                </a:solidFill>
                <a:effectLst/>
                <a:latin typeface="Consolas" panose="020B0609020204030204" pitchFamily="49" charset="0"/>
              </a:rPr>
              <a:t>和</a:t>
            </a:r>
            <a:r>
              <a:rPr lang="en-US" altLang="zh-CN" b="0" dirty="0">
                <a:solidFill>
                  <a:srgbClr val="24292E"/>
                </a:solidFill>
                <a:effectLst/>
                <a:latin typeface="Consolas" panose="020B0609020204030204" pitchFamily="49" charset="0"/>
              </a:rPr>
              <a:t>b</a:t>
            </a:r>
            <a:r>
              <a:rPr lang="zh-CN" altLang="en-US" b="0" dirty="0">
                <a:solidFill>
                  <a:srgbClr val="24292E"/>
                </a:solidFill>
                <a:effectLst/>
                <a:latin typeface="Consolas" panose="020B0609020204030204" pitchFamily="49" charset="0"/>
              </a:rPr>
              <a:t>。</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1570838" y="3591534"/>
            <a:ext cx="10395829" cy="3139321"/>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functional</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binary_cross_entropy_with_logits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ones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输入</a:t>
            </a:r>
            <a:r>
              <a:rPr lang="en-US" altLang="zh-CN" b="0" dirty="0">
                <a:solidFill>
                  <a:srgbClr val="6A737D"/>
                </a:solidFill>
                <a:effectLst/>
                <a:latin typeface="Consolas" panose="020B0609020204030204" pitchFamily="49" charset="0"/>
              </a:rPr>
              <a:t>x</a:t>
            </a:r>
            <a:r>
              <a:rPr lang="zh-CN" altLang="en-US" b="0" dirty="0">
                <a:solidFill>
                  <a:srgbClr val="6A737D"/>
                </a:solidFill>
                <a:effectLst/>
                <a:latin typeface="Consolas" panose="020B0609020204030204" pitchFamily="49" charset="0"/>
              </a:rPr>
              <a:t>设为</a:t>
            </a:r>
            <a:r>
              <a:rPr lang="en-US" altLang="zh-CN" b="0" dirty="0">
                <a:solidFill>
                  <a:srgbClr val="6A737D"/>
                </a:solidFill>
                <a:effectLst/>
                <a:latin typeface="Consolas" panose="020B0609020204030204" pitchFamily="49" charset="0"/>
              </a:rPr>
              <a:t>[1.,1.,1.,1.,1.]</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y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zeros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r>
              <a:rPr lang="en-US" altLang="zh-CN" b="0" dirty="0">
                <a:solidFill>
                  <a:srgbClr val="6A737D"/>
                </a:solidFill>
                <a:effectLst/>
                <a:latin typeface="Consolas" panose="020B0609020204030204" pitchFamily="49" charset="0"/>
              </a:rPr>
              <a:t>y</a:t>
            </a:r>
            <a:r>
              <a:rPr lang="zh-CN" altLang="en-US" b="0" dirty="0">
                <a:solidFill>
                  <a:srgbClr val="6A737D"/>
                </a:solidFill>
                <a:effectLst/>
                <a:latin typeface="Consolas" panose="020B0609020204030204" pitchFamily="49" charset="0"/>
              </a:rPr>
              <a:t>设为</a:t>
            </a:r>
            <a:r>
              <a:rPr lang="en-US" altLang="zh-CN" b="0" dirty="0">
                <a:solidFill>
                  <a:srgbClr val="6A737D"/>
                </a:solidFill>
                <a:effectLst/>
                <a:latin typeface="Consolas" panose="020B0609020204030204" pitchFamily="49" charset="0"/>
              </a:rPr>
              <a:t>[0.,0.,0.]</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w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requires_grad</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w</a:t>
            </a:r>
            <a:r>
              <a:rPr lang="zh-CN" altLang="en-US" b="0" dirty="0">
                <a:solidFill>
                  <a:srgbClr val="6A737D"/>
                </a:solidFill>
                <a:effectLst/>
                <a:latin typeface="Consolas" panose="020B0609020204030204" pitchFamily="49" charset="0"/>
              </a:rPr>
              <a:t>形状为</a:t>
            </a:r>
            <a:r>
              <a:rPr lang="en-US" altLang="zh-CN" b="0" dirty="0">
                <a:solidFill>
                  <a:srgbClr val="6A737D"/>
                </a:solidFill>
                <a:effectLst/>
                <a:latin typeface="Consolas" panose="020B0609020204030204" pitchFamily="49" charset="0"/>
              </a:rPr>
              <a:t>[5, 3]</a:t>
            </a:r>
            <a:r>
              <a:rPr lang="zh-CN" altLang="en-US" b="0" dirty="0">
                <a:solidFill>
                  <a:srgbClr val="6A737D"/>
                </a:solidFill>
                <a:effectLst/>
                <a:latin typeface="Consolas" panose="020B0609020204030204" pitchFamily="49" charset="0"/>
              </a:rPr>
              <a:t>，梯度计算设为</a:t>
            </a:r>
            <a:r>
              <a:rPr lang="en-US" altLang="zh-CN" b="0" dirty="0">
                <a:solidFill>
                  <a:srgbClr val="6A737D"/>
                </a:solidFill>
                <a:effectLst/>
                <a:latin typeface="Consolas" panose="020B0609020204030204" pitchFamily="49" charset="0"/>
              </a:rPr>
              <a:t>True</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requires_grad</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b</a:t>
            </a:r>
            <a:r>
              <a:rPr lang="zh-CN" altLang="en-US" b="0" dirty="0">
                <a:solidFill>
                  <a:srgbClr val="6A737D"/>
                </a:solidFill>
                <a:effectLst/>
                <a:latin typeface="Consolas" panose="020B0609020204030204" pitchFamily="49" charset="0"/>
              </a:rPr>
              <a:t>形状为</a:t>
            </a:r>
            <a:r>
              <a:rPr lang="en-US" altLang="zh-CN" b="0" dirty="0">
                <a:solidFill>
                  <a:srgbClr val="6A737D"/>
                </a:solidFill>
                <a:effectLst/>
                <a:latin typeface="Consolas" panose="020B0609020204030204" pitchFamily="49" charset="0"/>
              </a:rPr>
              <a:t>[3, 1]</a:t>
            </a:r>
            <a:r>
              <a:rPr lang="zh-CN" altLang="en-US" b="0" dirty="0">
                <a:solidFill>
                  <a:srgbClr val="6A737D"/>
                </a:solidFill>
                <a:effectLst/>
                <a:latin typeface="Consolas" panose="020B0609020204030204" pitchFamily="49" charset="0"/>
              </a:rPr>
              <a:t>，梯度计算设为</a:t>
            </a:r>
            <a:r>
              <a:rPr lang="en-US" altLang="zh-CN" b="0" dirty="0">
                <a:solidFill>
                  <a:srgbClr val="6A737D"/>
                </a:solidFill>
                <a:effectLst/>
                <a:latin typeface="Consolas" panose="020B0609020204030204" pitchFamily="49" charset="0"/>
              </a:rPr>
              <a:t>True</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z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matmul</a:t>
            </a:r>
            <a:r>
              <a:rPr lang="en-US" altLang="zh-CN" b="0" dirty="0">
                <a:solidFill>
                  <a:srgbClr val="24292E"/>
                </a:solidFill>
                <a:effectLst/>
                <a:latin typeface="Consolas" panose="020B0609020204030204" pitchFamily="49" charset="0"/>
              </a:rPr>
              <a:t>(x, w)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b  </a:t>
            </a:r>
            <a:r>
              <a:rPr lang="en-US" altLang="zh-CN" b="0" dirty="0">
                <a:solidFill>
                  <a:srgbClr val="6A737D"/>
                </a:solidFill>
                <a:effectLst/>
                <a:latin typeface="Consolas" panose="020B0609020204030204" pitchFamily="49" charset="0"/>
              </a:rPr>
              <a:t># z = w * x + b</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loss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binary_cross_entropy_with_logits</a:t>
            </a:r>
            <a:r>
              <a:rPr lang="en-US" altLang="zh-CN" b="0" dirty="0">
                <a:solidFill>
                  <a:srgbClr val="24292E"/>
                </a:solidFill>
                <a:effectLst/>
                <a:latin typeface="Consolas" panose="020B0609020204030204" pitchFamily="49" charset="0"/>
              </a:rPr>
              <a:t>(z, y)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计算损失根据</a:t>
            </a:r>
            <a:r>
              <a:rPr lang="en-US" altLang="zh-CN" b="0" dirty="0">
                <a:solidFill>
                  <a:srgbClr val="6A737D"/>
                </a:solidFill>
                <a:effectLst/>
                <a:latin typeface="Consolas" panose="020B0609020204030204" pitchFamily="49" charset="0"/>
              </a:rPr>
              <a:t>loss</a:t>
            </a:r>
            <a:r>
              <a:rPr lang="zh-CN" altLang="en-US" b="0" dirty="0">
                <a:solidFill>
                  <a:srgbClr val="6A737D"/>
                </a:solidFill>
                <a:effectLst/>
                <a:latin typeface="Consolas" panose="020B0609020204030204" pitchFamily="49" charset="0"/>
              </a:rPr>
              <a:t>来优化网络参数</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loss.</a:t>
            </a:r>
            <a:r>
              <a:rPr lang="en-US" altLang="zh-CN" b="0" dirty="0" err="1">
                <a:solidFill>
                  <a:srgbClr val="6F42C1"/>
                </a:solidFill>
                <a:effectLst/>
                <a:latin typeface="Consolas" panose="020B0609020204030204" pitchFamily="49" charset="0"/>
              </a:rPr>
              <a:t>backward</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损失反向传播进行自动求导，得到参数梯度</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w.grad</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r>
              <a:rPr lang="en-US" altLang="zh-CN" b="0" dirty="0">
                <a:solidFill>
                  <a:srgbClr val="6A737D"/>
                </a:solidFill>
                <a:effectLst/>
                <a:latin typeface="Consolas" panose="020B0609020204030204" pitchFamily="49" charset="0"/>
              </a:rPr>
              <a:t>w</a:t>
            </a:r>
            <a:r>
              <a:rPr lang="zh-CN" altLang="en-US" b="0" dirty="0">
                <a:solidFill>
                  <a:srgbClr val="6A737D"/>
                </a:solidFill>
                <a:effectLst/>
                <a:latin typeface="Consolas" panose="020B0609020204030204" pitchFamily="49" charset="0"/>
              </a:rPr>
              <a:t>的梯度，存储在</a:t>
            </a:r>
            <a:r>
              <a:rPr lang="en-US" altLang="zh-CN" b="0" dirty="0">
                <a:solidFill>
                  <a:srgbClr val="6A737D"/>
                </a:solidFill>
                <a:effectLst/>
                <a:latin typeface="Consolas" panose="020B0609020204030204" pitchFamily="49" charset="0"/>
              </a:rPr>
              <a:t>w</a:t>
            </a:r>
            <a:r>
              <a:rPr lang="zh-CN" altLang="en-US" b="0" dirty="0">
                <a:solidFill>
                  <a:srgbClr val="6A737D"/>
                </a:solidFill>
                <a:effectLst/>
                <a:latin typeface="Consolas" panose="020B0609020204030204" pitchFamily="49" charset="0"/>
              </a:rPr>
              <a:t>的</a:t>
            </a:r>
            <a:r>
              <a:rPr lang="en-US" altLang="zh-CN" b="0" dirty="0">
                <a:solidFill>
                  <a:srgbClr val="6A737D"/>
                </a:solidFill>
                <a:effectLst/>
                <a:latin typeface="Consolas" panose="020B0609020204030204" pitchFamily="49" charset="0"/>
              </a:rPr>
              <a:t>grad</a:t>
            </a:r>
            <a:r>
              <a:rPr lang="zh-CN" altLang="en-US" b="0" dirty="0">
                <a:solidFill>
                  <a:srgbClr val="6A737D"/>
                </a:solidFill>
                <a:effectLst/>
                <a:latin typeface="Consolas" panose="020B0609020204030204" pitchFamily="49" charset="0"/>
              </a:rPr>
              <a:t>属性中，</a:t>
            </a:r>
            <a:r>
              <a:rPr lang="en-US" altLang="zh-CN" b="0" dirty="0">
                <a:solidFill>
                  <a:srgbClr val="6A737D"/>
                </a:solidFill>
                <a:effectLst/>
                <a:latin typeface="Consolas" panose="020B0609020204030204" pitchFamily="49" charset="0"/>
              </a:rPr>
              <a:t>grad</a:t>
            </a:r>
            <a:r>
              <a:rPr lang="zh-CN" altLang="en-US" b="0" dirty="0">
                <a:solidFill>
                  <a:srgbClr val="6A737D"/>
                </a:solidFill>
                <a:effectLst/>
                <a:latin typeface="Consolas" panose="020B0609020204030204" pitchFamily="49" charset="0"/>
              </a:rPr>
              <a:t>属性也是张量</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b.grad</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输出</a:t>
            </a:r>
            <a:r>
              <a:rPr lang="en-US" altLang="zh-CN" b="0" dirty="0">
                <a:solidFill>
                  <a:srgbClr val="6A737D"/>
                </a:solidFill>
                <a:effectLst/>
                <a:latin typeface="Consolas" panose="020B0609020204030204" pitchFamily="49" charset="0"/>
              </a:rPr>
              <a:t>b</a:t>
            </a:r>
            <a:r>
              <a:rPr lang="zh-CN" altLang="en-US" b="0" dirty="0">
                <a:solidFill>
                  <a:srgbClr val="6A737D"/>
                </a:solidFill>
                <a:effectLst/>
                <a:latin typeface="Consolas" panose="020B0609020204030204" pitchFamily="49" charset="0"/>
              </a:rPr>
              <a:t>的梯度</a:t>
            </a:r>
            <a:endParaRPr lang="zh-CN" altLang="en-US" b="0" dirty="0">
              <a:solidFill>
                <a:srgbClr val="24292E"/>
              </a:solidFill>
              <a:effectLst/>
              <a:latin typeface="Consolas" panose="020B0609020204030204" pitchFamily="49" charset="0"/>
            </a:endParaRPr>
          </a:p>
        </p:txBody>
      </p:sp>
      <p:pic>
        <p:nvPicPr>
          <p:cNvPr id="7" name="图片 6"/>
          <p:cNvPicPr>
            <a:picLocks noChangeAspect="1"/>
          </p:cNvPicPr>
          <p:nvPr/>
        </p:nvPicPr>
        <p:blipFill>
          <a:blip r:embed="rId1"/>
          <a:stretch>
            <a:fillRect/>
          </a:stretch>
        </p:blipFill>
        <p:spPr>
          <a:xfrm>
            <a:off x="7329881" y="214632"/>
            <a:ext cx="3515919" cy="1598970"/>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2"/>
    </p:custData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8" name="文本框 7"/>
          <p:cNvSpPr txBox="1"/>
          <p:nvPr/>
        </p:nvSpPr>
        <p:spPr>
          <a:xfrm>
            <a:off x="509641" y="1855008"/>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5.3.1 </a:t>
            </a:r>
            <a:r>
              <a:rPr lang="zh-CN" altLang="en-US" dirty="0">
                <a:solidFill>
                  <a:srgbClr val="577CCE"/>
                </a:solidFill>
                <a:latin typeface="Consolas" panose="020B0609020204030204" pitchFamily="49" charset="0"/>
              </a:rPr>
              <a:t>一维卷积类</a:t>
            </a:r>
            <a:r>
              <a:rPr lang="en-US" altLang="zh-CN" dirty="0">
                <a:solidFill>
                  <a:srgbClr val="577CCE"/>
                </a:solidFill>
                <a:latin typeface="Consolas" panose="020B0609020204030204" pitchFamily="49" charset="0"/>
              </a:rPr>
              <a:t>nn.Conv1d</a:t>
            </a:r>
            <a:endParaRPr lang="zh-CN" altLang="en-US" b="0" dirty="0">
              <a:solidFill>
                <a:srgbClr val="577CCE"/>
              </a:solidFill>
              <a:effectLst/>
              <a:latin typeface="Consolas" panose="020B0609020204030204" pitchFamily="49" charset="0"/>
            </a:endParaRPr>
          </a:p>
        </p:txBody>
      </p:sp>
      <p:sp>
        <p:nvSpPr>
          <p:cNvPr id="14" name="文本框 13"/>
          <p:cNvSpPr txBox="1"/>
          <p:nvPr/>
        </p:nvSpPr>
        <p:spPr>
          <a:xfrm>
            <a:off x="837328" y="2273965"/>
            <a:ext cx="10517343" cy="646331"/>
          </a:xfrm>
          <a:prstGeom prst="rect">
            <a:avLst/>
          </a:prstGeom>
          <a:noFill/>
        </p:spPr>
        <p:txBody>
          <a:bodyPr wrap="square">
            <a:spAutoFit/>
          </a:bodyPr>
          <a:lstStyle/>
          <a:p>
            <a:r>
              <a:rPr lang="zh-CN" altLang="en-US" dirty="0"/>
              <a:t>一维卷积常用于文本等序列数据，只</a:t>
            </a:r>
            <a:r>
              <a:rPr lang="zh-CN" altLang="en-US" dirty="0">
                <a:solidFill>
                  <a:srgbClr val="FF0000"/>
                </a:solidFill>
              </a:rPr>
              <a:t>对宽度进行卷积</a:t>
            </a:r>
            <a:r>
              <a:rPr lang="zh-CN" altLang="en-US" dirty="0"/>
              <a:t>，</a:t>
            </a:r>
            <a:r>
              <a:rPr lang="zh-CN" altLang="en-US" dirty="0">
                <a:solidFill>
                  <a:srgbClr val="FF0000"/>
                </a:solidFill>
              </a:rPr>
              <a:t>对高度不卷积</a:t>
            </a:r>
            <a:r>
              <a:rPr lang="zh-CN" altLang="en-US" dirty="0"/>
              <a:t>。</a:t>
            </a:r>
            <a:endParaRPr lang="en-US" altLang="zh-CN" dirty="0"/>
          </a:p>
          <a:p>
            <a:endParaRPr lang="en-US" altLang="zh-CN" i="1" dirty="0"/>
          </a:p>
        </p:txBody>
      </p:sp>
      <p:sp>
        <p:nvSpPr>
          <p:cNvPr id="26" name="文本框 25"/>
          <p:cNvSpPr txBox="1"/>
          <p:nvPr/>
        </p:nvSpPr>
        <p:spPr>
          <a:xfrm>
            <a:off x="509641" y="1378319"/>
            <a:ext cx="10344785" cy="369332"/>
          </a:xfrm>
          <a:prstGeom prst="rect">
            <a:avLst/>
          </a:prstGeom>
          <a:noFill/>
        </p:spPr>
        <p:txBody>
          <a:bodyPr wrap="square">
            <a:spAutoFit/>
          </a:bodyPr>
          <a:lstStyle/>
          <a:p>
            <a:r>
              <a:rPr lang="zh-CN" altLang="en-US" dirty="0"/>
              <a:t>PyTorch中的</a:t>
            </a:r>
            <a:r>
              <a:rPr lang="zh-CN" altLang="en-US" dirty="0">
                <a:solidFill>
                  <a:srgbClr val="FF0000"/>
                </a:solidFill>
              </a:rPr>
              <a:t>nn模块</a:t>
            </a:r>
            <a:r>
              <a:rPr lang="zh-CN" altLang="en-US" dirty="0"/>
              <a:t>是专门</a:t>
            </a:r>
            <a:r>
              <a:rPr lang="zh-CN" altLang="en-US" dirty="0">
                <a:solidFill>
                  <a:srgbClr val="FF0000"/>
                </a:solidFill>
              </a:rPr>
              <a:t>为神经网络设计的模块化接口工具箱</a:t>
            </a:r>
            <a:r>
              <a:rPr lang="zh-CN" altLang="en-US" dirty="0"/>
              <a:t>。</a:t>
            </a:r>
            <a:endParaRPr lang="zh-CN" altLang="en-US" dirty="0"/>
          </a:p>
        </p:txBody>
      </p:sp>
      <p:sp>
        <p:nvSpPr>
          <p:cNvPr id="40" name="文本框 39"/>
          <p:cNvSpPr txBox="1"/>
          <p:nvPr/>
        </p:nvSpPr>
        <p:spPr>
          <a:xfrm>
            <a:off x="837327" y="2717469"/>
            <a:ext cx="10517343" cy="923330"/>
          </a:xfrm>
          <a:prstGeom prst="rect">
            <a:avLst/>
          </a:prstGeom>
          <a:noFill/>
        </p:spPr>
        <p:txBody>
          <a:bodyPr wrap="square">
            <a:spAutoFit/>
          </a:bodyPr>
          <a:lstStyle/>
          <a:p>
            <a:r>
              <a:rPr lang="zh-CN" altLang="en-US" dirty="0"/>
              <a:t>例如，含有</a:t>
            </a:r>
            <a:r>
              <a:rPr lang="en-US" altLang="zh-CN" dirty="0"/>
              <a:t>L</a:t>
            </a:r>
            <a:r>
              <a:rPr lang="zh-CN" altLang="en-US" dirty="0"/>
              <a:t>个词（或字）的文本，可认为其长度为</a:t>
            </a:r>
            <a:r>
              <a:rPr lang="en-US" altLang="zh-CN" dirty="0"/>
              <a:t>L</a:t>
            </a:r>
            <a:r>
              <a:rPr lang="zh-CN" altLang="en-US" dirty="0"/>
              <a:t>，每个词或字的特征（或称为嵌入向量）大小为</a:t>
            </a:r>
            <a:r>
              <a:rPr lang="en-US" altLang="zh-CN" dirty="0"/>
              <a:t>D</a:t>
            </a:r>
            <a:r>
              <a:rPr lang="zh-CN" altLang="en-US" dirty="0"/>
              <a:t>，则文本的特征可表示为形状为</a:t>
            </a:r>
            <a:r>
              <a:rPr lang="en-US" altLang="zh-CN" dirty="0"/>
              <a:t>(D</a:t>
            </a:r>
            <a:r>
              <a:rPr lang="zh-CN" altLang="en-US" dirty="0"/>
              <a:t>，</a:t>
            </a:r>
            <a:r>
              <a:rPr lang="en-US" altLang="zh-CN" dirty="0"/>
              <a:t>L)</a:t>
            </a:r>
            <a:r>
              <a:rPr lang="zh-CN" altLang="en-US" dirty="0"/>
              <a:t>的张量，卷积核窗口</a:t>
            </a:r>
            <a:r>
              <a:rPr lang="zh-CN" altLang="en-US" dirty="0">
                <a:solidFill>
                  <a:srgbClr val="FF0000"/>
                </a:solidFill>
              </a:rPr>
              <a:t>在句子长度的方向上滑动</a:t>
            </a:r>
            <a:r>
              <a:rPr lang="zh-CN" altLang="en-US" dirty="0"/>
              <a:t>，即可进行</a:t>
            </a:r>
            <a:r>
              <a:rPr lang="zh-CN" altLang="en-US" dirty="0">
                <a:solidFill>
                  <a:srgbClr val="FF0000"/>
                </a:solidFill>
              </a:rPr>
              <a:t>一维卷积操作</a:t>
            </a:r>
            <a:r>
              <a:rPr lang="zh-CN" altLang="en-US" dirty="0"/>
              <a:t>。</a:t>
            </a:r>
            <a:endParaRPr lang="en-US" altLang="zh-CN" dirty="0"/>
          </a:p>
        </p:txBody>
      </p:sp>
      <p:pic>
        <p:nvPicPr>
          <p:cNvPr id="42" name="图片 41"/>
          <p:cNvPicPr>
            <a:picLocks noChangeAspect="1"/>
          </p:cNvPicPr>
          <p:nvPr/>
        </p:nvPicPr>
        <p:blipFill>
          <a:blip r:embed="rId1"/>
          <a:stretch>
            <a:fillRect/>
          </a:stretch>
        </p:blipFill>
        <p:spPr>
          <a:xfrm>
            <a:off x="3704705" y="3640799"/>
            <a:ext cx="3798123" cy="2937707"/>
          </a:xfrm>
          <a:prstGeom prst="rect">
            <a:avLst/>
          </a:prstGeom>
        </p:spPr>
      </p:pic>
    </p:spTree>
    <p:custDataLst>
      <p:tags r:id="rId2"/>
    </p:custData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8" name="文本框 7"/>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5.3.1 </a:t>
            </a:r>
            <a:r>
              <a:rPr lang="zh-CN" altLang="en-US" dirty="0">
                <a:solidFill>
                  <a:srgbClr val="577CCE"/>
                </a:solidFill>
                <a:latin typeface="Consolas" panose="020B0609020204030204" pitchFamily="49" charset="0"/>
              </a:rPr>
              <a:t>一维卷积类</a:t>
            </a:r>
            <a:r>
              <a:rPr lang="en-US" altLang="zh-CN" dirty="0">
                <a:solidFill>
                  <a:srgbClr val="577CCE"/>
                </a:solidFill>
                <a:latin typeface="Consolas" panose="020B0609020204030204" pitchFamily="49" charset="0"/>
              </a:rPr>
              <a:t>nn.Conv1d</a:t>
            </a:r>
            <a:endParaRPr lang="zh-CN" altLang="en-US" b="0" dirty="0">
              <a:solidFill>
                <a:srgbClr val="577CCE"/>
              </a:solidFill>
              <a:effectLst/>
              <a:latin typeface="Consolas" panose="020B0609020204030204" pitchFamily="49" charset="0"/>
            </a:endParaRPr>
          </a:p>
        </p:txBody>
      </p:sp>
      <p:sp>
        <p:nvSpPr>
          <p:cNvPr id="32" name="文本框 31"/>
          <p:cNvSpPr txBox="1"/>
          <p:nvPr/>
        </p:nvSpPr>
        <p:spPr>
          <a:xfrm>
            <a:off x="837328" y="1399778"/>
            <a:ext cx="6094602" cy="369332"/>
          </a:xfrm>
          <a:prstGeom prst="rect">
            <a:avLst/>
          </a:prstGeom>
          <a:noFill/>
        </p:spPr>
        <p:txBody>
          <a:bodyPr wrap="square">
            <a:spAutoFit/>
          </a:bodyPr>
          <a:lstStyle/>
          <a:p>
            <a:r>
              <a:rPr lang="zh-CN" altLang="en-US" b="1" dirty="0"/>
              <a:t>一维卷积类的定义如下所示：</a:t>
            </a:r>
            <a:endParaRPr lang="zh-CN" altLang="en-US" b="1" dirty="0"/>
          </a:p>
        </p:txBody>
      </p:sp>
      <p:sp>
        <p:nvSpPr>
          <p:cNvPr id="3" name="文本框 2"/>
          <p:cNvSpPr txBox="1"/>
          <p:nvPr/>
        </p:nvSpPr>
        <p:spPr>
          <a:xfrm>
            <a:off x="1000386" y="1836918"/>
            <a:ext cx="10996595"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nn.Conv1d(</a:t>
            </a:r>
            <a:r>
              <a:rPr lang="en-US" altLang="zh-CN" b="0" dirty="0" err="1">
                <a:solidFill>
                  <a:srgbClr val="24292E"/>
                </a:solidFill>
                <a:effectLst/>
                <a:latin typeface="Consolas" panose="020B0609020204030204" pitchFamily="49" charset="0"/>
              </a:rPr>
              <a:t>in_channels</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out_channels</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kernel_size</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stride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padding</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dilation</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groups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bias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5" name="文本框 4"/>
          <p:cNvSpPr txBox="1"/>
          <p:nvPr/>
        </p:nvSpPr>
        <p:spPr>
          <a:xfrm>
            <a:off x="304800" y="2793657"/>
            <a:ext cx="6094602" cy="3693319"/>
          </a:xfrm>
          <a:prstGeom prst="rect">
            <a:avLst/>
          </a:prstGeom>
          <a:noFill/>
        </p:spPr>
        <p:txBody>
          <a:bodyPr wrap="square">
            <a:spAutoFit/>
          </a:bodyPr>
          <a:lstStyle/>
          <a:p>
            <a:r>
              <a:rPr lang="zh-CN" altLang="en-US" b="1" dirty="0">
                <a:solidFill>
                  <a:srgbClr val="E36209"/>
                </a:solidFill>
              </a:rPr>
              <a:t>in_channels</a:t>
            </a:r>
            <a:r>
              <a:rPr lang="zh-CN" altLang="en-US" dirty="0"/>
              <a:t>：表示输入通道数。在文本分类中，通常对应于词向量的</a:t>
            </a:r>
            <a:r>
              <a:rPr lang="zh-CN" altLang="en-US" dirty="0">
                <a:solidFill>
                  <a:srgbClr val="FF0000"/>
                </a:solidFill>
              </a:rPr>
              <a:t>维度 D</a:t>
            </a:r>
            <a:r>
              <a:rPr lang="zh-CN" altLang="en-US" dirty="0"/>
              <a:t>。</a:t>
            </a:r>
            <a:endParaRPr lang="zh-CN" altLang="en-US" dirty="0"/>
          </a:p>
          <a:p>
            <a:endParaRPr lang="zh-CN" altLang="en-US" dirty="0">
              <a:solidFill>
                <a:srgbClr val="E36209"/>
              </a:solidFill>
            </a:endParaRPr>
          </a:p>
          <a:p>
            <a:r>
              <a:rPr lang="zh-CN" altLang="en-US" b="1" dirty="0">
                <a:solidFill>
                  <a:srgbClr val="E36209"/>
                </a:solidFill>
              </a:rPr>
              <a:t>out_channels</a:t>
            </a:r>
            <a:r>
              <a:rPr lang="zh-CN" altLang="en-US" dirty="0"/>
              <a:t>：表示卷积产生的通道数，即输出的通道数。</a:t>
            </a:r>
            <a:r>
              <a:rPr lang="zh-CN" altLang="en-US" dirty="0">
                <a:solidFill>
                  <a:srgbClr val="FF0000"/>
                </a:solidFill>
              </a:rPr>
              <a:t>每个 out_channels 都需要一个一维卷积核</a:t>
            </a:r>
            <a:r>
              <a:rPr lang="zh-CN" altLang="en-US" dirty="0"/>
              <a:t>，相当于卷积核的数目。</a:t>
            </a:r>
            <a:endParaRPr lang="zh-CN" altLang="en-US" dirty="0"/>
          </a:p>
          <a:p>
            <a:endParaRPr lang="zh-CN" altLang="en-US" dirty="0"/>
          </a:p>
          <a:p>
            <a:r>
              <a:rPr lang="zh-CN" altLang="en-US" b="1" dirty="0">
                <a:solidFill>
                  <a:srgbClr val="E36209"/>
                </a:solidFill>
              </a:rPr>
              <a:t>kernel_size</a:t>
            </a:r>
            <a:r>
              <a:rPr lang="zh-CN" altLang="en-US" dirty="0"/>
              <a:t>：表示</a:t>
            </a:r>
            <a:r>
              <a:rPr lang="zh-CN" altLang="en-US" dirty="0">
                <a:solidFill>
                  <a:srgbClr val="FF0000"/>
                </a:solidFill>
              </a:rPr>
              <a:t>卷积核的尺寸</a:t>
            </a:r>
            <a:r>
              <a:rPr lang="zh-CN" altLang="en-US" dirty="0"/>
              <a:t>，即卷积核的宽度。对于一维卷积，它的形状是 (kernel_size, in_channels)。</a:t>
            </a:r>
            <a:endParaRPr lang="zh-CN" altLang="en-US" dirty="0"/>
          </a:p>
          <a:p>
            <a:endParaRPr lang="zh-CN" altLang="en-US" dirty="0"/>
          </a:p>
          <a:p>
            <a:r>
              <a:rPr lang="zh-CN" altLang="en-US" b="1" dirty="0">
                <a:solidFill>
                  <a:srgbClr val="E36209"/>
                </a:solidFill>
              </a:rPr>
              <a:t>stride</a:t>
            </a:r>
            <a:r>
              <a:rPr lang="zh-CN" altLang="en-US" dirty="0"/>
              <a:t>：表示</a:t>
            </a:r>
            <a:r>
              <a:rPr lang="zh-CN" altLang="en-US" dirty="0">
                <a:solidFill>
                  <a:srgbClr val="FF0000"/>
                </a:solidFill>
              </a:rPr>
              <a:t>卷积的步长</a:t>
            </a:r>
            <a:r>
              <a:rPr lang="zh-CN" altLang="en-US" dirty="0"/>
              <a:t>，即卷积核在输入上</a:t>
            </a:r>
            <a:r>
              <a:rPr lang="zh-CN" altLang="en-US" dirty="0">
                <a:solidFill>
                  <a:srgbClr val="FF0000"/>
                </a:solidFill>
              </a:rPr>
              <a:t>滑动的间隔</a:t>
            </a:r>
            <a:r>
              <a:rPr lang="zh-CN" altLang="en-US" dirty="0"/>
              <a:t>，默认为 1。</a:t>
            </a:r>
            <a:endParaRPr lang="zh-CN" altLang="en-US" dirty="0"/>
          </a:p>
          <a:p>
            <a:endParaRPr lang="zh-CN" altLang="en-US" dirty="0"/>
          </a:p>
        </p:txBody>
      </p:sp>
      <p:sp>
        <p:nvSpPr>
          <p:cNvPr id="7" name="文本框 6"/>
          <p:cNvSpPr txBox="1"/>
          <p:nvPr/>
        </p:nvSpPr>
        <p:spPr>
          <a:xfrm>
            <a:off x="6642682" y="2793657"/>
            <a:ext cx="5244518" cy="3416320"/>
          </a:xfrm>
          <a:prstGeom prst="rect">
            <a:avLst/>
          </a:prstGeom>
          <a:noFill/>
        </p:spPr>
        <p:txBody>
          <a:bodyPr wrap="square">
            <a:spAutoFit/>
          </a:bodyPr>
          <a:lstStyle/>
          <a:p>
            <a:r>
              <a:rPr lang="zh-CN" altLang="en-US" b="1" dirty="0">
                <a:solidFill>
                  <a:srgbClr val="E36209"/>
                </a:solidFill>
              </a:rPr>
              <a:t>padding</a:t>
            </a:r>
            <a:r>
              <a:rPr lang="zh-CN" altLang="en-US" dirty="0"/>
              <a:t>：表示在输入的每一条边上添加的零</a:t>
            </a:r>
            <a:r>
              <a:rPr lang="zh-CN" altLang="en-US" dirty="0">
                <a:solidFill>
                  <a:srgbClr val="FF0000"/>
                </a:solidFill>
              </a:rPr>
              <a:t>填充的层数，用于控制输出尺寸</a:t>
            </a:r>
            <a:r>
              <a:rPr lang="zh-CN" altLang="en-US" dirty="0"/>
              <a:t>。在文本处理中，这可以</a:t>
            </a:r>
            <a:r>
              <a:rPr lang="zh-CN" altLang="en-US" dirty="0">
                <a:solidFill>
                  <a:srgbClr val="FF0000"/>
                </a:solidFill>
              </a:rPr>
              <a:t>帮助保留输入序列的长度</a:t>
            </a:r>
            <a:r>
              <a:rPr lang="zh-CN" altLang="en-US" dirty="0"/>
              <a:t>。</a:t>
            </a:r>
            <a:endParaRPr lang="zh-CN" altLang="en-US" dirty="0"/>
          </a:p>
          <a:p>
            <a:endParaRPr lang="zh-CN" altLang="en-US" dirty="0"/>
          </a:p>
          <a:p>
            <a:r>
              <a:rPr lang="zh-CN" altLang="en-US" b="1" dirty="0">
                <a:solidFill>
                  <a:srgbClr val="E36209"/>
                </a:solidFill>
              </a:rPr>
              <a:t>dilation</a:t>
            </a:r>
            <a:r>
              <a:rPr lang="zh-CN" altLang="en-US" dirty="0"/>
              <a:t>：表示</a:t>
            </a:r>
            <a:r>
              <a:rPr lang="zh-CN" altLang="en-US" dirty="0">
                <a:solidFill>
                  <a:srgbClr val="FF0000"/>
                </a:solidFill>
              </a:rPr>
              <a:t>卷积核元素之间的间距</a:t>
            </a:r>
            <a:r>
              <a:rPr lang="zh-CN" altLang="en-US" dirty="0"/>
              <a:t>，也称为膨胀率。通过</a:t>
            </a:r>
            <a:r>
              <a:rPr lang="zh-CN" altLang="en-US" dirty="0">
                <a:solidFill>
                  <a:srgbClr val="FF0000"/>
                </a:solidFill>
              </a:rPr>
              <a:t>设置 dilation 可以增大卷积核的感受野</a:t>
            </a:r>
            <a:r>
              <a:rPr lang="zh-CN" altLang="en-US" dirty="0"/>
              <a:t>。</a:t>
            </a:r>
            <a:endParaRPr lang="zh-CN" altLang="en-US" dirty="0"/>
          </a:p>
          <a:p>
            <a:endParaRPr lang="zh-CN" altLang="en-US" dirty="0"/>
          </a:p>
          <a:p>
            <a:r>
              <a:rPr lang="zh-CN" altLang="en-US" b="1" dirty="0">
                <a:solidFill>
                  <a:srgbClr val="E36209"/>
                </a:solidFill>
              </a:rPr>
              <a:t>groups</a:t>
            </a:r>
            <a:r>
              <a:rPr lang="zh-CN" altLang="en-US" dirty="0"/>
              <a:t>：表示</a:t>
            </a:r>
            <a:r>
              <a:rPr lang="zh-CN" altLang="en-US" dirty="0">
                <a:solidFill>
                  <a:srgbClr val="FF0000"/>
                </a:solidFill>
              </a:rPr>
              <a:t>输入通道到输出通道的阻塞连接数</a:t>
            </a:r>
            <a:r>
              <a:rPr lang="zh-CN" altLang="en-US" dirty="0"/>
              <a:t>。默认为 1，表示没有阻塞连接。</a:t>
            </a:r>
            <a:endParaRPr lang="zh-CN" altLang="en-US" dirty="0"/>
          </a:p>
          <a:p>
            <a:endParaRPr lang="zh-CN" altLang="en-US" dirty="0"/>
          </a:p>
          <a:p>
            <a:r>
              <a:rPr lang="zh-CN" altLang="en-US" b="1" dirty="0">
                <a:solidFill>
                  <a:srgbClr val="E36209"/>
                </a:solidFill>
              </a:rPr>
              <a:t>bias</a:t>
            </a:r>
            <a:r>
              <a:rPr lang="zh-CN" altLang="en-US" dirty="0"/>
              <a:t>：表示</a:t>
            </a:r>
            <a:r>
              <a:rPr lang="zh-CN" altLang="en-US" dirty="0">
                <a:solidFill>
                  <a:srgbClr val="FF0000"/>
                </a:solidFill>
              </a:rPr>
              <a:t>是否添加偏置项。默认为 True</a:t>
            </a:r>
            <a:r>
              <a:rPr lang="zh-CN" altLang="en-US" dirty="0"/>
              <a:t>，即添加偏置项到卷积结果中。</a:t>
            </a:r>
            <a:endParaRPr lang="zh-CN" altLang="en-US" dirty="0"/>
          </a:p>
        </p:txBody>
      </p:sp>
    </p:spTree>
    <p:custDataLst>
      <p:tags r:id="rId1"/>
    </p:custData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8" name="文本框 7"/>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5.3.1 </a:t>
            </a:r>
            <a:r>
              <a:rPr lang="zh-CN" altLang="en-US" dirty="0">
                <a:solidFill>
                  <a:srgbClr val="577CCE"/>
                </a:solidFill>
                <a:latin typeface="Consolas" panose="020B0609020204030204" pitchFamily="49" charset="0"/>
              </a:rPr>
              <a:t>一维卷积类</a:t>
            </a:r>
            <a:r>
              <a:rPr lang="en-US" altLang="zh-CN" dirty="0">
                <a:solidFill>
                  <a:srgbClr val="577CCE"/>
                </a:solidFill>
                <a:latin typeface="Consolas" panose="020B0609020204030204" pitchFamily="49" charset="0"/>
              </a:rPr>
              <a:t>nn.Conv1d</a:t>
            </a:r>
            <a:endParaRPr lang="zh-CN" altLang="en-US" b="0" dirty="0">
              <a:solidFill>
                <a:srgbClr val="577CCE"/>
              </a:solidFill>
              <a:effectLst/>
              <a:latin typeface="Consolas" panose="020B0609020204030204" pitchFamily="49" charset="0"/>
            </a:endParaRPr>
          </a:p>
        </p:txBody>
      </p:sp>
      <p:sp>
        <p:nvSpPr>
          <p:cNvPr id="30" name="文本框 29"/>
          <p:cNvSpPr txBox="1"/>
          <p:nvPr/>
        </p:nvSpPr>
        <p:spPr>
          <a:xfrm>
            <a:off x="1154084" y="2226569"/>
            <a:ext cx="10729016" cy="3231654"/>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conv1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nn</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Conv1d</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in_channels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256</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out_channels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kernel_size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stride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padding</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定义一个一维卷积实例</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input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35</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256</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定义输入特征图张量，形状为</a:t>
            </a:r>
            <a:r>
              <a:rPr lang="en-US" altLang="zh-CN" b="0" dirty="0">
                <a:solidFill>
                  <a:srgbClr val="6A737D"/>
                </a:solidFill>
                <a:effectLst/>
                <a:latin typeface="Consolas" panose="020B0609020204030204" pitchFamily="49" charset="0"/>
              </a:rPr>
              <a:t>[</a:t>
            </a:r>
            <a:r>
              <a:rPr lang="en-US" altLang="zh-CN" b="0" dirty="0" err="1">
                <a:solidFill>
                  <a:srgbClr val="6A737D"/>
                </a:solidFill>
                <a:effectLst/>
                <a:latin typeface="Consolas" panose="020B0609020204030204" pitchFamily="49" charset="0"/>
              </a:rPr>
              <a:t>batch_size</a:t>
            </a:r>
            <a:r>
              <a:rPr lang="en-US" altLang="zh-CN" b="0" dirty="0">
                <a:solidFill>
                  <a:srgbClr val="6A737D"/>
                </a:solidFill>
                <a:effectLst/>
                <a:latin typeface="Consolas" panose="020B0609020204030204" pitchFamily="49" charset="0"/>
              </a:rPr>
              <a:t>, L, D],</a:t>
            </a:r>
            <a:r>
              <a:rPr lang="zh-CN" altLang="en-US" b="0" dirty="0">
                <a:solidFill>
                  <a:srgbClr val="6A737D"/>
                </a:solidFill>
                <a:effectLst/>
                <a:latin typeface="Consolas" panose="020B0609020204030204" pitchFamily="49" charset="0"/>
              </a:rPr>
              <a:t>参数分别为批大小</a:t>
            </a:r>
            <a:r>
              <a:rPr lang="en-US" altLang="zh-CN" b="0" dirty="0" err="1">
                <a:solidFill>
                  <a:srgbClr val="6A737D"/>
                </a:solidFill>
                <a:effectLst/>
                <a:latin typeface="Consolas" panose="020B0609020204030204" pitchFamily="49" charset="0"/>
              </a:rPr>
              <a:t>batch_size</a:t>
            </a:r>
            <a:r>
              <a:rPr lang="zh-CN" altLang="en-US" b="0" dirty="0">
                <a:solidFill>
                  <a:srgbClr val="6A737D"/>
                </a:solidFill>
                <a:effectLst/>
                <a:latin typeface="Consolas" panose="020B0609020204030204" pitchFamily="49" charset="0"/>
              </a:rPr>
              <a:t>、最大长度</a:t>
            </a:r>
            <a:r>
              <a:rPr lang="en-US" altLang="zh-CN" b="0" dirty="0">
                <a:solidFill>
                  <a:srgbClr val="6A737D"/>
                </a:solidFill>
                <a:effectLst/>
                <a:latin typeface="Consolas" panose="020B0609020204030204" pitchFamily="49" charset="0"/>
              </a:rPr>
              <a:t>L</a:t>
            </a:r>
            <a:r>
              <a:rPr lang="zh-CN" altLang="en-US" b="0" dirty="0">
                <a:solidFill>
                  <a:srgbClr val="6A737D"/>
                </a:solidFill>
                <a:effectLst/>
                <a:latin typeface="Consolas" panose="020B0609020204030204" pitchFamily="49" charset="0"/>
              </a:rPr>
              <a:t>和特征维度</a:t>
            </a:r>
            <a:r>
              <a:rPr lang="en-US" altLang="zh-CN" b="0" dirty="0">
                <a:solidFill>
                  <a:srgbClr val="6A737D"/>
                </a:solidFill>
                <a:effectLst/>
                <a:latin typeface="Consolas" panose="020B0609020204030204" pitchFamily="49" charset="0"/>
              </a:rPr>
              <a:t>D</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input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input.</a:t>
            </a:r>
            <a:r>
              <a:rPr lang="en-US" altLang="zh-CN" b="0" dirty="0" err="1">
                <a:solidFill>
                  <a:srgbClr val="6F42C1"/>
                </a:solidFill>
                <a:effectLst/>
                <a:latin typeface="Consolas" panose="020B0609020204030204" pitchFamily="49" charset="0"/>
              </a:rPr>
              <a:t>permute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张量交换维度，形状变为</a:t>
            </a:r>
            <a:r>
              <a:rPr lang="en-US" altLang="zh-CN" b="0" dirty="0">
                <a:solidFill>
                  <a:srgbClr val="6A737D"/>
                </a:solidFill>
                <a:effectLst/>
                <a:latin typeface="Consolas" panose="020B0609020204030204" pitchFamily="49" charset="0"/>
              </a:rPr>
              <a:t>[</a:t>
            </a:r>
            <a:r>
              <a:rPr lang="en-US" altLang="zh-CN" b="0" dirty="0" err="1">
                <a:solidFill>
                  <a:srgbClr val="6A737D"/>
                </a:solidFill>
                <a:effectLst/>
                <a:latin typeface="Consolas" panose="020B0609020204030204" pitchFamily="49" charset="0"/>
              </a:rPr>
              <a:t>batch_size</a:t>
            </a:r>
            <a:r>
              <a:rPr lang="en-US" altLang="zh-CN" b="0" dirty="0">
                <a:solidFill>
                  <a:srgbClr val="6A737D"/>
                </a:solidFill>
                <a:effectLst/>
                <a:latin typeface="Consolas" panose="020B0609020204030204" pitchFamily="49" charset="0"/>
              </a:rPr>
              <a:t>, D, L]</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out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conv1(input)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进行一维卷积操作，输出特征图张量形状为</a:t>
            </a:r>
            <a:r>
              <a:rPr lang="en-US" altLang="zh-CN" b="0" dirty="0">
                <a:solidFill>
                  <a:srgbClr val="6A737D"/>
                </a:solidFill>
                <a:effectLst/>
                <a:latin typeface="Consolas" panose="020B0609020204030204" pitchFamily="49" charset="0"/>
              </a:rPr>
              <a:t>[</a:t>
            </a:r>
            <a:r>
              <a:rPr lang="en-US" altLang="zh-CN" b="0" dirty="0" err="1">
                <a:solidFill>
                  <a:srgbClr val="6A737D"/>
                </a:solidFill>
                <a:effectLst/>
                <a:latin typeface="Consolas" panose="020B0609020204030204" pitchFamily="49" charset="0"/>
              </a:rPr>
              <a:t>batch_size</a:t>
            </a:r>
            <a:r>
              <a:rPr lang="en-US" altLang="zh-CN" b="0" dirty="0">
                <a:solidFill>
                  <a:srgbClr val="6A737D"/>
                </a:solidFill>
                <a:effectLst/>
                <a:latin typeface="Consolas" panose="020B0609020204030204" pitchFamily="49" charset="0"/>
              </a:rPr>
              <a:t>, </a:t>
            </a:r>
            <a:r>
              <a:rPr lang="en-US" altLang="zh-CN" b="0" dirty="0" err="1">
                <a:solidFill>
                  <a:srgbClr val="6A737D"/>
                </a:solidFill>
                <a:effectLst/>
                <a:latin typeface="Consolas" panose="020B0609020204030204" pitchFamily="49" charset="0"/>
              </a:rPr>
              <a:t>out_channels</a:t>
            </a:r>
            <a:r>
              <a:rPr lang="en-US" altLang="zh-CN" b="0" dirty="0">
                <a:solidFill>
                  <a:srgbClr val="6A737D"/>
                </a:solidFill>
                <a:effectLst/>
                <a:latin typeface="Consolas" panose="020B0609020204030204" pitchFamily="49" charset="0"/>
              </a:rPr>
              <a:t>, (L + 2 * padding - </a:t>
            </a:r>
            <a:r>
              <a:rPr lang="en-US" altLang="zh-CN" b="0" dirty="0" err="1">
                <a:solidFill>
                  <a:srgbClr val="6A737D"/>
                </a:solidFill>
                <a:effectLst/>
                <a:latin typeface="Consolas" panose="020B0609020204030204" pitchFamily="49" charset="0"/>
              </a:rPr>
              <a:t>kernel_size</a:t>
            </a:r>
            <a:r>
              <a:rPr lang="en-US" altLang="zh-CN" b="0" dirty="0">
                <a:solidFill>
                  <a:srgbClr val="6A737D"/>
                </a:solidFill>
                <a:effectLst/>
                <a:latin typeface="Consolas" panose="020B0609020204030204" pitchFamily="49" charset="0"/>
              </a:rPr>
              <a:t>) / stride + 1]</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out.shape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打印输出张量的形状 </a:t>
            </a:r>
            <a:r>
              <a:rPr lang="en-US" altLang="zh-CN" b="0" dirty="0">
                <a:solidFill>
                  <a:srgbClr val="6A737D"/>
                </a:solidFill>
                <a:effectLst/>
                <a:latin typeface="Consolas" panose="020B0609020204030204" pitchFamily="49" charset="0"/>
              </a:rPr>
              <a:t>-&gt; </a:t>
            </a:r>
            <a:r>
              <a:rPr lang="en-US" altLang="zh-CN" sz="2000" b="1" i="1" dirty="0" err="1">
                <a:solidFill>
                  <a:srgbClr val="FF0000"/>
                </a:solidFill>
                <a:effectLst/>
                <a:latin typeface="Consolas" panose="020B0609020204030204" pitchFamily="49" charset="0"/>
              </a:rPr>
              <a:t>torch.Size</a:t>
            </a:r>
            <a:r>
              <a:rPr lang="en-US" altLang="zh-CN" sz="2000" b="1" i="1" dirty="0">
                <a:solidFill>
                  <a:srgbClr val="FF0000"/>
                </a:solidFill>
                <a:effectLst/>
                <a:latin typeface="Consolas" panose="020B0609020204030204" pitchFamily="49" charset="0"/>
              </a:rPr>
              <a:t>([32, 100, 33])</a:t>
            </a:r>
            <a:endParaRPr lang="en-US" altLang="zh-CN" b="1" i="1" dirty="0">
              <a:solidFill>
                <a:srgbClr val="FF0000"/>
              </a:solidFill>
              <a:effectLst/>
              <a:latin typeface="Consolas" panose="020B0609020204030204" pitchFamily="49" charset="0"/>
            </a:endParaRPr>
          </a:p>
        </p:txBody>
      </p:sp>
      <p:sp>
        <p:nvSpPr>
          <p:cNvPr id="32" name="文本框 31"/>
          <p:cNvSpPr txBox="1"/>
          <p:nvPr/>
        </p:nvSpPr>
        <p:spPr>
          <a:xfrm>
            <a:off x="837328" y="1627377"/>
            <a:ext cx="6094602" cy="369332"/>
          </a:xfrm>
          <a:prstGeom prst="rect">
            <a:avLst/>
          </a:prstGeom>
          <a:noFill/>
        </p:spPr>
        <p:txBody>
          <a:bodyPr wrap="square">
            <a:spAutoFit/>
          </a:bodyPr>
          <a:lstStyle/>
          <a:p>
            <a:r>
              <a:rPr lang="zh-CN" altLang="en-US" b="1" dirty="0"/>
              <a:t>下面给出一维卷积的示例：</a:t>
            </a:r>
            <a:endParaRPr lang="zh-CN" altLang="en-US" b="1" dirty="0"/>
          </a:p>
        </p:txBody>
      </p:sp>
    </p:spTree>
    <p:custDataLst>
      <p:tags r:id="rId1"/>
    </p:custData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14" name="文本框 13"/>
          <p:cNvSpPr txBox="1"/>
          <p:nvPr/>
        </p:nvSpPr>
        <p:spPr>
          <a:xfrm>
            <a:off x="837328" y="1627377"/>
            <a:ext cx="10517343" cy="2308324"/>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分析以上代码已知，</a:t>
            </a:r>
            <a:r>
              <a:rPr lang="en-US" altLang="zh-CN" b="0" dirty="0">
                <a:solidFill>
                  <a:srgbClr val="24292E"/>
                </a:solidFill>
                <a:effectLst/>
                <a:latin typeface="Consolas" panose="020B0609020204030204" pitchFamily="49" charset="0"/>
              </a:rPr>
              <a:t>input</a:t>
            </a:r>
            <a:r>
              <a:rPr lang="zh-CN" altLang="en-US" b="0" dirty="0">
                <a:solidFill>
                  <a:srgbClr val="24292E"/>
                </a:solidFill>
                <a:effectLst/>
                <a:latin typeface="Consolas" panose="020B0609020204030204" pitchFamily="49" charset="0"/>
              </a:rPr>
              <a:t>张量的形状是</a:t>
            </a:r>
            <a:r>
              <a:rPr lang="en-US" altLang="zh-CN" b="0" dirty="0">
                <a:solidFill>
                  <a:srgbClr val="577CCE"/>
                </a:solidFill>
                <a:effectLst/>
                <a:latin typeface="Consolas" panose="020B0609020204030204" pitchFamily="49" charset="0"/>
              </a:rPr>
              <a:t>[</a:t>
            </a:r>
            <a:r>
              <a:rPr lang="en-US" altLang="zh-CN" b="0" dirty="0" err="1">
                <a:solidFill>
                  <a:srgbClr val="577CCE"/>
                </a:solidFill>
                <a:effectLst/>
                <a:latin typeface="Consolas" panose="020B0609020204030204" pitchFamily="49" charset="0"/>
              </a:rPr>
              <a:t>batch_size</a:t>
            </a:r>
            <a:r>
              <a:rPr lang="en-US" altLang="zh-CN" b="0" dirty="0">
                <a:solidFill>
                  <a:srgbClr val="577CCE"/>
                </a:solidFill>
                <a:effectLst/>
                <a:latin typeface="Consolas" panose="020B0609020204030204" pitchFamily="49" charset="0"/>
              </a:rPr>
              <a:t>, L, D]</a:t>
            </a:r>
            <a:r>
              <a:rPr lang="zh-CN" altLang="en-US" b="0" dirty="0">
                <a:solidFill>
                  <a:srgbClr val="24292E"/>
                </a:solidFill>
                <a:effectLst/>
                <a:latin typeface="Consolas" panose="020B0609020204030204" pitchFamily="49" charset="0"/>
              </a:rPr>
              <a:t>，在开始</a:t>
            </a:r>
            <a:r>
              <a:rPr lang="en-US" altLang="zh-CN" b="0" dirty="0">
                <a:solidFill>
                  <a:srgbClr val="24292E"/>
                </a:solidFill>
                <a:effectLst/>
                <a:latin typeface="Consolas" panose="020B0609020204030204" pitchFamily="49" charset="0"/>
              </a:rPr>
              <a:t>Conv1d</a:t>
            </a:r>
            <a:r>
              <a:rPr lang="zh-CN" altLang="en-US" b="0" dirty="0">
                <a:solidFill>
                  <a:srgbClr val="24292E"/>
                </a:solidFill>
                <a:effectLst/>
                <a:latin typeface="Consolas" panose="020B0609020204030204" pitchFamily="49" charset="0"/>
              </a:rPr>
              <a:t>前需要将</a:t>
            </a:r>
            <a:r>
              <a:rPr lang="en-US" altLang="zh-CN" b="0" dirty="0">
                <a:solidFill>
                  <a:srgbClr val="24292E"/>
                </a:solidFill>
                <a:effectLst/>
                <a:latin typeface="Consolas" panose="020B0609020204030204" pitchFamily="49" charset="0"/>
              </a:rPr>
              <a:t>L</a:t>
            </a:r>
            <a:r>
              <a:rPr lang="zh-CN" altLang="en-US" b="0" dirty="0">
                <a:solidFill>
                  <a:srgbClr val="24292E"/>
                </a:solidFill>
                <a:effectLst/>
                <a:latin typeface="Consolas" panose="020B0609020204030204" pitchFamily="49" charset="0"/>
              </a:rPr>
              <a:t>换到最后一个维度，卷积核在该维度上滑动进行一维卷积。</a:t>
            </a:r>
            <a:endParaRPr lang="en-US" altLang="zh-CN"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卷积后的结果的形状为</a:t>
            </a:r>
            <a:r>
              <a:rPr lang="en-US" altLang="zh-CN" b="0" dirty="0">
                <a:solidFill>
                  <a:srgbClr val="577CCE"/>
                </a:solidFill>
                <a:effectLst/>
                <a:latin typeface="Consolas" panose="020B0609020204030204" pitchFamily="49" charset="0"/>
              </a:rPr>
              <a:t>[</a:t>
            </a:r>
            <a:r>
              <a:rPr lang="en-US" altLang="zh-CN" b="0" dirty="0" err="1">
                <a:solidFill>
                  <a:srgbClr val="577CCE"/>
                </a:solidFill>
                <a:effectLst/>
                <a:latin typeface="Consolas" panose="020B0609020204030204" pitchFamily="49" charset="0"/>
              </a:rPr>
              <a:t>batch_size</a:t>
            </a:r>
            <a:r>
              <a:rPr lang="en-US" altLang="zh-CN" b="0" dirty="0">
                <a:solidFill>
                  <a:srgbClr val="577CCE"/>
                </a:solidFill>
                <a:effectLst/>
                <a:latin typeface="Consolas" panose="020B0609020204030204" pitchFamily="49" charset="0"/>
              </a:rPr>
              <a:t>, </a:t>
            </a:r>
            <a:r>
              <a:rPr lang="en-US" altLang="zh-CN" b="0" dirty="0" err="1">
                <a:solidFill>
                  <a:srgbClr val="577CCE"/>
                </a:solidFill>
                <a:effectLst/>
                <a:latin typeface="Consolas" panose="020B0609020204030204" pitchFamily="49" charset="0"/>
              </a:rPr>
              <a:t>out_channels</a:t>
            </a:r>
            <a:r>
              <a:rPr lang="en-US" altLang="zh-CN" b="0" dirty="0">
                <a:solidFill>
                  <a:srgbClr val="577CCE"/>
                </a:solidFill>
                <a:effectLst/>
                <a:latin typeface="Consolas" panose="020B0609020204030204" pitchFamily="49" charset="0"/>
              </a:rPr>
              <a:t>, (L + 2 * padding - </a:t>
            </a:r>
            <a:r>
              <a:rPr lang="en-US" altLang="zh-CN" b="0" dirty="0" err="1">
                <a:solidFill>
                  <a:srgbClr val="577CCE"/>
                </a:solidFill>
                <a:effectLst/>
                <a:latin typeface="Consolas" panose="020B0609020204030204" pitchFamily="49" charset="0"/>
              </a:rPr>
              <a:t>kernel_size</a:t>
            </a:r>
            <a:r>
              <a:rPr lang="en-US" altLang="zh-CN" b="0" dirty="0">
                <a:solidFill>
                  <a:srgbClr val="577CCE"/>
                </a:solidFill>
                <a:effectLst/>
                <a:latin typeface="Consolas" panose="020B0609020204030204" pitchFamily="49" charset="0"/>
              </a:rPr>
              <a:t>) / stride + 1]</a:t>
            </a:r>
            <a:r>
              <a:rPr lang="zh-CN" altLang="en-US" b="0" dirty="0">
                <a:solidFill>
                  <a:srgbClr val="24292E"/>
                </a:solidFill>
                <a:effectLst/>
                <a:latin typeface="Consolas" panose="020B0609020204030204" pitchFamily="49" charset="0"/>
              </a:rPr>
              <a:t>，在纵向维度上的值为</a:t>
            </a:r>
            <a:r>
              <a:rPr lang="en-US" altLang="zh-CN" b="0" dirty="0">
                <a:solidFill>
                  <a:srgbClr val="24292E"/>
                </a:solidFill>
                <a:effectLst/>
                <a:latin typeface="Consolas" panose="020B0609020204030204" pitchFamily="49" charset="0"/>
              </a:rPr>
              <a:t>(35 + 2*0 - 3)/1 + 1=33</a:t>
            </a:r>
            <a:r>
              <a:rPr lang="zh-CN" altLang="en-US" b="0" dirty="0">
                <a:solidFill>
                  <a:srgbClr val="24292E"/>
                </a:solidFill>
                <a:effectLst/>
                <a:latin typeface="Consolas" panose="020B0609020204030204" pitchFamily="49" charset="0"/>
              </a:rPr>
              <a:t>，即卷积后序列的特征图长度由原来的</a:t>
            </a:r>
            <a:r>
              <a:rPr lang="en-US" altLang="zh-CN" b="0" dirty="0">
                <a:solidFill>
                  <a:srgbClr val="24292E"/>
                </a:solidFill>
                <a:effectLst/>
                <a:latin typeface="Consolas" panose="020B0609020204030204" pitchFamily="49" charset="0"/>
              </a:rPr>
              <a:t>35</a:t>
            </a:r>
            <a:r>
              <a:rPr lang="zh-CN" altLang="en-US" b="0" dirty="0">
                <a:solidFill>
                  <a:srgbClr val="24292E"/>
                </a:solidFill>
                <a:effectLst/>
                <a:latin typeface="Consolas" panose="020B0609020204030204" pitchFamily="49" charset="0"/>
              </a:rPr>
              <a:t>变为了</a:t>
            </a:r>
            <a:r>
              <a:rPr lang="en-US" altLang="zh-CN" b="0" dirty="0">
                <a:solidFill>
                  <a:srgbClr val="24292E"/>
                </a:solidFill>
                <a:effectLst/>
                <a:latin typeface="Consolas" panose="020B0609020204030204" pitchFamily="49" charset="0"/>
              </a:rPr>
              <a:t>33</a:t>
            </a:r>
            <a:r>
              <a:rPr lang="zh-CN" altLang="en-US" b="0" dirty="0">
                <a:solidFill>
                  <a:srgbClr val="24292E"/>
                </a:solidFill>
                <a:effectLst/>
                <a:latin typeface="Consolas" panose="020B0609020204030204" pitchFamily="49" charset="0"/>
              </a:rPr>
              <a:t>。</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r>
              <a:rPr lang="zh-CN" altLang="en-US" b="0" dirty="0">
                <a:solidFill>
                  <a:srgbClr val="24292E"/>
                </a:solidFill>
                <a:effectLst/>
                <a:latin typeface="Consolas" panose="020B0609020204030204" pitchFamily="49" charset="0"/>
              </a:rPr>
              <a:t>一维卷积中含有要学习的参数，其中权值参数个数为</a:t>
            </a:r>
            <a:r>
              <a:rPr lang="en-US" altLang="zh-CN" b="0" dirty="0" err="1">
                <a:solidFill>
                  <a:srgbClr val="FF0000"/>
                </a:solidFill>
                <a:effectLst/>
                <a:latin typeface="Consolas" panose="020B0609020204030204" pitchFamily="49" charset="0"/>
              </a:rPr>
              <a:t>in_channels</a:t>
            </a:r>
            <a:r>
              <a:rPr lang="en-US" altLang="zh-CN" b="0" dirty="0">
                <a:solidFill>
                  <a:srgbClr val="FF0000"/>
                </a:solidFill>
                <a:effectLst/>
                <a:latin typeface="Consolas" panose="020B0609020204030204" pitchFamily="49" charset="0"/>
              </a:rPr>
              <a:t> * </a:t>
            </a:r>
            <a:r>
              <a:rPr lang="en-US" altLang="zh-CN" b="0" dirty="0" err="1">
                <a:solidFill>
                  <a:srgbClr val="FF0000"/>
                </a:solidFill>
                <a:effectLst/>
                <a:latin typeface="Consolas" panose="020B0609020204030204" pitchFamily="49" charset="0"/>
              </a:rPr>
              <a:t>out_channels</a:t>
            </a:r>
            <a:r>
              <a:rPr lang="en-US" altLang="zh-CN" b="0" dirty="0">
                <a:solidFill>
                  <a:srgbClr val="FF0000"/>
                </a:solidFill>
                <a:effectLst/>
                <a:latin typeface="Consolas" panose="020B0609020204030204" pitchFamily="49" charset="0"/>
              </a:rPr>
              <a:t> * </a:t>
            </a:r>
            <a:r>
              <a:rPr lang="en-US" altLang="zh-CN" b="0" dirty="0" err="1">
                <a:solidFill>
                  <a:srgbClr val="FF0000"/>
                </a:solidFill>
                <a:effectLst/>
                <a:latin typeface="Consolas" panose="020B0609020204030204" pitchFamily="49" charset="0"/>
              </a:rPr>
              <a:t>kernel_size</a:t>
            </a:r>
            <a:r>
              <a:rPr lang="zh-CN" altLang="en-US" b="0" dirty="0">
                <a:solidFill>
                  <a:srgbClr val="24292E"/>
                </a:solidFill>
                <a:effectLst/>
                <a:latin typeface="Consolas" panose="020B0609020204030204" pitchFamily="49" charset="0"/>
              </a:rPr>
              <a:t>，若带有偏置项，则偏置项个数为</a:t>
            </a:r>
            <a:r>
              <a:rPr lang="en-US" altLang="zh-CN" b="0" dirty="0" err="1">
                <a:solidFill>
                  <a:srgbClr val="FF0000"/>
                </a:solidFill>
                <a:effectLst/>
                <a:latin typeface="Consolas" panose="020B0609020204030204" pitchFamily="49" charset="0"/>
              </a:rPr>
              <a:t>out_channels</a:t>
            </a:r>
            <a:r>
              <a:rPr lang="zh-CN" altLang="en-US" b="0" dirty="0">
                <a:solidFill>
                  <a:srgbClr val="24292E"/>
                </a:solidFill>
                <a:effectLst/>
                <a:latin typeface="Consolas" panose="020B0609020204030204" pitchFamily="49" charset="0"/>
              </a:rPr>
              <a:t>。上例中，可以用如下代码打印所有参数的当前值：</a:t>
            </a:r>
            <a:endParaRPr lang="zh-CN" altLang="en-US" b="0" dirty="0">
              <a:solidFill>
                <a:srgbClr val="24292E"/>
              </a:solidFill>
              <a:effectLst/>
              <a:latin typeface="Consolas" panose="020B0609020204030204" pitchFamily="49" charset="0"/>
            </a:endParaRPr>
          </a:p>
        </p:txBody>
      </p:sp>
      <p:sp>
        <p:nvSpPr>
          <p:cNvPr id="3" name="文本框 2"/>
          <p:cNvSpPr txBox="1"/>
          <p:nvPr/>
        </p:nvSpPr>
        <p:spPr>
          <a:xfrm>
            <a:off x="3743587" y="4363304"/>
            <a:ext cx="6094602" cy="400110"/>
          </a:xfrm>
          <a:prstGeom prst="rect">
            <a:avLst/>
          </a:prstGeom>
          <a:noFill/>
        </p:spPr>
        <p:txBody>
          <a:bodyPr wrap="square">
            <a:spAutoFit/>
          </a:bodyPr>
          <a:lstStyle/>
          <a:p>
            <a:r>
              <a:rPr lang="en-US" altLang="zh-CN" sz="2000" b="1" dirty="0">
                <a:solidFill>
                  <a:srgbClr val="6F42C1"/>
                </a:solidFill>
                <a:effectLst/>
                <a:latin typeface="Consolas" panose="020B0609020204030204" pitchFamily="49" charset="0"/>
              </a:rPr>
              <a:t>print</a:t>
            </a:r>
            <a:r>
              <a:rPr lang="en-US" altLang="zh-CN" sz="2000" b="1" dirty="0">
                <a:solidFill>
                  <a:srgbClr val="24292E"/>
                </a:solidFill>
                <a:effectLst/>
                <a:latin typeface="Consolas" panose="020B0609020204030204" pitchFamily="49" charset="0"/>
              </a:rPr>
              <a:t>(</a:t>
            </a:r>
            <a:r>
              <a:rPr lang="en-US" altLang="zh-CN" sz="2000" b="1" dirty="0">
                <a:solidFill>
                  <a:srgbClr val="6F42C1"/>
                </a:solidFill>
                <a:effectLst/>
                <a:latin typeface="Consolas" panose="020B0609020204030204" pitchFamily="49" charset="0"/>
              </a:rPr>
              <a:t>list</a:t>
            </a:r>
            <a:r>
              <a:rPr lang="en-US" altLang="zh-CN" sz="2000" b="1" dirty="0">
                <a:solidFill>
                  <a:srgbClr val="24292E"/>
                </a:solidFill>
                <a:effectLst/>
                <a:latin typeface="Consolas" panose="020B0609020204030204" pitchFamily="49" charset="0"/>
              </a:rPr>
              <a:t>(conv1.</a:t>
            </a:r>
            <a:r>
              <a:rPr lang="en-US" altLang="zh-CN" sz="2000" b="1" dirty="0">
                <a:solidFill>
                  <a:srgbClr val="6F42C1"/>
                </a:solidFill>
                <a:effectLst/>
                <a:latin typeface="Consolas" panose="020B0609020204030204" pitchFamily="49" charset="0"/>
              </a:rPr>
              <a:t>parameters</a:t>
            </a:r>
            <a:r>
              <a:rPr lang="en-US" altLang="zh-CN" sz="2000" b="1" dirty="0">
                <a:solidFill>
                  <a:srgbClr val="24292E"/>
                </a:solidFill>
                <a:effectLst/>
                <a:latin typeface="Consolas" panose="020B0609020204030204" pitchFamily="49" charset="0"/>
              </a:rPr>
              <a:t>()))</a:t>
            </a:r>
            <a:endParaRPr lang="en-US" altLang="zh-CN" sz="2000" b="1" dirty="0">
              <a:solidFill>
                <a:srgbClr val="24292E"/>
              </a:solidFill>
              <a:effectLst/>
              <a:latin typeface="Consolas" panose="020B0609020204030204" pitchFamily="49" charset="0"/>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(1) 5.3.1 </a:t>
            </a:r>
            <a:r>
              <a:rPr lang="zh-CN" altLang="en-US" dirty="0">
                <a:solidFill>
                  <a:srgbClr val="577CCE"/>
                </a:solidFill>
                <a:latin typeface="Consolas" panose="020B0609020204030204" pitchFamily="49" charset="0"/>
              </a:rPr>
              <a:t>一维卷积类</a:t>
            </a:r>
            <a:r>
              <a:rPr lang="en-US" altLang="zh-CN" dirty="0">
                <a:solidFill>
                  <a:srgbClr val="577CCE"/>
                </a:solidFill>
                <a:latin typeface="Consolas" panose="020B0609020204030204" pitchFamily="49" charset="0"/>
              </a:rPr>
              <a:t>nn.Conv1d</a:t>
            </a:r>
            <a:endParaRPr lang="zh-CN" altLang="en-US" b="0" dirty="0">
              <a:solidFill>
                <a:srgbClr val="577CC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14" name="文本框 13"/>
          <p:cNvSpPr txBox="1"/>
          <p:nvPr/>
        </p:nvSpPr>
        <p:spPr>
          <a:xfrm>
            <a:off x="837328" y="1627377"/>
            <a:ext cx="10517343"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二维卷积常用于图像数据，同时对宽和高进行卷积处理。对于输入为</a:t>
            </a:r>
            <a:r>
              <a:rPr lang="en-US" altLang="zh-CN" b="0" dirty="0">
                <a:solidFill>
                  <a:srgbClr val="24292E"/>
                </a:solidFill>
                <a:effectLst/>
                <a:latin typeface="Consolas" panose="020B0609020204030204" pitchFamily="49" charset="0"/>
              </a:rPr>
              <a:t>(channel, height, width)</a:t>
            </a:r>
            <a:r>
              <a:rPr lang="zh-CN" altLang="en-US" b="0" dirty="0">
                <a:solidFill>
                  <a:srgbClr val="24292E"/>
                </a:solidFill>
                <a:effectLst/>
                <a:latin typeface="Consolas" panose="020B0609020204030204" pitchFamily="49" charset="0"/>
              </a:rPr>
              <a:t>的图像，其中</a:t>
            </a:r>
            <a:r>
              <a:rPr lang="en-US" altLang="zh-CN" b="0" dirty="0">
                <a:solidFill>
                  <a:srgbClr val="24292E"/>
                </a:solidFill>
                <a:effectLst/>
                <a:latin typeface="Consolas" panose="020B0609020204030204" pitchFamily="49" charset="0"/>
              </a:rPr>
              <a:t>channel</a:t>
            </a:r>
            <a:r>
              <a:rPr lang="zh-CN" altLang="en-US" b="0" dirty="0">
                <a:solidFill>
                  <a:srgbClr val="24292E"/>
                </a:solidFill>
                <a:effectLst/>
                <a:latin typeface="Consolas" panose="020B0609020204030204" pitchFamily="49" charset="0"/>
              </a:rPr>
              <a:t>为图像的通道数，</a:t>
            </a:r>
            <a:r>
              <a:rPr lang="en-US" altLang="zh-CN" b="0" dirty="0">
                <a:solidFill>
                  <a:srgbClr val="24292E"/>
                </a:solidFill>
                <a:effectLst/>
                <a:latin typeface="Consolas" panose="020B0609020204030204" pitchFamily="49" charset="0"/>
              </a:rPr>
              <a:t>height</a:t>
            </a:r>
            <a:r>
              <a:rPr lang="zh-CN" altLang="en-US" b="0" dirty="0">
                <a:solidFill>
                  <a:srgbClr val="24292E"/>
                </a:solidFill>
                <a:effectLst/>
                <a:latin typeface="Consolas" panose="020B0609020204030204" pitchFamily="49" charset="0"/>
              </a:rPr>
              <a:t>为图像的高度，</a:t>
            </a:r>
            <a:r>
              <a:rPr lang="en-US" altLang="zh-CN" b="0" dirty="0">
                <a:solidFill>
                  <a:srgbClr val="24292E"/>
                </a:solidFill>
                <a:effectLst/>
                <a:latin typeface="Consolas" panose="020B0609020204030204" pitchFamily="49" charset="0"/>
              </a:rPr>
              <a:t>width</a:t>
            </a:r>
            <a:r>
              <a:rPr lang="zh-CN" altLang="en-US" b="0" dirty="0">
                <a:solidFill>
                  <a:srgbClr val="24292E"/>
                </a:solidFill>
                <a:effectLst/>
                <a:latin typeface="Consolas" panose="020B0609020204030204" pitchFamily="49" charset="0"/>
              </a:rPr>
              <a:t>为图像的宽度，卷积核从左到右，从上到下对图像进行卷积操作。</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(2) 5.3.2 </a:t>
            </a:r>
            <a:r>
              <a:rPr lang="zh-CN" altLang="en-US" dirty="0">
                <a:solidFill>
                  <a:srgbClr val="577CCE"/>
                </a:solidFill>
                <a:latin typeface="Consolas" panose="020B0609020204030204" pitchFamily="49" charset="0"/>
              </a:rPr>
              <a:t>二维卷积类</a:t>
            </a:r>
            <a:r>
              <a:rPr lang="en-US" altLang="zh-CN" dirty="0">
                <a:solidFill>
                  <a:srgbClr val="577CCE"/>
                </a:solidFill>
                <a:latin typeface="Consolas" panose="020B0609020204030204" pitchFamily="49" charset="0"/>
              </a:rPr>
              <a:t>nn.Conv2d</a:t>
            </a:r>
            <a:endParaRPr lang="zh-CN" altLang="en-US" b="0" dirty="0">
              <a:solidFill>
                <a:srgbClr val="577CCE"/>
              </a:solidFill>
              <a:effectLst/>
              <a:latin typeface="Consolas" panose="020B0609020204030204" pitchFamily="49" charset="0"/>
            </a:endParaRPr>
          </a:p>
        </p:txBody>
      </p:sp>
      <p:sp>
        <p:nvSpPr>
          <p:cNvPr id="7" name="文本框 6"/>
          <p:cNvSpPr txBox="1"/>
          <p:nvPr/>
        </p:nvSpPr>
        <p:spPr>
          <a:xfrm>
            <a:off x="3010075" y="3517109"/>
            <a:ext cx="7843707"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nn.Conv2d(</a:t>
            </a:r>
            <a:r>
              <a:rPr lang="en-US" altLang="zh-CN" b="0" dirty="0" err="1">
                <a:solidFill>
                  <a:srgbClr val="24292E"/>
                </a:solidFill>
                <a:effectLst/>
                <a:latin typeface="Consolas" panose="020B0609020204030204" pitchFamily="49" charset="0"/>
              </a:rPr>
              <a:t>in_channels</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out_channels</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kernel_size</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stride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padding</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dilation</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groups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bias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9" name="文本框 8"/>
          <p:cNvSpPr txBox="1"/>
          <p:nvPr/>
        </p:nvSpPr>
        <p:spPr>
          <a:xfrm>
            <a:off x="837328" y="2743103"/>
            <a:ext cx="6094602" cy="369332"/>
          </a:xfrm>
          <a:prstGeom prst="rect">
            <a:avLst/>
          </a:prstGeom>
          <a:noFill/>
        </p:spPr>
        <p:txBody>
          <a:bodyPr wrap="square">
            <a:spAutoFit/>
          </a:bodyPr>
          <a:lstStyle/>
          <a:p>
            <a:r>
              <a:rPr lang="zh-CN" altLang="en-US" b="1" dirty="0"/>
              <a:t>二维卷积类的定义如下所示：</a:t>
            </a:r>
            <a:endParaRPr lang="zh-CN" altLang="en-US" b="1" dirty="0"/>
          </a:p>
        </p:txBody>
      </p:sp>
      <p:sp>
        <p:nvSpPr>
          <p:cNvPr id="13" name="文本框 12"/>
          <p:cNvSpPr txBox="1"/>
          <p:nvPr/>
        </p:nvSpPr>
        <p:spPr>
          <a:xfrm>
            <a:off x="837327" y="4588574"/>
            <a:ext cx="6094602" cy="369332"/>
          </a:xfrm>
          <a:prstGeom prst="rect">
            <a:avLst/>
          </a:prstGeom>
          <a:noFill/>
        </p:spPr>
        <p:txBody>
          <a:bodyPr wrap="square">
            <a:spAutoFit/>
          </a:bodyPr>
          <a:lstStyle/>
          <a:p>
            <a:r>
              <a:rPr lang="zh-CN" altLang="en-US" b="0" i="0" dirty="0">
                <a:effectLst/>
                <a:latin typeface="Noto Sans SC"/>
              </a:rPr>
              <a:t>其中的参数含义与一维卷积类似</a:t>
            </a:r>
            <a:endParaRPr lang="zh-CN" altLang="en-US" dirty="0"/>
          </a:p>
        </p:txBody>
      </p:sp>
    </p:spTree>
    <p:custDataLst>
      <p:tags r:id="rId1"/>
    </p:custDataLst>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(2) 5.3.2 </a:t>
            </a:r>
            <a:r>
              <a:rPr lang="zh-CN" altLang="en-US" dirty="0">
                <a:solidFill>
                  <a:srgbClr val="577CCE"/>
                </a:solidFill>
                <a:latin typeface="Consolas" panose="020B0609020204030204" pitchFamily="49" charset="0"/>
              </a:rPr>
              <a:t>二维卷积类</a:t>
            </a:r>
            <a:r>
              <a:rPr lang="en-US" altLang="zh-CN" dirty="0">
                <a:solidFill>
                  <a:srgbClr val="577CCE"/>
                </a:solidFill>
                <a:latin typeface="Consolas" panose="020B0609020204030204" pitchFamily="49" charset="0"/>
              </a:rPr>
              <a:t>nn.Conv2d</a:t>
            </a:r>
            <a:endParaRPr lang="zh-CN" altLang="en-US" b="0" dirty="0">
              <a:solidFill>
                <a:srgbClr val="577CCE"/>
              </a:solidFill>
              <a:effectLst/>
              <a:latin typeface="Consolas" panose="020B0609020204030204" pitchFamily="49" charset="0"/>
            </a:endParaRPr>
          </a:p>
        </p:txBody>
      </p:sp>
      <p:sp>
        <p:nvSpPr>
          <p:cNvPr id="5" name="文本框 4"/>
          <p:cNvSpPr txBox="1"/>
          <p:nvPr/>
        </p:nvSpPr>
        <p:spPr>
          <a:xfrm>
            <a:off x="770217" y="1670652"/>
            <a:ext cx="10454951" cy="923330"/>
          </a:xfrm>
          <a:prstGeom prst="rect">
            <a:avLst/>
          </a:prstGeom>
          <a:noFill/>
        </p:spPr>
        <p:txBody>
          <a:bodyPr wrap="square">
            <a:spAutoFit/>
          </a:bodyPr>
          <a:lstStyle/>
          <a:p>
            <a:r>
              <a:rPr lang="zh-CN" altLang="en-US" dirty="0"/>
              <a:t>假设输入张量数据形状为[10, 16, 64, 64]，表示</a:t>
            </a:r>
            <a:r>
              <a:rPr lang="zh-CN" altLang="en-US" dirty="0">
                <a:solidFill>
                  <a:srgbClr val="FF0000"/>
                </a:solidFill>
              </a:rPr>
              <a:t>batch_size为10</a:t>
            </a:r>
            <a:r>
              <a:rPr lang="zh-CN" altLang="en-US" dirty="0"/>
              <a:t>，即</a:t>
            </a:r>
            <a:r>
              <a:rPr lang="zh-CN" altLang="en-US" dirty="0">
                <a:solidFill>
                  <a:srgbClr val="FF0000"/>
                </a:solidFill>
              </a:rPr>
              <a:t>一次输入10张二维矩阵数据</a:t>
            </a:r>
            <a:r>
              <a:rPr lang="zh-CN" altLang="en-US" dirty="0"/>
              <a:t>，每组数据的</a:t>
            </a:r>
            <a:r>
              <a:rPr lang="zh-CN" altLang="en-US" dirty="0">
                <a:solidFill>
                  <a:srgbClr val="FF0000"/>
                </a:solidFill>
              </a:rPr>
              <a:t>通道数为16</a:t>
            </a:r>
            <a:r>
              <a:rPr lang="zh-CN" altLang="en-US" dirty="0"/>
              <a:t>，矩阵的</a:t>
            </a:r>
            <a:r>
              <a:rPr lang="zh-CN" altLang="en-US" dirty="0">
                <a:solidFill>
                  <a:srgbClr val="FF0000"/>
                </a:solidFill>
              </a:rPr>
              <a:t>宽度和高度分别为64和64</a:t>
            </a:r>
            <a:r>
              <a:rPr lang="zh-CN" altLang="en-US" dirty="0"/>
              <a:t>。设</a:t>
            </a:r>
            <a:r>
              <a:rPr lang="zh-CN" altLang="en-US" dirty="0">
                <a:solidFill>
                  <a:srgbClr val="FF0000"/>
                </a:solidFill>
              </a:rPr>
              <a:t>卷积核大小为(16,3,3)</a:t>
            </a:r>
            <a:r>
              <a:rPr lang="zh-CN" altLang="en-US" dirty="0"/>
              <a:t>，则进行二维卷积的示例如下：</a:t>
            </a:r>
            <a:endParaRPr lang="zh-CN" altLang="en-US" dirty="0"/>
          </a:p>
        </p:txBody>
      </p:sp>
      <p:sp>
        <p:nvSpPr>
          <p:cNvPr id="7" name="文本框 6"/>
          <p:cNvSpPr txBox="1"/>
          <p:nvPr/>
        </p:nvSpPr>
        <p:spPr>
          <a:xfrm>
            <a:off x="3083808" y="2864856"/>
            <a:ext cx="7075259" cy="1785104"/>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x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参数分别为</a:t>
            </a:r>
            <a:r>
              <a:rPr lang="en-US" altLang="zh-CN" b="0" dirty="0" err="1">
                <a:solidFill>
                  <a:srgbClr val="6A737D"/>
                </a:solidFill>
                <a:effectLst/>
                <a:latin typeface="Consolas" panose="020B0609020204030204" pitchFamily="49" charset="0"/>
              </a:rPr>
              <a:t>batch_size</a:t>
            </a:r>
            <a:r>
              <a:rPr lang="en-US" altLang="zh-CN" b="0" dirty="0">
                <a:solidFill>
                  <a:srgbClr val="6A737D"/>
                </a:solidFill>
                <a:effectLst/>
                <a:latin typeface="Consolas" panose="020B0609020204030204" pitchFamily="49" charset="0"/>
              </a:rPr>
              <a:t>, channel, height, width</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m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nn</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Conv2d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en-US" altLang="zh-CN" b="0" dirty="0" err="1">
                <a:solidFill>
                  <a:srgbClr val="6A737D"/>
                </a:solidFill>
                <a:effectLst/>
                <a:latin typeface="Consolas" panose="020B0609020204030204" pitchFamily="49" charset="0"/>
              </a:rPr>
              <a:t>in_channel,out_channel</a:t>
            </a:r>
            <a:r>
              <a:rPr lang="en-US" altLang="zh-CN" b="0" dirty="0">
                <a:solidFill>
                  <a:srgbClr val="6A737D"/>
                </a:solidFill>
                <a:effectLst/>
                <a:latin typeface="Consolas" panose="020B0609020204030204" pitchFamily="49" charset="0"/>
              </a:rPr>
              <a:t> ,</a:t>
            </a:r>
            <a:r>
              <a:rPr lang="en-US" altLang="zh-CN" b="0" dirty="0" err="1">
                <a:solidFill>
                  <a:srgbClr val="6A737D"/>
                </a:solidFill>
                <a:effectLst/>
                <a:latin typeface="Consolas" panose="020B0609020204030204" pitchFamily="49" charset="0"/>
              </a:rPr>
              <a:t>kennel_size,stride</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y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m(x)</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y.shape</a:t>
            </a:r>
            <a:r>
              <a:rPr lang="en-US" altLang="zh-CN" b="0" dirty="0">
                <a:solidFill>
                  <a:srgbClr val="24292E"/>
                </a:solidFill>
                <a:effectLst/>
                <a:latin typeface="Consolas" panose="020B0609020204030204" pitchFamily="49" charset="0"/>
              </a:rPr>
              <a:t>) </a:t>
            </a:r>
            <a:r>
              <a:rPr lang="en-US" altLang="zh-CN" b="1" i="1" dirty="0">
                <a:solidFill>
                  <a:srgbClr val="FF0000"/>
                </a:solidFill>
                <a:effectLst/>
                <a:latin typeface="Consolas" panose="020B0609020204030204" pitchFamily="49" charset="0"/>
              </a:rPr>
              <a:t>-&gt; </a:t>
            </a:r>
            <a:r>
              <a:rPr lang="en-US" altLang="zh-CN" sz="2000" b="1" i="1" dirty="0" err="1">
                <a:solidFill>
                  <a:srgbClr val="FF0000"/>
                </a:solidFill>
                <a:effectLst/>
                <a:latin typeface="Consolas" panose="020B0609020204030204" pitchFamily="49" charset="0"/>
              </a:rPr>
              <a:t>torch.Size</a:t>
            </a:r>
            <a:r>
              <a:rPr lang="en-US" altLang="zh-CN" sz="2000" b="1" i="1" dirty="0">
                <a:solidFill>
                  <a:srgbClr val="FF0000"/>
                </a:solidFill>
                <a:effectLst/>
                <a:latin typeface="Consolas" panose="020B0609020204030204" pitchFamily="49" charset="0"/>
              </a:rPr>
              <a:t>([10, 32, 62, 62])</a:t>
            </a:r>
            <a:endParaRPr lang="en-US" altLang="zh-CN" b="1" i="1" dirty="0">
              <a:solidFill>
                <a:srgbClr val="FF0000"/>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14" name="文本框 13"/>
          <p:cNvSpPr txBox="1"/>
          <p:nvPr/>
        </p:nvSpPr>
        <p:spPr>
          <a:xfrm>
            <a:off x="837328" y="1627377"/>
            <a:ext cx="10517343" cy="2031325"/>
          </a:xfrm>
          <a:prstGeom prst="rect">
            <a:avLst/>
          </a:prstGeom>
          <a:noFill/>
        </p:spPr>
        <p:txBody>
          <a:bodyPr wrap="square">
            <a:spAutoFit/>
          </a:bodyPr>
          <a:lstStyle/>
          <a:p>
            <a:r>
              <a:rPr lang="en-US" altLang="zh-CN" b="1" i="1" u="sng" dirty="0" err="1">
                <a:solidFill>
                  <a:srgbClr val="FF0000"/>
                </a:solidFill>
                <a:effectLst/>
                <a:latin typeface="Consolas" panose="020B0609020204030204" pitchFamily="49" charset="0"/>
              </a:rPr>
              <a:t>torch.Size</a:t>
            </a:r>
            <a:r>
              <a:rPr lang="en-US" altLang="zh-CN" b="1" i="1" u="sng" dirty="0">
                <a:solidFill>
                  <a:srgbClr val="FF0000"/>
                </a:solidFill>
                <a:effectLst/>
                <a:latin typeface="Consolas" panose="020B0609020204030204" pitchFamily="49" charset="0"/>
              </a:rPr>
              <a:t>([10, 32, 62, 62])</a:t>
            </a:r>
            <a:endParaRPr lang="en-US" altLang="zh-CN" b="0" u="sng" dirty="0">
              <a:solidFill>
                <a:srgbClr val="24292E"/>
              </a:solidFill>
              <a:effectLst/>
              <a:latin typeface="Consolas" panose="020B0609020204030204" pitchFamily="49" charset="0"/>
            </a:endParaRPr>
          </a:p>
          <a:p>
            <a:endParaRPr lang="en-US" altLang="zh-CN" dirty="0">
              <a:solidFill>
                <a:srgbClr val="24292E"/>
              </a:solidFill>
              <a:latin typeface="Consolas" panose="020B0609020204030204" pitchFamily="49" charset="0"/>
            </a:endParaRPr>
          </a:p>
          <a:p>
            <a:r>
              <a:rPr lang="zh-CN" altLang="en-US" b="0" dirty="0">
                <a:solidFill>
                  <a:srgbClr val="24292E"/>
                </a:solidFill>
                <a:effectLst/>
                <a:latin typeface="Consolas" panose="020B0609020204030204" pitchFamily="49" charset="0"/>
              </a:rPr>
              <a:t>二维卷积对宽和高的卷积结果形状都为</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batch_size</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out_channels</a:t>
            </a:r>
            <a:r>
              <a:rPr lang="en-US" altLang="zh-CN" b="0" dirty="0">
                <a:solidFill>
                  <a:srgbClr val="24292E"/>
                </a:solidFill>
                <a:effectLst/>
                <a:latin typeface="Consolas" panose="020B0609020204030204" pitchFamily="49" charset="0"/>
              </a:rPr>
              <a:t>, </a:t>
            </a:r>
            <a:r>
              <a:rPr lang="en-US" altLang="zh-CN" b="0" dirty="0">
                <a:solidFill>
                  <a:srgbClr val="FF0000"/>
                </a:solidFill>
                <a:effectLst/>
                <a:latin typeface="Consolas" panose="020B0609020204030204" pitchFamily="49" charset="0"/>
              </a:rPr>
              <a:t>(L + 2 * padding - </a:t>
            </a:r>
            <a:r>
              <a:rPr lang="en-US" altLang="zh-CN" b="0" dirty="0" err="1">
                <a:solidFill>
                  <a:srgbClr val="FF0000"/>
                </a:solidFill>
                <a:effectLst/>
                <a:latin typeface="Consolas" panose="020B0609020204030204" pitchFamily="49" charset="0"/>
              </a:rPr>
              <a:t>kernel_size</a:t>
            </a:r>
            <a:r>
              <a:rPr lang="en-US" altLang="zh-CN" b="0" dirty="0">
                <a:solidFill>
                  <a:srgbClr val="FF0000"/>
                </a:solidFill>
                <a:effectLst/>
                <a:latin typeface="Consolas" panose="020B0609020204030204" pitchFamily="49" charset="0"/>
              </a:rPr>
              <a:t>) / stride + 1]</a:t>
            </a:r>
            <a:endParaRPr lang="en-US" altLang="zh-CN" b="0" dirty="0">
              <a:solidFill>
                <a:srgbClr val="FF0000"/>
              </a:solidFill>
              <a:effectLst/>
              <a:latin typeface="Consolas" panose="020B0609020204030204" pitchFamily="49" charset="0"/>
            </a:endParaRPr>
          </a:p>
          <a:p>
            <a:endParaRPr lang="en-US" altLang="zh-CN" dirty="0">
              <a:solidFill>
                <a:srgbClr val="24292E"/>
              </a:solidFill>
              <a:latin typeface="Consolas" panose="020B0609020204030204" pitchFamily="49" charset="0"/>
            </a:endParaRPr>
          </a:p>
          <a:p>
            <a:r>
              <a:rPr lang="zh-CN" altLang="en-US" b="0" dirty="0">
                <a:solidFill>
                  <a:srgbClr val="24292E"/>
                </a:solidFill>
                <a:effectLst/>
                <a:latin typeface="Consolas" panose="020B0609020204030204" pitchFamily="49" charset="0"/>
              </a:rPr>
              <a:t>其中</a:t>
            </a:r>
            <a:r>
              <a:rPr lang="en-US" altLang="zh-CN" b="0" dirty="0">
                <a:solidFill>
                  <a:srgbClr val="24292E"/>
                </a:solidFill>
                <a:effectLst/>
                <a:latin typeface="Consolas" panose="020B0609020204030204" pitchFamily="49" charset="0"/>
              </a:rPr>
              <a:t>L</a:t>
            </a:r>
            <a:r>
              <a:rPr lang="zh-CN" altLang="en-US" b="0" dirty="0">
                <a:solidFill>
                  <a:srgbClr val="24292E"/>
                </a:solidFill>
                <a:effectLst/>
                <a:latin typeface="Consolas" panose="020B0609020204030204" pitchFamily="49" charset="0"/>
              </a:rPr>
              <a:t>为矩阵数据的宽或高，</a:t>
            </a:r>
            <a:r>
              <a:rPr lang="en-US" altLang="zh-CN" b="0" dirty="0">
                <a:solidFill>
                  <a:srgbClr val="24292E"/>
                </a:solidFill>
                <a:effectLst/>
                <a:latin typeface="Consolas" panose="020B0609020204030204" pitchFamily="49" charset="0"/>
              </a:rPr>
              <a:t>stride</a:t>
            </a:r>
            <a:r>
              <a:rPr lang="zh-CN" altLang="en-US" b="0" dirty="0">
                <a:solidFill>
                  <a:srgbClr val="24292E"/>
                </a:solidFill>
                <a:effectLst/>
                <a:latin typeface="Consolas" panose="020B0609020204030204" pitchFamily="49" charset="0"/>
              </a:rPr>
              <a:t>都为</a:t>
            </a:r>
            <a:r>
              <a:rPr lang="en-US" altLang="zh-CN" b="0" dirty="0">
                <a:solidFill>
                  <a:srgbClr val="24292E"/>
                </a:solidFill>
                <a:effectLst/>
                <a:latin typeface="Consolas" panose="020B0609020204030204" pitchFamily="49" charset="0"/>
              </a:rPr>
              <a:t>1</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padding</a:t>
            </a:r>
            <a:r>
              <a:rPr lang="zh-CN" altLang="en-US" b="0" dirty="0">
                <a:solidFill>
                  <a:srgbClr val="24292E"/>
                </a:solidFill>
                <a:effectLst/>
                <a:latin typeface="Consolas" panose="020B0609020204030204" pitchFamily="49" charset="0"/>
              </a:rPr>
              <a:t>默认为</a:t>
            </a:r>
            <a:r>
              <a:rPr lang="en-US" altLang="zh-CN" b="0" dirty="0">
                <a:solidFill>
                  <a:srgbClr val="24292E"/>
                </a:solidFill>
                <a:effectLst/>
                <a:latin typeface="Consolas" panose="020B0609020204030204" pitchFamily="49" charset="0"/>
              </a:rPr>
              <a:t>0</a:t>
            </a:r>
            <a:r>
              <a:rPr lang="zh-CN" altLang="en-US" b="0" dirty="0">
                <a:solidFill>
                  <a:srgbClr val="24292E"/>
                </a:solidFill>
                <a:effectLst/>
                <a:latin typeface="Consolas" panose="020B0609020204030204" pitchFamily="49" charset="0"/>
              </a:rPr>
              <a:t>，所以输出张量横向和纵向的维度均为</a:t>
            </a:r>
            <a:r>
              <a:rPr lang="en-US" altLang="zh-CN" b="0" dirty="0">
                <a:solidFill>
                  <a:srgbClr val="24292E"/>
                </a:solidFill>
                <a:effectLst/>
                <a:latin typeface="Consolas" panose="020B0609020204030204" pitchFamily="49" charset="0"/>
              </a:rPr>
              <a:t>(64+2*0-3)/1 + 1 = 62</a:t>
            </a:r>
            <a:r>
              <a:rPr lang="zh-CN" altLang="en-US" b="0" dirty="0">
                <a:solidFill>
                  <a:srgbClr val="24292E"/>
                </a:solidFill>
                <a:effectLst/>
                <a:latin typeface="Consolas" panose="020B0609020204030204" pitchFamily="49" charset="0"/>
              </a:rPr>
              <a:t>。</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(2) 5.3.2 </a:t>
            </a:r>
            <a:r>
              <a:rPr lang="zh-CN" altLang="en-US" dirty="0">
                <a:solidFill>
                  <a:srgbClr val="577CCE"/>
                </a:solidFill>
                <a:latin typeface="Consolas" panose="020B0609020204030204" pitchFamily="49" charset="0"/>
              </a:rPr>
              <a:t>二维卷积类</a:t>
            </a:r>
            <a:r>
              <a:rPr lang="en-US" altLang="zh-CN" dirty="0">
                <a:solidFill>
                  <a:srgbClr val="577CCE"/>
                </a:solidFill>
                <a:latin typeface="Consolas" panose="020B0609020204030204" pitchFamily="49" charset="0"/>
              </a:rPr>
              <a:t>nn.Conv2d</a:t>
            </a:r>
            <a:endParaRPr lang="zh-CN" altLang="en-US" b="0" dirty="0">
              <a:solidFill>
                <a:srgbClr val="577CCE"/>
              </a:solidFill>
              <a:effectLst/>
              <a:latin typeface="Consolas" panose="020B0609020204030204" pitchFamily="49" charset="0"/>
            </a:endParaRPr>
          </a:p>
        </p:txBody>
      </p:sp>
      <p:sp>
        <p:nvSpPr>
          <p:cNvPr id="5" name="文本框 4"/>
          <p:cNvSpPr txBox="1"/>
          <p:nvPr/>
        </p:nvSpPr>
        <p:spPr>
          <a:xfrm>
            <a:off x="837328" y="3886301"/>
            <a:ext cx="10454951" cy="923330"/>
          </a:xfrm>
          <a:prstGeom prst="rect">
            <a:avLst/>
          </a:prstGeom>
          <a:noFill/>
        </p:spPr>
        <p:txBody>
          <a:bodyPr wrap="square">
            <a:spAutoFit/>
          </a:bodyPr>
          <a:lstStyle/>
          <a:p>
            <a:r>
              <a:rPr lang="zh-CN" altLang="en-US" dirty="0"/>
              <a:t>二维卷积中也含有要学习的参数，其中权值参数个数为</a:t>
            </a:r>
            <a:r>
              <a:rPr lang="en-US" altLang="zh-CN" dirty="0" err="1"/>
              <a:t>in_channels</a:t>
            </a:r>
            <a:r>
              <a:rPr lang="en-US" altLang="zh-CN" dirty="0"/>
              <a:t> * </a:t>
            </a:r>
            <a:r>
              <a:rPr lang="en-US" altLang="zh-CN" dirty="0" err="1"/>
              <a:t>out_channels</a:t>
            </a:r>
            <a:r>
              <a:rPr lang="en-US" altLang="zh-CN" dirty="0"/>
              <a:t> * </a:t>
            </a:r>
            <a:r>
              <a:rPr lang="en-US" altLang="zh-CN" dirty="0" err="1"/>
              <a:t>kernel_size</a:t>
            </a:r>
            <a:r>
              <a:rPr lang="en-US" altLang="zh-CN" dirty="0"/>
              <a:t> * </a:t>
            </a:r>
            <a:r>
              <a:rPr lang="en-US" altLang="zh-CN" dirty="0" err="1"/>
              <a:t>kernel_size</a:t>
            </a:r>
            <a:r>
              <a:rPr lang="zh-CN" altLang="en-US" dirty="0"/>
              <a:t>，若带有偏置项，则偏置项个数为</a:t>
            </a:r>
            <a:r>
              <a:rPr lang="en-US" altLang="zh-CN" dirty="0" err="1"/>
              <a:t>out_channels</a:t>
            </a:r>
            <a:r>
              <a:rPr lang="zh-CN" altLang="en-US" dirty="0"/>
              <a:t>。和观察一维卷积权值参数类似，上例中也可以用如下代码打印所有参数的当前值：</a:t>
            </a:r>
            <a:endParaRPr lang="zh-CN" altLang="en-US" dirty="0"/>
          </a:p>
        </p:txBody>
      </p:sp>
      <p:sp>
        <p:nvSpPr>
          <p:cNvPr id="7" name="文本框 6"/>
          <p:cNvSpPr txBox="1"/>
          <p:nvPr/>
        </p:nvSpPr>
        <p:spPr>
          <a:xfrm>
            <a:off x="3889152" y="5332387"/>
            <a:ext cx="3585439" cy="369332"/>
          </a:xfrm>
          <a:prstGeom prst="rect">
            <a:avLst/>
          </a:prstGeom>
          <a:noFill/>
        </p:spPr>
        <p:txBody>
          <a:bodyPr wrap="square">
            <a:spAutoFit/>
          </a:bodyPr>
          <a:lstStyle/>
          <a:p>
            <a:r>
              <a:rPr lang="en-US" altLang="zh-CN" b="1" dirty="0">
                <a:solidFill>
                  <a:srgbClr val="6F42C1"/>
                </a:solidFill>
                <a:effectLst/>
                <a:latin typeface="Consolas" panose="020B0609020204030204" pitchFamily="49" charset="0"/>
              </a:rPr>
              <a:t>print</a:t>
            </a:r>
            <a:r>
              <a:rPr lang="en-US" altLang="zh-CN" b="1" dirty="0">
                <a:solidFill>
                  <a:srgbClr val="24292E"/>
                </a:solidFill>
                <a:effectLst/>
                <a:latin typeface="Consolas" panose="020B0609020204030204" pitchFamily="49" charset="0"/>
              </a:rPr>
              <a:t>(</a:t>
            </a:r>
            <a:r>
              <a:rPr lang="en-US" altLang="zh-CN" b="1" dirty="0">
                <a:solidFill>
                  <a:srgbClr val="6F42C1"/>
                </a:solidFill>
                <a:effectLst/>
                <a:latin typeface="Consolas" panose="020B0609020204030204" pitchFamily="49" charset="0"/>
              </a:rPr>
              <a:t>list</a:t>
            </a:r>
            <a:r>
              <a:rPr lang="en-US" altLang="zh-CN" b="1" dirty="0">
                <a:solidFill>
                  <a:srgbClr val="24292E"/>
                </a:solidFill>
                <a:effectLst/>
                <a:latin typeface="Consolas" panose="020B0609020204030204" pitchFamily="49" charset="0"/>
              </a:rPr>
              <a:t>(</a:t>
            </a:r>
            <a:r>
              <a:rPr lang="en-US" altLang="zh-CN" b="1" dirty="0" err="1">
                <a:solidFill>
                  <a:srgbClr val="24292E"/>
                </a:solidFill>
                <a:effectLst/>
                <a:latin typeface="Consolas" panose="020B0609020204030204" pitchFamily="49" charset="0"/>
              </a:rPr>
              <a:t>m.</a:t>
            </a:r>
            <a:r>
              <a:rPr lang="en-US" altLang="zh-CN" b="1" dirty="0" err="1">
                <a:solidFill>
                  <a:srgbClr val="6F42C1"/>
                </a:solidFill>
                <a:effectLst/>
                <a:latin typeface="Consolas" panose="020B0609020204030204" pitchFamily="49" charset="0"/>
              </a:rPr>
              <a:t>parameters</a:t>
            </a:r>
            <a:r>
              <a:rPr lang="en-US" altLang="zh-CN" b="1" dirty="0">
                <a:solidFill>
                  <a:srgbClr val="24292E"/>
                </a:solidFill>
                <a:effectLst/>
                <a:latin typeface="Consolas" panose="020B0609020204030204" pitchFamily="49" charset="0"/>
              </a:rPr>
              <a:t>()))</a:t>
            </a:r>
            <a:endParaRPr lang="en-US" altLang="zh-CN" b="1"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14" name="文本框 13"/>
          <p:cNvSpPr txBox="1"/>
          <p:nvPr/>
        </p:nvSpPr>
        <p:spPr>
          <a:xfrm>
            <a:off x="837328" y="1627377"/>
            <a:ext cx="10517343"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全连接类作用于设置网络中的全连接层，对输入数据进行线性转换，并</a:t>
            </a:r>
            <a:r>
              <a:rPr lang="zh-CN" altLang="en-US" b="0" dirty="0">
                <a:solidFill>
                  <a:srgbClr val="FF0000"/>
                </a:solidFill>
                <a:effectLst/>
                <a:latin typeface="Consolas" panose="020B0609020204030204" pitchFamily="49" charset="0"/>
              </a:rPr>
              <a:t>存储权重和偏置</a:t>
            </a:r>
            <a:r>
              <a:rPr lang="zh-CN" altLang="en-US" b="0" dirty="0">
                <a:solidFill>
                  <a:srgbClr val="24292E"/>
                </a:solidFill>
                <a:effectLst/>
                <a:latin typeface="Consolas" panose="020B0609020204030204" pitchFamily="49" charset="0"/>
              </a:rPr>
              <a:t>。通常，全连接操作的</a:t>
            </a:r>
            <a:r>
              <a:rPr lang="zh-CN" altLang="en-US" b="0" dirty="0">
                <a:solidFill>
                  <a:srgbClr val="FF0000"/>
                </a:solidFill>
                <a:effectLst/>
                <a:latin typeface="Consolas" panose="020B0609020204030204" pitchFamily="49" charset="0"/>
              </a:rPr>
              <a:t>输入与输出都是二维张量</a:t>
            </a:r>
            <a:r>
              <a:rPr lang="zh-CN" altLang="en-US" b="0" dirty="0">
                <a:solidFill>
                  <a:srgbClr val="24292E"/>
                </a:solidFill>
                <a:effectLst/>
                <a:latin typeface="Consolas" panose="020B0609020204030204" pitchFamily="49" charset="0"/>
              </a:rPr>
              <a:t>，一般形状为</a:t>
            </a:r>
            <a:r>
              <a:rPr lang="en-US" altLang="zh-CN" b="0" dirty="0">
                <a:solidFill>
                  <a:srgbClr val="FF0000"/>
                </a:solidFill>
                <a:effectLst/>
                <a:latin typeface="Consolas" panose="020B0609020204030204" pitchFamily="49" charset="0"/>
              </a:rPr>
              <a:t>[</a:t>
            </a:r>
            <a:r>
              <a:rPr lang="en-US" altLang="zh-CN" b="0" dirty="0" err="1">
                <a:solidFill>
                  <a:srgbClr val="FF0000"/>
                </a:solidFill>
                <a:effectLst/>
                <a:latin typeface="Consolas" panose="020B0609020204030204" pitchFamily="49" charset="0"/>
              </a:rPr>
              <a:t>batch_size</a:t>
            </a:r>
            <a:r>
              <a:rPr lang="en-US" altLang="zh-CN" b="0" dirty="0">
                <a:solidFill>
                  <a:srgbClr val="FF0000"/>
                </a:solidFill>
                <a:effectLst/>
                <a:latin typeface="Consolas" panose="020B0609020204030204" pitchFamily="49" charset="0"/>
              </a:rPr>
              <a:t>, size]</a:t>
            </a:r>
            <a:r>
              <a:rPr lang="zh-CN" altLang="en-US" b="0" dirty="0">
                <a:solidFill>
                  <a:srgbClr val="24292E"/>
                </a:solidFill>
                <a:effectLst/>
                <a:latin typeface="Consolas" panose="020B0609020204030204" pitchFamily="49" charset="0"/>
              </a:rPr>
              <a:t>，不同于二维卷积要求输入和输出的是四维张量。</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(3) 5.3.3 </a:t>
            </a:r>
            <a:r>
              <a:rPr lang="zh-CN" altLang="en-US" dirty="0">
                <a:solidFill>
                  <a:srgbClr val="577CCE"/>
                </a:solidFill>
                <a:latin typeface="Consolas" panose="020B0609020204030204" pitchFamily="49" charset="0"/>
              </a:rPr>
              <a:t>全连接类</a:t>
            </a:r>
            <a:r>
              <a:rPr lang="en-US" altLang="zh-CN" dirty="0" err="1">
                <a:solidFill>
                  <a:srgbClr val="577CCE"/>
                </a:solidFill>
                <a:latin typeface="Consolas" panose="020B0609020204030204" pitchFamily="49" charset="0"/>
              </a:rPr>
              <a:t>nn.Linear</a:t>
            </a:r>
            <a:endParaRPr lang="zh-CN" altLang="en-US" b="0" dirty="0">
              <a:solidFill>
                <a:srgbClr val="577CCE"/>
              </a:solidFill>
              <a:effectLst/>
              <a:latin typeface="Consolas" panose="020B0609020204030204" pitchFamily="49" charset="0"/>
            </a:endParaRPr>
          </a:p>
        </p:txBody>
      </p:sp>
      <p:sp>
        <p:nvSpPr>
          <p:cNvPr id="5" name="文本框 4"/>
          <p:cNvSpPr txBox="1"/>
          <p:nvPr/>
        </p:nvSpPr>
        <p:spPr>
          <a:xfrm>
            <a:off x="837328" y="3795943"/>
            <a:ext cx="10454951" cy="646331"/>
          </a:xfrm>
          <a:prstGeom prst="rect">
            <a:avLst/>
          </a:prstGeom>
          <a:noFill/>
        </p:spPr>
        <p:txBody>
          <a:bodyPr wrap="square">
            <a:spAutoFit/>
          </a:bodyPr>
          <a:lstStyle/>
          <a:p>
            <a:r>
              <a:rPr lang="zh-CN" altLang="en-US" dirty="0"/>
              <a:t>参数</a:t>
            </a:r>
            <a:r>
              <a:rPr lang="en-US" altLang="zh-CN" dirty="0" err="1"/>
              <a:t>in_features</a:t>
            </a:r>
            <a:r>
              <a:rPr lang="zh-CN" altLang="en-US" dirty="0"/>
              <a:t>表示输入维度的大小，</a:t>
            </a:r>
            <a:r>
              <a:rPr lang="en-US" altLang="zh-CN" dirty="0" err="1">
                <a:solidFill>
                  <a:srgbClr val="FF0000"/>
                </a:solidFill>
              </a:rPr>
              <a:t>out_features</a:t>
            </a:r>
            <a:r>
              <a:rPr lang="zh-CN" altLang="en-US" dirty="0">
                <a:solidFill>
                  <a:srgbClr val="FF0000"/>
                </a:solidFill>
              </a:rPr>
              <a:t>表示输出维度的大小，</a:t>
            </a:r>
            <a:r>
              <a:rPr lang="en-US" altLang="zh-CN" dirty="0">
                <a:solidFill>
                  <a:srgbClr val="FF0000"/>
                </a:solidFill>
              </a:rPr>
              <a:t>bias</a:t>
            </a:r>
            <a:r>
              <a:rPr lang="zh-CN" altLang="en-US" dirty="0">
                <a:solidFill>
                  <a:srgbClr val="FF0000"/>
                </a:solidFill>
              </a:rPr>
              <a:t>表示是否带偏置</a:t>
            </a:r>
            <a:r>
              <a:rPr lang="zh-CN" altLang="en-US" dirty="0"/>
              <a:t>，默认是带偏置的。示例代码如下：</a:t>
            </a:r>
            <a:endParaRPr lang="zh-CN" altLang="en-US" dirty="0"/>
          </a:p>
        </p:txBody>
      </p:sp>
      <p:sp>
        <p:nvSpPr>
          <p:cNvPr id="3" name="文本框 2"/>
          <p:cNvSpPr txBox="1"/>
          <p:nvPr/>
        </p:nvSpPr>
        <p:spPr>
          <a:xfrm>
            <a:off x="2386145" y="4566918"/>
            <a:ext cx="9091569" cy="1754326"/>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connected_layer</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Linear</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in_features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64</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out_features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输入维度为</a:t>
            </a:r>
            <a:r>
              <a:rPr lang="en-US" altLang="zh-CN" b="0" dirty="0">
                <a:solidFill>
                  <a:srgbClr val="6A737D"/>
                </a:solidFill>
                <a:effectLst/>
                <a:latin typeface="Consolas" panose="020B0609020204030204" pitchFamily="49" charset="0"/>
              </a:rPr>
              <a:t>64*64*3</a:t>
            </a:r>
            <a:r>
              <a:rPr lang="zh-CN" altLang="en-US" b="0" dirty="0">
                <a:solidFill>
                  <a:srgbClr val="6A737D"/>
                </a:solidFill>
                <a:effectLst/>
                <a:latin typeface="Consolas" panose="020B0609020204030204" pitchFamily="49" charset="0"/>
              </a:rPr>
              <a:t>，输出维度为</a:t>
            </a:r>
            <a:r>
              <a:rPr lang="en-US" altLang="zh-CN" b="0" dirty="0">
                <a:solidFill>
                  <a:srgbClr val="6A737D"/>
                </a:solidFill>
                <a:effectLst/>
                <a:latin typeface="Consolas" panose="020B0609020204030204" pitchFamily="49" charset="0"/>
              </a:rPr>
              <a:t>1</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input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input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input.</a:t>
            </a:r>
            <a:r>
              <a:rPr lang="en-US" altLang="zh-CN" b="0" dirty="0" err="1">
                <a:solidFill>
                  <a:srgbClr val="6F42C1"/>
                </a:solidFill>
                <a:effectLst/>
                <a:latin typeface="Consolas" panose="020B0609020204030204" pitchFamily="49" charset="0"/>
              </a:rPr>
              <a:t>view</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64</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#torch.Size([10, 12288])</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output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connected_layer</a:t>
            </a:r>
            <a:r>
              <a:rPr lang="en-US" altLang="zh-CN" b="0" dirty="0">
                <a:solidFill>
                  <a:srgbClr val="24292E"/>
                </a:solidFill>
                <a:effectLst/>
                <a:latin typeface="Consolas" panose="020B0609020204030204" pitchFamily="49" charset="0"/>
              </a:rPr>
              <a:t>(input)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调用全连接层</a:t>
            </a:r>
            <a:endParaRPr lang="zh-CN" altLang="en-US" b="0" dirty="0">
              <a:solidFill>
                <a:srgbClr val="24292E"/>
              </a:solidFill>
              <a:effectLst/>
              <a:latin typeface="Consolas" panose="020B0609020204030204" pitchFamily="49" charset="0"/>
            </a:endParaRPr>
          </a:p>
          <a:p>
            <a:pPr algn="l"/>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output.shape</a:t>
            </a:r>
            <a:r>
              <a:rPr lang="en-US" altLang="zh-CN" b="0" dirty="0">
                <a:solidFill>
                  <a:srgbClr val="24292E"/>
                </a:solidFill>
                <a:effectLst/>
                <a:latin typeface="Consolas" panose="020B0609020204030204" pitchFamily="49" charset="0"/>
              </a:rPr>
              <a:t>) </a:t>
            </a:r>
            <a:r>
              <a:rPr lang="en-US" altLang="zh-CN" b="1" i="1" dirty="0">
                <a:solidFill>
                  <a:srgbClr val="FF0000"/>
                </a:solidFill>
                <a:effectLst/>
                <a:latin typeface="Consolas" panose="020B0609020204030204" pitchFamily="49" charset="0"/>
              </a:rPr>
              <a:t>-&gt; </a:t>
            </a:r>
            <a:r>
              <a:rPr lang="en-US" altLang="zh-CN" b="1" i="1" dirty="0" err="1">
                <a:solidFill>
                  <a:srgbClr val="FF0000"/>
                </a:solidFill>
                <a:effectLst/>
                <a:latin typeface="var(--notebook-cell-output-font-family)"/>
              </a:rPr>
              <a:t>torch.Size</a:t>
            </a:r>
            <a:r>
              <a:rPr lang="en-US" altLang="zh-CN" b="1" i="1" dirty="0">
                <a:solidFill>
                  <a:srgbClr val="FF0000"/>
                </a:solidFill>
                <a:effectLst/>
                <a:latin typeface="var(--notebook-cell-output-font-family)"/>
              </a:rPr>
              <a:t>([10, 1]) </a:t>
            </a:r>
            <a:endParaRPr lang="en-US" altLang="zh-CN" b="1" i="1" dirty="0">
              <a:solidFill>
                <a:srgbClr val="FF0000"/>
              </a:solidFill>
              <a:effectLst/>
              <a:latin typeface="var(--notebook-cell-output-font-family)"/>
            </a:endParaRPr>
          </a:p>
        </p:txBody>
      </p:sp>
      <p:sp>
        <p:nvSpPr>
          <p:cNvPr id="8" name="文本框 7"/>
          <p:cNvSpPr txBox="1"/>
          <p:nvPr/>
        </p:nvSpPr>
        <p:spPr>
          <a:xfrm>
            <a:off x="837328" y="2594485"/>
            <a:ext cx="6094602"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全连接类定义如下：</a:t>
            </a:r>
            <a:endParaRPr lang="zh-CN" altLang="en-US" b="0" dirty="0">
              <a:solidFill>
                <a:srgbClr val="24292E"/>
              </a:solidFill>
              <a:effectLst/>
              <a:latin typeface="Consolas" panose="020B0609020204030204" pitchFamily="49" charset="0"/>
            </a:endParaRPr>
          </a:p>
        </p:txBody>
      </p:sp>
      <p:sp>
        <p:nvSpPr>
          <p:cNvPr id="10" name="文本框 9"/>
          <p:cNvSpPr txBox="1"/>
          <p:nvPr/>
        </p:nvSpPr>
        <p:spPr>
          <a:xfrm>
            <a:off x="3216853" y="3111741"/>
            <a:ext cx="6094602" cy="369332"/>
          </a:xfrm>
          <a:prstGeom prst="rect">
            <a:avLst/>
          </a:prstGeom>
          <a:noFill/>
        </p:spPr>
        <p:txBody>
          <a:bodyPr wrap="square">
            <a:spAutoFit/>
          </a:bodyPr>
          <a:lstStyle/>
          <a:p>
            <a:r>
              <a:rPr lang="en-US" altLang="zh-CN" b="1" dirty="0" err="1">
                <a:solidFill>
                  <a:srgbClr val="24292E"/>
                </a:solidFill>
                <a:effectLst/>
                <a:latin typeface="Consolas" panose="020B0609020204030204" pitchFamily="49" charset="0"/>
              </a:rPr>
              <a:t>nn.Linear</a:t>
            </a:r>
            <a:r>
              <a:rPr lang="en-US" altLang="zh-CN" b="1" dirty="0">
                <a:solidFill>
                  <a:srgbClr val="24292E"/>
                </a:solidFill>
                <a:effectLst/>
                <a:latin typeface="Consolas" panose="020B0609020204030204" pitchFamily="49" charset="0"/>
              </a:rPr>
              <a:t>(</a:t>
            </a:r>
            <a:r>
              <a:rPr lang="en-US" altLang="zh-CN" b="1" dirty="0" err="1">
                <a:solidFill>
                  <a:srgbClr val="24292E"/>
                </a:solidFill>
                <a:effectLst/>
                <a:latin typeface="Consolas" panose="020B0609020204030204" pitchFamily="49" charset="0"/>
              </a:rPr>
              <a:t>in_features</a:t>
            </a:r>
            <a:r>
              <a:rPr lang="en-US" altLang="zh-CN" b="1" dirty="0">
                <a:solidFill>
                  <a:srgbClr val="24292E"/>
                </a:solidFill>
                <a:effectLst/>
                <a:latin typeface="Consolas" panose="020B0609020204030204" pitchFamily="49" charset="0"/>
              </a:rPr>
              <a:t>, </a:t>
            </a:r>
            <a:r>
              <a:rPr lang="en-US" altLang="zh-CN" b="1" dirty="0" err="1">
                <a:solidFill>
                  <a:srgbClr val="24292E"/>
                </a:solidFill>
                <a:effectLst/>
                <a:latin typeface="Consolas" panose="020B0609020204030204" pitchFamily="49" charset="0"/>
              </a:rPr>
              <a:t>out_features</a:t>
            </a:r>
            <a:r>
              <a:rPr lang="en-US" altLang="zh-CN" b="1" dirty="0">
                <a:solidFill>
                  <a:srgbClr val="24292E"/>
                </a:solidFill>
                <a:effectLst/>
                <a:latin typeface="Consolas" panose="020B0609020204030204" pitchFamily="49" charset="0"/>
              </a:rPr>
              <a:t>, </a:t>
            </a:r>
            <a:r>
              <a:rPr lang="en-US" altLang="zh-CN" b="1" dirty="0">
                <a:solidFill>
                  <a:srgbClr val="E36209"/>
                </a:solidFill>
                <a:effectLst/>
                <a:latin typeface="Consolas" panose="020B0609020204030204" pitchFamily="49" charset="0"/>
              </a:rPr>
              <a:t>bias</a:t>
            </a:r>
            <a:r>
              <a:rPr lang="en-US" altLang="zh-CN" b="1" dirty="0">
                <a:solidFill>
                  <a:srgbClr val="D73A49"/>
                </a:solidFill>
                <a:effectLst/>
                <a:latin typeface="Consolas" panose="020B0609020204030204" pitchFamily="49" charset="0"/>
              </a:rPr>
              <a:t>=</a:t>
            </a:r>
            <a:r>
              <a:rPr lang="en-US" altLang="zh-CN" b="1" dirty="0">
                <a:solidFill>
                  <a:srgbClr val="005CC5"/>
                </a:solidFill>
                <a:effectLst/>
                <a:latin typeface="Consolas" panose="020B0609020204030204" pitchFamily="49" charset="0"/>
              </a:rPr>
              <a:t>True</a:t>
            </a:r>
            <a:r>
              <a:rPr lang="en-US" altLang="zh-CN" b="1" dirty="0">
                <a:solidFill>
                  <a:srgbClr val="24292E"/>
                </a:solidFill>
                <a:effectLst/>
                <a:latin typeface="Consolas" panose="020B0609020204030204" pitchFamily="49" charset="0"/>
              </a:rPr>
              <a:t>)</a:t>
            </a:r>
            <a:endParaRPr lang="en-US" altLang="zh-CN" b="1"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14" name="文本框 13"/>
          <p:cNvSpPr txBox="1"/>
          <p:nvPr/>
        </p:nvSpPr>
        <p:spPr>
          <a:xfrm>
            <a:off x="837328" y="1627377"/>
            <a:ext cx="10853657"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上例中，</a:t>
            </a:r>
            <a:r>
              <a:rPr lang="en-US" altLang="zh-CN" b="0" dirty="0">
                <a:solidFill>
                  <a:srgbClr val="24292E"/>
                </a:solidFill>
                <a:effectLst/>
                <a:latin typeface="Consolas" panose="020B0609020204030204" pitchFamily="49" charset="0"/>
              </a:rPr>
              <a:t>input</a:t>
            </a:r>
            <a:r>
              <a:rPr lang="zh-CN" altLang="en-US" b="0" dirty="0">
                <a:solidFill>
                  <a:srgbClr val="24292E"/>
                </a:solidFill>
                <a:effectLst/>
                <a:latin typeface="Consolas" panose="020B0609020204030204" pitchFamily="49" charset="0"/>
              </a:rPr>
              <a:t>调用</a:t>
            </a:r>
            <a:r>
              <a:rPr lang="en-US" altLang="zh-CN" b="0" dirty="0">
                <a:solidFill>
                  <a:srgbClr val="24292E"/>
                </a:solidFill>
                <a:effectLst/>
                <a:latin typeface="Consolas" panose="020B0609020204030204" pitchFamily="49" charset="0"/>
              </a:rPr>
              <a:t>view</a:t>
            </a:r>
            <a:r>
              <a:rPr lang="zh-CN" altLang="en-US" b="0" dirty="0">
                <a:solidFill>
                  <a:srgbClr val="24292E"/>
                </a:solidFill>
                <a:effectLst/>
                <a:latin typeface="Consolas" panose="020B0609020204030204" pitchFamily="49" charset="0"/>
              </a:rPr>
              <a:t>函数完成了对张量形状的调整，由原来的</a:t>
            </a:r>
            <a:r>
              <a:rPr lang="en-US" altLang="zh-CN" b="0" dirty="0">
                <a:solidFill>
                  <a:srgbClr val="24292E"/>
                </a:solidFill>
                <a:effectLst/>
                <a:latin typeface="Consolas" panose="020B0609020204030204" pitchFamily="49" charset="0"/>
              </a:rPr>
              <a:t>(10, 3, 64, 64)</a:t>
            </a:r>
            <a:r>
              <a:rPr lang="zh-CN" altLang="en-US" b="0" dirty="0">
                <a:solidFill>
                  <a:srgbClr val="24292E"/>
                </a:solidFill>
                <a:effectLst/>
                <a:latin typeface="Consolas" panose="020B0609020204030204" pitchFamily="49" charset="0"/>
              </a:rPr>
              <a:t>调整为</a:t>
            </a:r>
            <a:r>
              <a:rPr lang="en-US" altLang="zh-CN" b="0" dirty="0">
                <a:solidFill>
                  <a:srgbClr val="24292E"/>
                </a:solidFill>
                <a:effectLst/>
                <a:latin typeface="Consolas" panose="020B0609020204030204" pitchFamily="49" charset="0"/>
              </a:rPr>
              <a:t>(10, 12288)</a:t>
            </a:r>
            <a:r>
              <a:rPr lang="zh-CN" altLang="en-US" b="0" dirty="0">
                <a:solidFill>
                  <a:srgbClr val="24292E"/>
                </a:solidFill>
                <a:effectLst/>
                <a:latin typeface="Consolas" panose="020B0609020204030204" pitchFamily="49" charset="0"/>
              </a:rPr>
              <a:t>。在这里，也可以</a:t>
            </a:r>
            <a:r>
              <a:rPr lang="zh-CN" altLang="en-US" b="0" dirty="0">
                <a:solidFill>
                  <a:srgbClr val="FF0000"/>
                </a:solidFill>
                <a:effectLst/>
                <a:latin typeface="Consolas" panose="020B0609020204030204" pitchFamily="49" charset="0"/>
              </a:rPr>
              <a:t>使用</a:t>
            </a:r>
            <a:r>
              <a:rPr lang="en-US" altLang="zh-CN" b="0" dirty="0">
                <a:solidFill>
                  <a:srgbClr val="FF0000"/>
                </a:solidFill>
                <a:effectLst/>
                <a:latin typeface="Consolas" panose="020B0609020204030204" pitchFamily="49" charset="0"/>
              </a:rPr>
              <a:t>reshape()</a:t>
            </a:r>
            <a:r>
              <a:rPr lang="zh-CN" altLang="en-US" b="0" dirty="0">
                <a:solidFill>
                  <a:srgbClr val="FF0000"/>
                </a:solidFill>
                <a:effectLst/>
                <a:latin typeface="Consolas" panose="020B0609020204030204" pitchFamily="49" charset="0"/>
              </a:rPr>
              <a:t>方法对张量形状进行调整</a:t>
            </a:r>
            <a:r>
              <a:rPr lang="zh-CN" altLang="en-US" b="0" dirty="0">
                <a:solidFill>
                  <a:srgbClr val="24292E"/>
                </a:solidFill>
                <a:effectLst/>
                <a:latin typeface="Consolas" panose="020B0609020204030204" pitchFamily="49" charset="0"/>
              </a:rPr>
              <a:t>，例如：</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(3) 5.3.3 </a:t>
            </a:r>
            <a:r>
              <a:rPr lang="zh-CN" altLang="en-US" dirty="0">
                <a:solidFill>
                  <a:srgbClr val="577CCE"/>
                </a:solidFill>
                <a:latin typeface="Consolas" panose="020B0609020204030204" pitchFamily="49" charset="0"/>
              </a:rPr>
              <a:t>全连接类</a:t>
            </a:r>
            <a:r>
              <a:rPr lang="en-US" altLang="zh-CN" dirty="0" err="1">
                <a:solidFill>
                  <a:srgbClr val="577CCE"/>
                </a:solidFill>
                <a:latin typeface="Consolas" panose="020B0609020204030204" pitchFamily="49" charset="0"/>
              </a:rPr>
              <a:t>nn.Linear</a:t>
            </a:r>
            <a:endParaRPr lang="zh-CN" altLang="en-US" b="0" dirty="0">
              <a:solidFill>
                <a:srgbClr val="577CCE"/>
              </a:solidFill>
              <a:effectLst/>
              <a:latin typeface="Consolas" panose="020B0609020204030204" pitchFamily="49" charset="0"/>
            </a:endParaRPr>
          </a:p>
        </p:txBody>
      </p:sp>
      <p:sp>
        <p:nvSpPr>
          <p:cNvPr id="5" name="文本框 4"/>
          <p:cNvSpPr txBox="1"/>
          <p:nvPr/>
        </p:nvSpPr>
        <p:spPr>
          <a:xfrm>
            <a:off x="837328" y="3332304"/>
            <a:ext cx="10454951"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全连接层中也含有要学习的参数，其中</a:t>
            </a:r>
            <a:r>
              <a:rPr lang="zh-CN" altLang="en-US" b="0" dirty="0">
                <a:solidFill>
                  <a:srgbClr val="FF0000"/>
                </a:solidFill>
                <a:effectLst/>
                <a:latin typeface="Consolas" panose="020B0609020204030204" pitchFamily="49" charset="0"/>
              </a:rPr>
              <a:t>权值参数个数为</a:t>
            </a:r>
            <a:r>
              <a:rPr lang="en-US" altLang="zh-CN" b="0" dirty="0" err="1">
                <a:solidFill>
                  <a:srgbClr val="FF0000"/>
                </a:solidFill>
                <a:effectLst/>
                <a:latin typeface="Consolas" panose="020B0609020204030204" pitchFamily="49" charset="0"/>
              </a:rPr>
              <a:t>in_features</a:t>
            </a:r>
            <a:r>
              <a:rPr lang="en-US" altLang="zh-CN" b="0" dirty="0">
                <a:solidFill>
                  <a:srgbClr val="FF0000"/>
                </a:solidFill>
                <a:effectLst/>
                <a:latin typeface="Consolas" panose="020B0609020204030204" pitchFamily="49" charset="0"/>
              </a:rPr>
              <a:t> * </a:t>
            </a:r>
            <a:r>
              <a:rPr lang="en-US" altLang="zh-CN" b="0" dirty="0" err="1">
                <a:solidFill>
                  <a:srgbClr val="FF0000"/>
                </a:solidFill>
                <a:effectLst/>
                <a:latin typeface="Consolas" panose="020B0609020204030204" pitchFamily="49" charset="0"/>
              </a:rPr>
              <a:t>out_features</a:t>
            </a:r>
            <a:r>
              <a:rPr lang="zh-CN" altLang="en-US" b="0" dirty="0">
                <a:solidFill>
                  <a:srgbClr val="24292E"/>
                </a:solidFill>
                <a:effectLst/>
                <a:latin typeface="Consolas" panose="020B0609020204030204" pitchFamily="49" charset="0"/>
              </a:rPr>
              <a:t>，若带有偏置项，则</a:t>
            </a:r>
            <a:r>
              <a:rPr lang="zh-CN" altLang="en-US" b="0" dirty="0">
                <a:solidFill>
                  <a:srgbClr val="FF0000"/>
                </a:solidFill>
                <a:effectLst/>
                <a:latin typeface="Consolas" panose="020B0609020204030204" pitchFamily="49" charset="0"/>
              </a:rPr>
              <a:t>偏置项个数为</a:t>
            </a:r>
            <a:r>
              <a:rPr lang="en-US" altLang="zh-CN" b="0" dirty="0" err="1">
                <a:solidFill>
                  <a:srgbClr val="FF0000"/>
                </a:solidFill>
                <a:effectLst/>
                <a:latin typeface="Consolas" panose="020B0609020204030204" pitchFamily="49" charset="0"/>
              </a:rPr>
              <a:t>out_features</a:t>
            </a:r>
            <a:r>
              <a:rPr lang="zh-CN" altLang="en-US" b="0" dirty="0">
                <a:solidFill>
                  <a:srgbClr val="24292E"/>
                </a:solidFill>
                <a:effectLst/>
                <a:latin typeface="Consolas" panose="020B0609020204030204" pitchFamily="49" charset="0"/>
              </a:rPr>
              <a:t>。和前面类似，上例中也可以用如下代码打印所有参数的当前值：</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3229488" y="4339823"/>
            <a:ext cx="5427951" cy="369332"/>
          </a:xfrm>
          <a:prstGeom prst="rect">
            <a:avLst/>
          </a:prstGeom>
          <a:noFill/>
        </p:spPr>
        <p:txBody>
          <a:bodyPr wrap="square">
            <a:spAutoFit/>
          </a:bodyPr>
          <a:lstStyle/>
          <a:p>
            <a:r>
              <a:rPr lang="en-US" altLang="zh-CN" b="1" dirty="0">
                <a:solidFill>
                  <a:srgbClr val="6F42C1"/>
                </a:solidFill>
                <a:effectLst/>
                <a:latin typeface="Consolas" panose="020B0609020204030204" pitchFamily="49" charset="0"/>
              </a:rPr>
              <a:t>print</a:t>
            </a:r>
            <a:r>
              <a:rPr lang="en-US" altLang="zh-CN" b="1" dirty="0">
                <a:solidFill>
                  <a:srgbClr val="24292E"/>
                </a:solidFill>
                <a:effectLst/>
                <a:latin typeface="Consolas" panose="020B0609020204030204" pitchFamily="49" charset="0"/>
              </a:rPr>
              <a:t>(</a:t>
            </a:r>
            <a:r>
              <a:rPr lang="en-US" altLang="zh-CN" b="1" dirty="0">
                <a:solidFill>
                  <a:srgbClr val="6F42C1"/>
                </a:solidFill>
                <a:effectLst/>
                <a:latin typeface="Consolas" panose="020B0609020204030204" pitchFamily="49" charset="0"/>
              </a:rPr>
              <a:t>list</a:t>
            </a:r>
            <a:r>
              <a:rPr lang="en-US" altLang="zh-CN" b="1" dirty="0">
                <a:solidFill>
                  <a:srgbClr val="24292E"/>
                </a:solidFill>
                <a:effectLst/>
                <a:latin typeface="Consolas" panose="020B0609020204030204" pitchFamily="49" charset="0"/>
              </a:rPr>
              <a:t>(</a:t>
            </a:r>
            <a:r>
              <a:rPr lang="en-US" altLang="zh-CN" b="1" dirty="0" err="1">
                <a:solidFill>
                  <a:srgbClr val="24292E"/>
                </a:solidFill>
                <a:effectLst/>
                <a:latin typeface="Consolas" panose="020B0609020204030204" pitchFamily="49" charset="0"/>
              </a:rPr>
              <a:t>connected_layer.</a:t>
            </a:r>
            <a:r>
              <a:rPr lang="en-US" altLang="zh-CN" b="1" dirty="0" err="1">
                <a:solidFill>
                  <a:srgbClr val="6F42C1"/>
                </a:solidFill>
                <a:effectLst/>
                <a:latin typeface="Consolas" panose="020B0609020204030204" pitchFamily="49" charset="0"/>
              </a:rPr>
              <a:t>parameters</a:t>
            </a:r>
            <a:r>
              <a:rPr lang="en-US" altLang="zh-CN" b="1" dirty="0">
                <a:solidFill>
                  <a:srgbClr val="24292E"/>
                </a:solidFill>
                <a:effectLst/>
                <a:latin typeface="Consolas" panose="020B0609020204030204" pitchFamily="49" charset="0"/>
              </a:rPr>
              <a:t>()))</a:t>
            </a:r>
            <a:endParaRPr lang="en-US" altLang="zh-CN" b="1" dirty="0">
              <a:solidFill>
                <a:srgbClr val="24292E"/>
              </a:solidFill>
              <a:effectLst/>
              <a:latin typeface="Consolas" panose="020B0609020204030204" pitchFamily="49" charset="0"/>
            </a:endParaRPr>
          </a:p>
        </p:txBody>
      </p:sp>
      <p:sp>
        <p:nvSpPr>
          <p:cNvPr id="3" name="文本框 2"/>
          <p:cNvSpPr txBox="1"/>
          <p:nvPr/>
        </p:nvSpPr>
        <p:spPr>
          <a:xfrm>
            <a:off x="3597864" y="2458374"/>
            <a:ext cx="4691197" cy="369332"/>
          </a:xfrm>
          <a:prstGeom prst="rect">
            <a:avLst/>
          </a:prstGeom>
          <a:noFill/>
        </p:spPr>
        <p:txBody>
          <a:bodyPr wrap="square">
            <a:spAutoFit/>
          </a:bodyPr>
          <a:lstStyle/>
          <a:p>
            <a:r>
              <a:rPr lang="en-US" altLang="zh-CN" b="1" dirty="0">
                <a:solidFill>
                  <a:srgbClr val="24292E"/>
                </a:solidFill>
                <a:effectLst/>
                <a:latin typeface="Consolas" panose="020B0609020204030204" pitchFamily="49" charset="0"/>
              </a:rPr>
              <a:t>input </a:t>
            </a:r>
            <a:r>
              <a:rPr lang="en-US" altLang="zh-CN" b="1" dirty="0">
                <a:solidFill>
                  <a:srgbClr val="D73A49"/>
                </a:solidFill>
                <a:effectLst/>
                <a:latin typeface="Consolas" panose="020B0609020204030204" pitchFamily="49" charset="0"/>
              </a:rPr>
              <a:t>=</a:t>
            </a:r>
            <a:r>
              <a:rPr lang="en-US" altLang="zh-CN" b="1" dirty="0">
                <a:solidFill>
                  <a:srgbClr val="24292E"/>
                </a:solidFill>
                <a:effectLst/>
                <a:latin typeface="Consolas" panose="020B0609020204030204" pitchFamily="49" charset="0"/>
              </a:rPr>
              <a:t> </a:t>
            </a:r>
            <a:r>
              <a:rPr lang="en-US" altLang="zh-CN" b="1" dirty="0" err="1">
                <a:solidFill>
                  <a:srgbClr val="24292E"/>
                </a:solidFill>
                <a:effectLst/>
                <a:latin typeface="Consolas" panose="020B0609020204030204" pitchFamily="49" charset="0"/>
              </a:rPr>
              <a:t>input.</a:t>
            </a:r>
            <a:r>
              <a:rPr lang="en-US" altLang="zh-CN" b="1" dirty="0" err="1">
                <a:solidFill>
                  <a:srgbClr val="6F42C1"/>
                </a:solidFill>
                <a:effectLst/>
                <a:latin typeface="Consolas" panose="020B0609020204030204" pitchFamily="49" charset="0"/>
              </a:rPr>
              <a:t>reshape</a:t>
            </a:r>
            <a:r>
              <a:rPr lang="en-US" altLang="zh-CN" b="1" dirty="0">
                <a:solidFill>
                  <a:srgbClr val="24292E"/>
                </a:solidFill>
                <a:effectLst/>
                <a:latin typeface="Consolas" panose="020B0609020204030204" pitchFamily="49" charset="0"/>
              </a:rPr>
              <a:t>((</a:t>
            </a:r>
            <a:r>
              <a:rPr lang="en-US" altLang="zh-CN" b="1" dirty="0">
                <a:solidFill>
                  <a:srgbClr val="005CC5"/>
                </a:solidFill>
                <a:effectLst/>
                <a:latin typeface="Consolas" panose="020B0609020204030204" pitchFamily="49" charset="0"/>
              </a:rPr>
              <a:t>10</a:t>
            </a:r>
            <a:r>
              <a:rPr lang="en-US" altLang="zh-CN" b="1" dirty="0">
                <a:solidFill>
                  <a:srgbClr val="24292E"/>
                </a:solidFill>
                <a:effectLst/>
                <a:latin typeface="Consolas" panose="020B0609020204030204" pitchFamily="49" charset="0"/>
              </a:rPr>
              <a:t>, </a:t>
            </a:r>
            <a:r>
              <a:rPr lang="en-US" altLang="zh-CN" b="1" dirty="0">
                <a:solidFill>
                  <a:srgbClr val="005CC5"/>
                </a:solidFill>
                <a:effectLst/>
                <a:latin typeface="Consolas" panose="020B0609020204030204" pitchFamily="49" charset="0"/>
              </a:rPr>
              <a:t>64</a:t>
            </a:r>
            <a:r>
              <a:rPr lang="en-US" altLang="zh-CN" b="1" dirty="0">
                <a:solidFill>
                  <a:srgbClr val="D73A49"/>
                </a:solidFill>
                <a:effectLst/>
                <a:latin typeface="Consolas" panose="020B0609020204030204" pitchFamily="49" charset="0"/>
              </a:rPr>
              <a:t>*</a:t>
            </a:r>
            <a:r>
              <a:rPr lang="en-US" altLang="zh-CN" b="1" dirty="0">
                <a:solidFill>
                  <a:srgbClr val="005CC5"/>
                </a:solidFill>
                <a:effectLst/>
                <a:latin typeface="Consolas" panose="020B0609020204030204" pitchFamily="49" charset="0"/>
              </a:rPr>
              <a:t>64</a:t>
            </a:r>
            <a:r>
              <a:rPr lang="en-US" altLang="zh-CN" b="1" dirty="0">
                <a:solidFill>
                  <a:srgbClr val="D73A49"/>
                </a:solidFill>
                <a:effectLst/>
                <a:latin typeface="Consolas" panose="020B0609020204030204" pitchFamily="49" charset="0"/>
              </a:rPr>
              <a:t>*</a:t>
            </a:r>
            <a:r>
              <a:rPr lang="en-US" altLang="zh-CN" b="1" dirty="0">
                <a:solidFill>
                  <a:srgbClr val="005CC5"/>
                </a:solidFill>
                <a:effectLst/>
                <a:latin typeface="Consolas" panose="020B0609020204030204" pitchFamily="49" charset="0"/>
              </a:rPr>
              <a:t>3</a:t>
            </a:r>
            <a:r>
              <a:rPr lang="en-US" altLang="zh-CN" b="1" dirty="0">
                <a:solidFill>
                  <a:srgbClr val="24292E"/>
                </a:solidFill>
                <a:effectLst/>
                <a:latin typeface="Consolas" panose="020B0609020204030204" pitchFamily="49" charset="0"/>
              </a:rPr>
              <a:t>))</a:t>
            </a:r>
            <a:endParaRPr lang="en-US" altLang="zh-CN" b="1"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14" name="文本框 13"/>
          <p:cNvSpPr txBox="1"/>
          <p:nvPr/>
        </p:nvSpPr>
        <p:spPr>
          <a:xfrm>
            <a:off x="837328" y="1627377"/>
            <a:ext cx="10853657" cy="1477328"/>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上一节的示例中，</a:t>
            </a:r>
            <a:r>
              <a:rPr lang="en-US" altLang="zh-CN" b="0" dirty="0">
                <a:solidFill>
                  <a:srgbClr val="24292E"/>
                </a:solidFill>
                <a:effectLst/>
                <a:latin typeface="Consolas" panose="020B0609020204030204" pitchFamily="49" charset="0"/>
              </a:rPr>
              <a:t>input = </a:t>
            </a:r>
            <a:r>
              <a:rPr lang="en-US" altLang="zh-CN" b="0" dirty="0" err="1">
                <a:solidFill>
                  <a:srgbClr val="24292E"/>
                </a:solidFill>
                <a:effectLst/>
                <a:latin typeface="Consolas" panose="020B0609020204030204" pitchFamily="49" charset="0"/>
              </a:rPr>
              <a:t>input.view</a:t>
            </a:r>
            <a:r>
              <a:rPr lang="en-US" altLang="zh-CN" b="0" dirty="0">
                <a:solidFill>
                  <a:srgbClr val="24292E"/>
                </a:solidFill>
                <a:effectLst/>
                <a:latin typeface="Consolas" panose="020B0609020204030204" pitchFamily="49" charset="0"/>
              </a:rPr>
              <a:t>(10, 64*64*3)</a:t>
            </a:r>
            <a:r>
              <a:rPr lang="zh-CN" altLang="en-US" b="0" dirty="0">
                <a:solidFill>
                  <a:srgbClr val="24292E"/>
                </a:solidFill>
                <a:effectLst/>
                <a:latin typeface="Consolas" panose="020B0609020204030204" pitchFamily="49" charset="0"/>
              </a:rPr>
              <a:t>语句实现了对张量形状的调整。实际上，</a:t>
            </a:r>
            <a:r>
              <a:rPr lang="en-US" altLang="zh-CN" b="0" dirty="0" err="1">
                <a:solidFill>
                  <a:srgbClr val="24292E"/>
                </a:solidFill>
                <a:effectLst/>
                <a:latin typeface="Consolas" panose="020B0609020204030204" pitchFamily="49" charset="0"/>
              </a:rPr>
              <a:t>nn</a:t>
            </a:r>
            <a:r>
              <a:rPr lang="zh-CN" altLang="en-US" b="0" dirty="0">
                <a:solidFill>
                  <a:srgbClr val="24292E"/>
                </a:solidFill>
                <a:effectLst/>
                <a:latin typeface="Consolas" panose="020B0609020204030204" pitchFamily="49" charset="0"/>
              </a:rPr>
              <a:t>模块还提供了</a:t>
            </a:r>
            <a:r>
              <a:rPr lang="en-US" altLang="zh-CN" b="0" dirty="0">
                <a:solidFill>
                  <a:srgbClr val="24292E"/>
                </a:solidFill>
                <a:effectLst/>
                <a:latin typeface="Consolas" panose="020B0609020204030204" pitchFamily="49" charset="0"/>
              </a:rPr>
              <a:t>Flatten</a:t>
            </a:r>
            <a:r>
              <a:rPr lang="zh-CN" altLang="en-US" b="0" dirty="0">
                <a:solidFill>
                  <a:srgbClr val="24292E"/>
                </a:solidFill>
                <a:effectLst/>
                <a:latin typeface="Consolas" panose="020B0609020204030204" pitchFamily="49" charset="0"/>
              </a:rPr>
              <a:t>类，也可以</a:t>
            </a:r>
            <a:r>
              <a:rPr lang="zh-CN" altLang="en-US" b="0" dirty="0">
                <a:solidFill>
                  <a:srgbClr val="FF0000"/>
                </a:solidFill>
                <a:effectLst/>
                <a:latin typeface="Consolas" panose="020B0609020204030204" pitchFamily="49" charset="0"/>
              </a:rPr>
              <a:t>直接把指定的连续几维数据展平为连续的一维数据</a:t>
            </a:r>
            <a:r>
              <a:rPr lang="zh-CN" altLang="en-US" b="0" dirty="0">
                <a:solidFill>
                  <a:srgbClr val="24292E"/>
                </a:solidFill>
                <a:effectLst/>
                <a:latin typeface="Consolas" panose="020B0609020204030204" pitchFamily="49" charset="0"/>
              </a:rPr>
              <a:t>，默认</a:t>
            </a:r>
            <a:r>
              <a:rPr lang="zh-CN" altLang="en-US" b="0" dirty="0">
                <a:solidFill>
                  <a:srgbClr val="FF0000"/>
                </a:solidFill>
                <a:effectLst/>
                <a:latin typeface="Consolas" panose="020B0609020204030204" pitchFamily="49" charset="0"/>
              </a:rPr>
              <a:t>从第</a:t>
            </a:r>
            <a:r>
              <a:rPr lang="en-US" altLang="zh-CN" b="0" dirty="0">
                <a:solidFill>
                  <a:srgbClr val="FF0000"/>
                </a:solidFill>
                <a:effectLst/>
                <a:latin typeface="Consolas" panose="020B0609020204030204" pitchFamily="49" charset="0"/>
              </a:rPr>
              <a:t>1</a:t>
            </a:r>
            <a:r>
              <a:rPr lang="zh-CN" altLang="en-US" b="0" dirty="0">
                <a:solidFill>
                  <a:srgbClr val="FF0000"/>
                </a:solidFill>
                <a:effectLst/>
                <a:latin typeface="Consolas" panose="020B0609020204030204" pitchFamily="49" charset="0"/>
              </a:rPr>
              <a:t>维到最后一维进行平坦化</a:t>
            </a:r>
            <a:r>
              <a:rPr lang="zh-CN" altLang="en-US" b="0" dirty="0">
                <a:solidFill>
                  <a:srgbClr val="24292E"/>
                </a:solidFill>
                <a:effectLst/>
                <a:latin typeface="Consolas" panose="020B0609020204030204" pitchFamily="49" charset="0"/>
              </a:rPr>
              <a:t>，</a:t>
            </a:r>
            <a:r>
              <a:rPr lang="zh-CN" altLang="en-US" b="0" dirty="0">
                <a:solidFill>
                  <a:srgbClr val="FF0000"/>
                </a:solidFill>
                <a:effectLst/>
                <a:latin typeface="Consolas" panose="020B0609020204030204" pitchFamily="49" charset="0"/>
              </a:rPr>
              <a:t>第</a:t>
            </a:r>
            <a:r>
              <a:rPr lang="en-US" altLang="zh-CN" b="0" dirty="0">
                <a:solidFill>
                  <a:srgbClr val="FF0000"/>
                </a:solidFill>
                <a:effectLst/>
                <a:latin typeface="Consolas" panose="020B0609020204030204" pitchFamily="49" charset="0"/>
              </a:rPr>
              <a:t>0</a:t>
            </a:r>
            <a:r>
              <a:rPr lang="zh-CN" altLang="en-US" b="0" dirty="0">
                <a:solidFill>
                  <a:srgbClr val="FF0000"/>
                </a:solidFill>
                <a:effectLst/>
                <a:latin typeface="Consolas" panose="020B0609020204030204" pitchFamily="49" charset="0"/>
              </a:rPr>
              <a:t>维常表示</a:t>
            </a:r>
            <a:r>
              <a:rPr lang="en-US" altLang="zh-CN" b="0" dirty="0" err="1">
                <a:solidFill>
                  <a:srgbClr val="FF0000"/>
                </a:solidFill>
                <a:effectLst/>
                <a:latin typeface="Consolas" panose="020B0609020204030204" pitchFamily="49" charset="0"/>
              </a:rPr>
              <a:t>batch_size</a:t>
            </a:r>
            <a:r>
              <a:rPr lang="zh-CN" altLang="en-US" b="0" dirty="0">
                <a:solidFill>
                  <a:srgbClr val="24292E"/>
                </a:solidFill>
                <a:effectLst/>
                <a:latin typeface="Consolas" panose="020B0609020204030204" pitchFamily="49" charset="0"/>
              </a:rPr>
              <a:t>，因此</a:t>
            </a:r>
            <a:r>
              <a:rPr lang="zh-CN" altLang="en-US" b="0" dirty="0">
                <a:solidFill>
                  <a:srgbClr val="FF0000"/>
                </a:solidFill>
                <a:effectLst/>
                <a:latin typeface="Consolas" panose="020B0609020204030204" pitchFamily="49" charset="0"/>
              </a:rPr>
              <a:t>不进行展平</a:t>
            </a:r>
            <a:r>
              <a:rPr lang="zh-CN" altLang="en-US"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endParaRPr lang="en-US" altLang="zh-CN" dirty="0">
              <a:solidFill>
                <a:srgbClr val="24292E"/>
              </a:solidFill>
              <a:latin typeface="Consolas" panose="020B0609020204030204" pitchFamily="49" charset="0"/>
            </a:endParaRPr>
          </a:p>
          <a:p>
            <a:r>
              <a:rPr lang="zh-CN" altLang="en-US" b="0" dirty="0">
                <a:solidFill>
                  <a:srgbClr val="24292E"/>
                </a:solidFill>
                <a:effectLst/>
                <a:latin typeface="Consolas" panose="020B0609020204030204" pitchFamily="49" charset="0"/>
              </a:rPr>
              <a:t>由此，上例中的</a:t>
            </a:r>
            <a:r>
              <a:rPr lang="en-US" altLang="zh-CN" b="0" dirty="0">
                <a:solidFill>
                  <a:srgbClr val="24292E"/>
                </a:solidFill>
                <a:effectLst/>
                <a:latin typeface="Consolas" panose="020B0609020204030204" pitchFamily="49" charset="0"/>
              </a:rPr>
              <a:t>input = </a:t>
            </a:r>
            <a:r>
              <a:rPr lang="en-US" altLang="zh-CN" b="0" dirty="0" err="1">
                <a:solidFill>
                  <a:srgbClr val="24292E"/>
                </a:solidFill>
                <a:effectLst/>
                <a:latin typeface="Consolas" panose="020B0609020204030204" pitchFamily="49" charset="0"/>
              </a:rPr>
              <a:t>input.view</a:t>
            </a:r>
            <a:r>
              <a:rPr lang="en-US" altLang="zh-CN" b="0" dirty="0">
                <a:solidFill>
                  <a:srgbClr val="24292E"/>
                </a:solidFill>
                <a:effectLst/>
                <a:latin typeface="Consolas" panose="020B0609020204030204" pitchFamily="49" charset="0"/>
              </a:rPr>
              <a:t>(10, 64*64*3)</a:t>
            </a:r>
            <a:r>
              <a:rPr lang="zh-CN" altLang="en-US" b="0" dirty="0">
                <a:solidFill>
                  <a:srgbClr val="24292E"/>
                </a:solidFill>
                <a:effectLst/>
                <a:latin typeface="Consolas" panose="020B0609020204030204" pitchFamily="49" charset="0"/>
              </a:rPr>
              <a:t>语句，也可以直接写成：</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(4) 5.3.4 </a:t>
            </a:r>
            <a:r>
              <a:rPr lang="zh-CN" altLang="en-US" dirty="0">
                <a:solidFill>
                  <a:srgbClr val="577CCE"/>
                </a:solidFill>
                <a:latin typeface="Consolas" panose="020B0609020204030204" pitchFamily="49" charset="0"/>
              </a:rPr>
              <a:t>平坦化类</a:t>
            </a:r>
            <a:r>
              <a:rPr lang="en-US" altLang="zh-CN" dirty="0" err="1">
                <a:solidFill>
                  <a:srgbClr val="577CCE"/>
                </a:solidFill>
                <a:latin typeface="Consolas" panose="020B0609020204030204" pitchFamily="49" charset="0"/>
              </a:rPr>
              <a:t>nn.Flatten</a:t>
            </a:r>
            <a:endParaRPr lang="zh-CN" altLang="en-US" b="0" dirty="0">
              <a:solidFill>
                <a:srgbClr val="577CCE"/>
              </a:solidFill>
              <a:effectLst/>
              <a:latin typeface="Consolas" panose="020B0609020204030204" pitchFamily="49" charset="0"/>
            </a:endParaRPr>
          </a:p>
        </p:txBody>
      </p:sp>
      <p:sp>
        <p:nvSpPr>
          <p:cNvPr id="7" name="文本框 6"/>
          <p:cNvSpPr txBox="1"/>
          <p:nvPr/>
        </p:nvSpPr>
        <p:spPr>
          <a:xfrm>
            <a:off x="3022658" y="3508473"/>
            <a:ext cx="6482993" cy="1200329"/>
          </a:xfrm>
          <a:prstGeom prst="rect">
            <a:avLst/>
          </a:prstGeom>
          <a:noFill/>
        </p:spPr>
        <p:txBody>
          <a:bodyPr wrap="square">
            <a:spAutoFit/>
          </a:bodyPr>
          <a:lstStyle/>
          <a:p>
            <a:r>
              <a:rPr lang="en-US" altLang="zh-CN" b="1" dirty="0">
                <a:solidFill>
                  <a:srgbClr val="24292E"/>
                </a:solidFill>
                <a:effectLst/>
                <a:latin typeface="Consolas" panose="020B0609020204030204" pitchFamily="49" charset="0"/>
              </a:rPr>
              <a:t>Flatten </a:t>
            </a:r>
            <a:r>
              <a:rPr lang="en-US" altLang="zh-CN" b="1" dirty="0">
                <a:solidFill>
                  <a:srgbClr val="D73A49"/>
                </a:solidFill>
                <a:effectLst/>
                <a:latin typeface="Consolas" panose="020B0609020204030204" pitchFamily="49" charset="0"/>
              </a:rPr>
              <a:t>=</a:t>
            </a:r>
            <a:r>
              <a:rPr lang="en-US" altLang="zh-CN" b="1" dirty="0">
                <a:solidFill>
                  <a:srgbClr val="24292E"/>
                </a:solidFill>
                <a:effectLst/>
                <a:latin typeface="Consolas" panose="020B0609020204030204" pitchFamily="49" charset="0"/>
              </a:rPr>
              <a:t> </a:t>
            </a:r>
            <a:r>
              <a:rPr lang="en-US" altLang="zh-CN" b="1" dirty="0" err="1">
                <a:solidFill>
                  <a:srgbClr val="6F42C1"/>
                </a:solidFill>
                <a:effectLst/>
                <a:latin typeface="Consolas" panose="020B0609020204030204" pitchFamily="49" charset="0"/>
              </a:rPr>
              <a:t>nn</a:t>
            </a:r>
            <a:r>
              <a:rPr lang="en-US" altLang="zh-CN" b="1" dirty="0" err="1">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Flatten</a:t>
            </a:r>
            <a:r>
              <a:rPr lang="en-US" altLang="zh-CN" b="1" dirty="0">
                <a:solidFill>
                  <a:srgbClr val="24292E"/>
                </a:solidFill>
                <a:effectLst/>
                <a:latin typeface="Consolas" panose="020B0609020204030204" pitchFamily="49" charset="0"/>
              </a:rPr>
              <a:t>()  </a:t>
            </a:r>
            <a:endParaRPr lang="en-US" altLang="zh-CN" b="1" dirty="0">
              <a:solidFill>
                <a:srgbClr val="24292E"/>
              </a:solidFill>
              <a:effectLst/>
              <a:latin typeface="Consolas" panose="020B0609020204030204" pitchFamily="49" charset="0"/>
            </a:endParaRPr>
          </a:p>
          <a:p>
            <a:r>
              <a:rPr lang="en-US" altLang="zh-CN" b="1" dirty="0">
                <a:solidFill>
                  <a:srgbClr val="6A737D"/>
                </a:solidFill>
                <a:effectLst/>
                <a:latin typeface="Consolas" panose="020B0609020204030204" pitchFamily="49" charset="0"/>
              </a:rPr>
              <a:t># </a:t>
            </a:r>
            <a:r>
              <a:rPr lang="zh-CN" altLang="en-US" b="1" dirty="0">
                <a:solidFill>
                  <a:srgbClr val="6A737D"/>
                </a:solidFill>
                <a:effectLst/>
                <a:latin typeface="Consolas" panose="020B0609020204030204" pitchFamily="49" charset="0"/>
              </a:rPr>
              <a:t>实例化类对象</a:t>
            </a:r>
            <a:endParaRPr lang="zh-CN" altLang="en-US" b="1" dirty="0">
              <a:solidFill>
                <a:srgbClr val="24292E"/>
              </a:solidFill>
              <a:effectLst/>
              <a:latin typeface="Consolas" panose="020B0609020204030204" pitchFamily="49" charset="0"/>
            </a:endParaRPr>
          </a:p>
          <a:p>
            <a:r>
              <a:rPr lang="en-US" altLang="zh-CN" b="1" dirty="0">
                <a:solidFill>
                  <a:srgbClr val="24292E"/>
                </a:solidFill>
                <a:effectLst/>
                <a:latin typeface="Consolas" panose="020B0609020204030204" pitchFamily="49" charset="0"/>
              </a:rPr>
              <a:t>input </a:t>
            </a:r>
            <a:r>
              <a:rPr lang="en-US" altLang="zh-CN" b="1" dirty="0">
                <a:solidFill>
                  <a:srgbClr val="D73A49"/>
                </a:solidFill>
                <a:effectLst/>
                <a:latin typeface="Consolas" panose="020B0609020204030204" pitchFamily="49" charset="0"/>
              </a:rPr>
              <a:t>=</a:t>
            </a:r>
            <a:r>
              <a:rPr lang="en-US" altLang="zh-CN" b="1" dirty="0">
                <a:solidFill>
                  <a:srgbClr val="24292E"/>
                </a:solidFill>
                <a:effectLst/>
                <a:latin typeface="Consolas" panose="020B0609020204030204" pitchFamily="49" charset="0"/>
              </a:rPr>
              <a:t> Flatten(input)  </a:t>
            </a:r>
            <a:endParaRPr lang="en-US" altLang="zh-CN" b="1" dirty="0">
              <a:solidFill>
                <a:srgbClr val="24292E"/>
              </a:solidFill>
              <a:effectLst/>
              <a:latin typeface="Consolas" panose="020B0609020204030204" pitchFamily="49" charset="0"/>
            </a:endParaRPr>
          </a:p>
          <a:p>
            <a:r>
              <a:rPr lang="en-US" altLang="zh-CN" b="1" dirty="0">
                <a:solidFill>
                  <a:srgbClr val="6A737D"/>
                </a:solidFill>
                <a:effectLst/>
                <a:latin typeface="Consolas" panose="020B0609020204030204" pitchFamily="49" charset="0"/>
              </a:rPr>
              <a:t># </a:t>
            </a:r>
            <a:r>
              <a:rPr lang="zh-CN" altLang="en-US" b="1" dirty="0">
                <a:solidFill>
                  <a:srgbClr val="6A737D"/>
                </a:solidFill>
                <a:effectLst/>
                <a:latin typeface="Consolas" panose="020B0609020204030204" pitchFamily="49" charset="0"/>
              </a:rPr>
              <a:t>进行展平，</a:t>
            </a:r>
            <a:r>
              <a:rPr lang="en-US" altLang="zh-CN" b="1" dirty="0">
                <a:solidFill>
                  <a:srgbClr val="6A737D"/>
                </a:solidFill>
                <a:effectLst/>
                <a:latin typeface="Consolas" panose="020B0609020204030204" pitchFamily="49" charset="0"/>
              </a:rPr>
              <a:t>input</a:t>
            </a:r>
            <a:r>
              <a:rPr lang="zh-CN" altLang="en-US" b="1" dirty="0">
                <a:solidFill>
                  <a:srgbClr val="6A737D"/>
                </a:solidFill>
                <a:effectLst/>
                <a:latin typeface="Consolas" panose="020B0609020204030204" pitchFamily="49" charset="0"/>
              </a:rPr>
              <a:t>的</a:t>
            </a:r>
            <a:r>
              <a:rPr lang="en-US" altLang="zh-CN" b="1" dirty="0">
                <a:solidFill>
                  <a:srgbClr val="6A737D"/>
                </a:solidFill>
                <a:effectLst/>
                <a:latin typeface="Consolas" panose="020B0609020204030204" pitchFamily="49" charset="0"/>
              </a:rPr>
              <a:t>shape</a:t>
            </a:r>
            <a:r>
              <a:rPr lang="zh-CN" altLang="en-US" b="1" dirty="0">
                <a:solidFill>
                  <a:srgbClr val="6A737D"/>
                </a:solidFill>
                <a:effectLst/>
                <a:latin typeface="Consolas" panose="020B0609020204030204" pitchFamily="49" charset="0"/>
              </a:rPr>
              <a:t>也是</a:t>
            </a:r>
            <a:r>
              <a:rPr lang="en-US" altLang="zh-CN" b="1" dirty="0" err="1">
                <a:solidFill>
                  <a:srgbClr val="6A737D"/>
                </a:solidFill>
                <a:effectLst/>
                <a:latin typeface="Consolas" panose="020B0609020204030204" pitchFamily="49" charset="0"/>
              </a:rPr>
              <a:t>torch.Size</a:t>
            </a:r>
            <a:r>
              <a:rPr lang="en-US" altLang="zh-CN" b="1" dirty="0">
                <a:solidFill>
                  <a:srgbClr val="6A737D"/>
                </a:solidFill>
                <a:effectLst/>
                <a:latin typeface="Consolas" panose="020B0609020204030204" pitchFamily="49" charset="0"/>
              </a:rPr>
              <a:t>([10, 12288])</a:t>
            </a:r>
            <a:endParaRPr lang="en-US" altLang="zh-CN" b="1"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14" name="文本框 13"/>
          <p:cNvSpPr txBox="1"/>
          <p:nvPr/>
        </p:nvSpPr>
        <p:spPr>
          <a:xfrm>
            <a:off x="837328" y="1627377"/>
            <a:ext cx="10853657" cy="1477328"/>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PyTorch</a:t>
            </a:r>
            <a:r>
              <a:rPr lang="zh-CN" altLang="en-US" b="0" dirty="0">
                <a:solidFill>
                  <a:srgbClr val="24292E"/>
                </a:solidFill>
                <a:effectLst/>
                <a:latin typeface="Consolas" panose="020B0609020204030204" pitchFamily="49" charset="0"/>
              </a:rPr>
              <a:t>的</a:t>
            </a:r>
            <a:r>
              <a:rPr lang="en-US" altLang="zh-CN" b="0" dirty="0" err="1">
                <a:solidFill>
                  <a:srgbClr val="24292E"/>
                </a:solidFill>
                <a:effectLst/>
                <a:latin typeface="Consolas" panose="020B0609020204030204" pitchFamily="49" charset="0"/>
              </a:rPr>
              <a:t>nn</a:t>
            </a:r>
            <a:r>
              <a:rPr lang="zh-CN" altLang="en-US" b="0" dirty="0">
                <a:solidFill>
                  <a:srgbClr val="24292E"/>
                </a:solidFill>
                <a:effectLst/>
                <a:latin typeface="Consolas" panose="020B0609020204030204" pitchFamily="49" charset="0"/>
              </a:rPr>
              <a:t>模块提供了丰富的非线性激活函数，用来对模型的输入和输出构建复杂的映射。例如</a:t>
            </a:r>
            <a:r>
              <a:rPr lang="en-US" altLang="zh-CN" b="0" dirty="0" err="1">
                <a:solidFill>
                  <a:srgbClr val="24292E"/>
                </a:solidFill>
                <a:effectLst/>
                <a:latin typeface="Consolas" panose="020B0609020204030204" pitchFamily="49" charset="0"/>
              </a:rPr>
              <a:t>ReLU</a:t>
            </a:r>
            <a:r>
              <a:rPr lang="zh-CN" altLang="en-US"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Softmax</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Sigmoid</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Tanh</a:t>
            </a:r>
            <a:r>
              <a:rPr lang="zh-CN" altLang="en-US"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LogSigmoid</a:t>
            </a:r>
            <a:r>
              <a:rPr lang="zh-CN" altLang="en-US"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LogSoftmax</a:t>
            </a:r>
            <a:r>
              <a:rPr lang="zh-CN" altLang="en-US" b="0" dirty="0">
                <a:solidFill>
                  <a:srgbClr val="24292E"/>
                </a:solidFill>
                <a:effectLst/>
                <a:latin typeface="Consolas" panose="020B0609020204030204" pitchFamily="49" charset="0"/>
              </a:rPr>
              <a:t>等。激活函数常用于在线性变换后，通过加入非线性变换使得模型能进行更复杂的表示。</a:t>
            </a:r>
            <a:endParaRPr lang="en-US" altLang="zh-CN" b="0" dirty="0">
              <a:solidFill>
                <a:srgbClr val="24292E"/>
              </a:solidFill>
              <a:effectLst/>
              <a:latin typeface="Consolas" panose="020B0609020204030204" pitchFamily="49" charset="0"/>
            </a:endParaRPr>
          </a:p>
          <a:p>
            <a:endParaRPr lang="en-US" altLang="zh-CN" dirty="0">
              <a:solidFill>
                <a:srgbClr val="24292E"/>
              </a:solidFill>
              <a:latin typeface="Consolas" panose="020B0609020204030204" pitchFamily="49" charset="0"/>
            </a:endParaRPr>
          </a:p>
          <a:p>
            <a:r>
              <a:rPr lang="zh-CN" altLang="en-US" b="0" dirty="0">
                <a:solidFill>
                  <a:srgbClr val="24292E"/>
                </a:solidFill>
                <a:effectLst/>
                <a:latin typeface="Consolas" panose="020B0609020204030204" pitchFamily="49" charset="0"/>
              </a:rPr>
              <a:t>下面以</a:t>
            </a:r>
            <a:r>
              <a:rPr lang="en-US" altLang="zh-CN" b="0" dirty="0" err="1">
                <a:solidFill>
                  <a:srgbClr val="24292E"/>
                </a:solidFill>
                <a:effectLst/>
                <a:latin typeface="Consolas" panose="020B0609020204030204" pitchFamily="49" charset="0"/>
              </a:rPr>
              <a:t>nn.ReLU</a:t>
            </a:r>
            <a:r>
              <a:rPr lang="zh-CN" altLang="en-US" b="0" dirty="0">
                <a:solidFill>
                  <a:srgbClr val="24292E"/>
                </a:solidFill>
                <a:effectLst/>
                <a:latin typeface="Consolas" panose="020B0609020204030204" pitchFamily="49" charset="0"/>
              </a:rPr>
              <a:t>为例，介绍激活函数的使用。</a:t>
            </a:r>
            <a:r>
              <a:rPr lang="en-US" altLang="zh-CN" b="0" dirty="0" err="1">
                <a:solidFill>
                  <a:srgbClr val="24292E"/>
                </a:solidFill>
                <a:effectLst/>
                <a:latin typeface="Consolas" panose="020B0609020204030204" pitchFamily="49" charset="0"/>
              </a:rPr>
              <a:t>ReLU</a:t>
            </a:r>
            <a:r>
              <a:rPr lang="zh-CN" altLang="en-US" b="0" dirty="0">
                <a:solidFill>
                  <a:srgbClr val="24292E"/>
                </a:solidFill>
                <a:effectLst/>
                <a:latin typeface="Consolas" panose="020B0609020204030204" pitchFamily="49" charset="0"/>
              </a:rPr>
              <a:t>类定义如下：</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 5.3.5 </a:t>
            </a:r>
            <a:r>
              <a:rPr lang="zh-CN" altLang="en-US" dirty="0">
                <a:solidFill>
                  <a:srgbClr val="577CCE"/>
                </a:solidFill>
                <a:latin typeface="Consolas" panose="020B0609020204030204" pitchFamily="49" charset="0"/>
              </a:rPr>
              <a:t>非线性激活函数</a:t>
            </a:r>
            <a:endParaRPr lang="zh-CN" altLang="en-US" b="0" dirty="0">
              <a:solidFill>
                <a:srgbClr val="577CCE"/>
              </a:solidFill>
              <a:effectLst/>
              <a:latin typeface="Consolas" panose="020B0609020204030204" pitchFamily="49" charset="0"/>
            </a:endParaRPr>
          </a:p>
        </p:txBody>
      </p:sp>
      <p:sp>
        <p:nvSpPr>
          <p:cNvPr id="7" name="文本框 6"/>
          <p:cNvSpPr txBox="1"/>
          <p:nvPr/>
        </p:nvSpPr>
        <p:spPr>
          <a:xfrm>
            <a:off x="1126946" y="3339922"/>
            <a:ext cx="3562700" cy="369332"/>
          </a:xfrm>
          <a:prstGeom prst="rect">
            <a:avLst/>
          </a:prstGeom>
          <a:noFill/>
        </p:spPr>
        <p:txBody>
          <a:bodyPr wrap="square">
            <a:spAutoFit/>
          </a:bodyPr>
          <a:lstStyle/>
          <a:p>
            <a:r>
              <a:rPr lang="en-US" altLang="zh-CN" b="1" dirty="0" err="1">
                <a:solidFill>
                  <a:srgbClr val="6F42C1"/>
                </a:solidFill>
                <a:effectLst/>
                <a:latin typeface="Consolas" panose="020B0609020204030204" pitchFamily="49" charset="0"/>
              </a:rPr>
              <a:t>nn</a:t>
            </a:r>
            <a:r>
              <a:rPr lang="en-US" altLang="zh-CN" b="1" dirty="0" err="1">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ReLU</a:t>
            </a:r>
            <a:r>
              <a:rPr lang="en-US" altLang="zh-CN" b="1" dirty="0">
                <a:solidFill>
                  <a:srgbClr val="24292E"/>
                </a:solidFill>
                <a:effectLst/>
                <a:latin typeface="Consolas" panose="020B0609020204030204" pitchFamily="49" charset="0"/>
              </a:rPr>
              <a:t>(</a:t>
            </a:r>
            <a:r>
              <a:rPr lang="en-US" altLang="zh-CN" b="1" dirty="0" err="1">
                <a:solidFill>
                  <a:srgbClr val="E36209"/>
                </a:solidFill>
                <a:effectLst/>
                <a:latin typeface="Consolas" panose="020B0609020204030204" pitchFamily="49" charset="0"/>
              </a:rPr>
              <a:t>inplace</a:t>
            </a:r>
            <a:r>
              <a:rPr lang="en-US" altLang="zh-CN" b="1" dirty="0">
                <a:solidFill>
                  <a:srgbClr val="24292E"/>
                </a:solidFill>
                <a:effectLst/>
                <a:latin typeface="Consolas" panose="020B0609020204030204" pitchFamily="49" charset="0"/>
              </a:rPr>
              <a:t> </a:t>
            </a:r>
            <a:r>
              <a:rPr lang="en-US" altLang="zh-CN" b="1" dirty="0">
                <a:solidFill>
                  <a:srgbClr val="D73A49"/>
                </a:solidFill>
                <a:effectLst/>
                <a:latin typeface="Consolas" panose="020B0609020204030204" pitchFamily="49" charset="0"/>
              </a:rPr>
              <a:t>=</a:t>
            </a:r>
            <a:r>
              <a:rPr lang="en-US" altLang="zh-CN" b="1" dirty="0">
                <a:solidFill>
                  <a:srgbClr val="24292E"/>
                </a:solidFill>
                <a:effectLst/>
                <a:latin typeface="Consolas" panose="020B0609020204030204" pitchFamily="49" charset="0"/>
              </a:rPr>
              <a:t> </a:t>
            </a:r>
            <a:r>
              <a:rPr lang="en-US" altLang="zh-CN" b="1" dirty="0">
                <a:solidFill>
                  <a:srgbClr val="005CC5"/>
                </a:solidFill>
                <a:effectLst/>
                <a:latin typeface="Consolas" panose="020B0609020204030204" pitchFamily="49" charset="0"/>
              </a:rPr>
              <a:t>False</a:t>
            </a:r>
            <a:r>
              <a:rPr lang="en-US" altLang="zh-CN" b="1" dirty="0">
                <a:solidFill>
                  <a:srgbClr val="24292E"/>
                </a:solidFill>
                <a:effectLst/>
                <a:latin typeface="Consolas" panose="020B0609020204030204" pitchFamily="49" charset="0"/>
              </a:rPr>
              <a:t>)</a:t>
            </a:r>
            <a:endParaRPr lang="en-US" altLang="zh-CN" b="1" dirty="0">
              <a:solidFill>
                <a:srgbClr val="24292E"/>
              </a:solidFill>
              <a:effectLst/>
              <a:latin typeface="Consolas" panose="020B0609020204030204" pitchFamily="49" charset="0"/>
            </a:endParaRPr>
          </a:p>
        </p:txBody>
      </p:sp>
      <p:sp>
        <p:nvSpPr>
          <p:cNvPr id="3" name="文本框 2"/>
          <p:cNvSpPr txBox="1"/>
          <p:nvPr/>
        </p:nvSpPr>
        <p:spPr>
          <a:xfrm>
            <a:off x="837328" y="3944471"/>
            <a:ext cx="6094602"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下面的代码是在线性层后引入非线性层的示例：</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837327" y="4549020"/>
            <a:ext cx="6296717" cy="2031325"/>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input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Flatten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Flatten</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实例化类对象</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flat_image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Flatten(input)  </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进行展平，</a:t>
            </a:r>
            <a:r>
              <a:rPr lang="en-US" altLang="zh-CN" b="0" dirty="0">
                <a:solidFill>
                  <a:srgbClr val="6A737D"/>
                </a:solidFill>
                <a:effectLst/>
                <a:latin typeface="Consolas" panose="020B0609020204030204" pitchFamily="49" charset="0"/>
              </a:rPr>
              <a:t>input</a:t>
            </a:r>
            <a:r>
              <a:rPr lang="zh-CN" altLang="en-US" b="0" dirty="0">
                <a:solidFill>
                  <a:srgbClr val="6A737D"/>
                </a:solidFill>
                <a:effectLst/>
                <a:latin typeface="Consolas" panose="020B0609020204030204" pitchFamily="49" charset="0"/>
              </a:rPr>
              <a:t>的</a:t>
            </a:r>
            <a:r>
              <a:rPr lang="en-US" altLang="zh-CN" b="0" dirty="0">
                <a:solidFill>
                  <a:srgbClr val="6A737D"/>
                </a:solidFill>
                <a:effectLst/>
                <a:latin typeface="Consolas" panose="020B0609020204030204" pitchFamily="49" charset="0"/>
              </a:rPr>
              <a:t>shape</a:t>
            </a:r>
            <a:r>
              <a:rPr lang="zh-CN" altLang="en-US" b="0" dirty="0">
                <a:solidFill>
                  <a:srgbClr val="6A737D"/>
                </a:solidFill>
                <a:effectLst/>
                <a:latin typeface="Consolas" panose="020B0609020204030204" pitchFamily="49" charset="0"/>
              </a:rPr>
              <a:t>也是</a:t>
            </a:r>
            <a:r>
              <a:rPr lang="en-US" altLang="zh-CN" b="0" dirty="0" err="1">
                <a:solidFill>
                  <a:srgbClr val="6A737D"/>
                </a:solidFill>
                <a:effectLst/>
                <a:latin typeface="Consolas" panose="020B0609020204030204" pitchFamily="49" charset="0"/>
              </a:rPr>
              <a:t>torch.Size</a:t>
            </a:r>
            <a:r>
              <a:rPr lang="en-US" altLang="zh-CN" b="0" dirty="0">
                <a:solidFill>
                  <a:srgbClr val="6A737D"/>
                </a:solidFill>
                <a:effectLst/>
                <a:latin typeface="Consolas" panose="020B0609020204030204" pitchFamily="49" charset="0"/>
              </a:rPr>
              <a:t>([10, 12288])</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layer1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Linear</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in_features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64</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64</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out_features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hidden1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layer1(</a:t>
            </a:r>
            <a:r>
              <a:rPr lang="en-US" altLang="zh-CN" b="0" dirty="0" err="1">
                <a:solidFill>
                  <a:srgbClr val="24292E"/>
                </a:solidFill>
                <a:effectLst/>
                <a:latin typeface="Consolas" panose="020B0609020204030204" pitchFamily="49" charset="0"/>
              </a:rPr>
              <a:t>flat_image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1" name="文本框 10"/>
          <p:cNvSpPr txBox="1"/>
          <p:nvPr/>
        </p:nvSpPr>
        <p:spPr>
          <a:xfrm>
            <a:off x="7193849" y="4549020"/>
            <a:ext cx="4803133" cy="1200329"/>
          </a:xfrm>
          <a:prstGeom prst="rect">
            <a:avLst/>
          </a:prstGeom>
          <a:noFill/>
        </p:spPr>
        <p:txBody>
          <a:bodyPr wrap="square">
            <a:spAutoFit/>
          </a:bodyPr>
          <a:lstStyle/>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(hidden1.size())</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D73A49"/>
                </a:solidFill>
                <a:effectLst/>
                <a:latin typeface="Consolas" panose="020B0609020204030204" pitchFamily="49" charset="0"/>
              </a:rPr>
              <a:t>f</a:t>
            </a:r>
            <a:r>
              <a:rPr lang="en-US" altLang="zh-CN" b="0" dirty="0" err="1">
                <a:solidFill>
                  <a:srgbClr val="032F62"/>
                </a:solidFill>
                <a:effectLst/>
                <a:latin typeface="Consolas" panose="020B0609020204030204" pitchFamily="49" charset="0"/>
              </a:rPr>
              <a:t>"Before</a:t>
            </a:r>
            <a:r>
              <a:rPr lang="en-US" altLang="zh-CN" b="0" dirty="0">
                <a:solidFill>
                  <a:srgbClr val="032F62"/>
                </a:solidFill>
                <a:effectLst/>
                <a:latin typeface="Consolas" panose="020B0609020204030204" pitchFamily="49" charset="0"/>
              </a:rPr>
              <a:t> </a:t>
            </a:r>
            <a:r>
              <a:rPr lang="en-US" altLang="zh-CN" b="0" dirty="0" err="1">
                <a:solidFill>
                  <a:srgbClr val="032F62"/>
                </a:solidFill>
                <a:effectLst/>
                <a:latin typeface="Consolas" panose="020B0609020204030204" pitchFamily="49" charset="0"/>
              </a:rPr>
              <a:t>ReLU</a:t>
            </a:r>
            <a:r>
              <a:rPr lang="en-US" altLang="zh-CN" b="0" dirty="0">
                <a:solidFill>
                  <a:srgbClr val="032F62"/>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hidden1</a:t>
            </a:r>
            <a:r>
              <a:rPr lang="en-US" altLang="zh-CN" b="0" dirty="0">
                <a:solidFill>
                  <a:srgbClr val="005CC5"/>
                </a:solidFill>
                <a:effectLst/>
                <a:latin typeface="Consolas" panose="020B0609020204030204" pitchFamily="49" charset="0"/>
              </a:rPr>
              <a:t>}\n\n</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FF0000"/>
                </a:solidFill>
                <a:effectLst/>
                <a:latin typeface="Consolas" panose="020B0609020204030204" pitchFamily="49" charset="0"/>
              </a:rPr>
              <a:t>hidden1 = </a:t>
            </a:r>
            <a:r>
              <a:rPr lang="en-US" altLang="zh-CN" b="0" dirty="0" err="1">
                <a:solidFill>
                  <a:srgbClr val="FF0000"/>
                </a:solidFill>
                <a:effectLst/>
                <a:latin typeface="Consolas" panose="020B0609020204030204" pitchFamily="49" charset="0"/>
              </a:rPr>
              <a:t>nn.ReLU</a:t>
            </a:r>
            <a:r>
              <a:rPr lang="en-US" altLang="zh-CN" b="0" dirty="0">
                <a:solidFill>
                  <a:srgbClr val="FF0000"/>
                </a:solidFill>
                <a:effectLst/>
                <a:latin typeface="Consolas" panose="020B0609020204030204" pitchFamily="49" charset="0"/>
              </a:rPr>
              <a:t>()(hidden1)</a:t>
            </a:r>
            <a:endParaRPr lang="en-US" altLang="zh-CN" b="0" dirty="0">
              <a:solidFill>
                <a:srgbClr val="FF0000"/>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D73A49"/>
                </a:solidFill>
                <a:effectLst/>
                <a:latin typeface="Consolas" panose="020B0609020204030204" pitchFamily="49" charset="0"/>
              </a:rPr>
              <a:t>f</a:t>
            </a:r>
            <a:r>
              <a:rPr lang="en-US" altLang="zh-CN" b="0" dirty="0" err="1">
                <a:solidFill>
                  <a:srgbClr val="032F62"/>
                </a:solidFill>
                <a:effectLst/>
                <a:latin typeface="Consolas" panose="020B0609020204030204" pitchFamily="49" charset="0"/>
              </a:rPr>
              <a:t>"After</a:t>
            </a:r>
            <a:r>
              <a:rPr lang="en-US" altLang="zh-CN" b="0" dirty="0">
                <a:solidFill>
                  <a:srgbClr val="032F62"/>
                </a:solidFill>
                <a:effectLst/>
                <a:latin typeface="Consolas" panose="020B0609020204030204" pitchFamily="49" charset="0"/>
              </a:rPr>
              <a:t> </a:t>
            </a:r>
            <a:r>
              <a:rPr lang="en-US" altLang="zh-CN" b="0" dirty="0" err="1">
                <a:solidFill>
                  <a:srgbClr val="032F62"/>
                </a:solidFill>
                <a:effectLst/>
                <a:latin typeface="Consolas" panose="020B0609020204030204" pitchFamily="49" charset="0"/>
              </a:rPr>
              <a:t>ReLU</a:t>
            </a:r>
            <a:r>
              <a:rPr lang="en-US" altLang="zh-CN" b="0" dirty="0">
                <a:solidFill>
                  <a:srgbClr val="032F62"/>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hidden1</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16" name="图片 15"/>
          <p:cNvPicPr>
            <a:picLocks noChangeAspect="1"/>
          </p:cNvPicPr>
          <p:nvPr/>
        </p:nvPicPr>
        <p:blipFill>
          <a:blip r:embed="rId1"/>
          <a:stretch>
            <a:fillRect/>
          </a:stretch>
        </p:blipFill>
        <p:spPr>
          <a:xfrm>
            <a:off x="331477" y="1494701"/>
            <a:ext cx="7308416" cy="2921643"/>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23" name="组合 22"/>
          <p:cNvGrpSpPr/>
          <p:nvPr/>
        </p:nvGrpSpPr>
        <p:grpSpPr>
          <a:xfrm>
            <a:off x="6931930" y="315737"/>
            <a:ext cx="4759055" cy="2293239"/>
            <a:chOff x="6931930" y="315737"/>
            <a:chExt cx="4759055" cy="2293239"/>
          </a:xfrm>
        </p:grpSpPr>
        <p:sp>
          <p:nvSpPr>
            <p:cNvPr id="20" name="对话气泡: 椭圆形 19"/>
            <p:cNvSpPr/>
            <p:nvPr/>
          </p:nvSpPr>
          <p:spPr>
            <a:xfrm>
              <a:off x="6931930" y="315737"/>
              <a:ext cx="4759055" cy="2293239"/>
            </a:xfrm>
            <a:prstGeom prst="wedgeEllipseCallout">
              <a:avLst>
                <a:gd name="adj1" fmla="val -46183"/>
                <a:gd name="adj2" fmla="val 56836"/>
              </a:avLst>
            </a:prstGeom>
            <a:gradFill flip="none" rotWithShape="1">
              <a:gsLst>
                <a:gs pos="0">
                  <a:srgbClr val="A388D5">
                    <a:tint val="66000"/>
                    <a:satMod val="160000"/>
                  </a:srgbClr>
                </a:gs>
                <a:gs pos="50000">
                  <a:srgbClr val="A388D5">
                    <a:tint val="44500"/>
                    <a:satMod val="160000"/>
                  </a:srgbClr>
                </a:gs>
                <a:gs pos="100000">
                  <a:srgbClr val="A388D5">
                    <a:tint val="23500"/>
                    <a:satMod val="160000"/>
                  </a:srgbClr>
                </a:gs>
              </a:gsLst>
              <a:path path="circle">
                <a:fillToRect l="100000" b="100000"/>
              </a:path>
              <a:tileRect t="-100000" r="-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文本框 21"/>
            <p:cNvSpPr txBox="1"/>
            <p:nvPr/>
          </p:nvSpPr>
          <p:spPr>
            <a:xfrm>
              <a:off x="7277831" y="894537"/>
              <a:ext cx="4227844" cy="1200329"/>
            </a:xfrm>
            <a:prstGeom prst="rect">
              <a:avLst/>
            </a:prstGeom>
            <a:noFill/>
          </p:spPr>
          <p:txBody>
            <a:bodyPr wrap="square">
              <a:spAutoFit/>
            </a:bodyPr>
            <a:lstStyle/>
            <a:p>
              <a:pPr algn="ctr"/>
              <a:r>
                <a:rPr lang="zh-CN" altLang="en-US" b="0" dirty="0">
                  <a:solidFill>
                    <a:srgbClr val="E36209"/>
                  </a:solidFill>
                  <a:effectLst/>
                  <a:latin typeface="Consolas" panose="020B0609020204030204" pitchFamily="49" charset="0"/>
                </a:rPr>
                <a:t>不难发现，经过</a:t>
              </a:r>
              <a:r>
                <a:rPr lang="en-US" altLang="zh-CN" b="0" dirty="0" err="1">
                  <a:solidFill>
                    <a:srgbClr val="FF0000"/>
                  </a:solidFill>
                  <a:effectLst/>
                  <a:latin typeface="Consolas" panose="020B0609020204030204" pitchFamily="49" charset="0"/>
                </a:rPr>
                <a:t>ReLU</a:t>
              </a:r>
              <a:r>
                <a:rPr lang="zh-CN" altLang="en-US" b="0" dirty="0">
                  <a:solidFill>
                    <a:srgbClr val="E36209"/>
                  </a:solidFill>
                  <a:effectLst/>
                  <a:latin typeface="Consolas" panose="020B0609020204030204" pitchFamily="49" charset="0"/>
                </a:rPr>
                <a:t>函数后，</a:t>
              </a:r>
              <a:r>
                <a:rPr lang="zh-CN" altLang="en-US" b="0" dirty="0">
                  <a:solidFill>
                    <a:srgbClr val="FF0000"/>
                  </a:solidFill>
                  <a:effectLst/>
                  <a:latin typeface="Consolas" panose="020B0609020204030204" pitchFamily="49" charset="0"/>
                </a:rPr>
                <a:t>所有的负值都变为了</a:t>
              </a:r>
              <a:r>
                <a:rPr lang="en-US" altLang="zh-CN" b="0" dirty="0">
                  <a:solidFill>
                    <a:srgbClr val="FF0000"/>
                  </a:solidFill>
                  <a:effectLst/>
                  <a:latin typeface="Consolas" panose="020B0609020204030204" pitchFamily="49" charset="0"/>
                </a:rPr>
                <a:t>0</a:t>
              </a:r>
              <a:r>
                <a:rPr lang="zh-CN" altLang="en-US" b="0" dirty="0">
                  <a:solidFill>
                    <a:srgbClr val="E36209"/>
                  </a:solidFill>
                  <a:effectLst/>
                  <a:latin typeface="Consolas" panose="020B0609020204030204" pitchFamily="49" charset="0"/>
                </a:rPr>
                <a:t>。其他激活函数使用方法类似，将输入数据进行非线性处理。通常，激活函数都没有要学习的参数。</a:t>
              </a:r>
              <a:endParaRPr lang="zh-CN" altLang="en-US" b="0" dirty="0">
                <a:solidFill>
                  <a:srgbClr val="E36209"/>
                </a:solidFill>
                <a:effectLst/>
                <a:latin typeface="Consolas" panose="020B0609020204030204" pitchFamily="49" charset="0"/>
              </a:endParaRPr>
            </a:p>
          </p:txBody>
        </p:sp>
      </p:grpSp>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down)">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wipe(down)">
                                      <p:cBhvr>
                                        <p:cTn id="2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14" name="文本框 13"/>
          <p:cNvSpPr txBox="1"/>
          <p:nvPr/>
        </p:nvSpPr>
        <p:spPr>
          <a:xfrm>
            <a:off x="837328" y="1627377"/>
            <a:ext cx="10853657" cy="923330"/>
          </a:xfrm>
          <a:prstGeom prst="rect">
            <a:avLst/>
          </a:prstGeom>
          <a:noFill/>
        </p:spPr>
        <p:txBody>
          <a:bodyPr wrap="square">
            <a:spAutoFit/>
          </a:bodyPr>
          <a:lstStyle/>
          <a:p>
            <a:r>
              <a:rPr lang="zh-CN" altLang="en-US" dirty="0">
                <a:solidFill>
                  <a:srgbClr val="24292E"/>
                </a:solidFill>
                <a:latin typeface="Consolas" panose="020B0609020204030204" pitchFamily="49" charset="0"/>
              </a:rPr>
              <a:t>顺序化容器可以将神经网络的各个模块，如卷积操作、全连接操作、激活函数等，按照顺序加入其中，模型在训练或推理时，</a:t>
            </a:r>
            <a:r>
              <a:rPr lang="zh-CN" altLang="en-US" dirty="0">
                <a:solidFill>
                  <a:srgbClr val="FF0000"/>
                </a:solidFill>
                <a:latin typeface="Consolas" panose="020B0609020204030204" pitchFamily="49" charset="0"/>
              </a:rPr>
              <a:t>按顺序执行各个操作</a:t>
            </a:r>
            <a:r>
              <a:rPr lang="zh-CN" altLang="en-US" dirty="0">
                <a:solidFill>
                  <a:srgbClr val="24292E"/>
                </a:solidFill>
                <a:latin typeface="Consolas" panose="020B0609020204030204" pitchFamily="49" charset="0"/>
              </a:rPr>
              <a:t>。除此之外，也可以将多个模块放在有序字典里面进行传递。</a:t>
            </a:r>
            <a:endParaRPr lang="zh-CN" altLang="en-US" dirty="0">
              <a:solidFill>
                <a:srgbClr val="24292E"/>
              </a:solidFill>
              <a:latin typeface="Consolas" panose="020B0609020204030204" pitchFamily="49" charset="0"/>
            </a:endParaRPr>
          </a:p>
          <a:p>
            <a:r>
              <a:rPr lang="zh-CN" altLang="en-US" dirty="0">
                <a:solidFill>
                  <a:srgbClr val="24292E"/>
                </a:solidFill>
                <a:latin typeface="Consolas" panose="020B0609020204030204" pitchFamily="49" charset="0"/>
              </a:rPr>
              <a:t>下面给出几种顺序化容器的实例化方法。</a:t>
            </a:r>
            <a:endParaRPr lang="zh-CN" altLang="en-US" b="0" dirty="0">
              <a:solidFill>
                <a:srgbClr val="24292E"/>
              </a:solidFill>
              <a:effectLst/>
              <a:latin typeface="Consolas" panose="020B0609020204030204" pitchFamily="49" charset="0"/>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(6) 5.3.6 </a:t>
            </a:r>
            <a:r>
              <a:rPr lang="zh-CN" altLang="en-US" dirty="0">
                <a:solidFill>
                  <a:srgbClr val="577CCE"/>
                </a:solidFill>
                <a:latin typeface="Consolas" panose="020B0609020204030204" pitchFamily="49" charset="0"/>
              </a:rPr>
              <a:t>顺序化容器</a:t>
            </a:r>
            <a:r>
              <a:rPr lang="en-US" altLang="zh-CN" dirty="0" err="1">
                <a:solidFill>
                  <a:srgbClr val="577CCE"/>
                </a:solidFill>
                <a:latin typeface="Consolas" panose="020B0609020204030204" pitchFamily="49" charset="0"/>
              </a:rPr>
              <a:t>nn.Sequential</a:t>
            </a:r>
            <a:endParaRPr lang="zh-CN" altLang="en-US" b="0" dirty="0">
              <a:solidFill>
                <a:srgbClr val="577CCE"/>
              </a:solidFill>
              <a:effectLst/>
              <a:latin typeface="Consolas" panose="020B0609020204030204" pitchFamily="49" charset="0"/>
            </a:endParaRPr>
          </a:p>
        </p:txBody>
      </p:sp>
      <p:sp>
        <p:nvSpPr>
          <p:cNvPr id="5" name="文本框 4"/>
          <p:cNvSpPr txBox="1"/>
          <p:nvPr/>
        </p:nvSpPr>
        <p:spPr>
          <a:xfrm>
            <a:off x="1039442" y="2608876"/>
            <a:ext cx="6094602" cy="369332"/>
          </a:xfrm>
          <a:prstGeom prst="rect">
            <a:avLst/>
          </a:prstGeom>
          <a:noFill/>
        </p:spPr>
        <p:txBody>
          <a:bodyPr wrap="square">
            <a:spAutoFit/>
          </a:bodyPr>
          <a:lstStyle/>
          <a:p>
            <a:r>
              <a:rPr lang="zh-CN" altLang="en-US" dirty="0"/>
              <a:t>① 定义时直接加入模块</a:t>
            </a:r>
            <a:endParaRPr lang="zh-CN" altLang="en-US" dirty="0"/>
          </a:p>
        </p:txBody>
      </p:sp>
      <p:sp>
        <p:nvSpPr>
          <p:cNvPr id="8" name="文本框 7"/>
          <p:cNvSpPr txBox="1"/>
          <p:nvPr/>
        </p:nvSpPr>
        <p:spPr>
          <a:xfrm>
            <a:off x="1453392" y="2978208"/>
            <a:ext cx="5157133" cy="286232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input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net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Sequential</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nn</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Conv2d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ReLU</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Flatten</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Linear</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32</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62</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output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net(input)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D73A49"/>
                </a:solidFill>
                <a:effectLst/>
                <a:latin typeface="Consolas" panose="020B0609020204030204" pitchFamily="49" charset="0"/>
              </a:rPr>
              <a:t>f</a:t>
            </a:r>
            <a:r>
              <a:rPr lang="en-US" altLang="zh-CN" b="0" dirty="0" err="1">
                <a:solidFill>
                  <a:srgbClr val="032F62"/>
                </a:solidFill>
                <a:effectLst/>
                <a:latin typeface="Consolas" panose="020B0609020204030204" pitchFamily="49" charset="0"/>
              </a:rPr>
              <a:t>"output</a:t>
            </a:r>
            <a:r>
              <a:rPr lang="en-US" altLang="zh-CN" b="0" dirty="0">
                <a:solidFill>
                  <a:srgbClr val="032F62"/>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output</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打印输出</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(net)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打印网络模型结构</a:t>
            </a:r>
            <a:endParaRPr lang="zh-CN" altLang="en-US" b="0" dirty="0">
              <a:solidFill>
                <a:srgbClr val="24292E"/>
              </a:solidFill>
              <a:effectLst/>
              <a:latin typeface="Consolas" panose="020B0609020204030204" pitchFamily="49" charset="0"/>
            </a:endParaRPr>
          </a:p>
        </p:txBody>
      </p:sp>
      <p:pic>
        <p:nvPicPr>
          <p:cNvPr id="12" name="图片 11"/>
          <p:cNvPicPr>
            <a:picLocks noChangeAspect="1"/>
          </p:cNvPicPr>
          <p:nvPr/>
        </p:nvPicPr>
        <p:blipFill>
          <a:blip r:embed="rId1"/>
          <a:stretch>
            <a:fillRect/>
          </a:stretch>
        </p:blipFill>
        <p:spPr>
          <a:xfrm>
            <a:off x="6264155" y="2778306"/>
            <a:ext cx="5841011" cy="2393719"/>
          </a:xfrm>
          <a:prstGeom prst="rect">
            <a:avLst/>
          </a:prstGeom>
          <a:ln>
            <a:noFill/>
          </a:ln>
          <a:effectLst>
            <a:outerShdw blurRad="292100" dist="139700" dir="2700000" algn="tl" rotWithShape="0">
              <a:srgbClr val="333333">
                <a:alpha val="65000"/>
              </a:srgbClr>
            </a:outerShdw>
          </a:effectLst>
        </p:spPr>
      </p:pic>
    </p:spTree>
    <p:custDataLst>
      <p:tags r:id="rId2"/>
    </p:custDataLst>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(6) 5.3.6 </a:t>
            </a:r>
            <a:r>
              <a:rPr lang="zh-CN" altLang="en-US" dirty="0">
                <a:solidFill>
                  <a:srgbClr val="577CCE"/>
                </a:solidFill>
                <a:latin typeface="Consolas" panose="020B0609020204030204" pitchFamily="49" charset="0"/>
              </a:rPr>
              <a:t>顺序化容器</a:t>
            </a:r>
            <a:r>
              <a:rPr lang="en-US" altLang="zh-CN" dirty="0" err="1">
                <a:solidFill>
                  <a:srgbClr val="577CCE"/>
                </a:solidFill>
                <a:latin typeface="Consolas" panose="020B0609020204030204" pitchFamily="49" charset="0"/>
              </a:rPr>
              <a:t>nn.Sequential</a:t>
            </a:r>
            <a:endParaRPr lang="zh-CN" altLang="en-US" b="0" dirty="0">
              <a:solidFill>
                <a:srgbClr val="577CCE"/>
              </a:solidFill>
              <a:effectLst/>
              <a:latin typeface="Consolas" panose="020B0609020204030204" pitchFamily="49" charset="0"/>
            </a:endParaRPr>
          </a:p>
        </p:txBody>
      </p:sp>
      <p:sp>
        <p:nvSpPr>
          <p:cNvPr id="5" name="文本框 4"/>
          <p:cNvSpPr txBox="1"/>
          <p:nvPr/>
        </p:nvSpPr>
        <p:spPr>
          <a:xfrm>
            <a:off x="829717" y="1469933"/>
            <a:ext cx="6094602" cy="369332"/>
          </a:xfrm>
          <a:prstGeom prst="rect">
            <a:avLst/>
          </a:prstGeom>
          <a:noFill/>
        </p:spPr>
        <p:txBody>
          <a:bodyPr wrap="square">
            <a:spAutoFit/>
          </a:bodyPr>
          <a:lstStyle/>
          <a:p>
            <a:r>
              <a:rPr lang="zh-CN" altLang="en-US" dirty="0"/>
              <a:t>② 先定义对象，后加入模块</a:t>
            </a:r>
            <a:endParaRPr lang="zh-CN" altLang="en-US" dirty="0"/>
          </a:p>
        </p:txBody>
      </p:sp>
      <p:sp>
        <p:nvSpPr>
          <p:cNvPr id="8" name="文本框 7"/>
          <p:cNvSpPr txBox="1"/>
          <p:nvPr/>
        </p:nvSpPr>
        <p:spPr>
          <a:xfrm>
            <a:off x="1346200" y="2189696"/>
            <a:ext cx="10752118" cy="1477328"/>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net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Sequential</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net.</a:t>
            </a:r>
            <a:r>
              <a:rPr lang="en-US" altLang="zh-CN" b="0" dirty="0" err="1">
                <a:solidFill>
                  <a:srgbClr val="6F42C1"/>
                </a:solidFill>
                <a:effectLst/>
                <a:latin typeface="Consolas" panose="020B0609020204030204" pitchFamily="49" charset="0"/>
              </a:rPr>
              <a:t>add_module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'conv1'</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nn</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Conv2d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该卷积层命名为</a:t>
            </a:r>
            <a:r>
              <a:rPr lang="en-US" altLang="zh-CN" b="0" dirty="0">
                <a:solidFill>
                  <a:srgbClr val="6A737D"/>
                </a:solidFill>
                <a:effectLst/>
                <a:latin typeface="Consolas" panose="020B0609020204030204" pitchFamily="49" charset="0"/>
              </a:rPr>
              <a:t>conv1</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net.</a:t>
            </a:r>
            <a:r>
              <a:rPr lang="en-US" altLang="zh-CN" b="0" dirty="0" err="1">
                <a:solidFill>
                  <a:srgbClr val="6F42C1"/>
                </a:solidFill>
                <a:effectLst/>
                <a:latin typeface="Consolas" panose="020B0609020204030204" pitchFamily="49" charset="0"/>
              </a:rPr>
              <a:t>add_module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relu</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ReLU</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该层命名为</a:t>
            </a:r>
            <a:r>
              <a:rPr lang="en-US" altLang="zh-CN" b="0" dirty="0" err="1">
                <a:solidFill>
                  <a:srgbClr val="6A737D"/>
                </a:solidFill>
                <a:effectLst/>
                <a:latin typeface="Consolas" panose="020B0609020204030204" pitchFamily="49" charset="0"/>
              </a:rPr>
              <a:t>relu</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net.</a:t>
            </a:r>
            <a:r>
              <a:rPr lang="en-US" altLang="zh-CN" b="0" dirty="0" err="1">
                <a:solidFill>
                  <a:srgbClr val="6F42C1"/>
                </a:solidFill>
                <a:effectLst/>
                <a:latin typeface="Consolas" panose="020B0609020204030204" pitchFamily="49" charset="0"/>
              </a:rPr>
              <a:t>add_module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'flatten'</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Flatten</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该层命名为</a:t>
            </a:r>
            <a:r>
              <a:rPr lang="en-US" altLang="zh-CN" b="0" dirty="0">
                <a:solidFill>
                  <a:srgbClr val="6A737D"/>
                </a:solidFill>
                <a:effectLst/>
                <a:latin typeface="Consolas" panose="020B0609020204030204" pitchFamily="49" charset="0"/>
              </a:rPr>
              <a:t>flatten</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net.</a:t>
            </a:r>
            <a:r>
              <a:rPr lang="en-US" altLang="zh-CN" b="0" dirty="0" err="1">
                <a:solidFill>
                  <a:srgbClr val="6F42C1"/>
                </a:solidFill>
                <a:effectLst/>
                <a:latin typeface="Consolas" panose="020B0609020204030204" pitchFamily="49" charset="0"/>
              </a:rPr>
              <a:t>add_module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'linear'</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Linear</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32</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62</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该全连接层命名为</a:t>
            </a:r>
            <a:r>
              <a:rPr lang="en-US" altLang="zh-CN" b="0" dirty="0">
                <a:solidFill>
                  <a:srgbClr val="6A737D"/>
                </a:solidFill>
                <a:effectLst/>
                <a:latin typeface="Consolas" panose="020B0609020204030204" pitchFamily="49" charset="0"/>
              </a:rPr>
              <a:t>linear</a:t>
            </a:r>
            <a:endParaRPr lang="en-US" altLang="zh-CN" b="0" dirty="0">
              <a:solidFill>
                <a:srgbClr val="24292E"/>
              </a:solidFill>
              <a:effectLst/>
              <a:latin typeface="Consolas" panose="020B0609020204030204" pitchFamily="49" charset="0"/>
            </a:endParaRPr>
          </a:p>
        </p:txBody>
      </p:sp>
      <p:sp>
        <p:nvSpPr>
          <p:cNvPr id="3" name="文本框 2"/>
          <p:cNvSpPr txBox="1"/>
          <p:nvPr/>
        </p:nvSpPr>
        <p:spPr>
          <a:xfrm>
            <a:off x="1086142" y="4017455"/>
            <a:ext cx="9618211"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该方法使用</a:t>
            </a:r>
            <a:r>
              <a:rPr lang="en-US" altLang="zh-CN" b="0" dirty="0" err="1">
                <a:solidFill>
                  <a:srgbClr val="FF0000"/>
                </a:solidFill>
                <a:effectLst/>
                <a:latin typeface="Consolas" panose="020B0609020204030204" pitchFamily="49" charset="0"/>
              </a:rPr>
              <a:t>add_module</a:t>
            </a:r>
            <a:r>
              <a:rPr lang="zh-CN" altLang="en-US" b="0" dirty="0">
                <a:solidFill>
                  <a:srgbClr val="FF0000"/>
                </a:solidFill>
                <a:effectLst/>
                <a:latin typeface="Consolas" panose="020B0609020204030204" pitchFamily="49" charset="0"/>
              </a:rPr>
              <a:t>函数</a:t>
            </a:r>
            <a:r>
              <a:rPr lang="zh-CN" altLang="en-US" b="0" dirty="0">
                <a:solidFill>
                  <a:srgbClr val="24292E"/>
                </a:solidFill>
                <a:effectLst/>
                <a:latin typeface="Consolas" panose="020B0609020204030204" pitchFamily="49" charset="0"/>
              </a:rPr>
              <a:t>将模块加入到计算图中，每层都有命名。</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(6) 5.3.6 </a:t>
            </a:r>
            <a:r>
              <a:rPr lang="zh-CN" altLang="en-US" dirty="0">
                <a:solidFill>
                  <a:srgbClr val="577CCE"/>
                </a:solidFill>
                <a:latin typeface="Consolas" panose="020B0609020204030204" pitchFamily="49" charset="0"/>
              </a:rPr>
              <a:t>顺序化容器</a:t>
            </a:r>
            <a:r>
              <a:rPr lang="en-US" altLang="zh-CN" dirty="0" err="1">
                <a:solidFill>
                  <a:srgbClr val="577CCE"/>
                </a:solidFill>
                <a:latin typeface="Consolas" panose="020B0609020204030204" pitchFamily="49" charset="0"/>
              </a:rPr>
              <a:t>nn.Sequential</a:t>
            </a:r>
            <a:endParaRPr lang="zh-CN" altLang="en-US" b="0" dirty="0">
              <a:solidFill>
                <a:srgbClr val="577CCE"/>
              </a:solidFill>
              <a:effectLst/>
              <a:latin typeface="Consolas" panose="020B0609020204030204" pitchFamily="49" charset="0"/>
            </a:endParaRPr>
          </a:p>
        </p:txBody>
      </p:sp>
      <p:sp>
        <p:nvSpPr>
          <p:cNvPr id="5" name="文本框 4"/>
          <p:cNvSpPr txBox="1"/>
          <p:nvPr/>
        </p:nvSpPr>
        <p:spPr>
          <a:xfrm>
            <a:off x="829717" y="1469933"/>
            <a:ext cx="6094602" cy="369332"/>
          </a:xfrm>
          <a:prstGeom prst="rect">
            <a:avLst/>
          </a:prstGeom>
          <a:noFill/>
        </p:spPr>
        <p:txBody>
          <a:bodyPr wrap="square">
            <a:spAutoFit/>
          </a:bodyPr>
          <a:lstStyle/>
          <a:p>
            <a:r>
              <a:rPr lang="zh-CN" altLang="en-US" dirty="0"/>
              <a:t>③ </a:t>
            </a:r>
            <a:r>
              <a:rPr lang="zh-CN" altLang="en-US" b="0" dirty="0">
                <a:solidFill>
                  <a:srgbClr val="24292E"/>
                </a:solidFill>
                <a:effectLst/>
                <a:latin typeface="Consolas" panose="020B0609020204030204" pitchFamily="49" charset="0"/>
              </a:rPr>
              <a:t>定义时传入有序字典作为参数</a:t>
            </a:r>
            <a:endParaRPr lang="zh-CN" altLang="en-US" b="0" dirty="0">
              <a:solidFill>
                <a:srgbClr val="24292E"/>
              </a:solidFill>
              <a:effectLst/>
              <a:latin typeface="Consolas" panose="020B0609020204030204" pitchFamily="49" charset="0"/>
            </a:endParaRPr>
          </a:p>
        </p:txBody>
      </p:sp>
      <p:sp>
        <p:nvSpPr>
          <p:cNvPr id="8" name="文本框 7"/>
          <p:cNvSpPr txBox="1"/>
          <p:nvPr/>
        </p:nvSpPr>
        <p:spPr>
          <a:xfrm>
            <a:off x="1346200" y="2189696"/>
            <a:ext cx="6472339" cy="2308324"/>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collections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OrderedDict</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net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Sequential</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OrderedDict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'conv1'</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nn</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Conv2d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16</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relu</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ReLU</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'flatten'</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Flatten</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'linear'</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Linear</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32</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62</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7" name="文本框 6"/>
          <p:cNvSpPr txBox="1"/>
          <p:nvPr/>
        </p:nvSpPr>
        <p:spPr>
          <a:xfrm>
            <a:off x="1077753" y="4639796"/>
            <a:ext cx="9618211"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该方法</a:t>
            </a:r>
            <a:r>
              <a:rPr lang="zh-CN" altLang="en-US" b="0" dirty="0">
                <a:solidFill>
                  <a:srgbClr val="FF0000"/>
                </a:solidFill>
                <a:effectLst/>
                <a:latin typeface="Consolas" panose="020B0609020204030204" pitchFamily="49" charset="0"/>
              </a:rPr>
              <a:t>将有序字典作为参数传入</a:t>
            </a:r>
            <a:r>
              <a:rPr lang="zh-CN" altLang="en-US" b="0" dirty="0">
                <a:solidFill>
                  <a:srgbClr val="24292E"/>
                </a:solidFill>
                <a:effectLst/>
                <a:latin typeface="Consolas" panose="020B0609020204030204" pitchFamily="49" charset="0"/>
              </a:rPr>
              <a:t>，各个</a:t>
            </a:r>
            <a:r>
              <a:rPr lang="zh-CN" altLang="en-US" b="0" dirty="0">
                <a:solidFill>
                  <a:srgbClr val="FF0000"/>
                </a:solidFill>
                <a:effectLst/>
                <a:latin typeface="Consolas" panose="020B0609020204030204" pitchFamily="49" charset="0"/>
              </a:rPr>
              <a:t>神经网络模块作为有序字典的元素</a:t>
            </a:r>
            <a:r>
              <a:rPr lang="zh-CN" altLang="en-US" b="0" dirty="0">
                <a:solidFill>
                  <a:srgbClr val="24292E"/>
                </a:solidFill>
                <a:effectLst/>
                <a:latin typeface="Consolas" panose="020B0609020204030204" pitchFamily="49" charset="0"/>
              </a:rPr>
              <a:t>。</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(7) 5.3.7 </a:t>
            </a:r>
            <a:r>
              <a:rPr lang="zh-CN" altLang="en-US" dirty="0">
                <a:solidFill>
                  <a:srgbClr val="577CCE"/>
                </a:solidFill>
                <a:latin typeface="Consolas" panose="020B0609020204030204" pitchFamily="49" charset="0"/>
              </a:rPr>
              <a:t>损失函数</a:t>
            </a:r>
            <a:endParaRPr lang="zh-CN" altLang="en-US" b="0" dirty="0">
              <a:solidFill>
                <a:srgbClr val="577CCE"/>
              </a:solidFill>
              <a:effectLst/>
              <a:latin typeface="Consolas" panose="020B0609020204030204" pitchFamily="49" charset="0"/>
            </a:endParaRPr>
          </a:p>
        </p:txBody>
      </p:sp>
      <p:sp>
        <p:nvSpPr>
          <p:cNvPr id="5" name="文本框 4"/>
          <p:cNvSpPr txBox="1"/>
          <p:nvPr/>
        </p:nvSpPr>
        <p:spPr>
          <a:xfrm>
            <a:off x="1106554" y="1929363"/>
            <a:ext cx="6094602" cy="369332"/>
          </a:xfrm>
          <a:prstGeom prst="rect">
            <a:avLst/>
          </a:prstGeom>
          <a:noFill/>
        </p:spPr>
        <p:txBody>
          <a:bodyPr wrap="square">
            <a:spAutoFit/>
          </a:bodyPr>
          <a:lstStyle/>
          <a:p>
            <a:r>
              <a:rPr lang="zh-CN" altLang="en-US" dirty="0"/>
              <a:t>① </a:t>
            </a:r>
            <a:r>
              <a:rPr lang="en-US" altLang="zh-CN" b="0" dirty="0">
                <a:solidFill>
                  <a:srgbClr val="24292E"/>
                </a:solidFill>
                <a:effectLst/>
                <a:latin typeface="Consolas" panose="020B0609020204030204" pitchFamily="49" charset="0"/>
              </a:rPr>
              <a:t>nn.L1Loss</a:t>
            </a:r>
            <a:endParaRPr lang="zh-CN" altLang="en-US" b="0" dirty="0">
              <a:solidFill>
                <a:srgbClr val="24292E"/>
              </a:solidFill>
              <a:effectLst/>
              <a:latin typeface="Consolas" panose="020B0609020204030204" pitchFamily="49" charset="0"/>
            </a:endParaRPr>
          </a:p>
        </p:txBody>
      </p:sp>
      <p:sp>
        <p:nvSpPr>
          <p:cNvPr id="3" name="文本框 2"/>
          <p:cNvSpPr txBox="1"/>
          <p:nvPr/>
        </p:nvSpPr>
        <p:spPr>
          <a:xfrm>
            <a:off x="787772" y="1472477"/>
            <a:ext cx="9815912" cy="369332"/>
          </a:xfrm>
          <a:prstGeom prst="rect">
            <a:avLst/>
          </a:prstGeom>
          <a:noFill/>
        </p:spPr>
        <p:txBody>
          <a:bodyPr wrap="square">
            <a:spAutoFit/>
          </a:bodyPr>
          <a:lstStyle/>
          <a:p>
            <a:r>
              <a:rPr lang="zh-CN" altLang="en-US" dirty="0"/>
              <a:t>PyTorch提供了目前常用的各种损失函数的实现，下面列举一些常用的损失函数示例。</a:t>
            </a:r>
            <a:endParaRPr lang="zh-CN" altLang="en-US" dirty="0"/>
          </a:p>
        </p:txBody>
      </p:sp>
      <p:sp>
        <p:nvSpPr>
          <p:cNvPr id="9" name="文本框 8"/>
          <p:cNvSpPr txBox="1"/>
          <p:nvPr/>
        </p:nvSpPr>
        <p:spPr>
          <a:xfrm>
            <a:off x="1470171" y="2386249"/>
            <a:ext cx="9628464" cy="369332"/>
          </a:xfrm>
          <a:prstGeom prst="rect">
            <a:avLst/>
          </a:prstGeom>
          <a:noFill/>
        </p:spPr>
        <p:txBody>
          <a:bodyPr wrap="square">
            <a:spAutoFit/>
          </a:bodyPr>
          <a:lstStyle/>
          <a:p>
            <a:r>
              <a:rPr lang="zh-CN" altLang="en-US" dirty="0"/>
              <a:t>L1Loss即L1损失，也称为</a:t>
            </a:r>
            <a:r>
              <a:rPr lang="zh-CN" altLang="en-US" dirty="0">
                <a:solidFill>
                  <a:srgbClr val="FF0000"/>
                </a:solidFill>
              </a:rPr>
              <a:t>平均绝对误差损失</a:t>
            </a:r>
            <a:r>
              <a:rPr lang="zh-CN" altLang="en-US" dirty="0"/>
              <a:t>（</a:t>
            </a:r>
            <a:r>
              <a:rPr lang="zh-CN" altLang="en-US" dirty="0">
                <a:solidFill>
                  <a:srgbClr val="577CCE"/>
                </a:solidFill>
              </a:rPr>
              <a:t>MAE，Mean Absolute Error</a:t>
            </a:r>
            <a:r>
              <a:rPr lang="zh-CN" altLang="en-US" dirty="0"/>
              <a:t>），其定义如下：</a:t>
            </a:r>
            <a:endParaRPr lang="zh-CN" altLang="en-US" dirty="0"/>
          </a:p>
        </p:txBody>
      </p:sp>
      <p:pic>
        <p:nvPicPr>
          <p:cNvPr id="11" name="图片 10"/>
          <p:cNvPicPr>
            <a:picLocks noChangeAspect="1"/>
          </p:cNvPicPr>
          <p:nvPr/>
        </p:nvPicPr>
        <p:blipFill>
          <a:blip r:embed="rId1"/>
          <a:stretch>
            <a:fillRect/>
          </a:stretch>
        </p:blipFill>
        <p:spPr>
          <a:xfrm>
            <a:off x="4442036" y="3083939"/>
            <a:ext cx="3307927" cy="1155654"/>
          </a:xfrm>
          <a:prstGeom prst="rect">
            <a:avLst/>
          </a:prstGeom>
        </p:spPr>
      </p:pic>
      <p:sp>
        <p:nvSpPr>
          <p:cNvPr id="13" name="文本框 12"/>
          <p:cNvSpPr txBox="1"/>
          <p:nvPr/>
        </p:nvSpPr>
        <p:spPr>
          <a:xfrm>
            <a:off x="1470171" y="4567952"/>
            <a:ext cx="7967443" cy="2031325"/>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nn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loss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nn</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L1Loss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predict_value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23</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requires_grad</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target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output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loss(</a:t>
            </a:r>
            <a:r>
              <a:rPr lang="en-US" altLang="zh-CN" b="0" dirty="0" err="1">
                <a:solidFill>
                  <a:srgbClr val="24292E"/>
                </a:solidFill>
                <a:effectLst/>
                <a:latin typeface="Consolas" panose="020B0609020204030204" pitchFamily="49" charset="0"/>
              </a:rPr>
              <a:t>predict_value</a:t>
            </a:r>
            <a:r>
              <a:rPr lang="en-US" altLang="zh-CN" b="0" dirty="0">
                <a:solidFill>
                  <a:srgbClr val="24292E"/>
                </a:solidFill>
                <a:effectLst/>
                <a:latin typeface="Consolas" panose="020B0609020204030204" pitchFamily="49" charset="0"/>
              </a:rPr>
              <a:t>, target)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(output)</a:t>
            </a:r>
            <a:endParaRPr lang="en-US" altLang="zh-CN" b="0" dirty="0">
              <a:solidFill>
                <a:srgbClr val="24292E"/>
              </a:solidFill>
              <a:effectLst/>
              <a:latin typeface="Consolas" panose="020B0609020204030204" pitchFamily="49" charset="0"/>
            </a:endParaRPr>
          </a:p>
        </p:txBody>
      </p:sp>
      <p:sp>
        <p:nvSpPr>
          <p:cNvPr id="15" name="文本框 14"/>
          <p:cNvSpPr txBox="1"/>
          <p:nvPr/>
        </p:nvSpPr>
        <p:spPr>
          <a:xfrm>
            <a:off x="6815692" y="6322357"/>
            <a:ext cx="5243844" cy="369332"/>
          </a:xfrm>
          <a:prstGeom prst="rect">
            <a:avLst/>
          </a:prstGeom>
          <a:noFill/>
        </p:spPr>
        <p:txBody>
          <a:bodyPr wrap="square">
            <a:spAutoFit/>
          </a:bodyPr>
          <a:lstStyle/>
          <a:p>
            <a:r>
              <a:rPr lang="zh-CN" altLang="en-US" b="1" dirty="0">
                <a:solidFill>
                  <a:srgbClr val="815BC5"/>
                </a:solidFill>
              </a:rPr>
              <a:t>tensor(1.2751, grad_fn=&lt;L1LossBackward0&gt;)</a:t>
            </a:r>
            <a:endParaRPr lang="zh-CN" altLang="en-US" b="1" dirty="0">
              <a:solidFill>
                <a:srgbClr val="815BC5"/>
              </a:solidFill>
            </a:endParaRPr>
          </a:p>
        </p:txBody>
      </p:sp>
      <p:sp>
        <p:nvSpPr>
          <p:cNvPr id="16" name="箭头: 右 15"/>
          <p:cNvSpPr/>
          <p:nvPr/>
        </p:nvSpPr>
        <p:spPr>
          <a:xfrm>
            <a:off x="3447875" y="6414770"/>
            <a:ext cx="3254929" cy="18450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(7) 5.3.7 </a:t>
            </a:r>
            <a:r>
              <a:rPr lang="zh-CN" altLang="en-US" dirty="0">
                <a:solidFill>
                  <a:srgbClr val="577CCE"/>
                </a:solidFill>
                <a:latin typeface="Consolas" panose="020B0609020204030204" pitchFamily="49" charset="0"/>
              </a:rPr>
              <a:t>损失函数</a:t>
            </a:r>
            <a:endParaRPr lang="zh-CN" altLang="en-US" b="0" dirty="0">
              <a:solidFill>
                <a:srgbClr val="577CCE"/>
              </a:solidFill>
              <a:effectLst/>
              <a:latin typeface="Consolas" panose="020B0609020204030204" pitchFamily="49" charset="0"/>
            </a:endParaRPr>
          </a:p>
        </p:txBody>
      </p:sp>
      <p:sp>
        <p:nvSpPr>
          <p:cNvPr id="5" name="文本框 4"/>
          <p:cNvSpPr txBox="1"/>
          <p:nvPr/>
        </p:nvSpPr>
        <p:spPr>
          <a:xfrm>
            <a:off x="1106554" y="1929363"/>
            <a:ext cx="6094602" cy="369332"/>
          </a:xfrm>
          <a:prstGeom prst="rect">
            <a:avLst/>
          </a:prstGeom>
          <a:noFill/>
        </p:spPr>
        <p:txBody>
          <a:bodyPr wrap="square">
            <a:spAutoFit/>
          </a:bodyPr>
          <a:lstStyle/>
          <a:p>
            <a:r>
              <a:rPr lang="zh-CN" altLang="en-US" dirty="0"/>
              <a:t>② </a:t>
            </a:r>
            <a:r>
              <a:rPr lang="en-US" altLang="zh-CN" b="0" dirty="0" err="1">
                <a:solidFill>
                  <a:srgbClr val="24292E"/>
                </a:solidFill>
                <a:effectLst/>
                <a:latin typeface="Consolas" panose="020B0609020204030204" pitchFamily="49" charset="0"/>
              </a:rPr>
              <a:t>nn.MSELoss</a:t>
            </a:r>
            <a:endParaRPr lang="en-US" altLang="zh-CN" b="0" dirty="0">
              <a:solidFill>
                <a:srgbClr val="24292E"/>
              </a:solidFill>
              <a:effectLst/>
              <a:latin typeface="Consolas" panose="020B0609020204030204" pitchFamily="49" charset="0"/>
            </a:endParaRPr>
          </a:p>
        </p:txBody>
      </p:sp>
      <p:sp>
        <p:nvSpPr>
          <p:cNvPr id="3" name="文本框 2"/>
          <p:cNvSpPr txBox="1"/>
          <p:nvPr/>
        </p:nvSpPr>
        <p:spPr>
          <a:xfrm>
            <a:off x="787772" y="1472477"/>
            <a:ext cx="9815912" cy="369332"/>
          </a:xfrm>
          <a:prstGeom prst="rect">
            <a:avLst/>
          </a:prstGeom>
          <a:noFill/>
        </p:spPr>
        <p:txBody>
          <a:bodyPr wrap="square">
            <a:spAutoFit/>
          </a:bodyPr>
          <a:lstStyle/>
          <a:p>
            <a:r>
              <a:rPr lang="zh-CN" altLang="en-US" dirty="0"/>
              <a:t>PyTorch提供了目前常用的各种损失函数的实现，下面列举一些常用的损失函数示例。</a:t>
            </a:r>
            <a:endParaRPr lang="zh-CN" altLang="en-US" dirty="0"/>
          </a:p>
        </p:txBody>
      </p:sp>
      <p:sp>
        <p:nvSpPr>
          <p:cNvPr id="9" name="文本框 8"/>
          <p:cNvSpPr txBox="1"/>
          <p:nvPr/>
        </p:nvSpPr>
        <p:spPr>
          <a:xfrm>
            <a:off x="1470171" y="2386249"/>
            <a:ext cx="10324750" cy="369332"/>
          </a:xfrm>
          <a:prstGeom prst="rect">
            <a:avLst/>
          </a:prstGeom>
          <a:noFill/>
        </p:spPr>
        <p:txBody>
          <a:bodyPr wrap="square">
            <a:spAutoFit/>
          </a:bodyPr>
          <a:lstStyle/>
          <a:p>
            <a:r>
              <a:rPr lang="en-US" altLang="zh-CN" b="0" dirty="0" err="1">
                <a:solidFill>
                  <a:srgbClr val="577CCE"/>
                </a:solidFill>
                <a:effectLst/>
                <a:latin typeface="Consolas" panose="020B0609020204030204" pitchFamily="49" charset="0"/>
              </a:rPr>
              <a:t>MSELoss</a:t>
            </a:r>
            <a:r>
              <a:rPr lang="zh-CN" altLang="en-US" b="0" dirty="0">
                <a:solidFill>
                  <a:srgbClr val="24292E"/>
                </a:solidFill>
                <a:effectLst/>
                <a:latin typeface="Consolas" panose="020B0609020204030204" pitchFamily="49" charset="0"/>
              </a:rPr>
              <a:t>即</a:t>
            </a:r>
            <a:r>
              <a:rPr lang="zh-CN" altLang="en-US" b="0" dirty="0">
                <a:solidFill>
                  <a:srgbClr val="FF0000"/>
                </a:solidFill>
                <a:effectLst/>
                <a:latin typeface="Consolas" panose="020B0609020204030204" pitchFamily="49" charset="0"/>
              </a:rPr>
              <a:t>平均平方误差（或称均方误差）损失函数</a:t>
            </a:r>
            <a:r>
              <a:rPr lang="zh-CN" altLang="en-US" b="0" dirty="0">
                <a:solidFill>
                  <a:srgbClr val="24292E"/>
                </a:solidFill>
                <a:effectLst/>
                <a:latin typeface="Consolas" panose="020B0609020204030204" pitchFamily="49" charset="0"/>
              </a:rPr>
              <a:t>，是计算两组数据之间的</a:t>
            </a:r>
            <a:r>
              <a:rPr lang="zh-CN" altLang="en-US" b="0" dirty="0">
                <a:solidFill>
                  <a:srgbClr val="FF0000"/>
                </a:solidFill>
                <a:effectLst/>
                <a:latin typeface="Consolas" panose="020B0609020204030204" pitchFamily="49" charset="0"/>
              </a:rPr>
              <a:t>均方误差</a:t>
            </a:r>
            <a:r>
              <a:rPr lang="zh-CN" altLang="en-US" b="0" dirty="0">
                <a:solidFill>
                  <a:srgbClr val="24292E"/>
                </a:solidFill>
                <a:effectLst/>
                <a:latin typeface="Consolas" panose="020B0609020204030204" pitchFamily="49" charset="0"/>
              </a:rPr>
              <a:t>，公式如下：</a:t>
            </a:r>
            <a:endParaRPr lang="zh-CN" altLang="en-US" b="0" dirty="0">
              <a:solidFill>
                <a:srgbClr val="24292E"/>
              </a:solidFill>
              <a:effectLst/>
              <a:latin typeface="Consolas" panose="020B0609020204030204" pitchFamily="49" charset="0"/>
            </a:endParaRPr>
          </a:p>
        </p:txBody>
      </p:sp>
      <p:pic>
        <p:nvPicPr>
          <p:cNvPr id="6" name="图片 5"/>
          <p:cNvPicPr>
            <a:picLocks noChangeAspect="1"/>
          </p:cNvPicPr>
          <p:nvPr/>
        </p:nvPicPr>
        <p:blipFill>
          <a:blip r:embed="rId1"/>
          <a:stretch>
            <a:fillRect/>
          </a:stretch>
        </p:blipFill>
        <p:spPr>
          <a:xfrm>
            <a:off x="4438622" y="3035589"/>
            <a:ext cx="3314755" cy="947073"/>
          </a:xfrm>
          <a:prstGeom prst="rect">
            <a:avLst/>
          </a:prstGeom>
        </p:spPr>
      </p:pic>
      <p:sp>
        <p:nvSpPr>
          <p:cNvPr id="7" name="文本框 6"/>
          <p:cNvSpPr txBox="1"/>
          <p:nvPr/>
        </p:nvSpPr>
        <p:spPr>
          <a:xfrm>
            <a:off x="1106554" y="4374640"/>
            <a:ext cx="6094602" cy="369332"/>
          </a:xfrm>
          <a:prstGeom prst="rect">
            <a:avLst/>
          </a:prstGeom>
          <a:noFill/>
        </p:spPr>
        <p:txBody>
          <a:bodyPr wrap="square">
            <a:spAutoFit/>
          </a:bodyPr>
          <a:lstStyle/>
          <a:p>
            <a:r>
              <a:rPr lang="zh-CN" altLang="en-US" dirty="0"/>
              <a:t>③ </a:t>
            </a:r>
            <a:r>
              <a:rPr lang="en-US" altLang="zh-CN" b="0" dirty="0" err="1">
                <a:solidFill>
                  <a:srgbClr val="24292E"/>
                </a:solidFill>
                <a:effectLst/>
                <a:latin typeface="Consolas" panose="020B0609020204030204" pitchFamily="49" charset="0"/>
              </a:rPr>
              <a:t>nn.CrossEntropyLoss</a:t>
            </a:r>
            <a:endParaRPr lang="en-US" altLang="zh-CN" b="0" dirty="0">
              <a:solidFill>
                <a:srgbClr val="24292E"/>
              </a:solidFill>
              <a:effectLst/>
              <a:latin typeface="Consolas" panose="020B0609020204030204" pitchFamily="49" charset="0"/>
            </a:endParaRPr>
          </a:p>
        </p:txBody>
      </p:sp>
      <mc:AlternateContent xmlns:mc="http://schemas.openxmlformats.org/markup-compatibility/2006">
        <mc:Choice xmlns:a14="http://schemas.microsoft.com/office/drawing/2010/main" Requires="a14">
          <p:sp>
            <p:nvSpPr>
              <p:cNvPr id="10" name="文本框 9"/>
              <p:cNvSpPr txBox="1"/>
              <p:nvPr/>
            </p:nvSpPr>
            <p:spPr>
              <a:xfrm>
                <a:off x="1470170" y="4743972"/>
                <a:ext cx="10526811" cy="923330"/>
              </a:xfrm>
              <a:prstGeom prst="rect">
                <a:avLst/>
              </a:prstGeom>
              <a:noFill/>
            </p:spPr>
            <p:txBody>
              <a:bodyPr wrap="square">
                <a:spAutoFit/>
              </a:bodyPr>
              <a:lstStyle/>
              <a:p>
                <a:r>
                  <a:rPr lang="zh-CN" altLang="en-US" dirty="0">
                    <a:solidFill>
                      <a:srgbClr val="577CCE"/>
                    </a:solidFill>
                  </a:rPr>
                  <a:t>CrossEntropyLoss</a:t>
                </a:r>
                <a:r>
                  <a:rPr lang="zh-CN" altLang="en-US" dirty="0"/>
                  <a:t>是进行分类时常用的</a:t>
                </a:r>
                <a:r>
                  <a:rPr lang="zh-CN" altLang="en-US" dirty="0">
                    <a:solidFill>
                      <a:srgbClr val="FF0000"/>
                    </a:solidFill>
                  </a:rPr>
                  <a:t>交叉熵损失函数</a:t>
                </a:r>
                <a:r>
                  <a:rPr lang="zh-CN" altLang="en-US" dirty="0"/>
                  <a:t>，可以捕捉不同模型预测效果的差异。对于属于C个类的m个样本，设每个样本i的针对每个类c标签为</a:t>
                </a:r>
                <a14:m>
                  <m:oMath xmlns:m="http://schemas.openxmlformats.org/officeDocument/2006/math">
                    <m:sSub>
                      <m:sSubPr>
                        <m:ctrlPr>
                          <a:rPr lang="zh-CN" altLang="en-US" i="1" dirty="0" smtClean="0">
                            <a:solidFill>
                              <a:srgbClr val="836967"/>
                            </a:solidFill>
                            <a:latin typeface="Cambria Math" panose="02040503050406030204" pitchFamily="18" charset="0"/>
                          </a:rPr>
                        </m:ctrlPr>
                      </m:sSubPr>
                      <m:e>
                        <m:r>
                          <a:rPr lang="zh-CN" altLang="en-US" i="1" dirty="0" smtClean="0">
                            <a:latin typeface="Cambria Math" panose="02040503050406030204" pitchFamily="18" charset="0"/>
                          </a:rPr>
                          <m:t>𝑦</m:t>
                        </m:r>
                      </m:e>
                      <m:sub>
                        <m:r>
                          <a:rPr lang="zh-CN" altLang="en-US" i="1" dirty="0" smtClean="0">
                            <a:latin typeface="Cambria Math" panose="02040503050406030204" pitchFamily="18" charset="0"/>
                          </a:rPr>
                          <m:t>𝑖</m:t>
                        </m:r>
                        <m:r>
                          <m:rPr>
                            <m:sty m:val="p"/>
                          </m:rPr>
                          <a:rPr lang="en-US" altLang="zh-CN" i="1" dirty="0">
                            <a:latin typeface="Cambria Math" panose="02040503050406030204" pitchFamily="18" charset="0"/>
                          </a:rPr>
                          <m:t>c</m:t>
                        </m:r>
                      </m:sub>
                    </m:sSub>
                  </m:oMath>
                </a14:m>
                <a:r>
                  <a:rPr lang="zh-CN" altLang="en-US" dirty="0"/>
                  <a:t>，对于正确标签值为1，错误标签值为0，观测到样本i属于类别c的预测概率为</a:t>
                </a:r>
                <a14:m>
                  <m:oMath xmlns:m="http://schemas.openxmlformats.org/officeDocument/2006/math">
                    <m:sSub>
                      <m:sSubPr>
                        <m:ctrlPr>
                          <a:rPr lang="zh-CN" altLang="en-US" i="1" dirty="0" smtClean="0">
                            <a:solidFill>
                              <a:srgbClr val="836967"/>
                            </a:solidFill>
                            <a:latin typeface="Cambria Math" panose="02040503050406030204" pitchFamily="18" charset="0"/>
                          </a:rPr>
                        </m:ctrlPr>
                      </m:sSubPr>
                      <m:e>
                        <m:r>
                          <a:rPr lang="zh-CN" altLang="en-US" i="1" dirty="0" smtClean="0">
                            <a:latin typeface="Cambria Math" panose="02040503050406030204" pitchFamily="18" charset="0"/>
                          </a:rPr>
                          <m:t>𝑝</m:t>
                        </m:r>
                      </m:e>
                      <m:sub>
                        <m:r>
                          <a:rPr lang="zh-CN" altLang="en-US" i="1" dirty="0" smtClean="0">
                            <a:latin typeface="Cambria Math" panose="02040503050406030204" pitchFamily="18" charset="0"/>
                          </a:rPr>
                          <m:t>𝑖</m:t>
                        </m:r>
                        <m:r>
                          <m:rPr>
                            <m:sty m:val="p"/>
                          </m:rPr>
                          <a:rPr lang="en-US" altLang="zh-CN" i="1" dirty="0">
                            <a:latin typeface="Cambria Math" panose="02040503050406030204" pitchFamily="18" charset="0"/>
                          </a:rPr>
                          <m:t>c</m:t>
                        </m:r>
                      </m:sub>
                    </m:sSub>
                  </m:oMath>
                </a14:m>
                <a:r>
                  <a:rPr lang="zh-CN" altLang="en-US" dirty="0"/>
                  <a:t>，则交叉熵损失函数公式如下：</a:t>
                </a:r>
                <a:endParaRPr lang="zh-CN" altLang="en-US" dirty="0"/>
              </a:p>
            </p:txBody>
          </p:sp>
        </mc:Choice>
        <mc:Fallback>
          <p:sp>
            <p:nvSpPr>
              <p:cNvPr id="10" name="文本框 9"/>
              <p:cNvSpPr txBox="1">
                <a:spLocks noRot="1" noChangeAspect="1" noMove="1" noResize="1" noEditPoints="1" noAdjustHandles="1" noChangeArrowheads="1" noChangeShapeType="1" noTextEdit="1"/>
              </p:cNvSpPr>
              <p:nvPr/>
            </p:nvSpPr>
            <p:spPr>
              <a:xfrm>
                <a:off x="1470170" y="4743972"/>
                <a:ext cx="10526811" cy="923330"/>
              </a:xfrm>
              <a:prstGeom prst="rect">
                <a:avLst/>
              </a:prstGeom>
              <a:blipFill rotWithShape="1">
                <a:blip r:embed="rId2"/>
                <a:stretch>
                  <a:fillRect l="-1" t="-57" r="5" b="61"/>
                </a:stretch>
              </a:blipFill>
            </p:spPr>
            <p:txBody>
              <a:bodyPr/>
              <a:lstStyle/>
              <a:p>
                <a:r>
                  <a:rPr lang="zh-CN" altLang="en-US">
                    <a:noFill/>
                  </a:rPr>
                  <a:t> </a:t>
                </a:r>
              </a:p>
            </p:txBody>
          </p:sp>
        </mc:Fallback>
      </mc:AlternateContent>
      <p:pic>
        <p:nvPicPr>
          <p:cNvPr id="14" name="图片 13"/>
          <p:cNvPicPr>
            <a:picLocks noChangeAspect="1"/>
          </p:cNvPicPr>
          <p:nvPr/>
        </p:nvPicPr>
        <p:blipFill>
          <a:blip r:embed="rId3"/>
          <a:stretch>
            <a:fillRect/>
          </a:stretch>
        </p:blipFill>
        <p:spPr>
          <a:xfrm>
            <a:off x="4438622" y="5681983"/>
            <a:ext cx="3314755" cy="947073"/>
          </a:xfrm>
          <a:prstGeom prst="rect">
            <a:avLst/>
          </a:prstGeom>
        </p:spPr>
      </p:pic>
    </p:spTree>
    <p:custDataLst>
      <p:tags r:id="rId4"/>
    </p:custDataLst>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5.3 </a:t>
            </a:r>
            <a:r>
              <a:rPr lang="en-US" altLang="zh-CN" sz="3200" dirty="0" err="1"/>
              <a:t>PyTorch</a:t>
            </a:r>
            <a:r>
              <a:rPr lang="zh-CN" altLang="en-US" sz="3200" dirty="0"/>
              <a:t>神经网络工具箱</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(7) 5.3.7 </a:t>
            </a:r>
            <a:r>
              <a:rPr lang="zh-CN" altLang="en-US" dirty="0">
                <a:solidFill>
                  <a:srgbClr val="577CCE"/>
                </a:solidFill>
                <a:latin typeface="Consolas" panose="020B0609020204030204" pitchFamily="49" charset="0"/>
              </a:rPr>
              <a:t>损失函数</a:t>
            </a:r>
            <a:endParaRPr lang="zh-CN" altLang="en-US" b="0" dirty="0">
              <a:solidFill>
                <a:srgbClr val="577CCE"/>
              </a:solidFill>
              <a:effectLst/>
              <a:latin typeface="Consolas" panose="020B0609020204030204" pitchFamily="49" charset="0"/>
            </a:endParaRPr>
          </a:p>
        </p:txBody>
      </p:sp>
      <p:sp>
        <p:nvSpPr>
          <p:cNvPr id="3" name="文本框 2"/>
          <p:cNvSpPr txBox="1"/>
          <p:nvPr/>
        </p:nvSpPr>
        <p:spPr>
          <a:xfrm>
            <a:off x="787772" y="1472477"/>
            <a:ext cx="9815912" cy="369332"/>
          </a:xfrm>
          <a:prstGeom prst="rect">
            <a:avLst/>
          </a:prstGeom>
          <a:noFill/>
        </p:spPr>
        <p:txBody>
          <a:bodyPr wrap="square">
            <a:spAutoFit/>
          </a:bodyPr>
          <a:lstStyle/>
          <a:p>
            <a:r>
              <a:rPr lang="zh-CN" altLang="en-US" dirty="0"/>
              <a:t>③ </a:t>
            </a:r>
            <a:r>
              <a:rPr lang="en-US" altLang="zh-CN" b="0" dirty="0" err="1">
                <a:solidFill>
                  <a:srgbClr val="24292E"/>
                </a:solidFill>
                <a:effectLst/>
                <a:latin typeface="Consolas" panose="020B0609020204030204" pitchFamily="49" charset="0"/>
              </a:rPr>
              <a:t>nn.CrossEntropyLoss</a:t>
            </a:r>
            <a:endParaRPr lang="en-US" altLang="zh-CN" b="0" dirty="0">
              <a:solidFill>
                <a:srgbClr val="24292E"/>
              </a:solidFill>
              <a:effectLst/>
              <a:latin typeface="Consolas" panose="020B0609020204030204" pitchFamily="49" charset="0"/>
            </a:endParaRPr>
          </a:p>
        </p:txBody>
      </p:sp>
      <p:sp>
        <p:nvSpPr>
          <p:cNvPr id="8" name="文本框 7"/>
          <p:cNvSpPr txBox="1"/>
          <p:nvPr/>
        </p:nvSpPr>
        <p:spPr>
          <a:xfrm>
            <a:off x="1346199" y="2376891"/>
            <a:ext cx="10344785" cy="2031325"/>
          </a:xfrm>
          <a:prstGeom prst="rect">
            <a:avLst/>
          </a:prstGeom>
          <a:noFill/>
        </p:spPr>
        <p:txBody>
          <a:bodyPr wrap="square">
            <a:spAutoFit/>
          </a:bodyPr>
          <a:lstStyle/>
          <a:p>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manual_seed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p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requires_grad</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得到</a:t>
            </a:r>
            <a:r>
              <a:rPr lang="en-US" altLang="zh-CN" b="0" dirty="0">
                <a:solidFill>
                  <a:srgbClr val="6A737D"/>
                </a:solidFill>
                <a:effectLst/>
                <a:latin typeface="Consolas" panose="020B0609020204030204" pitchFamily="49" charset="0"/>
              </a:rPr>
              <a:t>5</a:t>
            </a:r>
            <a:r>
              <a:rPr lang="zh-CN" altLang="en-US" b="0" dirty="0">
                <a:solidFill>
                  <a:srgbClr val="6A737D"/>
                </a:solidFill>
                <a:effectLst/>
                <a:latin typeface="Consolas" panose="020B0609020204030204" pitchFamily="49" charset="0"/>
              </a:rPr>
              <a:t>个输出结点的值</a:t>
            </a:r>
            <a:r>
              <a:rPr lang="en-US" altLang="zh-CN" b="0" dirty="0">
                <a:solidFill>
                  <a:srgbClr val="6A737D"/>
                </a:solidFill>
                <a:effectLst/>
                <a:latin typeface="Consolas" panose="020B0609020204030204" pitchFamily="49" charset="0"/>
              </a:rPr>
              <a:t>(</a:t>
            </a:r>
            <a:r>
              <a:rPr lang="en-US" altLang="zh-CN" b="0" dirty="0" err="1">
                <a:solidFill>
                  <a:srgbClr val="6A737D"/>
                </a:solidFill>
                <a:effectLst/>
                <a:latin typeface="Consolas" panose="020B0609020204030204" pitchFamily="49" charset="0"/>
              </a:rPr>
              <a:t>batch_size</a:t>
            </a:r>
            <a:r>
              <a:rPr lang="en-US" altLang="zh-CN" b="0" dirty="0">
                <a:solidFill>
                  <a:srgbClr val="6A737D"/>
                </a:solidFill>
                <a:effectLst/>
                <a:latin typeface="Consolas" panose="020B0609020204030204" pitchFamily="49" charset="0"/>
              </a:rPr>
              <a:t>=3)</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target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empty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dtype</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.long</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random_</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得到每个样本的实际类别标签</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D73A49"/>
                </a:solidFill>
                <a:effectLst/>
                <a:latin typeface="Consolas" panose="020B0609020204030204" pitchFamily="49" charset="0"/>
              </a:rPr>
              <a:t>f</a:t>
            </a:r>
            <a:r>
              <a:rPr lang="en-US" altLang="zh-CN" b="0" dirty="0" err="1">
                <a:solidFill>
                  <a:srgbClr val="032F62"/>
                </a:solidFill>
                <a:effectLst/>
                <a:latin typeface="Consolas" panose="020B0609020204030204" pitchFamily="49" charset="0"/>
              </a:rPr>
              <a:t>'p</a:t>
            </a:r>
            <a:r>
              <a:rPr lang="en-US" altLang="zh-CN" b="0" dirty="0">
                <a:solidFill>
                  <a:srgbClr val="032F62"/>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p</a:t>
            </a:r>
            <a:r>
              <a:rPr lang="en-US" altLang="zh-CN" b="0" dirty="0">
                <a:solidFill>
                  <a:srgbClr val="005CC5"/>
                </a:solidFill>
                <a:effectLst/>
                <a:latin typeface="Consolas" panose="020B0609020204030204" pitchFamily="49" charset="0"/>
              </a:rPr>
              <a:t>}\</a:t>
            </a:r>
            <a:r>
              <a:rPr lang="en-US" altLang="zh-CN" b="0" dirty="0" err="1">
                <a:solidFill>
                  <a:srgbClr val="005CC5"/>
                </a:solidFill>
                <a:effectLst/>
                <a:latin typeface="Consolas" panose="020B0609020204030204" pitchFamily="49" charset="0"/>
              </a:rPr>
              <a:t>n</a:t>
            </a:r>
            <a:r>
              <a:rPr lang="en-US" altLang="zh-CN" b="0" dirty="0" err="1">
                <a:solidFill>
                  <a:srgbClr val="032F62"/>
                </a:solidFill>
                <a:effectLst/>
                <a:latin typeface="Consolas" panose="020B0609020204030204" pitchFamily="49" charset="0"/>
              </a:rPr>
              <a:t>y</a:t>
            </a:r>
            <a:r>
              <a:rPr lang="en-US" altLang="zh-CN" b="0" dirty="0">
                <a:solidFill>
                  <a:srgbClr val="032F62"/>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target</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loss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CrossEntropyLoss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output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loss(p, target)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计算交叉熵损失</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D73A49"/>
                </a:solidFill>
                <a:effectLst/>
                <a:latin typeface="Consolas" panose="020B0609020204030204" pitchFamily="49" charset="0"/>
              </a:rPr>
              <a:t>f</a:t>
            </a:r>
            <a:r>
              <a:rPr lang="en-US" altLang="zh-CN" b="0" dirty="0" err="1">
                <a:solidFill>
                  <a:srgbClr val="032F62"/>
                </a:solidFill>
                <a:effectLst/>
                <a:latin typeface="Consolas" panose="020B0609020204030204" pitchFamily="49" charset="0"/>
              </a:rPr>
              <a:t>'loss</a:t>
            </a:r>
            <a:r>
              <a:rPr lang="en-US" altLang="zh-CN" b="0" dirty="0">
                <a:solidFill>
                  <a:srgbClr val="032F62"/>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output</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2" name="文本框 11"/>
          <p:cNvSpPr txBox="1"/>
          <p:nvPr/>
        </p:nvSpPr>
        <p:spPr>
          <a:xfrm>
            <a:off x="975220" y="1924684"/>
            <a:ext cx="6094602"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下面给出计算</a:t>
            </a:r>
            <a:r>
              <a:rPr lang="en-US" altLang="zh-CN" b="0" dirty="0" err="1">
                <a:solidFill>
                  <a:srgbClr val="24292E"/>
                </a:solidFill>
                <a:effectLst/>
                <a:latin typeface="Consolas" panose="020B0609020204030204" pitchFamily="49" charset="0"/>
              </a:rPr>
              <a:t>CrossEntropyLoss</a:t>
            </a:r>
            <a:r>
              <a:rPr lang="zh-CN" altLang="en-US" b="0" dirty="0">
                <a:solidFill>
                  <a:srgbClr val="24292E"/>
                </a:solidFill>
                <a:effectLst/>
                <a:latin typeface="Consolas" panose="020B0609020204030204" pitchFamily="49" charset="0"/>
              </a:rPr>
              <a:t>的示例：</a:t>
            </a:r>
            <a:endParaRPr lang="zh-CN" altLang="en-US" b="0" dirty="0">
              <a:solidFill>
                <a:srgbClr val="24292E"/>
              </a:solidFill>
              <a:effectLst/>
              <a:latin typeface="Consolas" panose="020B0609020204030204" pitchFamily="49" charset="0"/>
            </a:endParaRPr>
          </a:p>
        </p:txBody>
      </p:sp>
      <p:pic>
        <p:nvPicPr>
          <p:cNvPr id="15" name="图片 14"/>
          <p:cNvPicPr>
            <a:picLocks noChangeAspect="1"/>
          </p:cNvPicPr>
          <p:nvPr/>
        </p:nvPicPr>
        <p:blipFill>
          <a:blip r:embed="rId1"/>
          <a:stretch>
            <a:fillRect/>
          </a:stretch>
        </p:blipFill>
        <p:spPr>
          <a:xfrm>
            <a:off x="1716077" y="4684680"/>
            <a:ext cx="9096156" cy="1612644"/>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16" name="组合 15"/>
          <p:cNvGrpSpPr/>
          <p:nvPr/>
        </p:nvGrpSpPr>
        <p:grpSpPr>
          <a:xfrm>
            <a:off x="4915949" y="325857"/>
            <a:ext cx="6775035" cy="3563849"/>
            <a:chOff x="6931930" y="315737"/>
            <a:chExt cx="4759055" cy="2293239"/>
          </a:xfrm>
        </p:grpSpPr>
        <p:sp>
          <p:nvSpPr>
            <p:cNvPr id="17" name="对话气泡: 椭圆形 16"/>
            <p:cNvSpPr/>
            <p:nvPr/>
          </p:nvSpPr>
          <p:spPr>
            <a:xfrm>
              <a:off x="6931930" y="315737"/>
              <a:ext cx="4759055" cy="2293239"/>
            </a:xfrm>
            <a:prstGeom prst="wedgeEllipseCallout">
              <a:avLst>
                <a:gd name="adj1" fmla="val -46183"/>
                <a:gd name="adj2" fmla="val 56836"/>
              </a:avLst>
            </a:prstGeom>
            <a:gradFill flip="none" rotWithShape="1">
              <a:gsLst>
                <a:gs pos="0">
                  <a:srgbClr val="A388D5">
                    <a:tint val="66000"/>
                    <a:satMod val="160000"/>
                  </a:srgbClr>
                </a:gs>
                <a:gs pos="50000">
                  <a:srgbClr val="A388D5">
                    <a:tint val="44500"/>
                    <a:satMod val="160000"/>
                  </a:srgbClr>
                </a:gs>
                <a:gs pos="100000">
                  <a:srgbClr val="A388D5">
                    <a:tint val="23500"/>
                    <a:satMod val="160000"/>
                  </a:srgbClr>
                </a:gs>
              </a:gsLst>
              <a:path path="circle">
                <a:fillToRect l="100000" b="100000"/>
              </a:path>
              <a:tileRect t="-100000" r="-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p:cNvSpPr txBox="1"/>
            <p:nvPr/>
          </p:nvSpPr>
          <p:spPr>
            <a:xfrm>
              <a:off x="7197535" y="912322"/>
              <a:ext cx="4227844" cy="1128861"/>
            </a:xfrm>
            <a:prstGeom prst="rect">
              <a:avLst/>
            </a:prstGeom>
            <a:noFill/>
          </p:spPr>
          <p:txBody>
            <a:bodyPr wrap="square">
              <a:spAutoFit/>
            </a:bodyPr>
            <a:lstStyle/>
            <a:p>
              <a:pPr algn="ctr"/>
              <a:r>
                <a:rPr lang="zh-CN" altLang="en-US" b="0" dirty="0">
                  <a:solidFill>
                    <a:srgbClr val="E36209"/>
                  </a:solidFill>
                  <a:effectLst/>
                  <a:latin typeface="Consolas" panose="020B0609020204030204" pitchFamily="49" charset="0"/>
                </a:rPr>
                <a:t>示例中可以看出，</a:t>
              </a:r>
              <a:r>
                <a:rPr lang="zh-CN" altLang="en-US" b="0" dirty="0">
                  <a:solidFill>
                    <a:srgbClr val="FF0000"/>
                  </a:solidFill>
                  <a:effectLst/>
                  <a:latin typeface="Consolas" panose="020B0609020204030204" pitchFamily="49" charset="0"/>
                </a:rPr>
                <a:t>损失函数的第一个输入参数就是前一层的输出</a:t>
              </a:r>
              <a:r>
                <a:rPr lang="zh-CN" altLang="en-US" b="0" dirty="0">
                  <a:solidFill>
                    <a:srgbClr val="E36209"/>
                  </a:solidFill>
                  <a:effectLst/>
                  <a:latin typeface="Consolas" panose="020B0609020204030204" pitchFamily="49" charset="0"/>
                </a:rPr>
                <a:t>，有时称为</a:t>
              </a:r>
              <a:r>
                <a:rPr lang="en-US" altLang="zh-CN" b="0" dirty="0">
                  <a:solidFill>
                    <a:srgbClr val="E36209"/>
                  </a:solidFill>
                  <a:effectLst/>
                  <a:latin typeface="Consolas" panose="020B0609020204030204" pitchFamily="49" charset="0"/>
                </a:rPr>
                <a:t>Logits</a:t>
              </a:r>
              <a:r>
                <a:rPr lang="zh-CN" altLang="en-US" b="0" dirty="0">
                  <a:solidFill>
                    <a:srgbClr val="E36209"/>
                  </a:solidFill>
                  <a:effectLst/>
                  <a:latin typeface="Consolas" panose="020B0609020204030204" pitchFamily="49" charset="0"/>
                </a:rPr>
                <a:t>输出，可能存在负值或大于</a:t>
              </a:r>
              <a:r>
                <a:rPr lang="en-US" altLang="zh-CN" b="0" dirty="0">
                  <a:solidFill>
                    <a:srgbClr val="E36209"/>
                  </a:solidFill>
                  <a:effectLst/>
                  <a:latin typeface="Consolas" panose="020B0609020204030204" pitchFamily="49" charset="0"/>
                </a:rPr>
                <a:t>1</a:t>
              </a:r>
              <a:r>
                <a:rPr lang="zh-CN" altLang="en-US" b="0" dirty="0">
                  <a:solidFill>
                    <a:srgbClr val="E36209"/>
                  </a:solidFill>
                  <a:effectLst/>
                  <a:latin typeface="Consolas" panose="020B0609020204030204" pitchFamily="49" charset="0"/>
                </a:rPr>
                <a:t>的值，均不能代表概率，第二个输入参数是各个样本的标签数据。损失函数在内部计算时，为了得到样本属于各个类别的概率，通常</a:t>
              </a:r>
              <a:r>
                <a:rPr lang="zh-CN" altLang="en-US" b="0" dirty="0">
                  <a:solidFill>
                    <a:srgbClr val="FF0000"/>
                  </a:solidFill>
                  <a:effectLst/>
                  <a:latin typeface="Consolas" panose="020B0609020204030204" pitchFamily="49" charset="0"/>
                </a:rPr>
                <a:t>需要经过</a:t>
              </a:r>
              <a:r>
                <a:rPr lang="en-US" altLang="zh-CN" b="0" dirty="0" err="1">
                  <a:solidFill>
                    <a:srgbClr val="FF0000"/>
                  </a:solidFill>
                  <a:effectLst/>
                  <a:latin typeface="Consolas" panose="020B0609020204030204" pitchFamily="49" charset="0"/>
                </a:rPr>
                <a:t>softmax</a:t>
              </a:r>
              <a:r>
                <a:rPr lang="zh-CN" altLang="en-US" b="0" dirty="0">
                  <a:solidFill>
                    <a:srgbClr val="FF0000"/>
                  </a:solidFill>
                  <a:effectLst/>
                  <a:latin typeface="Consolas" panose="020B0609020204030204" pitchFamily="49" charset="0"/>
                </a:rPr>
                <a:t>函数（或</a:t>
              </a:r>
              <a:r>
                <a:rPr lang="en-US" altLang="zh-CN" b="0" dirty="0">
                  <a:solidFill>
                    <a:srgbClr val="FF0000"/>
                  </a:solidFill>
                  <a:effectLst/>
                  <a:latin typeface="Consolas" panose="020B0609020204030204" pitchFamily="49" charset="0"/>
                </a:rPr>
                <a:t>sigmoid</a:t>
              </a:r>
              <a:r>
                <a:rPr lang="zh-CN" altLang="en-US" b="0" dirty="0">
                  <a:solidFill>
                    <a:srgbClr val="FF0000"/>
                  </a:solidFill>
                  <a:effectLst/>
                  <a:latin typeface="Consolas" panose="020B0609020204030204" pitchFamily="49" charset="0"/>
                </a:rPr>
                <a:t>函数），然后再可以进行交叉熵损失的计算</a:t>
              </a:r>
              <a:r>
                <a:rPr lang="zh-CN" altLang="en-US" b="0" dirty="0">
                  <a:solidFill>
                    <a:srgbClr val="E36209"/>
                  </a:solidFill>
                  <a:effectLst/>
                  <a:latin typeface="Consolas" panose="020B0609020204030204" pitchFamily="49" charset="0"/>
                </a:rPr>
                <a:t>。</a:t>
              </a:r>
              <a:endParaRPr lang="zh-CN" altLang="en-US" b="0" dirty="0">
                <a:solidFill>
                  <a:srgbClr val="E36209"/>
                </a:solidFill>
                <a:effectLst/>
                <a:latin typeface="Consolas" panose="020B0609020204030204" pitchFamily="49" charset="0"/>
              </a:endParaRPr>
            </a:p>
          </p:txBody>
        </p:sp>
      </p:grpSp>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5.4.1 </a:t>
            </a:r>
            <a:r>
              <a:rPr lang="zh-CN" altLang="en-US" dirty="0">
                <a:solidFill>
                  <a:srgbClr val="577CCE"/>
                </a:solidFill>
                <a:latin typeface="Consolas" panose="020B0609020204030204" pitchFamily="49" charset="0"/>
              </a:rPr>
              <a:t>优化器</a:t>
            </a:r>
            <a:endParaRPr lang="zh-CN" altLang="en-US" b="0" dirty="0">
              <a:solidFill>
                <a:srgbClr val="577CCE"/>
              </a:solidFill>
              <a:effectLst/>
              <a:latin typeface="Consolas" panose="020B0609020204030204" pitchFamily="49" charset="0"/>
            </a:endParaRPr>
          </a:p>
        </p:txBody>
      </p:sp>
      <p:sp>
        <p:nvSpPr>
          <p:cNvPr id="12" name="文本框 11"/>
          <p:cNvSpPr txBox="1"/>
          <p:nvPr/>
        </p:nvSpPr>
        <p:spPr>
          <a:xfrm>
            <a:off x="738117" y="1614291"/>
            <a:ext cx="10715765" cy="923330"/>
          </a:xfrm>
          <a:prstGeom prst="rect">
            <a:avLst/>
          </a:prstGeom>
          <a:noFill/>
        </p:spPr>
        <p:txBody>
          <a:bodyPr wrap="square">
            <a:spAutoFit/>
          </a:bodyPr>
          <a:lstStyle/>
          <a:p>
            <a:r>
              <a:rPr lang="zh-CN" altLang="en-US" b="0" dirty="0">
                <a:solidFill>
                  <a:srgbClr val="FF0000"/>
                </a:solidFill>
                <a:effectLst/>
                <a:latin typeface="Consolas" panose="020B0609020204030204" pitchFamily="49" charset="0"/>
              </a:rPr>
              <a:t>优化器</a:t>
            </a:r>
            <a:r>
              <a:rPr lang="zh-CN" altLang="en-US" b="0" dirty="0">
                <a:solidFill>
                  <a:srgbClr val="24292E"/>
                </a:solidFill>
                <a:effectLst/>
                <a:latin typeface="Consolas" panose="020B0609020204030204" pitchFamily="49" charset="0"/>
              </a:rPr>
              <a:t>（</a:t>
            </a:r>
            <a:r>
              <a:rPr lang="en-US" altLang="zh-CN" b="0" dirty="0" err="1">
                <a:solidFill>
                  <a:srgbClr val="577CCE"/>
                </a:solidFill>
                <a:effectLst/>
                <a:latin typeface="Consolas" panose="020B0609020204030204" pitchFamily="49" charset="0"/>
              </a:rPr>
              <a:t>optimzier</a:t>
            </a:r>
            <a:r>
              <a:rPr lang="zh-CN" altLang="en-US" b="0" dirty="0">
                <a:solidFill>
                  <a:srgbClr val="24292E"/>
                </a:solidFill>
                <a:effectLst/>
                <a:latin typeface="Consolas" panose="020B0609020204030204" pitchFamily="49" charset="0"/>
              </a:rPr>
              <a:t>）是指</a:t>
            </a:r>
            <a:r>
              <a:rPr lang="zh-CN" altLang="en-US" b="0" dirty="0">
                <a:solidFill>
                  <a:srgbClr val="FF0000"/>
                </a:solidFill>
                <a:effectLst/>
                <a:latin typeface="Consolas" panose="020B0609020204030204" pitchFamily="49" charset="0"/>
              </a:rPr>
              <a:t>根据神经网络反向传播的梯度信息来自动更新网络模型的参数</a:t>
            </a:r>
            <a:r>
              <a:rPr lang="zh-CN" altLang="en-US" b="0" dirty="0">
                <a:solidFill>
                  <a:srgbClr val="24292E"/>
                </a:solidFill>
                <a:effectLst/>
                <a:latin typeface="Consolas" panose="020B0609020204030204" pitchFamily="49" charset="0"/>
              </a:rPr>
              <a:t>，以起到降低</a:t>
            </a:r>
            <a:r>
              <a:rPr lang="en-US" altLang="zh-CN" b="0" dirty="0">
                <a:solidFill>
                  <a:srgbClr val="24292E"/>
                </a:solidFill>
                <a:effectLst/>
                <a:latin typeface="Consolas" panose="020B0609020204030204" pitchFamily="49" charset="0"/>
              </a:rPr>
              <a:t>loss</a:t>
            </a:r>
            <a:r>
              <a:rPr lang="zh-CN" altLang="en-US" b="0" dirty="0">
                <a:solidFill>
                  <a:srgbClr val="24292E"/>
                </a:solidFill>
                <a:effectLst/>
                <a:latin typeface="Consolas" panose="020B0609020204030204" pitchFamily="49" charset="0"/>
              </a:rPr>
              <a:t>函数计算值的作用。</a:t>
            </a:r>
            <a:r>
              <a:rPr lang="en-US" altLang="zh-CN" b="0" dirty="0" err="1">
                <a:solidFill>
                  <a:srgbClr val="24292E"/>
                </a:solidFill>
                <a:effectLst/>
                <a:latin typeface="Consolas" panose="020B0609020204030204" pitchFamily="49" charset="0"/>
              </a:rPr>
              <a:t>PyTorch</a:t>
            </a:r>
            <a:r>
              <a:rPr lang="zh-CN" altLang="en-US" b="0" dirty="0">
                <a:solidFill>
                  <a:srgbClr val="24292E"/>
                </a:solidFill>
                <a:effectLst/>
                <a:latin typeface="Consolas" panose="020B0609020204030204" pitchFamily="49" charset="0"/>
              </a:rPr>
              <a:t>将深度学习中的常用参数更新优化方法全部封装在</a:t>
            </a:r>
            <a:r>
              <a:rPr lang="en-US" altLang="zh-CN" b="0" dirty="0" err="1">
                <a:solidFill>
                  <a:srgbClr val="577CCE"/>
                </a:solidFill>
                <a:effectLst/>
                <a:latin typeface="Consolas" panose="020B0609020204030204" pitchFamily="49" charset="0"/>
              </a:rPr>
              <a:t>torch.optim</a:t>
            </a:r>
            <a:r>
              <a:rPr lang="zh-CN" altLang="en-US" b="0" dirty="0">
                <a:solidFill>
                  <a:srgbClr val="24292E"/>
                </a:solidFill>
                <a:effectLst/>
                <a:latin typeface="Consolas" panose="020B0609020204030204" pitchFamily="49" charset="0"/>
              </a:rPr>
              <a:t>包中。</a:t>
            </a:r>
            <a:endParaRPr lang="zh-CN" altLang="en-US" b="0" dirty="0">
              <a:solidFill>
                <a:srgbClr val="24292E"/>
              </a:solidFill>
              <a:effectLst/>
              <a:latin typeface="Consolas" panose="020B0609020204030204" pitchFamily="49" charset="0"/>
            </a:endParaRPr>
          </a:p>
          <a:p>
            <a:endParaRPr lang="zh-CN" altLang="en-US" b="0" dirty="0">
              <a:solidFill>
                <a:srgbClr val="24292E"/>
              </a:solidFill>
              <a:effectLst/>
              <a:latin typeface="Consolas" panose="020B0609020204030204" pitchFamily="49" charset="0"/>
            </a:endParaRPr>
          </a:p>
        </p:txBody>
      </p:sp>
      <p:sp>
        <p:nvSpPr>
          <p:cNvPr id="10" name="文本框 9"/>
          <p:cNvSpPr txBox="1"/>
          <p:nvPr/>
        </p:nvSpPr>
        <p:spPr>
          <a:xfrm>
            <a:off x="738116" y="4681859"/>
            <a:ext cx="10503130"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通常，我们直接</a:t>
            </a:r>
            <a:r>
              <a:rPr lang="zh-CN" altLang="en-US" b="0" dirty="0">
                <a:solidFill>
                  <a:srgbClr val="FF0000"/>
                </a:solidFill>
                <a:effectLst/>
                <a:latin typeface="Consolas" panose="020B0609020204030204" pitchFamily="49" charset="0"/>
              </a:rPr>
              <a:t>使用优化器完成自动参数更新</a:t>
            </a:r>
            <a:r>
              <a:rPr lang="zh-CN" altLang="en-US" b="0" dirty="0">
                <a:solidFill>
                  <a:srgbClr val="24292E"/>
                </a:solidFill>
                <a:effectLst/>
                <a:latin typeface="Consolas" panose="020B0609020204030204" pitchFamily="49" charset="0"/>
              </a:rPr>
              <a:t>，使模型更好的收敛，获得更好的训练效果。</a:t>
            </a:r>
            <a:endParaRPr lang="zh-CN" altLang="en-US" b="0" dirty="0">
              <a:solidFill>
                <a:srgbClr val="24292E"/>
              </a:solidFill>
              <a:effectLst/>
              <a:latin typeface="Consolas" panose="020B0609020204030204" pitchFamily="49" charset="0"/>
            </a:endParaRPr>
          </a:p>
        </p:txBody>
      </p:sp>
      <p:sp>
        <p:nvSpPr>
          <p:cNvPr id="13" name="文本框 12"/>
          <p:cNvSpPr txBox="1"/>
          <p:nvPr/>
        </p:nvSpPr>
        <p:spPr>
          <a:xfrm>
            <a:off x="738116" y="2445390"/>
            <a:ext cx="10503131" cy="369332"/>
          </a:xfrm>
          <a:prstGeom prst="rect">
            <a:avLst/>
          </a:prstGeom>
          <a:noFill/>
        </p:spPr>
        <p:txBody>
          <a:bodyPr wrap="square">
            <a:spAutoFit/>
          </a:bodyPr>
          <a:lstStyle/>
          <a:p>
            <a:r>
              <a:rPr lang="zh-CN" altLang="en-US" dirty="0"/>
              <a:t>若不使用优化器，</a:t>
            </a:r>
            <a:r>
              <a:rPr lang="zh-CN" altLang="en-US" dirty="0">
                <a:solidFill>
                  <a:srgbClr val="FF0000"/>
                </a:solidFill>
              </a:rPr>
              <a:t>需要采用人工编写代码进行梯度下降处理</a:t>
            </a:r>
            <a:r>
              <a:rPr lang="zh-CN" altLang="en-US" dirty="0"/>
              <a:t>，示意代码如下：</a:t>
            </a:r>
            <a:endParaRPr lang="zh-CN" altLang="en-US" dirty="0"/>
          </a:p>
        </p:txBody>
      </p:sp>
      <p:sp>
        <p:nvSpPr>
          <p:cNvPr id="19" name="文本框 18"/>
          <p:cNvSpPr txBox="1"/>
          <p:nvPr/>
        </p:nvSpPr>
        <p:spPr>
          <a:xfrm>
            <a:off x="1124008" y="2963409"/>
            <a:ext cx="10436019" cy="1477328"/>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br>
              <a:rPr lang="en-US" altLang="zh-CN" b="0" dirty="0">
                <a:solidFill>
                  <a:srgbClr val="24292E"/>
                </a:solidFill>
                <a:effectLst/>
                <a:latin typeface="Consolas" panose="020B0609020204030204" pitchFamily="49" charset="0"/>
              </a:rPr>
            </a:br>
            <a:r>
              <a:rPr lang="en-US" altLang="zh-CN" b="0" dirty="0">
                <a:solidFill>
                  <a:srgbClr val="D73A49"/>
                </a:solidFill>
                <a:effectLst/>
                <a:latin typeface="Consolas" panose="020B0609020204030204" pitchFamily="49" charset="0"/>
              </a:rPr>
              <a:t>with</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no_grad</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p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model.parameters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p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p.grad</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lr</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model</a:t>
            </a:r>
            <a:r>
              <a:rPr lang="zh-CN" altLang="en-US" b="0" dirty="0">
                <a:solidFill>
                  <a:srgbClr val="6A737D"/>
                </a:solidFill>
                <a:effectLst/>
                <a:latin typeface="Consolas" panose="020B0609020204030204" pitchFamily="49" charset="0"/>
              </a:rPr>
              <a:t>为网络模型，</a:t>
            </a:r>
            <a:r>
              <a:rPr lang="en-US" altLang="zh-CN" b="0" dirty="0" err="1">
                <a:solidFill>
                  <a:srgbClr val="6A737D"/>
                </a:solidFill>
                <a:effectLst/>
                <a:latin typeface="Consolas" panose="020B0609020204030204" pitchFamily="49" charset="0"/>
              </a:rPr>
              <a:t>lr</a:t>
            </a:r>
            <a:r>
              <a:rPr lang="zh-CN" altLang="en-US" b="0" dirty="0">
                <a:solidFill>
                  <a:srgbClr val="6A737D"/>
                </a:solidFill>
                <a:effectLst/>
                <a:latin typeface="Consolas" panose="020B0609020204030204" pitchFamily="49" charset="0"/>
              </a:rPr>
              <a:t>为学习率</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model.zero_grad</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21" name="文本框 20"/>
          <p:cNvSpPr txBox="1"/>
          <p:nvPr/>
        </p:nvSpPr>
        <p:spPr>
          <a:xfrm>
            <a:off x="1124008" y="5176515"/>
            <a:ext cx="9488065" cy="1477328"/>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optim</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lr</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0.001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学习率</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opt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optim</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SGD</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model.parameters</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lr</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lr</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SGD </a:t>
            </a:r>
            <a:r>
              <a:rPr lang="zh-CN" altLang="en-US" b="0" dirty="0">
                <a:solidFill>
                  <a:srgbClr val="6A737D"/>
                </a:solidFill>
                <a:effectLst/>
                <a:latin typeface="Consolas" panose="020B0609020204030204" pitchFamily="49" charset="0"/>
              </a:rPr>
              <a:t>优化器实例化</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total_loss.backward</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opt.</a:t>
            </a:r>
            <a:r>
              <a:rPr lang="en-US" altLang="zh-CN" b="0" dirty="0" err="1">
                <a:solidFill>
                  <a:srgbClr val="6F42C1"/>
                </a:solidFill>
                <a:effectLst/>
                <a:latin typeface="Consolas" panose="020B0609020204030204" pitchFamily="49" charset="0"/>
              </a:rPr>
              <a:t>step</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使用优化器进行梯度下降， 完成参数更新</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5.4.1 </a:t>
            </a:r>
            <a:r>
              <a:rPr lang="zh-CN" altLang="en-US" dirty="0">
                <a:solidFill>
                  <a:srgbClr val="577CCE"/>
                </a:solidFill>
                <a:latin typeface="Consolas" panose="020B0609020204030204" pitchFamily="49" charset="0"/>
              </a:rPr>
              <a:t>优化器</a:t>
            </a:r>
            <a:endParaRPr lang="zh-CN" altLang="en-US" b="0" dirty="0">
              <a:solidFill>
                <a:srgbClr val="577CCE"/>
              </a:solidFill>
              <a:effectLst/>
              <a:latin typeface="Consolas" panose="020B0609020204030204" pitchFamily="49" charset="0"/>
            </a:endParaRPr>
          </a:p>
        </p:txBody>
      </p:sp>
      <p:sp>
        <p:nvSpPr>
          <p:cNvPr id="12" name="文本框 11"/>
          <p:cNvSpPr txBox="1"/>
          <p:nvPr/>
        </p:nvSpPr>
        <p:spPr>
          <a:xfrm>
            <a:off x="738117" y="1583392"/>
            <a:ext cx="10715765"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示例中使用了最简单的随机梯度下降 </a:t>
            </a:r>
            <a:r>
              <a:rPr lang="en-US" altLang="zh-CN" b="0" dirty="0">
                <a:solidFill>
                  <a:srgbClr val="005CC5"/>
                </a:solidFill>
                <a:effectLst/>
                <a:latin typeface="Consolas" panose="020B0609020204030204" pitchFamily="49" charset="0"/>
              </a:rPr>
              <a:t>SGD</a:t>
            </a:r>
            <a:r>
              <a:rPr lang="zh-CN" altLang="en-US" b="0" dirty="0">
                <a:solidFill>
                  <a:srgbClr val="24292E"/>
                </a:solidFill>
                <a:effectLst/>
                <a:latin typeface="Consolas" panose="020B0609020204030204" pitchFamily="49" charset="0"/>
              </a:rPr>
              <a:t> 优化器， 除此之外， 还可以使用其他的各种</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优化器， 例如：</a:t>
            </a:r>
            <a:endParaRPr lang="zh-CN" altLang="en-US" b="0" dirty="0">
              <a:solidFill>
                <a:srgbClr val="24292E"/>
              </a:solidFill>
              <a:effectLst/>
              <a:latin typeface="Consolas" panose="020B0609020204030204" pitchFamily="49" charset="0"/>
            </a:endParaRPr>
          </a:p>
        </p:txBody>
      </p:sp>
      <p:sp>
        <p:nvSpPr>
          <p:cNvPr id="3" name="文本框 2"/>
          <p:cNvSpPr txBox="1"/>
          <p:nvPr/>
        </p:nvSpPr>
        <p:spPr>
          <a:xfrm>
            <a:off x="1346200" y="2393867"/>
            <a:ext cx="9995716" cy="2031325"/>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opt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optim.SGD</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model.parameters</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lr</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lr</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SGD</a:t>
            </a:r>
            <a:r>
              <a:rPr lang="zh-CN" altLang="en-US" b="0" dirty="0">
                <a:solidFill>
                  <a:srgbClr val="6A737D"/>
                </a:solidFill>
                <a:effectLst/>
                <a:latin typeface="Consolas" panose="020B0609020204030204" pitchFamily="49" charset="0"/>
              </a:rPr>
              <a:t>优化器实例化</a:t>
            </a:r>
            <a:endParaRPr lang="zh-CN" altLang="en-US"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momentum</a:t>
            </a:r>
            <a:r>
              <a:rPr lang="zh-CN" altLang="en-US" b="0" dirty="0">
                <a:solidFill>
                  <a:srgbClr val="6A737D"/>
                </a:solidFill>
                <a:effectLst/>
                <a:latin typeface="Consolas" panose="020B0609020204030204" pitchFamily="49" charset="0"/>
              </a:rPr>
              <a:t>动量加速，在</a:t>
            </a:r>
            <a:r>
              <a:rPr lang="en-US" altLang="zh-CN" b="0" dirty="0">
                <a:solidFill>
                  <a:srgbClr val="6A737D"/>
                </a:solidFill>
                <a:effectLst/>
                <a:latin typeface="Consolas" panose="020B0609020204030204" pitchFamily="49" charset="0"/>
              </a:rPr>
              <a:t>SGD</a:t>
            </a:r>
            <a:r>
              <a:rPr lang="zh-CN" altLang="en-US" b="0" dirty="0">
                <a:solidFill>
                  <a:srgbClr val="6A737D"/>
                </a:solidFill>
                <a:effectLst/>
                <a:latin typeface="Consolas" panose="020B0609020204030204" pitchFamily="49" charset="0"/>
              </a:rPr>
              <a:t>函数里指定</a:t>
            </a:r>
            <a:r>
              <a:rPr lang="en-US" altLang="zh-CN" b="0" dirty="0">
                <a:solidFill>
                  <a:srgbClr val="6A737D"/>
                </a:solidFill>
                <a:effectLst/>
                <a:latin typeface="Consolas" panose="020B0609020204030204" pitchFamily="49" charset="0"/>
              </a:rPr>
              <a:t>momentum</a:t>
            </a:r>
            <a:r>
              <a:rPr lang="zh-CN" altLang="en-US" b="0" dirty="0">
                <a:solidFill>
                  <a:srgbClr val="6A737D"/>
                </a:solidFill>
                <a:effectLst/>
                <a:latin typeface="Consolas" panose="020B0609020204030204" pitchFamily="49" charset="0"/>
              </a:rPr>
              <a:t>的值即可</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opt_Momentum</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optim.SGD</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model.parameters</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lr</a:t>
            </a:r>
            <a:r>
              <a:rPr lang="en-US" altLang="zh-CN" b="0" dirty="0">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lr</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momentum</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0.8</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RMSprop, </a:t>
            </a:r>
            <a:r>
              <a:rPr lang="zh-CN" altLang="en-US" b="0" dirty="0">
                <a:solidFill>
                  <a:srgbClr val="6A737D"/>
                </a:solidFill>
                <a:effectLst/>
                <a:latin typeface="Consolas" panose="020B0609020204030204" pitchFamily="49" charset="0"/>
              </a:rPr>
              <a:t>需要设置超参数</a:t>
            </a:r>
            <a:r>
              <a:rPr lang="en-US" altLang="zh-CN" b="0" dirty="0">
                <a:solidFill>
                  <a:srgbClr val="6A737D"/>
                </a:solidFill>
                <a:effectLst/>
                <a:latin typeface="Consolas" panose="020B0609020204030204" pitchFamily="49" charset="0"/>
              </a:rPr>
              <a:t>alpha</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opt_RMSprop</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optim.RMSprop</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model.parameters</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lr</a:t>
            </a:r>
            <a:r>
              <a:rPr lang="en-US" altLang="zh-CN" b="0" dirty="0">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lr</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alpha</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0.9</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Adam</a:t>
            </a:r>
            <a:r>
              <a:rPr lang="zh-CN" altLang="en-US" b="0" dirty="0">
                <a:solidFill>
                  <a:srgbClr val="6A737D"/>
                </a:solidFill>
                <a:effectLst/>
                <a:latin typeface="Consolas" panose="020B0609020204030204" pitchFamily="49" charset="0"/>
              </a:rPr>
              <a:t>，设置参数</a:t>
            </a:r>
            <a:r>
              <a:rPr lang="en-US" altLang="zh-CN" b="0" dirty="0">
                <a:solidFill>
                  <a:srgbClr val="6A737D"/>
                </a:solidFill>
                <a:effectLst/>
                <a:latin typeface="Consolas" panose="020B0609020204030204" pitchFamily="49" charset="0"/>
              </a:rPr>
              <a:t>betas=(0.9, 0.99)</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opt_Adam</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optim.Adam</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model.parameters</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lr</a:t>
            </a:r>
            <a:r>
              <a:rPr lang="en-US" altLang="zh-CN" b="0" dirty="0">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lr</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betas</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0.9</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0.99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8" name="文本框 7"/>
          <p:cNvSpPr txBox="1"/>
          <p:nvPr/>
        </p:nvSpPr>
        <p:spPr>
          <a:xfrm>
            <a:off x="738116" y="4628278"/>
            <a:ext cx="10715765" cy="369332"/>
          </a:xfrm>
          <a:prstGeom prst="rect">
            <a:avLst/>
          </a:prstGeom>
          <a:noFill/>
        </p:spPr>
        <p:txBody>
          <a:bodyPr wrap="square">
            <a:spAutoFit/>
          </a:bodyPr>
          <a:lstStyle/>
          <a:p>
            <a:r>
              <a:rPr lang="zh-CN" altLang="en-US" dirty="0"/>
              <a:t>各种优化器在使用时，如果不清楚如何设置超参数，可采用其默认值。</a:t>
            </a:r>
            <a:endParaRPr lang="zh-CN" altLang="en-US" dirty="0"/>
          </a:p>
        </p:txBody>
      </p:sp>
    </p:spTree>
    <p:custDataLst>
      <p:tags r:id="rId1"/>
    </p:custDataLst>
  </p:cSld>
  <p:clrMapOvr>
    <a:masterClrMapping/>
  </p:clrMapOvr>
  <p:transition spd="slow">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5.4.2 Dataset</a:t>
            </a:r>
            <a:r>
              <a:rPr lang="zh-CN" altLang="en-US" dirty="0">
                <a:solidFill>
                  <a:srgbClr val="577CCE"/>
                </a:solidFill>
                <a:latin typeface="Consolas" panose="020B0609020204030204" pitchFamily="49" charset="0"/>
              </a:rPr>
              <a:t>和</a:t>
            </a:r>
            <a:r>
              <a:rPr lang="en-US" altLang="zh-CN" dirty="0" err="1">
                <a:solidFill>
                  <a:srgbClr val="577CCE"/>
                </a:solidFill>
                <a:latin typeface="Consolas" panose="020B0609020204030204" pitchFamily="49" charset="0"/>
              </a:rPr>
              <a:t>DataLoader</a:t>
            </a:r>
            <a:endParaRPr lang="zh-CN" altLang="en-US" b="0" dirty="0">
              <a:solidFill>
                <a:srgbClr val="577CCE"/>
              </a:solidFill>
              <a:effectLst/>
              <a:latin typeface="Consolas" panose="020B0609020204030204" pitchFamily="49" charset="0"/>
            </a:endParaRPr>
          </a:p>
        </p:txBody>
      </p:sp>
      <p:sp>
        <p:nvSpPr>
          <p:cNvPr id="12" name="文本框 11"/>
          <p:cNvSpPr txBox="1"/>
          <p:nvPr/>
        </p:nvSpPr>
        <p:spPr>
          <a:xfrm>
            <a:off x="738117" y="1583392"/>
            <a:ext cx="10715765"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1</a:t>
            </a:r>
            <a:r>
              <a:rPr lang="zh-CN" altLang="en-US" b="0" dirty="0">
                <a:solidFill>
                  <a:srgbClr val="24292E"/>
                </a:solidFill>
                <a:effectLst/>
                <a:latin typeface="Consolas" panose="020B0609020204030204" pitchFamily="49" charset="0"/>
              </a:rPr>
              <a:t>）创建和使用</a:t>
            </a:r>
            <a:r>
              <a:rPr lang="en-US" altLang="zh-CN" b="0" dirty="0">
                <a:solidFill>
                  <a:srgbClr val="24292E"/>
                </a:solidFill>
                <a:effectLst/>
                <a:latin typeface="Consolas" panose="020B0609020204030204" pitchFamily="49" charset="0"/>
              </a:rPr>
              <a:t>dataset</a:t>
            </a:r>
            <a:endParaRPr lang="zh-CN" altLang="en-US" b="0" dirty="0">
              <a:solidFill>
                <a:srgbClr val="24292E"/>
              </a:solidFill>
              <a:effectLst/>
              <a:latin typeface="Consolas" panose="020B0609020204030204" pitchFamily="49" charset="0"/>
            </a:endParaRPr>
          </a:p>
        </p:txBody>
      </p:sp>
      <p:sp>
        <p:nvSpPr>
          <p:cNvPr id="3" name="文本框 2"/>
          <p:cNvSpPr txBox="1"/>
          <p:nvPr/>
        </p:nvSpPr>
        <p:spPr>
          <a:xfrm>
            <a:off x="1346200" y="2038301"/>
            <a:ext cx="9995716"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在使用</a:t>
            </a:r>
            <a:r>
              <a:rPr lang="en-US" altLang="zh-CN" b="0" dirty="0" err="1">
                <a:solidFill>
                  <a:srgbClr val="FF0000"/>
                </a:solidFill>
                <a:effectLst/>
                <a:latin typeface="Consolas" panose="020B0609020204030204" pitchFamily="49" charset="0"/>
              </a:rPr>
              <a:t>torch.utils.data.datset</a:t>
            </a:r>
            <a:r>
              <a:rPr lang="zh-CN" altLang="en-US" b="0" dirty="0">
                <a:solidFill>
                  <a:srgbClr val="24292E"/>
                </a:solidFill>
                <a:effectLst/>
                <a:latin typeface="Consolas" panose="020B0609020204030204" pitchFamily="49" charset="0"/>
              </a:rPr>
              <a:t>抽象类之前，首先要导入该类：</a:t>
            </a:r>
            <a:endParaRPr lang="en-US" altLang="zh-CN" b="0" dirty="0">
              <a:solidFill>
                <a:srgbClr val="24292E"/>
              </a:solidFill>
              <a:effectLst/>
              <a:latin typeface="Consolas" panose="020B0609020204030204" pitchFamily="49" charset="0"/>
            </a:endParaRPr>
          </a:p>
        </p:txBody>
      </p:sp>
      <p:sp>
        <p:nvSpPr>
          <p:cNvPr id="8" name="文本框 7"/>
          <p:cNvSpPr txBox="1"/>
          <p:nvPr/>
        </p:nvSpPr>
        <p:spPr>
          <a:xfrm>
            <a:off x="1346200" y="3150951"/>
            <a:ext cx="10715765" cy="1754326"/>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在应用</a:t>
            </a:r>
            <a:r>
              <a:rPr lang="en-US" altLang="zh-CN" b="0" dirty="0">
                <a:solidFill>
                  <a:srgbClr val="24292E"/>
                </a:solidFill>
                <a:effectLst/>
                <a:latin typeface="Consolas" panose="020B0609020204030204" pitchFamily="49" charset="0"/>
              </a:rPr>
              <a:t>Dataset</a:t>
            </a:r>
            <a:r>
              <a:rPr lang="zh-CN" altLang="en-US" b="0" dirty="0">
                <a:solidFill>
                  <a:srgbClr val="24292E"/>
                </a:solidFill>
                <a:effectLst/>
                <a:latin typeface="Consolas" panose="020B0609020204030204" pitchFamily="49" charset="0"/>
              </a:rPr>
              <a:t>抽象类创建子类时，通常需要重写</a:t>
            </a:r>
            <a:r>
              <a:rPr lang="en-US" altLang="zh-CN" b="0" dirty="0">
                <a:solidFill>
                  <a:srgbClr val="FF0000"/>
                </a:solidFill>
                <a:effectLst/>
                <a:latin typeface="Consolas" panose="020B0609020204030204" pitchFamily="49" charset="0"/>
              </a:rPr>
              <a:t>__inti__ </a:t>
            </a:r>
            <a:r>
              <a:rPr lang="zh-CN" altLang="en-US" b="0" dirty="0">
                <a:solidFill>
                  <a:srgbClr val="24292E"/>
                </a:solidFill>
                <a:effectLst/>
                <a:latin typeface="Consolas" panose="020B0609020204030204" pitchFamily="49" charset="0"/>
              </a:rPr>
              <a:t>初始化方法来定义数据内容和标签，重写 </a:t>
            </a:r>
            <a:r>
              <a:rPr lang="en-US" altLang="zh-CN" b="0" dirty="0">
                <a:solidFill>
                  <a:srgbClr val="FF0000"/>
                </a:solidFill>
                <a:effectLst/>
                <a:latin typeface="Consolas" panose="020B0609020204030204" pitchFamily="49" charset="0"/>
              </a:rPr>
              <a:t>__</a:t>
            </a:r>
            <a:r>
              <a:rPr lang="en-US" altLang="zh-CN" b="0" dirty="0" err="1">
                <a:solidFill>
                  <a:srgbClr val="FF0000"/>
                </a:solidFill>
                <a:effectLst/>
                <a:latin typeface="Consolas" panose="020B0609020204030204" pitchFamily="49" charset="0"/>
              </a:rPr>
              <a:t>len</a:t>
            </a:r>
            <a:r>
              <a:rPr lang="en-US" altLang="zh-CN" b="0" dirty="0">
                <a:solidFill>
                  <a:srgbClr val="FF0000"/>
                </a:solidFill>
                <a:effectLst/>
                <a:latin typeface="Consolas" panose="020B0609020204030204" pitchFamily="49" charset="0"/>
              </a:rPr>
              <a:t>__ </a:t>
            </a:r>
            <a:r>
              <a:rPr lang="zh-CN" altLang="en-US" b="0" dirty="0">
                <a:solidFill>
                  <a:srgbClr val="24292E"/>
                </a:solidFill>
                <a:effectLst/>
                <a:latin typeface="Consolas" panose="020B0609020204030204" pitchFamily="49" charset="0"/>
              </a:rPr>
              <a:t>方法来返回数据集大小，以及重写 </a:t>
            </a:r>
            <a:r>
              <a:rPr lang="en-US" altLang="zh-CN" b="0" dirty="0">
                <a:solidFill>
                  <a:srgbClr val="FF0000"/>
                </a:solidFill>
                <a:effectLst/>
                <a:latin typeface="Consolas" panose="020B0609020204030204" pitchFamily="49" charset="0"/>
              </a:rPr>
              <a:t>__</a:t>
            </a:r>
            <a:r>
              <a:rPr lang="en-US" altLang="zh-CN" b="0" dirty="0" err="1">
                <a:solidFill>
                  <a:srgbClr val="FF0000"/>
                </a:solidFill>
                <a:effectLst/>
                <a:latin typeface="Consolas" panose="020B0609020204030204" pitchFamily="49" charset="0"/>
              </a:rPr>
              <a:t>getitem</a:t>
            </a:r>
            <a:r>
              <a:rPr lang="en-US" altLang="zh-CN" b="0" dirty="0">
                <a:solidFill>
                  <a:srgbClr val="FF0000"/>
                </a:solidFill>
                <a:effectLst/>
                <a:latin typeface="Consolas" panose="020B0609020204030204" pitchFamily="49" charset="0"/>
              </a:rPr>
              <a:t>__ </a:t>
            </a:r>
            <a:r>
              <a:rPr lang="zh-CN" altLang="en-US" b="0" dirty="0">
                <a:solidFill>
                  <a:srgbClr val="24292E"/>
                </a:solidFill>
                <a:effectLst/>
                <a:latin typeface="Consolas" panose="020B0609020204030204" pitchFamily="49" charset="0"/>
              </a:rPr>
              <a:t>方法来得到数据内容和标签。</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r>
              <a:rPr lang="zh-CN" altLang="en-US" b="0" dirty="0">
                <a:solidFill>
                  <a:srgbClr val="24292E"/>
                </a:solidFill>
                <a:effectLst/>
                <a:latin typeface="Consolas" panose="020B0609020204030204" pitchFamily="49" charset="0"/>
              </a:rPr>
              <a:t>下面是一个简单的创建子类的示例。</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3048697" y="2493210"/>
            <a:ext cx="6094602" cy="369332"/>
          </a:xfrm>
          <a:prstGeom prst="rect">
            <a:avLst/>
          </a:prstGeom>
          <a:noFill/>
        </p:spPr>
        <p:txBody>
          <a:bodyPr wrap="square">
            <a:spAutoFit/>
          </a:bodyPr>
          <a:lstStyle/>
          <a:p>
            <a:r>
              <a:rPr lang="en-US" altLang="zh-CN" b="1" dirty="0">
                <a:solidFill>
                  <a:srgbClr val="D73A49"/>
                </a:solidFill>
                <a:effectLst/>
                <a:latin typeface="Consolas" panose="020B0609020204030204" pitchFamily="49" charset="0"/>
              </a:rPr>
              <a:t>import</a:t>
            </a:r>
            <a:r>
              <a:rPr lang="en-US" altLang="zh-CN" b="1" dirty="0">
                <a:solidFill>
                  <a:srgbClr val="24292E"/>
                </a:solidFill>
                <a:effectLst/>
                <a:latin typeface="Consolas" panose="020B0609020204030204" pitchFamily="49" charset="0"/>
              </a:rPr>
              <a:t> </a:t>
            </a:r>
            <a:r>
              <a:rPr lang="en-US" altLang="zh-CN" b="1" dirty="0" err="1">
                <a:solidFill>
                  <a:srgbClr val="6F42C1"/>
                </a:solidFill>
                <a:effectLst/>
                <a:latin typeface="Consolas" panose="020B0609020204030204" pitchFamily="49" charset="0"/>
              </a:rPr>
              <a:t>torch</a:t>
            </a:r>
            <a:r>
              <a:rPr lang="en-US" altLang="zh-CN" b="1" dirty="0" err="1">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utils</a:t>
            </a:r>
            <a:r>
              <a:rPr lang="en-US" altLang="zh-CN" b="1" dirty="0" err="1">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data</a:t>
            </a:r>
            <a:r>
              <a:rPr lang="en-US" altLang="zh-CN" b="1" dirty="0" err="1">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dataset</a:t>
            </a:r>
            <a:r>
              <a:rPr lang="en-US" altLang="zh-CN" b="1" dirty="0">
                <a:solidFill>
                  <a:srgbClr val="24292E"/>
                </a:solidFill>
                <a:effectLst/>
                <a:latin typeface="Consolas" panose="020B0609020204030204" pitchFamily="49" charset="0"/>
              </a:rPr>
              <a:t> </a:t>
            </a:r>
            <a:r>
              <a:rPr lang="en-US" altLang="zh-CN" b="1" dirty="0">
                <a:solidFill>
                  <a:srgbClr val="D73A49"/>
                </a:solidFill>
                <a:effectLst/>
                <a:latin typeface="Consolas" panose="020B0609020204030204" pitchFamily="49" charset="0"/>
              </a:rPr>
              <a:t>as</a:t>
            </a:r>
            <a:r>
              <a:rPr lang="en-US" altLang="zh-CN" b="1" dirty="0">
                <a:solidFill>
                  <a:srgbClr val="24292E"/>
                </a:solidFill>
                <a:effectLst/>
                <a:latin typeface="Consolas" panose="020B0609020204030204" pitchFamily="49" charset="0"/>
              </a:rPr>
              <a:t> </a:t>
            </a:r>
            <a:r>
              <a:rPr lang="en-US" altLang="zh-CN" b="1" dirty="0">
                <a:solidFill>
                  <a:srgbClr val="6F42C1"/>
                </a:solidFill>
                <a:effectLst/>
                <a:latin typeface="Consolas" panose="020B0609020204030204" pitchFamily="49" charset="0"/>
              </a:rPr>
              <a:t>Dataset</a:t>
            </a:r>
            <a:endParaRPr lang="en-US" altLang="zh-CN" b="1"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5.4.2 Dataset</a:t>
            </a:r>
            <a:r>
              <a:rPr lang="zh-CN" altLang="en-US" dirty="0">
                <a:solidFill>
                  <a:srgbClr val="577CCE"/>
                </a:solidFill>
                <a:latin typeface="Consolas" panose="020B0609020204030204" pitchFamily="49" charset="0"/>
              </a:rPr>
              <a:t>和</a:t>
            </a:r>
            <a:r>
              <a:rPr lang="en-US" altLang="zh-CN" dirty="0" err="1">
                <a:solidFill>
                  <a:srgbClr val="577CCE"/>
                </a:solidFill>
                <a:latin typeface="Consolas" panose="020B0609020204030204" pitchFamily="49" charset="0"/>
              </a:rPr>
              <a:t>DataLoader</a:t>
            </a:r>
            <a:endParaRPr lang="zh-CN" altLang="en-US" b="0" dirty="0">
              <a:solidFill>
                <a:srgbClr val="577CCE"/>
              </a:solidFill>
              <a:effectLst/>
              <a:latin typeface="Consolas" panose="020B0609020204030204" pitchFamily="49" charset="0"/>
            </a:endParaRPr>
          </a:p>
        </p:txBody>
      </p:sp>
      <p:sp>
        <p:nvSpPr>
          <p:cNvPr id="7" name="文本框 6"/>
          <p:cNvSpPr txBox="1"/>
          <p:nvPr/>
        </p:nvSpPr>
        <p:spPr>
          <a:xfrm>
            <a:off x="385895" y="1545034"/>
            <a:ext cx="6115573" cy="5078313"/>
          </a:xfrm>
          <a:prstGeom prst="rect">
            <a:avLst/>
          </a:prstGeom>
          <a:noFill/>
          <a:ln>
            <a:solidFill>
              <a:srgbClr val="577CCE"/>
            </a:solidFill>
          </a:ln>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utils</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data</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dataset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Dataset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numpy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np</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创建子类</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class</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subDataset</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Dataset</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Dataset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初始化，定义数据内容和标签</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def</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__</a:t>
            </a:r>
            <a:r>
              <a:rPr lang="en-US" altLang="zh-CN" b="0" dirty="0" err="1">
                <a:solidFill>
                  <a:srgbClr val="005CC5"/>
                </a:solidFill>
                <a:effectLst/>
                <a:latin typeface="Consolas" panose="020B0609020204030204" pitchFamily="49" charset="0"/>
              </a:rPr>
              <a:t>init</a:t>
            </a:r>
            <a:r>
              <a:rPr lang="en-US" altLang="zh-CN" b="0" dirty="0">
                <a:solidFill>
                  <a:srgbClr val="005CC5"/>
                </a:solidFill>
                <a:effectLst/>
                <a:latin typeface="Consolas" panose="020B0609020204030204" pitchFamily="49" charset="0"/>
              </a:rPr>
              <a:t>__</a:t>
            </a:r>
            <a:r>
              <a:rPr lang="en-US" altLang="zh-CN" b="0" dirty="0">
                <a:solidFill>
                  <a:srgbClr val="24292E"/>
                </a:solidFill>
                <a:effectLst/>
                <a:latin typeface="Consolas" panose="020B0609020204030204" pitchFamily="49" charset="0"/>
              </a:rPr>
              <a:t>(self, </a:t>
            </a:r>
            <a:r>
              <a:rPr lang="en-US" altLang="zh-CN" b="0" dirty="0">
                <a:solidFill>
                  <a:srgbClr val="E36209"/>
                </a:solidFill>
                <a:effectLst/>
                <a:latin typeface="Consolas" panose="020B0609020204030204" pitchFamily="49" charset="0"/>
              </a:rPr>
              <a:t>Data</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Label</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self.Data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Data</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self.Label</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Label</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返回数据集大小</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def</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__</a:t>
            </a:r>
            <a:r>
              <a:rPr lang="en-US" altLang="zh-CN" b="0" dirty="0" err="1">
                <a:solidFill>
                  <a:srgbClr val="005CC5"/>
                </a:solidFill>
                <a:effectLst/>
                <a:latin typeface="Consolas" panose="020B0609020204030204" pitchFamily="49" charset="0"/>
              </a:rPr>
              <a:t>len</a:t>
            </a:r>
            <a:r>
              <a:rPr lang="en-US" altLang="zh-CN" b="0" dirty="0">
                <a:solidFill>
                  <a:srgbClr val="005CC5"/>
                </a:solidFill>
                <a:effectLst/>
                <a:latin typeface="Consolas" panose="020B0609020204030204" pitchFamily="49" charset="0"/>
              </a:rPr>
              <a:t>__</a:t>
            </a:r>
            <a:r>
              <a:rPr lang="en-US" altLang="zh-CN" b="0" dirty="0">
                <a:solidFill>
                  <a:srgbClr val="24292E"/>
                </a:solidFill>
                <a:effectLst/>
                <a:latin typeface="Consolas" panose="020B0609020204030204" pitchFamily="49" charset="0"/>
              </a:rPr>
              <a:t>(self):</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return</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len</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self.Data</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得到数据内容和标签</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def</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__</a:t>
            </a:r>
            <a:r>
              <a:rPr lang="en-US" altLang="zh-CN" b="0" dirty="0" err="1">
                <a:solidFill>
                  <a:srgbClr val="005CC5"/>
                </a:solidFill>
                <a:effectLst/>
                <a:latin typeface="Consolas" panose="020B0609020204030204" pitchFamily="49" charset="0"/>
              </a:rPr>
              <a:t>getitem</a:t>
            </a:r>
            <a:r>
              <a:rPr lang="en-US" altLang="zh-CN" b="0" dirty="0">
                <a:solidFill>
                  <a:srgbClr val="005CC5"/>
                </a:solidFill>
                <a:effectLst/>
                <a:latin typeface="Consolas" panose="020B0609020204030204" pitchFamily="49" charset="0"/>
              </a:rPr>
              <a:t>__</a:t>
            </a:r>
            <a:r>
              <a:rPr lang="en-US" altLang="zh-CN" b="0" dirty="0">
                <a:solidFill>
                  <a:srgbClr val="24292E"/>
                </a:solidFill>
                <a:effectLst/>
                <a:latin typeface="Consolas" panose="020B0609020204030204" pitchFamily="49" charset="0"/>
              </a:rPr>
              <a:t>(self, </a:t>
            </a:r>
            <a:r>
              <a:rPr lang="en-US" altLang="zh-CN" b="0" dirty="0">
                <a:solidFill>
                  <a:srgbClr val="E36209"/>
                </a:solidFill>
                <a:effectLst/>
                <a:latin typeface="Consolas" panose="020B0609020204030204" pitchFamily="49" charset="0"/>
              </a:rPr>
              <a:t>index</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data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Tensor</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self.Data</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index</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label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Tensor</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self.Label</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index</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return</a:t>
            </a:r>
            <a:r>
              <a:rPr lang="en-US" altLang="zh-CN" b="0" dirty="0">
                <a:solidFill>
                  <a:srgbClr val="24292E"/>
                </a:solidFill>
                <a:effectLst/>
                <a:latin typeface="Consolas" panose="020B0609020204030204" pitchFamily="49" charset="0"/>
              </a:rPr>
              <a:t> data, label</a:t>
            </a:r>
            <a:endParaRPr lang="en-US" altLang="zh-CN" b="0" dirty="0">
              <a:solidFill>
                <a:srgbClr val="24292E"/>
              </a:solidFill>
              <a:effectLst/>
              <a:latin typeface="Consolas" panose="020B0609020204030204" pitchFamily="49" charset="0"/>
            </a:endParaRPr>
          </a:p>
        </p:txBody>
      </p:sp>
      <p:sp>
        <p:nvSpPr>
          <p:cNvPr id="8" name="文本框 7"/>
          <p:cNvSpPr txBox="1"/>
          <p:nvPr/>
        </p:nvSpPr>
        <p:spPr>
          <a:xfrm>
            <a:off x="6688123" y="1545034"/>
            <a:ext cx="5308860" cy="3970318"/>
          </a:xfrm>
          <a:prstGeom prst="rect">
            <a:avLst/>
          </a:prstGeom>
          <a:noFill/>
          <a:ln>
            <a:solidFill>
              <a:srgbClr val="577CCE"/>
            </a:solidFill>
          </a:ln>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构建数据集</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asarray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7</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Label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asarray</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D73A49"/>
                </a:solidFill>
                <a:effectLst/>
                <a:latin typeface="Consolas" panose="020B0609020204030204" pitchFamily="49" charset="0"/>
              </a:rPr>
              <a:t>if</a:t>
            </a:r>
            <a:r>
              <a:rPr lang="en-US" altLang="zh-CN" b="0" dirty="0">
                <a:solidFill>
                  <a:srgbClr val="24292E"/>
                </a:solidFill>
                <a:effectLst/>
                <a:latin typeface="Consolas" panose="020B0609020204030204" pitchFamily="49" charset="0"/>
              </a:rPr>
              <a:t> __name__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'__main__'</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sub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subDataset</a:t>
            </a:r>
            <a:r>
              <a:rPr lang="en-US" altLang="zh-CN" b="0" dirty="0">
                <a:solidFill>
                  <a:srgbClr val="24292E"/>
                </a:solidFill>
                <a:effectLst/>
                <a:latin typeface="Consolas" panose="020B0609020204030204" pitchFamily="49" charset="0"/>
              </a:rPr>
              <a:t>(Data, Label)  </a:t>
            </a:r>
            <a:endParaRPr lang="en-US" altLang="zh-CN" b="0" dirty="0">
              <a:solidFill>
                <a:srgbClr val="24292E"/>
              </a:solidFill>
              <a:effectLst/>
              <a:latin typeface="Consolas" panose="020B0609020204030204" pitchFamily="49" charset="0"/>
            </a:endParaRPr>
          </a:p>
          <a:p>
            <a:r>
              <a:rPr lang="en-US" altLang="zh-CN" dirty="0">
                <a:solidFill>
                  <a:srgbClr val="24292E"/>
                </a:solidFill>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创建数据集对象</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zh-CN" altLang="en-US" b="0" dirty="0">
                <a:solidFill>
                  <a:srgbClr val="032F62"/>
                </a:solidFill>
                <a:effectLst/>
                <a:latin typeface="Consolas" panose="020B0609020204030204" pitchFamily="49" charset="0"/>
              </a:rPr>
              <a:t>数据集大小为：</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sub.</a:t>
            </a:r>
            <a:r>
              <a:rPr lang="en-US" altLang="zh-CN" b="0" dirty="0">
                <a:solidFill>
                  <a:srgbClr val="005CC5"/>
                </a:solidFill>
                <a:effectLst/>
                <a:latin typeface="Consolas" panose="020B0609020204030204" pitchFamily="49" charset="0"/>
              </a:rPr>
              <a:t>__</a:t>
            </a:r>
            <a:r>
              <a:rPr lang="en-US" altLang="zh-CN" b="0" dirty="0" err="1">
                <a:solidFill>
                  <a:srgbClr val="005CC5"/>
                </a:solidFill>
                <a:effectLst/>
                <a:latin typeface="Consolas" panose="020B0609020204030204" pitchFamily="49" charset="0"/>
              </a:rPr>
              <a:t>len</a:t>
            </a:r>
            <a:r>
              <a:rPr lang="en-US" altLang="zh-CN" b="0" dirty="0">
                <a:solidFill>
                  <a:srgbClr val="005CC5"/>
                </a:solidFill>
                <a:effectLst/>
                <a:latin typeface="Consolas" panose="020B0609020204030204" pitchFamily="49" charset="0"/>
              </a:rPr>
              <a:t>__</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获取</a:t>
            </a:r>
            <a:r>
              <a:rPr lang="en-US" altLang="zh-CN" b="0" dirty="0">
                <a:solidFill>
                  <a:srgbClr val="6A737D"/>
                </a:solidFill>
                <a:effectLst/>
                <a:latin typeface="Consolas" panose="020B0609020204030204" pitchFamily="49" charset="0"/>
              </a:rPr>
              <a:t>dataset</a:t>
            </a:r>
            <a:r>
              <a:rPr lang="zh-CN" altLang="en-US" b="0" dirty="0">
                <a:solidFill>
                  <a:srgbClr val="6A737D"/>
                </a:solidFill>
                <a:effectLst/>
                <a:latin typeface="Consolas" panose="020B0609020204030204" pitchFamily="49" charset="0"/>
              </a:rPr>
              <a:t>数据的大小</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(sub.</a:t>
            </a:r>
            <a:r>
              <a:rPr lang="en-US" altLang="zh-CN" b="0" dirty="0">
                <a:solidFill>
                  <a:srgbClr val="005CC5"/>
                </a:solidFill>
                <a:effectLst/>
                <a:latin typeface="Consolas" panose="020B0609020204030204" pitchFamily="49" charset="0"/>
              </a:rPr>
              <a:t>__</a:t>
            </a:r>
            <a:r>
              <a:rPr lang="en-US" altLang="zh-CN" b="0" dirty="0" err="1">
                <a:solidFill>
                  <a:srgbClr val="005CC5"/>
                </a:solidFill>
                <a:effectLst/>
                <a:latin typeface="Consolas" panose="020B0609020204030204" pitchFamily="49" charset="0"/>
              </a:rPr>
              <a:t>getitem</a:t>
            </a:r>
            <a:r>
              <a:rPr lang="en-US" altLang="zh-CN" b="0" dirty="0">
                <a:solidFill>
                  <a:srgbClr val="005CC5"/>
                </a:solidFill>
                <a:effectLst/>
                <a:latin typeface="Consolas" panose="020B0609020204030204" pitchFamily="49" charset="0"/>
              </a:rPr>
              <a:t>__</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dirty="0">
                <a:solidFill>
                  <a:srgbClr val="24292E"/>
                </a:solidFill>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第</a:t>
            </a:r>
            <a:r>
              <a:rPr lang="en-US" altLang="zh-CN" b="0" dirty="0">
                <a:solidFill>
                  <a:srgbClr val="6A737D"/>
                </a:solidFill>
                <a:effectLst/>
                <a:latin typeface="Consolas" panose="020B0609020204030204" pitchFamily="49" charset="0"/>
              </a:rPr>
              <a:t>0</a:t>
            </a:r>
            <a:r>
              <a:rPr lang="zh-CN" altLang="en-US" b="0" dirty="0">
                <a:solidFill>
                  <a:srgbClr val="6A737D"/>
                </a:solidFill>
                <a:effectLst/>
                <a:latin typeface="Consolas" panose="020B0609020204030204" pitchFamily="49" charset="0"/>
              </a:rPr>
              <a:t>项的数据</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(sub[</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效果等同于</a:t>
            </a:r>
            <a:r>
              <a:rPr lang="en-US" altLang="zh-CN" b="0" dirty="0">
                <a:solidFill>
                  <a:srgbClr val="6A737D"/>
                </a:solidFill>
                <a:effectLst/>
                <a:latin typeface="Consolas" panose="020B0609020204030204" pitchFamily="49" charset="0"/>
              </a:rPr>
              <a:t>__</a:t>
            </a:r>
            <a:r>
              <a:rPr lang="en-US" altLang="zh-CN" b="0" dirty="0" err="1">
                <a:solidFill>
                  <a:srgbClr val="6A737D"/>
                </a:solidFill>
                <a:effectLst/>
                <a:latin typeface="Consolas" panose="020B0609020204030204" pitchFamily="49" charset="0"/>
              </a:rPr>
              <a:t>getitem</a:t>
            </a:r>
            <a:r>
              <a:rPr lang="en-US" altLang="zh-CN" b="0" dirty="0">
                <a:solidFill>
                  <a:srgbClr val="6A737D"/>
                </a:solidFill>
                <a:effectLst/>
                <a:latin typeface="Consolas" panose="020B0609020204030204" pitchFamily="49" charset="0"/>
              </a:rPr>
              <a:t>__</a:t>
            </a:r>
            <a:endParaRPr lang="en-US" altLang="zh-CN" b="0" dirty="0">
              <a:solidFill>
                <a:srgbClr val="24292E"/>
              </a:solidFill>
              <a:effectLst/>
              <a:latin typeface="Consolas" panose="020B0609020204030204" pitchFamily="49" charset="0"/>
            </a:endParaRPr>
          </a:p>
        </p:txBody>
      </p:sp>
      <p:pic>
        <p:nvPicPr>
          <p:cNvPr id="10" name="图片 9"/>
          <p:cNvPicPr>
            <a:picLocks noChangeAspect="1"/>
          </p:cNvPicPr>
          <p:nvPr/>
        </p:nvPicPr>
        <p:blipFill>
          <a:blip r:embed="rId1"/>
          <a:stretch>
            <a:fillRect/>
          </a:stretch>
        </p:blipFill>
        <p:spPr>
          <a:xfrm>
            <a:off x="7377075" y="5666606"/>
            <a:ext cx="3930956" cy="956741"/>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5.4.2 Dataset</a:t>
            </a:r>
            <a:r>
              <a:rPr lang="zh-CN" altLang="en-US" dirty="0">
                <a:solidFill>
                  <a:srgbClr val="577CCE"/>
                </a:solidFill>
                <a:latin typeface="Consolas" panose="020B0609020204030204" pitchFamily="49" charset="0"/>
              </a:rPr>
              <a:t>和</a:t>
            </a:r>
            <a:r>
              <a:rPr lang="en-US" altLang="zh-CN" dirty="0" err="1">
                <a:solidFill>
                  <a:srgbClr val="577CCE"/>
                </a:solidFill>
                <a:latin typeface="Consolas" panose="020B0609020204030204" pitchFamily="49" charset="0"/>
              </a:rPr>
              <a:t>DataLoader</a:t>
            </a:r>
            <a:endParaRPr lang="zh-CN" altLang="en-US" b="0" dirty="0">
              <a:solidFill>
                <a:srgbClr val="577CCE"/>
              </a:solidFill>
              <a:effectLst/>
              <a:latin typeface="Consolas" panose="020B0609020204030204" pitchFamily="49" charset="0"/>
            </a:endParaRPr>
          </a:p>
        </p:txBody>
      </p:sp>
      <p:sp>
        <p:nvSpPr>
          <p:cNvPr id="12" name="文本框 11"/>
          <p:cNvSpPr txBox="1"/>
          <p:nvPr/>
        </p:nvSpPr>
        <p:spPr>
          <a:xfrm>
            <a:off x="738117" y="1583392"/>
            <a:ext cx="10715765"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2</a:t>
            </a:r>
            <a:r>
              <a:rPr lang="zh-CN" altLang="en-US" b="0" dirty="0">
                <a:solidFill>
                  <a:srgbClr val="24292E"/>
                </a:solidFill>
                <a:effectLst/>
                <a:latin typeface="Consolas" panose="020B0609020204030204" pitchFamily="49" charset="0"/>
              </a:rPr>
              <a:t>）创建和使用</a:t>
            </a:r>
            <a:r>
              <a:rPr lang="en-US" altLang="zh-CN" b="0" dirty="0" err="1">
                <a:solidFill>
                  <a:srgbClr val="24292E"/>
                </a:solidFill>
                <a:effectLst/>
                <a:latin typeface="Consolas" panose="020B0609020204030204" pitchFamily="49" charset="0"/>
              </a:rPr>
              <a:t>DataLoader</a:t>
            </a:r>
            <a:endParaRPr lang="zh-CN" altLang="en-US" b="0" dirty="0">
              <a:solidFill>
                <a:srgbClr val="24292E"/>
              </a:solidFill>
              <a:effectLst/>
              <a:latin typeface="Consolas" panose="020B0609020204030204" pitchFamily="49" charset="0"/>
            </a:endParaRPr>
          </a:p>
        </p:txBody>
      </p:sp>
      <p:sp>
        <p:nvSpPr>
          <p:cNvPr id="3" name="文本框 2"/>
          <p:cNvSpPr txBox="1"/>
          <p:nvPr/>
        </p:nvSpPr>
        <p:spPr>
          <a:xfrm>
            <a:off x="1346200" y="2038301"/>
            <a:ext cx="9995716" cy="369332"/>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DataLoader</a:t>
            </a:r>
            <a:r>
              <a:rPr lang="zh-CN" altLang="en-US" b="0" dirty="0">
                <a:solidFill>
                  <a:srgbClr val="24292E"/>
                </a:solidFill>
                <a:effectLst/>
                <a:latin typeface="Consolas" panose="020B0609020204030204" pitchFamily="49" charset="0"/>
              </a:rPr>
              <a:t>类提供了通过用户构建的数据集对象读取数据的方法。在使用该类时，首先进行导入：</a:t>
            </a:r>
            <a:endParaRPr lang="zh-CN" altLang="en-US" b="0" dirty="0">
              <a:solidFill>
                <a:srgbClr val="24292E"/>
              </a:solidFill>
              <a:effectLst/>
              <a:latin typeface="Consolas" panose="020B0609020204030204" pitchFamily="49" charset="0"/>
            </a:endParaRPr>
          </a:p>
        </p:txBody>
      </p:sp>
      <p:sp>
        <p:nvSpPr>
          <p:cNvPr id="8" name="文本框 7"/>
          <p:cNvSpPr txBox="1"/>
          <p:nvPr/>
        </p:nvSpPr>
        <p:spPr>
          <a:xfrm>
            <a:off x="1346201" y="3150951"/>
            <a:ext cx="10650782" cy="1200329"/>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在创建</a:t>
            </a:r>
            <a:r>
              <a:rPr lang="en-US" altLang="zh-CN" b="0" dirty="0" err="1">
                <a:solidFill>
                  <a:srgbClr val="24292E"/>
                </a:solidFill>
                <a:effectLst/>
                <a:latin typeface="Consolas" panose="020B0609020204030204" pitchFamily="49" charset="0"/>
              </a:rPr>
              <a:t>Dataloader</a:t>
            </a:r>
            <a:r>
              <a:rPr lang="zh-CN" altLang="en-US" b="0" dirty="0">
                <a:solidFill>
                  <a:srgbClr val="24292E"/>
                </a:solidFill>
                <a:effectLst/>
                <a:latin typeface="Consolas" panose="020B0609020204030204" pitchFamily="49" charset="0"/>
              </a:rPr>
              <a:t>迭代器对象时，需将将用户构建的数据集对象作为参数。例如创建要给</a:t>
            </a:r>
            <a:r>
              <a:rPr lang="en-US" altLang="zh-CN" b="0" dirty="0" err="1">
                <a:solidFill>
                  <a:srgbClr val="24292E"/>
                </a:solidFill>
                <a:effectLst/>
                <a:latin typeface="Consolas" panose="020B0609020204030204" pitchFamily="49" charset="0"/>
              </a:rPr>
              <a:t>DataLoader</a:t>
            </a:r>
            <a:r>
              <a:rPr lang="zh-CN" altLang="en-US" b="0" dirty="0">
                <a:solidFill>
                  <a:srgbClr val="24292E"/>
                </a:solidFill>
                <a:effectLst/>
                <a:latin typeface="Consolas" panose="020B0609020204030204" pitchFamily="49" charset="0"/>
              </a:rPr>
              <a:t>对象，该对象对应的</a:t>
            </a:r>
            <a:r>
              <a:rPr lang="zh-CN" altLang="en-US" b="0" dirty="0">
                <a:solidFill>
                  <a:srgbClr val="FF0000"/>
                </a:solidFill>
                <a:effectLst/>
                <a:latin typeface="Consolas" panose="020B0609020204030204" pitchFamily="49" charset="0"/>
              </a:rPr>
              <a:t>数据集对象为</a:t>
            </a:r>
            <a:r>
              <a:rPr lang="en-US" altLang="zh-CN" b="0" dirty="0">
                <a:solidFill>
                  <a:srgbClr val="FF0000"/>
                </a:solidFill>
                <a:effectLst/>
                <a:latin typeface="Consolas" panose="020B0609020204030204" pitchFamily="49" charset="0"/>
              </a:rPr>
              <a:t>sub</a:t>
            </a:r>
            <a:r>
              <a:rPr lang="zh-CN" altLang="en-US" b="0" dirty="0">
                <a:solidFill>
                  <a:srgbClr val="24292E"/>
                </a:solidFill>
                <a:effectLst/>
                <a:latin typeface="Consolas" panose="020B0609020204030204" pitchFamily="49" charset="0"/>
              </a:rPr>
              <a:t>，读取数据时，设置</a:t>
            </a:r>
            <a:r>
              <a:rPr lang="en-US" altLang="zh-CN" b="0" dirty="0" err="1">
                <a:solidFill>
                  <a:srgbClr val="FF0000"/>
                </a:solidFill>
                <a:effectLst/>
                <a:latin typeface="Consolas" panose="020B0609020204030204" pitchFamily="49" charset="0"/>
              </a:rPr>
              <a:t>batchsize</a:t>
            </a:r>
            <a:r>
              <a:rPr lang="zh-CN" altLang="en-US" b="0" dirty="0">
                <a:solidFill>
                  <a:srgbClr val="FF0000"/>
                </a:solidFill>
                <a:effectLst/>
                <a:latin typeface="Consolas" panose="020B0609020204030204" pitchFamily="49" charset="0"/>
              </a:rPr>
              <a:t>为</a:t>
            </a:r>
            <a:r>
              <a:rPr lang="en-US" altLang="zh-CN" b="0" dirty="0">
                <a:solidFill>
                  <a:srgbClr val="FF0000"/>
                </a:solidFill>
                <a:effectLst/>
                <a:latin typeface="Consolas" panose="020B0609020204030204" pitchFamily="49" charset="0"/>
              </a:rPr>
              <a:t>2</a:t>
            </a:r>
            <a:r>
              <a:rPr lang="zh-CN" altLang="en-US" b="0" dirty="0">
                <a:solidFill>
                  <a:srgbClr val="24292E"/>
                </a:solidFill>
                <a:effectLst/>
                <a:latin typeface="Consolas" panose="020B0609020204030204" pitchFamily="49" charset="0"/>
              </a:rPr>
              <a:t>，</a:t>
            </a:r>
            <a:r>
              <a:rPr lang="zh-CN" altLang="en-US" b="0" dirty="0">
                <a:solidFill>
                  <a:srgbClr val="FF0000"/>
                </a:solidFill>
                <a:effectLst/>
                <a:latin typeface="Consolas" panose="020B0609020204030204" pitchFamily="49" charset="0"/>
              </a:rPr>
              <a:t>表示每批处理两个数据</a:t>
            </a:r>
            <a:r>
              <a:rPr lang="zh-CN" altLang="en-US" b="0" dirty="0">
                <a:solidFill>
                  <a:srgbClr val="24292E"/>
                </a:solidFill>
                <a:effectLst/>
                <a:latin typeface="Consolas" panose="020B0609020204030204" pitchFamily="49" charset="0"/>
              </a:rPr>
              <a:t>，</a:t>
            </a:r>
            <a:r>
              <a:rPr lang="en-US" altLang="zh-CN" b="0" dirty="0">
                <a:solidFill>
                  <a:srgbClr val="FF0000"/>
                </a:solidFill>
                <a:effectLst/>
                <a:latin typeface="Consolas" panose="020B0609020204030204" pitchFamily="49" charset="0"/>
              </a:rPr>
              <a:t>shuffle</a:t>
            </a:r>
            <a:r>
              <a:rPr lang="zh-CN" altLang="en-US" b="0" dirty="0">
                <a:solidFill>
                  <a:srgbClr val="FF0000"/>
                </a:solidFill>
                <a:effectLst/>
                <a:latin typeface="Consolas" panose="020B0609020204030204" pitchFamily="49" charset="0"/>
              </a:rPr>
              <a:t>为</a:t>
            </a:r>
            <a:r>
              <a:rPr lang="en-US" altLang="zh-CN" b="0" dirty="0">
                <a:solidFill>
                  <a:srgbClr val="FF0000"/>
                </a:solidFill>
                <a:effectLst/>
                <a:latin typeface="Consolas" panose="020B0609020204030204" pitchFamily="49" charset="0"/>
              </a:rPr>
              <a:t>false</a:t>
            </a:r>
            <a:r>
              <a:rPr lang="zh-CN" altLang="en-US" b="0" dirty="0">
                <a:solidFill>
                  <a:srgbClr val="FF0000"/>
                </a:solidFill>
                <a:effectLst/>
                <a:latin typeface="Consolas" panose="020B0609020204030204" pitchFamily="49" charset="0"/>
              </a:rPr>
              <a:t>表示不打乱数据的顺序</a:t>
            </a:r>
            <a:r>
              <a:rPr lang="zh-CN" altLang="en-US"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num_workers</a:t>
            </a:r>
            <a:r>
              <a:rPr lang="en-US" altLang="zh-CN" b="0" dirty="0">
                <a:solidFill>
                  <a:srgbClr val="24292E"/>
                </a:solidFill>
                <a:effectLst/>
                <a:latin typeface="Consolas" panose="020B0609020204030204" pitchFamily="49" charset="0"/>
              </a:rPr>
              <a:t>=1</a:t>
            </a:r>
            <a:r>
              <a:rPr lang="zh-CN" altLang="en-US" b="0" dirty="0">
                <a:solidFill>
                  <a:srgbClr val="24292E"/>
                </a:solidFill>
                <a:effectLst/>
                <a:latin typeface="Consolas" panose="020B0609020204030204" pitchFamily="49" charset="0"/>
              </a:rPr>
              <a:t>表示</a:t>
            </a:r>
            <a:r>
              <a:rPr lang="zh-CN" altLang="en-US" b="0" dirty="0">
                <a:solidFill>
                  <a:srgbClr val="FF0000"/>
                </a:solidFill>
                <a:effectLst/>
                <a:latin typeface="Consolas" panose="020B0609020204030204" pitchFamily="49" charset="0"/>
              </a:rPr>
              <a:t>使用</a:t>
            </a:r>
            <a:r>
              <a:rPr lang="en-US" altLang="zh-CN" b="0" dirty="0">
                <a:solidFill>
                  <a:srgbClr val="FF0000"/>
                </a:solidFill>
                <a:effectLst/>
                <a:latin typeface="Consolas" panose="020B0609020204030204" pitchFamily="49" charset="0"/>
              </a:rPr>
              <a:t>1</a:t>
            </a:r>
            <a:r>
              <a:rPr lang="zh-CN" altLang="en-US" b="0" dirty="0">
                <a:solidFill>
                  <a:srgbClr val="FF0000"/>
                </a:solidFill>
                <a:effectLst/>
                <a:latin typeface="Consolas" panose="020B0609020204030204" pitchFamily="49" charset="0"/>
              </a:rPr>
              <a:t>个子进程来处理加载数据</a:t>
            </a:r>
            <a:r>
              <a:rPr lang="zh-CN" altLang="en-US" b="0" dirty="0">
                <a:solidFill>
                  <a:srgbClr val="24292E"/>
                </a:solidFill>
                <a:effectLst/>
                <a:latin typeface="Consolas" panose="020B0609020204030204" pitchFamily="49" charset="0"/>
              </a:rPr>
              <a:t>，定义对象代码如下：</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1564677" y="2600811"/>
            <a:ext cx="6862194" cy="369332"/>
          </a:xfrm>
          <a:prstGeom prst="rect">
            <a:avLst/>
          </a:prstGeom>
          <a:noFill/>
        </p:spPr>
        <p:txBody>
          <a:bodyPr wrap="square">
            <a:spAutoFit/>
          </a:bodyPr>
          <a:lstStyle/>
          <a:p>
            <a:r>
              <a:rPr lang="en-US" altLang="zh-CN" b="1" dirty="0">
                <a:solidFill>
                  <a:srgbClr val="D73A49"/>
                </a:solidFill>
                <a:effectLst/>
                <a:latin typeface="Consolas" panose="020B0609020204030204" pitchFamily="49" charset="0"/>
              </a:rPr>
              <a:t>import</a:t>
            </a:r>
            <a:r>
              <a:rPr lang="en-US" altLang="zh-CN" b="1" dirty="0">
                <a:solidFill>
                  <a:srgbClr val="24292E"/>
                </a:solidFill>
                <a:effectLst/>
                <a:latin typeface="Consolas" panose="020B0609020204030204" pitchFamily="49" charset="0"/>
              </a:rPr>
              <a:t> </a:t>
            </a:r>
            <a:r>
              <a:rPr lang="en-US" altLang="zh-CN" b="1" dirty="0" err="1">
                <a:solidFill>
                  <a:srgbClr val="6F42C1"/>
                </a:solidFill>
                <a:effectLst/>
                <a:latin typeface="Consolas" panose="020B0609020204030204" pitchFamily="49" charset="0"/>
              </a:rPr>
              <a:t>torch</a:t>
            </a:r>
            <a:r>
              <a:rPr lang="en-US" altLang="zh-CN" b="1" dirty="0" err="1">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utils</a:t>
            </a:r>
            <a:r>
              <a:rPr lang="en-US" altLang="zh-CN" b="1" dirty="0" err="1">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data</a:t>
            </a:r>
            <a:r>
              <a:rPr lang="en-US" altLang="zh-CN" b="1" dirty="0" err="1">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dataloader</a:t>
            </a:r>
            <a:r>
              <a:rPr lang="en-US" altLang="zh-CN" b="1" dirty="0">
                <a:solidFill>
                  <a:srgbClr val="24292E"/>
                </a:solidFill>
                <a:effectLst/>
                <a:latin typeface="Consolas" panose="020B0609020204030204" pitchFamily="49" charset="0"/>
              </a:rPr>
              <a:t> </a:t>
            </a:r>
            <a:r>
              <a:rPr lang="en-US" altLang="zh-CN" b="1" dirty="0">
                <a:solidFill>
                  <a:srgbClr val="D73A49"/>
                </a:solidFill>
                <a:effectLst/>
                <a:latin typeface="Consolas" panose="020B0609020204030204" pitchFamily="49" charset="0"/>
              </a:rPr>
              <a:t>as</a:t>
            </a:r>
            <a:r>
              <a:rPr lang="en-US" altLang="zh-CN" b="1" dirty="0">
                <a:solidFill>
                  <a:srgbClr val="24292E"/>
                </a:solidFill>
                <a:effectLst/>
                <a:latin typeface="Consolas" panose="020B0609020204030204" pitchFamily="49" charset="0"/>
              </a:rPr>
              <a:t> </a:t>
            </a:r>
            <a:r>
              <a:rPr lang="en-US" altLang="zh-CN" b="1" dirty="0" err="1">
                <a:solidFill>
                  <a:srgbClr val="6F42C1"/>
                </a:solidFill>
                <a:effectLst/>
                <a:latin typeface="Consolas" panose="020B0609020204030204" pitchFamily="49" charset="0"/>
              </a:rPr>
              <a:t>DataLoader</a:t>
            </a:r>
            <a:endParaRPr lang="en-US" altLang="zh-CN" b="1" dirty="0">
              <a:solidFill>
                <a:srgbClr val="24292E"/>
              </a:solidFill>
              <a:effectLst/>
              <a:latin typeface="Consolas" panose="020B0609020204030204" pitchFamily="49" charset="0"/>
            </a:endParaRPr>
          </a:p>
        </p:txBody>
      </p:sp>
      <p:sp>
        <p:nvSpPr>
          <p:cNvPr id="6" name="文本框 5"/>
          <p:cNvSpPr txBox="1"/>
          <p:nvPr/>
        </p:nvSpPr>
        <p:spPr>
          <a:xfrm>
            <a:off x="1564677" y="4469248"/>
            <a:ext cx="10213829" cy="369332"/>
          </a:xfrm>
          <a:prstGeom prst="rect">
            <a:avLst/>
          </a:prstGeom>
          <a:noFill/>
        </p:spPr>
        <p:txBody>
          <a:bodyPr wrap="square">
            <a:spAutoFit/>
          </a:bodyPr>
          <a:lstStyle/>
          <a:p>
            <a:r>
              <a:rPr lang="en-US" altLang="zh-CN" b="1" dirty="0" err="1">
                <a:solidFill>
                  <a:srgbClr val="24292E"/>
                </a:solidFill>
                <a:effectLst/>
                <a:latin typeface="Consolas" panose="020B0609020204030204" pitchFamily="49" charset="0"/>
              </a:rPr>
              <a:t>dataloader</a:t>
            </a:r>
            <a:r>
              <a:rPr lang="en-US" altLang="zh-CN" b="1" dirty="0">
                <a:solidFill>
                  <a:srgbClr val="D73A49"/>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DataLoader</a:t>
            </a:r>
            <a:r>
              <a:rPr lang="en-US" altLang="zh-CN" b="1" dirty="0" err="1">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DataLoader</a:t>
            </a:r>
            <a:r>
              <a:rPr lang="en-US" altLang="zh-CN" b="1" dirty="0">
                <a:solidFill>
                  <a:srgbClr val="24292E"/>
                </a:solidFill>
                <a:effectLst/>
                <a:latin typeface="Consolas" panose="020B0609020204030204" pitchFamily="49" charset="0"/>
              </a:rPr>
              <a:t>(</a:t>
            </a:r>
            <a:r>
              <a:rPr lang="en-US" altLang="zh-CN" b="1" dirty="0" err="1">
                <a:solidFill>
                  <a:srgbClr val="24292E"/>
                </a:solidFill>
                <a:effectLst/>
                <a:latin typeface="Consolas" panose="020B0609020204030204" pitchFamily="49" charset="0"/>
              </a:rPr>
              <a:t>sub,</a:t>
            </a:r>
            <a:r>
              <a:rPr lang="en-US" altLang="zh-CN" b="1" dirty="0" err="1">
                <a:solidFill>
                  <a:srgbClr val="E36209"/>
                </a:solidFill>
                <a:effectLst/>
                <a:latin typeface="Consolas" panose="020B0609020204030204" pitchFamily="49" charset="0"/>
              </a:rPr>
              <a:t>batch_size</a:t>
            </a:r>
            <a:r>
              <a:rPr lang="en-US" altLang="zh-CN" b="1" dirty="0">
                <a:solidFill>
                  <a:srgbClr val="D73A49"/>
                </a:solidFill>
                <a:effectLst/>
                <a:latin typeface="Consolas" panose="020B0609020204030204" pitchFamily="49" charset="0"/>
              </a:rPr>
              <a:t>=</a:t>
            </a:r>
            <a:r>
              <a:rPr lang="en-US" altLang="zh-CN" b="1" dirty="0">
                <a:solidFill>
                  <a:srgbClr val="005CC5"/>
                </a:solidFill>
                <a:effectLst/>
                <a:latin typeface="Consolas" panose="020B0609020204030204" pitchFamily="49" charset="0"/>
              </a:rPr>
              <a:t>2</a:t>
            </a:r>
            <a:r>
              <a:rPr lang="en-US" altLang="zh-CN" b="1" dirty="0">
                <a:solidFill>
                  <a:srgbClr val="24292E"/>
                </a:solidFill>
                <a:effectLst/>
                <a:latin typeface="Consolas" panose="020B0609020204030204" pitchFamily="49" charset="0"/>
              </a:rPr>
              <a:t>,</a:t>
            </a:r>
            <a:r>
              <a:rPr lang="en-US" altLang="zh-CN" b="1" dirty="0">
                <a:solidFill>
                  <a:srgbClr val="E36209"/>
                </a:solidFill>
                <a:effectLst/>
                <a:latin typeface="Consolas" panose="020B0609020204030204" pitchFamily="49" charset="0"/>
              </a:rPr>
              <a:t>shuffle</a:t>
            </a:r>
            <a:r>
              <a:rPr lang="en-US" altLang="zh-CN" b="1" dirty="0">
                <a:solidFill>
                  <a:srgbClr val="D73A49"/>
                </a:solidFill>
                <a:effectLst/>
                <a:latin typeface="Consolas" panose="020B0609020204030204" pitchFamily="49" charset="0"/>
              </a:rPr>
              <a:t>=</a:t>
            </a:r>
            <a:r>
              <a:rPr lang="en-US" altLang="zh-CN" b="1" dirty="0" err="1">
                <a:solidFill>
                  <a:srgbClr val="005CC5"/>
                </a:solidFill>
                <a:effectLst/>
                <a:latin typeface="Consolas" panose="020B0609020204030204" pitchFamily="49" charset="0"/>
              </a:rPr>
              <a:t>False</a:t>
            </a:r>
            <a:r>
              <a:rPr lang="en-US" altLang="zh-CN" b="1" dirty="0" err="1">
                <a:solidFill>
                  <a:srgbClr val="24292E"/>
                </a:solidFill>
                <a:effectLst/>
                <a:latin typeface="Consolas" panose="020B0609020204030204" pitchFamily="49" charset="0"/>
              </a:rPr>
              <a:t>,</a:t>
            </a:r>
            <a:r>
              <a:rPr lang="en-US" altLang="zh-CN" b="1" dirty="0" err="1">
                <a:solidFill>
                  <a:srgbClr val="E36209"/>
                </a:solidFill>
                <a:effectLst/>
                <a:latin typeface="Consolas" panose="020B0609020204030204" pitchFamily="49" charset="0"/>
              </a:rPr>
              <a:t>num_workers</a:t>
            </a:r>
            <a:r>
              <a:rPr lang="en-US" altLang="zh-CN" b="1" dirty="0">
                <a:solidFill>
                  <a:srgbClr val="D73A49"/>
                </a:solidFill>
                <a:effectLst/>
                <a:latin typeface="Consolas" panose="020B0609020204030204" pitchFamily="49" charset="0"/>
              </a:rPr>
              <a:t>=</a:t>
            </a:r>
            <a:r>
              <a:rPr lang="en-US" altLang="zh-CN" b="1" dirty="0">
                <a:solidFill>
                  <a:srgbClr val="005CC5"/>
                </a:solidFill>
                <a:effectLst/>
                <a:latin typeface="Consolas" panose="020B0609020204030204" pitchFamily="49" charset="0"/>
              </a:rPr>
              <a:t>0</a:t>
            </a:r>
            <a:r>
              <a:rPr lang="en-US" altLang="zh-CN" b="1" dirty="0">
                <a:solidFill>
                  <a:srgbClr val="24292E"/>
                </a:solidFill>
                <a:effectLst/>
                <a:latin typeface="Consolas" panose="020B0609020204030204" pitchFamily="49" charset="0"/>
              </a:rPr>
              <a:t>)</a:t>
            </a:r>
            <a:endParaRPr lang="en-US" altLang="zh-CN" b="1" dirty="0">
              <a:solidFill>
                <a:srgbClr val="24292E"/>
              </a:solidFill>
              <a:effectLst/>
              <a:latin typeface="Consolas" panose="020B0609020204030204" pitchFamily="49" charset="0"/>
            </a:endParaRPr>
          </a:p>
        </p:txBody>
      </p:sp>
      <p:sp>
        <p:nvSpPr>
          <p:cNvPr id="9" name="文本框 8"/>
          <p:cNvSpPr txBox="1"/>
          <p:nvPr/>
        </p:nvSpPr>
        <p:spPr>
          <a:xfrm>
            <a:off x="1346200" y="5024897"/>
            <a:ext cx="6094602"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之后就可以使用如下代码进行批量读取数据：</a:t>
            </a:r>
            <a:endParaRPr lang="zh-CN" altLang="en-US" b="0" dirty="0">
              <a:solidFill>
                <a:srgbClr val="24292E"/>
              </a:solidFill>
              <a:effectLst/>
              <a:latin typeface="Consolas" panose="020B0609020204030204" pitchFamily="49" charset="0"/>
            </a:endParaRPr>
          </a:p>
        </p:txBody>
      </p:sp>
      <p:sp>
        <p:nvSpPr>
          <p:cNvPr id="11" name="文本框 10"/>
          <p:cNvSpPr txBox="1"/>
          <p:nvPr/>
        </p:nvSpPr>
        <p:spPr>
          <a:xfrm>
            <a:off x="1564677" y="5467681"/>
            <a:ext cx="6094602" cy="120032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a:t>
            </a:r>
            <a:r>
              <a:rPr lang="en-US" altLang="zh-CN" b="0" dirty="0">
                <a:solidFill>
                  <a:srgbClr val="24292E"/>
                </a:solidFill>
                <a:effectLst/>
                <a:latin typeface="Consolas" panose="020B0609020204030204" pitchFamily="49" charset="0"/>
              </a:rPr>
              <a:t>, item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enumerate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dataloader</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data, label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item</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'data:'</a:t>
            </a:r>
            <a:r>
              <a:rPr lang="en-US" altLang="zh-CN" b="0" dirty="0">
                <a:solidFill>
                  <a:srgbClr val="24292E"/>
                </a:solidFill>
                <a:effectLst/>
                <a:latin typeface="Consolas" panose="020B0609020204030204" pitchFamily="49" charset="0"/>
              </a:rPr>
              <a:t>, data)</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'label:'</a:t>
            </a:r>
            <a:r>
              <a:rPr lang="en-US" altLang="zh-CN" b="0" dirty="0">
                <a:solidFill>
                  <a:srgbClr val="24292E"/>
                </a:solidFill>
                <a:effectLst/>
                <a:latin typeface="Consolas" panose="020B0609020204030204" pitchFamily="49" charset="0"/>
              </a:rPr>
              <a:t>, label)</a:t>
            </a:r>
            <a:endParaRPr lang="en-US" altLang="zh-CN" b="0" dirty="0">
              <a:solidFill>
                <a:srgbClr val="24292E"/>
              </a:solidFill>
              <a:effectLst/>
              <a:latin typeface="Consolas" panose="020B0609020204030204" pitchFamily="49" charset="0"/>
            </a:endParaRPr>
          </a:p>
        </p:txBody>
      </p:sp>
      <p:pic>
        <p:nvPicPr>
          <p:cNvPr id="14" name="图片 13"/>
          <p:cNvPicPr>
            <a:picLocks noChangeAspect="1"/>
          </p:cNvPicPr>
          <p:nvPr/>
        </p:nvPicPr>
        <p:blipFill>
          <a:blip r:embed="rId1"/>
          <a:stretch>
            <a:fillRect/>
          </a:stretch>
        </p:blipFill>
        <p:spPr>
          <a:xfrm>
            <a:off x="7960919" y="4838580"/>
            <a:ext cx="2349150" cy="1948114"/>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P spid="9" grpId="0"/>
      <p:bldP spid="1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5.4.2 Dataset</a:t>
            </a:r>
            <a:r>
              <a:rPr lang="zh-CN" altLang="en-US" dirty="0">
                <a:solidFill>
                  <a:srgbClr val="577CCE"/>
                </a:solidFill>
                <a:latin typeface="Consolas" panose="020B0609020204030204" pitchFamily="49" charset="0"/>
              </a:rPr>
              <a:t>和</a:t>
            </a:r>
            <a:r>
              <a:rPr lang="en-US" altLang="zh-CN" dirty="0" err="1">
                <a:solidFill>
                  <a:srgbClr val="577CCE"/>
                </a:solidFill>
                <a:latin typeface="Consolas" panose="020B0609020204030204" pitchFamily="49" charset="0"/>
              </a:rPr>
              <a:t>DataLoader</a:t>
            </a:r>
            <a:endParaRPr lang="zh-CN" altLang="en-US" b="0" dirty="0">
              <a:solidFill>
                <a:srgbClr val="577CCE"/>
              </a:solidFill>
              <a:effectLst/>
              <a:latin typeface="Consolas" panose="020B0609020204030204" pitchFamily="49" charset="0"/>
            </a:endParaRPr>
          </a:p>
        </p:txBody>
      </p:sp>
      <p:sp>
        <p:nvSpPr>
          <p:cNvPr id="12" name="文本框 11"/>
          <p:cNvSpPr txBox="1"/>
          <p:nvPr/>
        </p:nvSpPr>
        <p:spPr>
          <a:xfrm>
            <a:off x="738117" y="1583392"/>
            <a:ext cx="10715765"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2</a:t>
            </a:r>
            <a:r>
              <a:rPr lang="zh-CN" altLang="en-US" b="0" dirty="0">
                <a:solidFill>
                  <a:srgbClr val="24292E"/>
                </a:solidFill>
                <a:effectLst/>
                <a:latin typeface="Consolas" panose="020B0609020204030204" pitchFamily="49" charset="0"/>
              </a:rPr>
              <a:t>）创建和使用</a:t>
            </a:r>
            <a:r>
              <a:rPr lang="en-US" altLang="zh-CN" b="0" dirty="0" err="1">
                <a:solidFill>
                  <a:srgbClr val="24292E"/>
                </a:solidFill>
                <a:effectLst/>
                <a:latin typeface="Consolas" panose="020B0609020204030204" pitchFamily="49" charset="0"/>
              </a:rPr>
              <a:t>DataLoader</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1564677" y="2019420"/>
            <a:ext cx="10213829" cy="369332"/>
          </a:xfrm>
          <a:prstGeom prst="rect">
            <a:avLst/>
          </a:prstGeom>
          <a:noFill/>
        </p:spPr>
        <p:txBody>
          <a:bodyPr wrap="square">
            <a:spAutoFit/>
          </a:bodyPr>
          <a:lstStyle/>
          <a:p>
            <a:r>
              <a:rPr lang="en-US" altLang="zh-CN" b="1" dirty="0" err="1">
                <a:solidFill>
                  <a:srgbClr val="24292E"/>
                </a:solidFill>
                <a:effectLst/>
                <a:latin typeface="Consolas" panose="020B0609020204030204" pitchFamily="49" charset="0"/>
              </a:rPr>
              <a:t>dataloader</a:t>
            </a:r>
            <a:r>
              <a:rPr lang="en-US" altLang="zh-CN" b="1" dirty="0">
                <a:solidFill>
                  <a:srgbClr val="D73A49"/>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DataLoader</a:t>
            </a:r>
            <a:r>
              <a:rPr lang="en-US" altLang="zh-CN" b="1" dirty="0" err="1">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DataLoader</a:t>
            </a:r>
            <a:r>
              <a:rPr lang="en-US" altLang="zh-CN" b="1" dirty="0">
                <a:solidFill>
                  <a:srgbClr val="24292E"/>
                </a:solidFill>
                <a:effectLst/>
                <a:latin typeface="Consolas" panose="020B0609020204030204" pitchFamily="49" charset="0"/>
              </a:rPr>
              <a:t>(</a:t>
            </a:r>
            <a:r>
              <a:rPr lang="en-US" altLang="zh-CN" b="1" dirty="0" err="1">
                <a:solidFill>
                  <a:srgbClr val="24292E"/>
                </a:solidFill>
                <a:effectLst/>
                <a:latin typeface="Consolas" panose="020B0609020204030204" pitchFamily="49" charset="0"/>
              </a:rPr>
              <a:t>sub,</a:t>
            </a:r>
            <a:r>
              <a:rPr lang="en-US" altLang="zh-CN" b="1" dirty="0" err="1">
                <a:solidFill>
                  <a:srgbClr val="E36209"/>
                </a:solidFill>
                <a:effectLst/>
                <a:latin typeface="Consolas" panose="020B0609020204030204" pitchFamily="49" charset="0"/>
              </a:rPr>
              <a:t>batch_size</a:t>
            </a:r>
            <a:r>
              <a:rPr lang="en-US" altLang="zh-CN" b="1" dirty="0">
                <a:solidFill>
                  <a:srgbClr val="D73A49"/>
                </a:solidFill>
                <a:effectLst/>
                <a:latin typeface="Consolas" panose="020B0609020204030204" pitchFamily="49" charset="0"/>
              </a:rPr>
              <a:t>=</a:t>
            </a:r>
            <a:r>
              <a:rPr lang="en-US" altLang="zh-CN" b="1" dirty="0">
                <a:solidFill>
                  <a:srgbClr val="005CC5"/>
                </a:solidFill>
                <a:effectLst/>
                <a:latin typeface="Consolas" panose="020B0609020204030204" pitchFamily="49" charset="0"/>
              </a:rPr>
              <a:t>2</a:t>
            </a:r>
            <a:r>
              <a:rPr lang="en-US" altLang="zh-CN" b="1" dirty="0">
                <a:solidFill>
                  <a:srgbClr val="24292E"/>
                </a:solidFill>
                <a:effectLst/>
                <a:latin typeface="Consolas" panose="020B0609020204030204" pitchFamily="49" charset="0"/>
              </a:rPr>
              <a:t>,</a:t>
            </a:r>
            <a:r>
              <a:rPr lang="en-US" altLang="zh-CN" b="1" dirty="0">
                <a:solidFill>
                  <a:srgbClr val="E36209"/>
                </a:solidFill>
                <a:effectLst/>
                <a:latin typeface="Consolas" panose="020B0609020204030204" pitchFamily="49" charset="0"/>
              </a:rPr>
              <a:t>shuffle</a:t>
            </a:r>
            <a:r>
              <a:rPr lang="en-US" altLang="zh-CN" b="1" dirty="0">
                <a:solidFill>
                  <a:srgbClr val="D73A49"/>
                </a:solidFill>
                <a:effectLst/>
                <a:latin typeface="Consolas" panose="020B0609020204030204" pitchFamily="49" charset="0"/>
              </a:rPr>
              <a:t>=</a:t>
            </a:r>
            <a:r>
              <a:rPr lang="en-US" altLang="zh-CN" b="1" dirty="0" err="1">
                <a:solidFill>
                  <a:srgbClr val="005CC5"/>
                </a:solidFill>
                <a:effectLst/>
                <a:latin typeface="Consolas" panose="020B0609020204030204" pitchFamily="49" charset="0"/>
              </a:rPr>
              <a:t>False</a:t>
            </a:r>
            <a:r>
              <a:rPr lang="en-US" altLang="zh-CN" b="1" dirty="0" err="1">
                <a:solidFill>
                  <a:srgbClr val="24292E"/>
                </a:solidFill>
                <a:effectLst/>
                <a:latin typeface="Consolas" panose="020B0609020204030204" pitchFamily="49" charset="0"/>
              </a:rPr>
              <a:t>,</a:t>
            </a:r>
            <a:r>
              <a:rPr lang="en-US" altLang="zh-CN" b="1" dirty="0" err="1">
                <a:solidFill>
                  <a:srgbClr val="E36209"/>
                </a:solidFill>
                <a:effectLst/>
                <a:latin typeface="Consolas" panose="020B0609020204030204" pitchFamily="49" charset="0"/>
              </a:rPr>
              <a:t>num_workers</a:t>
            </a:r>
            <a:r>
              <a:rPr lang="en-US" altLang="zh-CN" b="1" dirty="0">
                <a:solidFill>
                  <a:srgbClr val="D73A49"/>
                </a:solidFill>
                <a:effectLst/>
                <a:latin typeface="Consolas" panose="020B0609020204030204" pitchFamily="49" charset="0"/>
              </a:rPr>
              <a:t>=</a:t>
            </a:r>
            <a:r>
              <a:rPr lang="en-US" altLang="zh-CN" b="1" dirty="0">
                <a:solidFill>
                  <a:srgbClr val="005CC5"/>
                </a:solidFill>
                <a:effectLst/>
                <a:latin typeface="Consolas" panose="020B0609020204030204" pitchFamily="49" charset="0"/>
              </a:rPr>
              <a:t>0</a:t>
            </a:r>
            <a:r>
              <a:rPr lang="en-US" altLang="zh-CN" b="1" dirty="0">
                <a:solidFill>
                  <a:srgbClr val="24292E"/>
                </a:solidFill>
                <a:effectLst/>
                <a:latin typeface="Consolas" panose="020B0609020204030204" pitchFamily="49" charset="0"/>
              </a:rPr>
              <a:t>)</a:t>
            </a:r>
            <a:endParaRPr lang="en-US" altLang="zh-CN" b="1" dirty="0">
              <a:solidFill>
                <a:srgbClr val="24292E"/>
              </a:solidFill>
              <a:effectLst/>
              <a:latin typeface="Consolas" panose="020B0609020204030204" pitchFamily="49" charset="0"/>
            </a:endParaRPr>
          </a:p>
        </p:txBody>
      </p:sp>
      <p:sp>
        <p:nvSpPr>
          <p:cNvPr id="11" name="文本框 10"/>
          <p:cNvSpPr txBox="1"/>
          <p:nvPr/>
        </p:nvSpPr>
        <p:spPr>
          <a:xfrm>
            <a:off x="1564677" y="2572366"/>
            <a:ext cx="6094602" cy="120032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a:t>
            </a:r>
            <a:r>
              <a:rPr lang="en-US" altLang="zh-CN" b="0" dirty="0">
                <a:solidFill>
                  <a:srgbClr val="24292E"/>
                </a:solidFill>
                <a:effectLst/>
                <a:latin typeface="Consolas" panose="020B0609020204030204" pitchFamily="49" charset="0"/>
              </a:rPr>
              <a:t>, item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enumerate</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dataloader</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data, label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item</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'data:'</a:t>
            </a:r>
            <a:r>
              <a:rPr lang="en-US" altLang="zh-CN" b="0" dirty="0">
                <a:solidFill>
                  <a:srgbClr val="24292E"/>
                </a:solidFill>
                <a:effectLst/>
                <a:latin typeface="Consolas" panose="020B0609020204030204" pitchFamily="49" charset="0"/>
              </a:rPr>
              <a:t>, data)</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'label:'</a:t>
            </a:r>
            <a:r>
              <a:rPr lang="en-US" altLang="zh-CN" b="0" dirty="0">
                <a:solidFill>
                  <a:srgbClr val="24292E"/>
                </a:solidFill>
                <a:effectLst/>
                <a:latin typeface="Consolas" panose="020B0609020204030204" pitchFamily="49" charset="0"/>
              </a:rPr>
              <a:t>, label)</a:t>
            </a:r>
            <a:endParaRPr lang="en-US" altLang="zh-CN" b="0" dirty="0">
              <a:solidFill>
                <a:srgbClr val="24292E"/>
              </a:solidFill>
              <a:effectLst/>
              <a:latin typeface="Consolas" panose="020B0609020204030204" pitchFamily="49" charset="0"/>
            </a:endParaRPr>
          </a:p>
        </p:txBody>
      </p:sp>
      <p:pic>
        <p:nvPicPr>
          <p:cNvPr id="13" name="图片 12"/>
          <p:cNvPicPr>
            <a:picLocks noChangeAspect="1"/>
          </p:cNvPicPr>
          <p:nvPr/>
        </p:nvPicPr>
        <p:blipFill>
          <a:blip r:embed="rId1"/>
          <a:stretch>
            <a:fillRect/>
          </a:stretch>
        </p:blipFill>
        <p:spPr>
          <a:xfrm>
            <a:off x="6440293" y="2572366"/>
            <a:ext cx="5482604" cy="146085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图片 15"/>
          <p:cNvPicPr>
            <a:picLocks noChangeAspect="1"/>
          </p:cNvPicPr>
          <p:nvPr/>
        </p:nvPicPr>
        <p:blipFill>
          <a:blip r:embed="rId2"/>
          <a:stretch>
            <a:fillRect/>
          </a:stretch>
        </p:blipFill>
        <p:spPr>
          <a:xfrm>
            <a:off x="7772307" y="4498870"/>
            <a:ext cx="2630172" cy="2160498"/>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7" name="箭头: 下 16"/>
          <p:cNvSpPr/>
          <p:nvPr/>
        </p:nvSpPr>
        <p:spPr>
          <a:xfrm>
            <a:off x="10402479" y="4118993"/>
            <a:ext cx="461394" cy="10868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1564677" y="4350226"/>
            <a:ext cx="5943470" cy="1754326"/>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通过执行结果可以看到，每次读取到的数据是多个样本及其标签，样本数量是通过</a:t>
            </a:r>
            <a:r>
              <a:rPr lang="en-US" altLang="zh-CN" b="0" dirty="0" err="1">
                <a:solidFill>
                  <a:srgbClr val="FF0000"/>
                </a:solidFill>
                <a:effectLst/>
                <a:latin typeface="Consolas" panose="020B0609020204030204" pitchFamily="49" charset="0"/>
              </a:rPr>
              <a:t>batch_size</a:t>
            </a:r>
            <a:r>
              <a:rPr lang="zh-CN" altLang="en-US" b="0" dirty="0">
                <a:solidFill>
                  <a:srgbClr val="24292E"/>
                </a:solidFill>
                <a:effectLst/>
                <a:latin typeface="Consolas" panose="020B0609020204030204" pitchFamily="49" charset="0"/>
              </a:rPr>
              <a:t>设定的。在实际训练或推理过程中，可以根据计算环境（如</a:t>
            </a:r>
            <a:r>
              <a:rPr lang="en-US" altLang="zh-CN" b="0" dirty="0">
                <a:solidFill>
                  <a:srgbClr val="24292E"/>
                </a:solidFill>
                <a:effectLst/>
                <a:latin typeface="Consolas" panose="020B0609020204030204" pitchFamily="49" charset="0"/>
              </a:rPr>
              <a:t>CPU</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GPU</a:t>
            </a:r>
            <a:r>
              <a:rPr lang="zh-CN" altLang="en-US" b="0" dirty="0">
                <a:solidFill>
                  <a:srgbClr val="24292E"/>
                </a:solidFill>
                <a:effectLst/>
                <a:latin typeface="Consolas" panose="020B0609020204030204" pitchFamily="49" charset="0"/>
              </a:rPr>
              <a:t>）及每个样本的大小来选择合适的</a:t>
            </a:r>
            <a:r>
              <a:rPr lang="en-US" altLang="zh-CN" b="0" dirty="0" err="1">
                <a:solidFill>
                  <a:srgbClr val="FF0000"/>
                </a:solidFill>
                <a:effectLst/>
                <a:latin typeface="Consolas" panose="020B0609020204030204" pitchFamily="49" charset="0"/>
              </a:rPr>
              <a:t>batch_size</a:t>
            </a:r>
            <a:r>
              <a:rPr lang="zh-CN" altLang="en-US" b="0" dirty="0">
                <a:solidFill>
                  <a:srgbClr val="24292E"/>
                </a:solidFill>
                <a:effectLst/>
                <a:latin typeface="Consolas" panose="020B0609020204030204" pitchFamily="49" charset="0"/>
              </a:rPr>
              <a:t>，使网络尽量可以以较大吞吐量并行快速计算，从而加快训练或推理的速度。</a:t>
            </a:r>
            <a:endParaRPr lang="zh-CN" altLang="en-US" b="0" dirty="0">
              <a:solidFill>
                <a:srgbClr val="24292E"/>
              </a:solidFill>
              <a:effectLst/>
              <a:latin typeface="Consolas" panose="020B0609020204030204" pitchFamily="49" charset="0"/>
            </a:endParaRPr>
          </a:p>
        </p:txBody>
      </p:sp>
    </p:spTree>
    <p:custDataLst>
      <p:tags r:id="rId3"/>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up)">
                                      <p:cBhvr>
                                        <p:cTn id="10" dur="500"/>
                                        <p:tgtEl>
                                          <p:spTgt spid="17"/>
                                        </p:tgtEl>
                                      </p:cBhvr>
                                    </p:animEffect>
                                  </p:childTnLst>
                                </p:cTn>
                              </p:par>
                              <p:par>
                                <p:cTn id="11" presetID="22" presetClass="entr" presetSubtype="1"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up)">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5.4.3 </a:t>
            </a:r>
            <a:r>
              <a:rPr lang="en-US" altLang="zh-CN" dirty="0" err="1">
                <a:solidFill>
                  <a:srgbClr val="577CCE"/>
                </a:solidFill>
                <a:latin typeface="Consolas" panose="020B0609020204030204" pitchFamily="49" charset="0"/>
              </a:rPr>
              <a:t>torchvision</a:t>
            </a:r>
            <a:endParaRPr lang="zh-CN" altLang="en-US" b="0" dirty="0">
              <a:solidFill>
                <a:srgbClr val="577CCE"/>
              </a:solidFill>
              <a:effectLst/>
              <a:latin typeface="Consolas" panose="020B0609020204030204" pitchFamily="49" charset="0"/>
            </a:endParaRPr>
          </a:p>
        </p:txBody>
      </p:sp>
      <p:sp>
        <p:nvSpPr>
          <p:cNvPr id="12" name="文本框 11"/>
          <p:cNvSpPr txBox="1"/>
          <p:nvPr/>
        </p:nvSpPr>
        <p:spPr>
          <a:xfrm>
            <a:off x="738117" y="1545034"/>
            <a:ext cx="10715765" cy="646331"/>
          </a:xfrm>
          <a:prstGeom prst="rect">
            <a:avLst/>
          </a:prstGeom>
          <a:noFill/>
        </p:spPr>
        <p:txBody>
          <a:bodyPr wrap="square">
            <a:spAutoFit/>
          </a:bodyPr>
          <a:lstStyle/>
          <a:p>
            <a:r>
              <a:rPr lang="en-US" altLang="zh-CN" b="0" dirty="0" err="1">
                <a:solidFill>
                  <a:srgbClr val="FF0000"/>
                </a:solidFill>
                <a:effectLst/>
                <a:latin typeface="Consolas" panose="020B0609020204030204" pitchFamily="49" charset="0"/>
              </a:rPr>
              <a:t>torchvision</a:t>
            </a:r>
            <a:r>
              <a:rPr lang="zh-CN" altLang="en-US" b="0" dirty="0">
                <a:solidFill>
                  <a:srgbClr val="24292E"/>
                </a:solidFill>
                <a:effectLst/>
                <a:latin typeface="Consolas" panose="020B0609020204030204" pitchFamily="49" charset="0"/>
              </a:rPr>
              <a:t>包是</a:t>
            </a:r>
            <a:r>
              <a:rPr lang="en-US" altLang="zh-CN" b="0" dirty="0" err="1">
                <a:solidFill>
                  <a:srgbClr val="FF0000"/>
                </a:solidFill>
                <a:effectLst/>
                <a:latin typeface="Consolas" panose="020B0609020204030204" pitchFamily="49" charset="0"/>
              </a:rPr>
              <a:t>PyTorch</a:t>
            </a:r>
            <a:r>
              <a:rPr lang="zh-CN" altLang="en-US" b="0" dirty="0">
                <a:solidFill>
                  <a:srgbClr val="24292E"/>
                </a:solidFill>
                <a:effectLst/>
                <a:latin typeface="Consolas" panose="020B0609020204030204" pitchFamily="49" charset="0"/>
              </a:rPr>
              <a:t>的一个扩展包，收录了若干重要的公开数据集，网络模型和常用的图像变换方法，以便于研究者进行图像处理和识别方法的实验和学习。</a:t>
            </a:r>
            <a:endParaRPr lang="zh-CN" altLang="en-US" b="0" dirty="0">
              <a:solidFill>
                <a:srgbClr val="24292E"/>
              </a:solidFill>
              <a:effectLst/>
              <a:latin typeface="Consolas" panose="020B0609020204030204" pitchFamily="49" charset="0"/>
            </a:endParaRPr>
          </a:p>
        </p:txBody>
      </p:sp>
      <p:sp>
        <p:nvSpPr>
          <p:cNvPr id="3" name="文本框 2"/>
          <p:cNvSpPr txBox="1"/>
          <p:nvPr/>
        </p:nvSpPr>
        <p:spPr>
          <a:xfrm>
            <a:off x="803404" y="2164348"/>
            <a:ext cx="6094602" cy="369332"/>
          </a:xfrm>
          <a:prstGeom prst="rect">
            <a:avLst/>
          </a:prstGeom>
          <a:noFill/>
        </p:spPr>
        <p:txBody>
          <a:bodyPr wrap="square">
            <a:spAutoFit/>
          </a:bodyPr>
          <a:lstStyle/>
          <a:p>
            <a:r>
              <a:rPr lang="zh-CN" altLang="en-US" dirty="0">
                <a:solidFill>
                  <a:srgbClr val="577CCE"/>
                </a:solidFill>
              </a:rPr>
              <a:t>（1）torchvision.datasets数据集下载模块</a:t>
            </a:r>
            <a:endParaRPr lang="zh-CN" altLang="en-US" dirty="0">
              <a:solidFill>
                <a:srgbClr val="577CCE"/>
              </a:solidFill>
            </a:endParaRPr>
          </a:p>
        </p:txBody>
      </p:sp>
      <p:sp>
        <p:nvSpPr>
          <p:cNvPr id="7" name="文本框 6"/>
          <p:cNvSpPr txBox="1"/>
          <p:nvPr/>
        </p:nvSpPr>
        <p:spPr>
          <a:xfrm>
            <a:off x="1151182" y="2570038"/>
            <a:ext cx="10107682" cy="923330"/>
          </a:xfrm>
          <a:prstGeom prst="rect">
            <a:avLst/>
          </a:prstGeom>
          <a:noFill/>
        </p:spPr>
        <p:txBody>
          <a:bodyPr wrap="square">
            <a:spAutoFit/>
          </a:bodyPr>
          <a:lstStyle/>
          <a:p>
            <a:r>
              <a:rPr lang="zh-CN" altLang="en-US" dirty="0"/>
              <a:t>使用torchvision.datasets数据集下载模块提供的工具可以下载许多公开的经典数据集用于实验，如mnist手写数据集、CIFAR10图像十分类数据集等，下面演示如何使用torchvision.datasets模块下载CIFAR10数据集。</a:t>
            </a:r>
            <a:endParaRPr lang="zh-CN" altLang="en-US" dirty="0"/>
          </a:p>
        </p:txBody>
      </p:sp>
      <p:sp>
        <p:nvSpPr>
          <p:cNvPr id="14" name="文本框 13"/>
          <p:cNvSpPr txBox="1"/>
          <p:nvPr/>
        </p:nvSpPr>
        <p:spPr>
          <a:xfrm>
            <a:off x="1095692" y="3529726"/>
            <a:ext cx="10845800" cy="2800767"/>
          </a:xfrm>
          <a:prstGeom prst="rect">
            <a:avLst/>
          </a:prstGeom>
          <a:noFill/>
        </p:spPr>
        <p:txBody>
          <a:bodyPr wrap="square">
            <a:spAutoFit/>
          </a:bodyPr>
          <a:lstStyle/>
          <a:p>
            <a:r>
              <a:rPr lang="en-US" altLang="zh-CN" sz="1600" b="0" dirty="0">
                <a:solidFill>
                  <a:srgbClr val="D73A49"/>
                </a:solidFill>
                <a:effectLst/>
                <a:latin typeface="Consolas" panose="020B0609020204030204" pitchFamily="49" charset="0"/>
              </a:rPr>
              <a:t>import</a:t>
            </a:r>
            <a:r>
              <a:rPr lang="en-US" altLang="zh-CN" sz="1600" b="0" dirty="0">
                <a:solidFill>
                  <a:srgbClr val="24292E"/>
                </a:solidFill>
                <a:effectLst/>
                <a:latin typeface="Consolas" panose="020B0609020204030204" pitchFamily="49" charset="0"/>
              </a:rPr>
              <a:t> </a:t>
            </a:r>
            <a:r>
              <a:rPr lang="en-US" altLang="zh-CN" sz="1600" b="0" dirty="0">
                <a:solidFill>
                  <a:srgbClr val="6F42C1"/>
                </a:solidFill>
                <a:effectLst/>
                <a:latin typeface="Consolas" panose="020B0609020204030204" pitchFamily="49" charset="0"/>
              </a:rPr>
              <a:t>torch</a:t>
            </a:r>
            <a:endParaRPr lang="en-US" altLang="zh-CN" sz="1600" b="0" dirty="0">
              <a:solidFill>
                <a:srgbClr val="24292E"/>
              </a:solidFill>
              <a:effectLst/>
              <a:latin typeface="Consolas" panose="020B0609020204030204" pitchFamily="49" charset="0"/>
            </a:endParaRPr>
          </a:p>
          <a:p>
            <a:r>
              <a:rPr lang="en-US" altLang="zh-CN" sz="1600" b="0" dirty="0">
                <a:solidFill>
                  <a:srgbClr val="D73A49"/>
                </a:solidFill>
                <a:effectLst/>
                <a:latin typeface="Consolas" panose="020B0609020204030204" pitchFamily="49" charset="0"/>
              </a:rPr>
              <a:t>import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torch</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utils</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data</a:t>
            </a:r>
            <a:r>
              <a:rPr lang="en-US" altLang="zh-CN" sz="1600" b="0" dirty="0" err="1">
                <a:solidFill>
                  <a:srgbClr val="24292E"/>
                </a:solidFill>
                <a:effectLst/>
                <a:latin typeface="Consolas" panose="020B0609020204030204" pitchFamily="49" charset="0"/>
              </a:rPr>
              <a:t>.</a:t>
            </a:r>
            <a:r>
              <a:rPr lang="en-US" altLang="zh-CN" sz="1600" b="0" dirty="0" err="1">
                <a:solidFill>
                  <a:srgbClr val="6F42C1"/>
                </a:solidFill>
                <a:effectLst/>
                <a:latin typeface="Consolas" panose="020B0609020204030204" pitchFamily="49" charset="0"/>
              </a:rPr>
              <a:t>dataset</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as</a:t>
            </a:r>
            <a:r>
              <a:rPr lang="en-US" altLang="zh-CN" sz="1600" b="0" dirty="0">
                <a:solidFill>
                  <a:srgbClr val="24292E"/>
                </a:solidFill>
                <a:effectLst/>
                <a:latin typeface="Consolas" panose="020B0609020204030204" pitchFamily="49" charset="0"/>
              </a:rPr>
              <a:t> </a:t>
            </a:r>
            <a:r>
              <a:rPr lang="en-US" altLang="zh-CN" sz="1600" b="0" dirty="0">
                <a:solidFill>
                  <a:srgbClr val="6F42C1"/>
                </a:solidFill>
                <a:effectLst/>
                <a:latin typeface="Consolas" panose="020B0609020204030204" pitchFamily="49" charset="0"/>
              </a:rPr>
              <a:t>Dataset</a:t>
            </a:r>
            <a:endParaRPr lang="en-US" altLang="zh-CN" sz="1600" b="0" dirty="0">
              <a:solidFill>
                <a:srgbClr val="24292E"/>
              </a:solidFill>
              <a:effectLst/>
              <a:latin typeface="Consolas" panose="020B0609020204030204" pitchFamily="49" charset="0"/>
            </a:endParaRPr>
          </a:p>
          <a:p>
            <a:r>
              <a:rPr lang="en-US" altLang="zh-CN" sz="1600" b="0" dirty="0">
                <a:solidFill>
                  <a:srgbClr val="D73A49"/>
                </a:solidFill>
                <a:effectLst/>
                <a:latin typeface="Consolas" panose="020B0609020204030204" pitchFamily="49" charset="0"/>
              </a:rPr>
              <a:t>import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torchvision</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全局取消证书验证</a:t>
            </a:r>
            <a:r>
              <a:rPr lang="en-US" altLang="zh-CN" sz="1600" b="0" dirty="0">
                <a:solidFill>
                  <a:srgbClr val="6A737D"/>
                </a:solidFill>
                <a:effectLst/>
                <a:latin typeface="Consolas" panose="020B0609020204030204" pitchFamily="49" charset="0"/>
              </a:rPr>
              <a:t>,</a:t>
            </a:r>
            <a:r>
              <a:rPr lang="zh-CN" altLang="en-US" sz="1600" b="0" dirty="0">
                <a:solidFill>
                  <a:srgbClr val="6A737D"/>
                </a:solidFill>
                <a:effectLst/>
                <a:latin typeface="Consolas" panose="020B0609020204030204" pitchFamily="49" charset="0"/>
              </a:rPr>
              <a:t>数据集更容易被下载成功</a:t>
            </a:r>
            <a:endParaRPr lang="zh-CN" altLang="en-US" sz="1600" b="0" dirty="0">
              <a:solidFill>
                <a:srgbClr val="24292E"/>
              </a:solidFill>
              <a:effectLst/>
              <a:latin typeface="Consolas" panose="020B0609020204030204" pitchFamily="49" charset="0"/>
            </a:endParaRPr>
          </a:p>
          <a:p>
            <a:r>
              <a:rPr lang="en-US" altLang="zh-CN" sz="1600" b="0" dirty="0">
                <a:solidFill>
                  <a:srgbClr val="D73A49"/>
                </a:solidFill>
                <a:effectLst/>
                <a:latin typeface="Consolas" panose="020B0609020204030204" pitchFamily="49" charset="0"/>
              </a:rPr>
              <a:t>import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ssl</a:t>
            </a:r>
            <a:endParaRPr lang="en-US" altLang="zh-CN" sz="1600" b="0" dirty="0">
              <a:solidFill>
                <a:srgbClr val="24292E"/>
              </a:solidFill>
              <a:effectLst/>
              <a:latin typeface="Consolas" panose="020B0609020204030204" pitchFamily="49" charset="0"/>
            </a:endParaRPr>
          </a:p>
          <a:p>
            <a:r>
              <a:rPr lang="en-US" altLang="zh-CN" sz="1600" b="0" dirty="0" err="1">
                <a:solidFill>
                  <a:srgbClr val="6F42C1"/>
                </a:solidFill>
                <a:effectLst/>
                <a:latin typeface="Consolas" panose="020B0609020204030204" pitchFamily="49" charset="0"/>
              </a:rPr>
              <a:t>ssl</a:t>
            </a:r>
            <a:r>
              <a:rPr lang="en-US" altLang="zh-CN" sz="1600" b="0" dirty="0">
                <a:solidFill>
                  <a:srgbClr val="24292E"/>
                </a:solidFill>
                <a:effectLst/>
                <a:latin typeface="Consolas" panose="020B0609020204030204" pitchFamily="49" charset="0"/>
              </a:rPr>
              <a:t>._</a:t>
            </a:r>
            <a:r>
              <a:rPr lang="en-US" altLang="zh-CN" sz="1600" b="0" dirty="0" err="1">
                <a:solidFill>
                  <a:srgbClr val="24292E"/>
                </a:solidFill>
                <a:effectLst/>
                <a:latin typeface="Consolas" panose="020B0609020204030204" pitchFamily="49" charset="0"/>
              </a:rPr>
              <a:t>create_default_https_context</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ssl</a:t>
            </a:r>
            <a:r>
              <a:rPr lang="en-US" altLang="zh-CN" sz="1600" b="0" dirty="0">
                <a:solidFill>
                  <a:srgbClr val="24292E"/>
                </a:solidFill>
                <a:effectLst/>
                <a:latin typeface="Consolas" panose="020B0609020204030204" pitchFamily="49" charset="0"/>
              </a:rPr>
              <a:t>.</a:t>
            </a:r>
            <a:r>
              <a:rPr lang="en-US" altLang="zh-CN" sz="1600" b="0" dirty="0">
                <a:solidFill>
                  <a:srgbClr val="6F42C1"/>
                </a:solidFill>
                <a:effectLst/>
                <a:latin typeface="Consolas" panose="020B0609020204030204" pitchFamily="49" charset="0"/>
              </a:rPr>
              <a:t>_</a:t>
            </a:r>
            <a:r>
              <a:rPr lang="en-US" altLang="zh-CN" sz="1600" b="0" dirty="0" err="1">
                <a:solidFill>
                  <a:srgbClr val="6F42C1"/>
                </a:solidFill>
                <a:effectLst/>
                <a:latin typeface="Consolas" panose="020B0609020204030204" pitchFamily="49" charset="0"/>
              </a:rPr>
              <a:t>create_unverified_context</a:t>
            </a:r>
            <a:endParaRPr lang="en-US" altLang="zh-CN" sz="1600" b="0" dirty="0">
              <a:solidFill>
                <a:srgbClr val="24292E"/>
              </a:solidFill>
              <a:effectLst/>
              <a:latin typeface="Consolas" panose="020B0609020204030204" pitchFamily="49" charset="0"/>
            </a:endParaRPr>
          </a:p>
          <a:p>
            <a:r>
              <a:rPr lang="en-US" altLang="zh-CN" sz="1600" b="0" dirty="0">
                <a:solidFill>
                  <a:srgbClr val="6A737D"/>
                </a:solidFill>
                <a:effectLst/>
                <a:latin typeface="Consolas" panose="020B0609020204030204" pitchFamily="49" charset="0"/>
              </a:rPr>
              <a:t># </a:t>
            </a:r>
            <a:r>
              <a:rPr lang="zh-CN" altLang="en-US" sz="1600" b="0" dirty="0">
                <a:solidFill>
                  <a:srgbClr val="6A737D"/>
                </a:solidFill>
                <a:effectLst/>
                <a:latin typeface="Consolas" panose="020B0609020204030204" pitchFamily="49" charset="0"/>
              </a:rPr>
              <a:t>分别下载训练集和测试集</a:t>
            </a:r>
            <a:endParaRPr lang="zh-CN" altLang="en-US" sz="1600" b="0" dirty="0">
              <a:solidFill>
                <a:srgbClr val="24292E"/>
              </a:solidFill>
              <a:effectLst/>
              <a:latin typeface="Consolas" panose="020B0609020204030204" pitchFamily="49" charset="0"/>
            </a:endParaRPr>
          </a:p>
          <a:p>
            <a:r>
              <a:rPr lang="en-US" altLang="zh-CN" sz="1600" b="0" dirty="0">
                <a:solidFill>
                  <a:srgbClr val="24292E"/>
                </a:solidFill>
                <a:effectLst/>
                <a:latin typeface="Consolas" panose="020B0609020204030204" pitchFamily="49" charset="0"/>
              </a:rPr>
              <a:t>trainset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6F42C1"/>
                </a:solidFill>
                <a:effectLst/>
                <a:latin typeface="Consolas" panose="020B0609020204030204" pitchFamily="49" charset="0"/>
              </a:rPr>
              <a:t>torchvision</a:t>
            </a:r>
            <a:r>
              <a:rPr lang="en-US" altLang="zh-CN" sz="1600" b="0" dirty="0">
                <a:solidFill>
                  <a:srgbClr val="24292E"/>
                </a:solidFill>
                <a:effectLst/>
                <a:latin typeface="Consolas" panose="020B0609020204030204" pitchFamily="49" charset="0"/>
              </a:rPr>
              <a:t>.datasets.CIFAR10(</a:t>
            </a:r>
            <a:r>
              <a:rPr lang="en-US" altLang="zh-CN" sz="1600" b="0" dirty="0">
                <a:solidFill>
                  <a:srgbClr val="E36209"/>
                </a:solidFill>
                <a:effectLst/>
                <a:latin typeface="Consolas" panose="020B0609020204030204" pitchFamily="49" charset="0"/>
              </a:rPr>
              <a:t>root</a:t>
            </a:r>
            <a:r>
              <a:rPr lang="en-US" altLang="zh-CN" sz="1600" b="0" dirty="0">
                <a:solidFill>
                  <a:srgbClr val="D73A49"/>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'./data'</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train</a:t>
            </a:r>
            <a:r>
              <a:rPr lang="en-US" altLang="zh-CN" sz="1600" b="0" dirty="0">
                <a:solidFill>
                  <a:srgbClr val="D73A49"/>
                </a:solidFill>
                <a:effectLst/>
                <a:latin typeface="Consolas" panose="020B0609020204030204" pitchFamily="49" charset="0"/>
              </a:rPr>
              <a:t>=</a:t>
            </a:r>
            <a:r>
              <a:rPr lang="en-US" altLang="zh-CN" sz="1600" b="0" dirty="0" err="1">
                <a:solidFill>
                  <a:srgbClr val="005CC5"/>
                </a:solidFill>
                <a:effectLst/>
                <a:latin typeface="Consolas" panose="020B0609020204030204" pitchFamily="49" charset="0"/>
              </a:rPr>
              <a:t>True</a:t>
            </a:r>
            <a:r>
              <a:rPr lang="en-US" altLang="zh-CN" sz="1600" b="0" dirty="0" err="1">
                <a:solidFill>
                  <a:srgbClr val="24292E"/>
                </a:solidFill>
                <a:effectLst/>
                <a:latin typeface="Consolas" panose="020B0609020204030204" pitchFamily="49" charset="0"/>
              </a:rPr>
              <a:t>,</a:t>
            </a:r>
            <a:r>
              <a:rPr lang="en-US" altLang="zh-CN" sz="1600" b="0" dirty="0" err="1">
                <a:solidFill>
                  <a:srgbClr val="E36209"/>
                </a:solidFill>
                <a:effectLst/>
                <a:latin typeface="Consolas" panose="020B0609020204030204" pitchFamily="49" charset="0"/>
              </a:rPr>
              <a:t>download</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True</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transform</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None</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testset</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a:solidFill>
                  <a:srgbClr val="6F42C1"/>
                </a:solidFill>
                <a:effectLst/>
                <a:latin typeface="Consolas" panose="020B0609020204030204" pitchFamily="49" charset="0"/>
              </a:rPr>
              <a:t>torchvision</a:t>
            </a:r>
            <a:r>
              <a:rPr lang="en-US" altLang="zh-CN" sz="1600" b="0" dirty="0">
                <a:solidFill>
                  <a:srgbClr val="24292E"/>
                </a:solidFill>
                <a:effectLst/>
                <a:latin typeface="Consolas" panose="020B0609020204030204" pitchFamily="49" charset="0"/>
              </a:rPr>
              <a:t>.datasets.CIFAR10(</a:t>
            </a:r>
            <a:r>
              <a:rPr lang="en-US" altLang="zh-CN" sz="1600" b="0" dirty="0">
                <a:solidFill>
                  <a:srgbClr val="E36209"/>
                </a:solidFill>
                <a:effectLst/>
                <a:latin typeface="Consolas" panose="020B0609020204030204" pitchFamily="49" charset="0"/>
              </a:rPr>
              <a:t>root</a:t>
            </a:r>
            <a:r>
              <a:rPr lang="en-US" altLang="zh-CN" sz="1600" b="0" dirty="0">
                <a:solidFill>
                  <a:srgbClr val="D73A49"/>
                </a:solidFill>
                <a:effectLst/>
                <a:latin typeface="Consolas" panose="020B0609020204030204" pitchFamily="49" charset="0"/>
              </a:rPr>
              <a:t>=</a:t>
            </a:r>
            <a:r>
              <a:rPr lang="en-US" altLang="zh-CN" sz="1600" b="0" dirty="0">
                <a:solidFill>
                  <a:srgbClr val="032F62"/>
                </a:solidFill>
                <a:effectLst/>
                <a:latin typeface="Consolas" panose="020B0609020204030204" pitchFamily="49" charset="0"/>
              </a:rPr>
              <a:t>'./data'</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train</a:t>
            </a:r>
            <a:r>
              <a:rPr lang="en-US" altLang="zh-CN" sz="1600" b="0" dirty="0">
                <a:solidFill>
                  <a:srgbClr val="D73A49"/>
                </a:solidFill>
                <a:effectLst/>
                <a:latin typeface="Consolas" panose="020B0609020204030204" pitchFamily="49" charset="0"/>
              </a:rPr>
              <a:t>=</a:t>
            </a:r>
            <a:r>
              <a:rPr lang="en-US" altLang="zh-CN" sz="1600" b="0" dirty="0" err="1">
                <a:solidFill>
                  <a:srgbClr val="005CC5"/>
                </a:solidFill>
                <a:effectLst/>
                <a:latin typeface="Consolas" panose="020B0609020204030204" pitchFamily="49" charset="0"/>
              </a:rPr>
              <a:t>False</a:t>
            </a:r>
            <a:r>
              <a:rPr lang="en-US" altLang="zh-CN" sz="1600" b="0" dirty="0" err="1">
                <a:solidFill>
                  <a:srgbClr val="24292E"/>
                </a:solidFill>
                <a:effectLst/>
                <a:latin typeface="Consolas" panose="020B0609020204030204" pitchFamily="49" charset="0"/>
              </a:rPr>
              <a:t>,</a:t>
            </a:r>
            <a:r>
              <a:rPr lang="en-US" altLang="zh-CN" sz="1600" b="0" dirty="0" err="1">
                <a:solidFill>
                  <a:srgbClr val="E36209"/>
                </a:solidFill>
                <a:effectLst/>
                <a:latin typeface="Consolas" panose="020B0609020204030204" pitchFamily="49" charset="0"/>
              </a:rPr>
              <a:t>download</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True</a:t>
            </a:r>
            <a:r>
              <a:rPr lang="en-US" altLang="zh-CN" sz="1600" b="0" dirty="0">
                <a:solidFill>
                  <a:srgbClr val="24292E"/>
                </a:solidFill>
                <a:effectLst/>
                <a:latin typeface="Consolas" panose="020B0609020204030204" pitchFamily="49" charset="0"/>
              </a:rPr>
              <a:t>, </a:t>
            </a:r>
            <a:r>
              <a:rPr lang="en-US" altLang="zh-CN" sz="1600" b="0" dirty="0">
                <a:solidFill>
                  <a:srgbClr val="E36209"/>
                </a:solidFill>
                <a:effectLst/>
                <a:latin typeface="Consolas" panose="020B0609020204030204" pitchFamily="49" charset="0"/>
              </a:rPr>
              <a:t>transform</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None</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trainloader</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torch</a:t>
            </a:r>
            <a:r>
              <a:rPr lang="en-US" altLang="zh-CN" sz="1600" b="0" dirty="0" err="1">
                <a:solidFill>
                  <a:srgbClr val="24292E"/>
                </a:solidFill>
                <a:effectLst/>
                <a:latin typeface="Consolas" panose="020B0609020204030204" pitchFamily="49" charset="0"/>
              </a:rPr>
              <a:t>.utils.data.DataLoader</a:t>
            </a:r>
            <a:r>
              <a:rPr lang="en-US" altLang="zh-CN" sz="1600" b="0" dirty="0">
                <a:solidFill>
                  <a:srgbClr val="24292E"/>
                </a:solidFill>
                <a:effectLst/>
                <a:latin typeface="Consolas" panose="020B0609020204030204" pitchFamily="49" charset="0"/>
              </a:rPr>
              <a:t>(trainset, </a:t>
            </a:r>
            <a:r>
              <a:rPr lang="en-US" altLang="zh-CN" sz="1600" b="0" dirty="0" err="1">
                <a:solidFill>
                  <a:srgbClr val="E36209"/>
                </a:solidFill>
                <a:effectLst/>
                <a:latin typeface="Consolas" panose="020B0609020204030204" pitchFamily="49" charset="0"/>
              </a:rPr>
              <a:t>batch_size</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4</a:t>
            </a:r>
            <a:r>
              <a:rPr lang="en-US" altLang="zh-CN" sz="1600" b="0" dirty="0">
                <a:solidFill>
                  <a:srgbClr val="24292E"/>
                </a:solidFill>
                <a:effectLst/>
                <a:latin typeface="Consolas" panose="020B0609020204030204" pitchFamily="49" charset="0"/>
              </a:rPr>
              <a:t>,</a:t>
            </a:r>
            <a:r>
              <a:rPr lang="en-US" altLang="zh-CN" sz="1600" b="0" dirty="0">
                <a:solidFill>
                  <a:srgbClr val="E36209"/>
                </a:solidFill>
                <a:effectLst/>
                <a:latin typeface="Consolas" panose="020B0609020204030204" pitchFamily="49" charset="0"/>
              </a:rPr>
              <a:t>shuffle</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True</a:t>
            </a:r>
            <a:r>
              <a:rPr lang="en-US" altLang="zh-CN" sz="1600" b="0" dirty="0">
                <a:solidFill>
                  <a:srgbClr val="24292E"/>
                </a:solidFill>
                <a:effectLst/>
                <a:latin typeface="Consolas" panose="020B0609020204030204" pitchFamily="49" charset="0"/>
              </a:rPr>
              <a:t>, </a:t>
            </a:r>
            <a:r>
              <a:rPr lang="en-US" altLang="zh-CN" sz="1600" b="0" dirty="0" err="1">
                <a:solidFill>
                  <a:srgbClr val="E36209"/>
                </a:solidFill>
                <a:effectLst/>
                <a:latin typeface="Consolas" panose="020B0609020204030204" pitchFamily="49" charset="0"/>
              </a:rPr>
              <a:t>num_workers</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2</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a:p>
            <a:r>
              <a:rPr lang="en-US" altLang="zh-CN" sz="1600" b="0" dirty="0" err="1">
                <a:solidFill>
                  <a:srgbClr val="24292E"/>
                </a:solidFill>
                <a:effectLst/>
                <a:latin typeface="Consolas" panose="020B0609020204030204" pitchFamily="49" charset="0"/>
              </a:rPr>
              <a:t>testloader</a:t>
            </a:r>
            <a:r>
              <a:rPr lang="en-US" altLang="zh-CN" sz="1600" b="0" dirty="0">
                <a:solidFill>
                  <a:srgbClr val="24292E"/>
                </a:solidFill>
                <a:effectLst/>
                <a:latin typeface="Consolas" panose="020B0609020204030204" pitchFamily="49" charset="0"/>
              </a:rPr>
              <a:t> </a:t>
            </a:r>
            <a:r>
              <a:rPr lang="en-US" altLang="zh-CN" sz="1600" b="0" dirty="0">
                <a:solidFill>
                  <a:srgbClr val="D73A49"/>
                </a:solidFill>
                <a:effectLst/>
                <a:latin typeface="Consolas" panose="020B0609020204030204" pitchFamily="49" charset="0"/>
              </a:rPr>
              <a:t>=</a:t>
            </a:r>
            <a:r>
              <a:rPr lang="en-US" altLang="zh-CN" sz="1600" b="0" dirty="0">
                <a:solidFill>
                  <a:srgbClr val="24292E"/>
                </a:solidFill>
                <a:effectLst/>
                <a:latin typeface="Consolas" panose="020B0609020204030204" pitchFamily="49" charset="0"/>
              </a:rPr>
              <a:t> </a:t>
            </a:r>
            <a:r>
              <a:rPr lang="en-US" altLang="zh-CN" sz="1600" b="0" dirty="0" err="1">
                <a:solidFill>
                  <a:srgbClr val="6F42C1"/>
                </a:solidFill>
                <a:effectLst/>
                <a:latin typeface="Consolas" panose="020B0609020204030204" pitchFamily="49" charset="0"/>
              </a:rPr>
              <a:t>torch</a:t>
            </a:r>
            <a:r>
              <a:rPr lang="en-US" altLang="zh-CN" sz="1600" b="0" dirty="0" err="1">
                <a:solidFill>
                  <a:srgbClr val="24292E"/>
                </a:solidFill>
                <a:effectLst/>
                <a:latin typeface="Consolas" panose="020B0609020204030204" pitchFamily="49" charset="0"/>
              </a:rPr>
              <a:t>.utils.data.DataLoader</a:t>
            </a:r>
            <a:r>
              <a:rPr lang="en-US" altLang="zh-CN" sz="1600" b="0" dirty="0">
                <a:solidFill>
                  <a:srgbClr val="24292E"/>
                </a:solidFill>
                <a:effectLst/>
                <a:latin typeface="Consolas" panose="020B0609020204030204" pitchFamily="49" charset="0"/>
              </a:rPr>
              <a:t>(</a:t>
            </a:r>
            <a:r>
              <a:rPr lang="en-US" altLang="zh-CN" sz="1600" b="0" dirty="0" err="1">
                <a:solidFill>
                  <a:srgbClr val="24292E"/>
                </a:solidFill>
                <a:effectLst/>
                <a:latin typeface="Consolas" panose="020B0609020204030204" pitchFamily="49" charset="0"/>
              </a:rPr>
              <a:t>testset</a:t>
            </a:r>
            <a:r>
              <a:rPr lang="en-US" altLang="zh-CN" sz="1600" b="0" dirty="0">
                <a:solidFill>
                  <a:srgbClr val="24292E"/>
                </a:solidFill>
                <a:effectLst/>
                <a:latin typeface="Consolas" panose="020B0609020204030204" pitchFamily="49" charset="0"/>
              </a:rPr>
              <a:t>, </a:t>
            </a:r>
            <a:r>
              <a:rPr lang="en-US" altLang="zh-CN" sz="1600" b="0" dirty="0" err="1">
                <a:solidFill>
                  <a:srgbClr val="E36209"/>
                </a:solidFill>
                <a:effectLst/>
                <a:latin typeface="Consolas" panose="020B0609020204030204" pitchFamily="49" charset="0"/>
              </a:rPr>
              <a:t>batch_size</a:t>
            </a:r>
            <a:r>
              <a:rPr lang="en-US" altLang="zh-CN" sz="1600" b="0" dirty="0">
                <a:solidFill>
                  <a:srgbClr val="D73A49"/>
                </a:solidFill>
                <a:effectLst/>
                <a:latin typeface="Consolas" panose="020B0609020204030204" pitchFamily="49" charset="0"/>
              </a:rPr>
              <a:t>=</a:t>
            </a:r>
            <a:r>
              <a:rPr lang="en-US" altLang="zh-CN" sz="1600" b="0" dirty="0">
                <a:solidFill>
                  <a:srgbClr val="005CC5"/>
                </a:solidFill>
                <a:effectLst/>
                <a:latin typeface="Consolas" panose="020B0609020204030204" pitchFamily="49" charset="0"/>
              </a:rPr>
              <a:t>4</a:t>
            </a:r>
            <a:r>
              <a:rPr lang="en-US" altLang="zh-CN" sz="1600" b="0" dirty="0">
                <a:solidFill>
                  <a:srgbClr val="24292E"/>
                </a:solidFill>
                <a:effectLst/>
                <a:latin typeface="Consolas" panose="020B0609020204030204" pitchFamily="49" charset="0"/>
              </a:rPr>
              <a:t>)</a:t>
            </a:r>
            <a:endParaRPr lang="en-US" altLang="zh-CN" sz="1600"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5.4.3 </a:t>
            </a:r>
            <a:r>
              <a:rPr lang="en-US" altLang="zh-CN" dirty="0" err="1">
                <a:solidFill>
                  <a:srgbClr val="577CCE"/>
                </a:solidFill>
                <a:latin typeface="Consolas" panose="020B0609020204030204" pitchFamily="49" charset="0"/>
              </a:rPr>
              <a:t>torchvision</a:t>
            </a:r>
            <a:endParaRPr lang="zh-CN" altLang="en-US" b="0" dirty="0">
              <a:solidFill>
                <a:srgbClr val="577CCE"/>
              </a:solidFill>
              <a:effectLst/>
              <a:latin typeface="Consolas" panose="020B0609020204030204" pitchFamily="49" charset="0"/>
            </a:endParaRPr>
          </a:p>
        </p:txBody>
      </p:sp>
      <p:sp>
        <p:nvSpPr>
          <p:cNvPr id="3" name="文本框 2"/>
          <p:cNvSpPr txBox="1"/>
          <p:nvPr/>
        </p:nvSpPr>
        <p:spPr>
          <a:xfrm>
            <a:off x="531329" y="1464166"/>
            <a:ext cx="6094602" cy="369332"/>
          </a:xfrm>
          <a:prstGeom prst="rect">
            <a:avLst/>
          </a:prstGeom>
          <a:noFill/>
        </p:spPr>
        <p:txBody>
          <a:bodyPr wrap="square">
            <a:spAutoFit/>
          </a:bodyPr>
          <a:lstStyle/>
          <a:p>
            <a:r>
              <a:rPr lang="zh-CN" altLang="en-US" dirty="0">
                <a:solidFill>
                  <a:srgbClr val="577CCE"/>
                </a:solidFill>
              </a:rPr>
              <a:t>（</a:t>
            </a:r>
            <a:r>
              <a:rPr lang="en-US" altLang="zh-CN" dirty="0">
                <a:solidFill>
                  <a:srgbClr val="577CCE"/>
                </a:solidFill>
              </a:rPr>
              <a:t>2</a:t>
            </a:r>
            <a:r>
              <a:rPr lang="zh-CN" altLang="en-US" dirty="0">
                <a:solidFill>
                  <a:srgbClr val="577CCE"/>
                </a:solidFill>
              </a:rPr>
              <a:t>）</a:t>
            </a:r>
            <a:r>
              <a:rPr lang="en-US" altLang="zh-CN" dirty="0" err="1">
                <a:solidFill>
                  <a:srgbClr val="577CCE"/>
                </a:solidFill>
              </a:rPr>
              <a:t>torchvision.models</a:t>
            </a:r>
            <a:r>
              <a:rPr lang="zh-CN" altLang="en-US" dirty="0">
                <a:solidFill>
                  <a:srgbClr val="577CCE"/>
                </a:solidFill>
              </a:rPr>
              <a:t>预训练模型模块</a:t>
            </a:r>
            <a:endParaRPr lang="zh-CN" altLang="en-US" dirty="0">
              <a:solidFill>
                <a:srgbClr val="577CCE"/>
              </a:solidFill>
            </a:endParaRPr>
          </a:p>
        </p:txBody>
      </p:sp>
      <p:sp>
        <p:nvSpPr>
          <p:cNvPr id="7" name="文本框 6"/>
          <p:cNvSpPr txBox="1"/>
          <p:nvPr/>
        </p:nvSpPr>
        <p:spPr>
          <a:xfrm>
            <a:off x="884805" y="1846398"/>
            <a:ext cx="10107682" cy="1477328"/>
          </a:xfrm>
          <a:prstGeom prst="rect">
            <a:avLst/>
          </a:prstGeom>
          <a:noFill/>
        </p:spPr>
        <p:txBody>
          <a:bodyPr wrap="square">
            <a:spAutoFit/>
          </a:bodyPr>
          <a:lstStyle/>
          <a:p>
            <a:r>
              <a:rPr lang="en-US" altLang="zh-CN" dirty="0" err="1"/>
              <a:t>torchvision.models</a:t>
            </a:r>
            <a:r>
              <a:rPr lang="zh-CN" altLang="en-US" dirty="0"/>
              <a:t>模块封装了</a:t>
            </a:r>
            <a:r>
              <a:rPr lang="zh-CN" altLang="en-US" dirty="0">
                <a:solidFill>
                  <a:srgbClr val="FF0000"/>
                </a:solidFill>
              </a:rPr>
              <a:t>常用的各种神经网络结构</a:t>
            </a:r>
            <a:r>
              <a:rPr lang="zh-CN" altLang="en-US" dirty="0"/>
              <a:t>，如</a:t>
            </a:r>
            <a:r>
              <a:rPr lang="en-US" altLang="zh-CN" dirty="0" err="1">
                <a:solidFill>
                  <a:srgbClr val="FF0000"/>
                </a:solidFill>
              </a:rPr>
              <a:t>alexnet</a:t>
            </a:r>
            <a:r>
              <a:rPr lang="zh-CN" altLang="en-US" dirty="0">
                <a:solidFill>
                  <a:srgbClr val="FF0000"/>
                </a:solidFill>
              </a:rPr>
              <a:t>、</a:t>
            </a:r>
            <a:r>
              <a:rPr lang="en-US" altLang="zh-CN" dirty="0" err="1">
                <a:solidFill>
                  <a:srgbClr val="FF0000"/>
                </a:solidFill>
              </a:rPr>
              <a:t>densenet</a:t>
            </a:r>
            <a:r>
              <a:rPr lang="zh-CN" altLang="en-US" dirty="0">
                <a:solidFill>
                  <a:srgbClr val="FF0000"/>
                </a:solidFill>
              </a:rPr>
              <a:t>、</a:t>
            </a:r>
            <a:r>
              <a:rPr lang="en-US" altLang="zh-CN" dirty="0">
                <a:solidFill>
                  <a:srgbClr val="FF0000"/>
                </a:solidFill>
              </a:rPr>
              <a:t>inception</a:t>
            </a:r>
            <a:r>
              <a:rPr lang="zh-CN" altLang="en-US" dirty="0">
                <a:solidFill>
                  <a:srgbClr val="FF0000"/>
                </a:solidFill>
              </a:rPr>
              <a:t>、</a:t>
            </a:r>
            <a:r>
              <a:rPr lang="en-US" altLang="zh-CN" dirty="0" err="1">
                <a:solidFill>
                  <a:srgbClr val="FF0000"/>
                </a:solidFill>
              </a:rPr>
              <a:t>resnet</a:t>
            </a:r>
            <a:r>
              <a:rPr lang="zh-CN" altLang="en-US" dirty="0">
                <a:solidFill>
                  <a:srgbClr val="FF0000"/>
                </a:solidFill>
              </a:rPr>
              <a:t>、</a:t>
            </a:r>
            <a:r>
              <a:rPr lang="en-US" altLang="zh-CN" dirty="0">
                <a:solidFill>
                  <a:srgbClr val="FF0000"/>
                </a:solidFill>
              </a:rPr>
              <a:t>VGG</a:t>
            </a:r>
            <a:r>
              <a:rPr lang="zh-CN" altLang="en-US" dirty="0"/>
              <a:t>等，并提供了相应的预训练模型，通过简单调用便可以来读取网络结构和预训练模型，以便针对实际任务进行模型微调。</a:t>
            </a:r>
            <a:endParaRPr lang="zh-CN" altLang="en-US" dirty="0"/>
          </a:p>
          <a:p>
            <a:endParaRPr lang="zh-CN" altLang="en-US" dirty="0"/>
          </a:p>
          <a:p>
            <a:r>
              <a:rPr lang="zh-CN" altLang="en-US" dirty="0"/>
              <a:t>以下代码将</a:t>
            </a:r>
            <a:r>
              <a:rPr lang="en-US" altLang="zh-CN" dirty="0"/>
              <a:t>resnet50</a:t>
            </a:r>
            <a:r>
              <a:rPr lang="zh-CN" altLang="en-US" dirty="0"/>
              <a:t>预训练模型加载：</a:t>
            </a:r>
            <a:endParaRPr lang="zh-CN" altLang="en-US" dirty="0"/>
          </a:p>
        </p:txBody>
      </p:sp>
      <p:sp>
        <p:nvSpPr>
          <p:cNvPr id="5" name="文本框 4"/>
          <p:cNvSpPr txBox="1"/>
          <p:nvPr/>
        </p:nvSpPr>
        <p:spPr>
          <a:xfrm>
            <a:off x="1134611" y="3424354"/>
            <a:ext cx="9225793" cy="646331"/>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torchvision</a:t>
            </a:r>
            <a:br>
              <a:rPr lang="en-US" altLang="zh-CN"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model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torchvision</a:t>
            </a:r>
            <a:r>
              <a:rPr lang="en-US" altLang="zh-CN" b="0" dirty="0">
                <a:solidFill>
                  <a:srgbClr val="24292E"/>
                </a:solidFill>
                <a:effectLst/>
                <a:latin typeface="Consolas" panose="020B0609020204030204" pitchFamily="49" charset="0"/>
              </a:rPr>
              <a:t>.models.resnet50(</a:t>
            </a:r>
            <a:r>
              <a:rPr lang="en-US" altLang="zh-CN" b="0" dirty="0">
                <a:solidFill>
                  <a:srgbClr val="E36209"/>
                </a:solidFill>
                <a:effectLst/>
                <a:latin typeface="Consolas" panose="020B0609020204030204" pitchFamily="49" charset="0"/>
              </a:rPr>
              <a:t>pretrained</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8" name="文本框 7"/>
          <p:cNvSpPr txBox="1"/>
          <p:nvPr/>
        </p:nvSpPr>
        <p:spPr>
          <a:xfrm>
            <a:off x="884805" y="4180605"/>
            <a:ext cx="10806180" cy="1754326"/>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在导入</a:t>
            </a:r>
            <a:r>
              <a:rPr lang="en-US" altLang="zh-CN" b="0" dirty="0">
                <a:solidFill>
                  <a:srgbClr val="24292E"/>
                </a:solidFill>
                <a:effectLst/>
                <a:latin typeface="Consolas" panose="020B0609020204030204" pitchFamily="49" charset="0"/>
              </a:rPr>
              <a:t>resnet50</a:t>
            </a:r>
            <a:r>
              <a:rPr lang="zh-CN" altLang="en-US" b="0" dirty="0">
                <a:solidFill>
                  <a:srgbClr val="24292E"/>
                </a:solidFill>
                <a:effectLst/>
                <a:latin typeface="Consolas" panose="020B0609020204030204" pitchFamily="49" charset="0"/>
              </a:rPr>
              <a:t>预训练模型时，设置</a:t>
            </a:r>
            <a:r>
              <a:rPr lang="en-US" altLang="zh-CN" b="0" dirty="0">
                <a:solidFill>
                  <a:srgbClr val="24292E"/>
                </a:solidFill>
                <a:effectLst/>
                <a:latin typeface="Consolas" panose="020B0609020204030204" pitchFamily="49" charset="0"/>
              </a:rPr>
              <a:t>pretrained=True</a:t>
            </a:r>
            <a:r>
              <a:rPr lang="zh-CN" altLang="en-US" b="0" dirty="0">
                <a:solidFill>
                  <a:srgbClr val="24292E"/>
                </a:solidFill>
                <a:effectLst/>
                <a:latin typeface="Consolas" panose="020B0609020204030204" pitchFamily="49" charset="0"/>
              </a:rPr>
              <a:t>表示使用预训练模型的参数进行初始化网络参数，否则不使用预训练模型的参数进行初始化。</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r>
              <a:rPr lang="zh-CN" altLang="en-US" b="0" dirty="0">
                <a:solidFill>
                  <a:srgbClr val="24292E"/>
                </a:solidFill>
                <a:effectLst/>
                <a:latin typeface="Consolas" panose="020B0609020204030204" pitchFamily="49" charset="0"/>
              </a:rPr>
              <a:t>以下代码将</a:t>
            </a:r>
            <a:r>
              <a:rPr lang="en-US" altLang="zh-CN" b="0" dirty="0">
                <a:solidFill>
                  <a:srgbClr val="24292E"/>
                </a:solidFill>
                <a:effectLst/>
                <a:latin typeface="Consolas" panose="020B0609020204030204" pitchFamily="49" charset="0"/>
              </a:rPr>
              <a:t>VGG16</a:t>
            </a:r>
            <a:r>
              <a:rPr lang="zh-CN" altLang="en-US" b="0" dirty="0">
                <a:solidFill>
                  <a:srgbClr val="24292E"/>
                </a:solidFill>
                <a:effectLst/>
                <a:latin typeface="Consolas" panose="020B0609020204030204" pitchFamily="49" charset="0"/>
              </a:rPr>
              <a:t>预训练模型加载，并打印其网格模型结构：</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endParaRPr lang="zh-CN" altLang="en-US" b="0" dirty="0">
              <a:solidFill>
                <a:srgbClr val="24292E"/>
              </a:solidFill>
              <a:effectLst/>
              <a:latin typeface="Consolas" panose="020B0609020204030204" pitchFamily="49" charset="0"/>
            </a:endParaRPr>
          </a:p>
        </p:txBody>
      </p:sp>
      <p:sp>
        <p:nvSpPr>
          <p:cNvPr id="10" name="文本框 9"/>
          <p:cNvSpPr txBox="1"/>
          <p:nvPr/>
        </p:nvSpPr>
        <p:spPr>
          <a:xfrm>
            <a:off x="1134611" y="5393834"/>
            <a:ext cx="6094602" cy="923330"/>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torchvision.models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models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model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models</a:t>
            </a:r>
            <a:r>
              <a:rPr lang="en-US" altLang="zh-CN" b="0" dirty="0">
                <a:solidFill>
                  <a:srgbClr val="24292E"/>
                </a:solidFill>
                <a:effectLst/>
                <a:latin typeface="Consolas" panose="020B0609020204030204" pitchFamily="49" charset="0"/>
              </a:rPr>
              <a:t>.vgg16(</a:t>
            </a:r>
            <a:r>
              <a:rPr lang="en-US" altLang="zh-CN" b="0" dirty="0">
                <a:solidFill>
                  <a:srgbClr val="E36209"/>
                </a:solidFill>
                <a:effectLst/>
                <a:latin typeface="Consolas" panose="020B0609020204030204" pitchFamily="49" charset="0"/>
              </a:rPr>
              <a:t>pretrained</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(model)</a:t>
            </a:r>
            <a:endParaRPr lang="en-US" altLang="zh-CN" b="0" dirty="0">
              <a:solidFill>
                <a:srgbClr val="24292E"/>
              </a:solidFill>
              <a:effectLst/>
              <a:latin typeface="Consolas" panose="020B0609020204030204" pitchFamily="49" charset="0"/>
            </a:endParaRPr>
          </a:p>
        </p:txBody>
      </p:sp>
      <p:pic>
        <p:nvPicPr>
          <p:cNvPr id="6" name="图片 5"/>
          <p:cNvPicPr>
            <a:picLocks noChangeAspect="1"/>
          </p:cNvPicPr>
          <p:nvPr/>
        </p:nvPicPr>
        <p:blipFill>
          <a:blip r:embed="rId1"/>
          <a:stretch>
            <a:fillRect/>
          </a:stretch>
        </p:blipFill>
        <p:spPr>
          <a:xfrm>
            <a:off x="6569740" y="5393834"/>
            <a:ext cx="5371051" cy="1388685"/>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5.4.3 </a:t>
            </a:r>
            <a:r>
              <a:rPr lang="en-US" altLang="zh-CN" dirty="0" err="1">
                <a:solidFill>
                  <a:srgbClr val="577CCE"/>
                </a:solidFill>
                <a:latin typeface="Consolas" panose="020B0609020204030204" pitchFamily="49" charset="0"/>
              </a:rPr>
              <a:t>torchvision</a:t>
            </a:r>
            <a:endParaRPr lang="zh-CN" altLang="en-US" b="0" dirty="0">
              <a:solidFill>
                <a:srgbClr val="577CCE"/>
              </a:solidFill>
              <a:effectLst/>
              <a:latin typeface="Consolas" panose="020B0609020204030204" pitchFamily="49" charset="0"/>
            </a:endParaRPr>
          </a:p>
        </p:txBody>
      </p:sp>
      <p:sp>
        <p:nvSpPr>
          <p:cNvPr id="3" name="文本框 2"/>
          <p:cNvSpPr txBox="1"/>
          <p:nvPr/>
        </p:nvSpPr>
        <p:spPr>
          <a:xfrm>
            <a:off x="684327" y="1522448"/>
            <a:ext cx="11159656"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从模型的打印结果可以发现，最后的输出层有</a:t>
            </a:r>
            <a:r>
              <a:rPr lang="en-US" altLang="zh-CN" b="0" dirty="0">
                <a:solidFill>
                  <a:srgbClr val="FF0000"/>
                </a:solidFill>
                <a:effectLst/>
                <a:latin typeface="Consolas" panose="020B0609020204030204" pitchFamily="49" charset="0"/>
              </a:rPr>
              <a:t>1000</a:t>
            </a:r>
            <a:r>
              <a:rPr lang="zh-CN" altLang="en-US" b="0" dirty="0">
                <a:solidFill>
                  <a:srgbClr val="FF0000"/>
                </a:solidFill>
                <a:effectLst/>
                <a:latin typeface="Consolas" panose="020B0609020204030204" pitchFamily="49" charset="0"/>
              </a:rPr>
              <a:t>个神经元结点</a:t>
            </a:r>
            <a:r>
              <a:rPr lang="zh-CN" altLang="en-US" b="0" dirty="0">
                <a:solidFill>
                  <a:srgbClr val="24292E"/>
                </a:solidFill>
                <a:effectLst/>
                <a:latin typeface="Consolas" panose="020B0609020204030204" pitchFamily="49" charset="0"/>
              </a:rPr>
              <a:t>。在实际任务中，往往需要修改最后的输出层结点数，以便于使用新的训练样本针对新的任务进行训练。以下示例给出了修改上面的网络模型输出层为</a:t>
            </a:r>
            <a:r>
              <a:rPr lang="en-US" altLang="zh-CN" b="0" dirty="0">
                <a:solidFill>
                  <a:srgbClr val="24292E"/>
                </a:solidFill>
                <a:effectLst/>
                <a:latin typeface="Consolas" panose="020B0609020204030204" pitchFamily="49" charset="0"/>
              </a:rPr>
              <a:t>10</a:t>
            </a:r>
            <a:r>
              <a:rPr lang="zh-CN" altLang="en-US" b="0" dirty="0">
                <a:solidFill>
                  <a:srgbClr val="24292E"/>
                </a:solidFill>
                <a:effectLst/>
                <a:latin typeface="Consolas" panose="020B0609020204030204" pitchFamily="49" charset="0"/>
              </a:rPr>
              <a:t>个结点的示例。</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991998" y="2510586"/>
            <a:ext cx="6094602" cy="646331"/>
          </a:xfrm>
          <a:prstGeom prst="rect">
            <a:avLst/>
          </a:prstGeom>
          <a:noFill/>
        </p:spPr>
        <p:txBody>
          <a:bodyPr wrap="square">
            <a:spAutoFit/>
          </a:bodyPr>
          <a:lstStyle/>
          <a:p>
            <a:r>
              <a:rPr lang="fr-FR" altLang="zh-CN" b="0" dirty="0">
                <a:solidFill>
                  <a:srgbClr val="24292E"/>
                </a:solidFill>
                <a:effectLst/>
                <a:latin typeface="Consolas" panose="020B0609020204030204" pitchFamily="49" charset="0"/>
              </a:rPr>
              <a:t>model.classifier[</a:t>
            </a:r>
            <a:r>
              <a:rPr lang="fr-FR" altLang="zh-CN" b="0" dirty="0">
                <a:solidFill>
                  <a:srgbClr val="005CC5"/>
                </a:solidFill>
                <a:effectLst/>
                <a:latin typeface="Consolas" panose="020B0609020204030204" pitchFamily="49" charset="0"/>
              </a:rPr>
              <a:t>6</a:t>
            </a:r>
            <a:r>
              <a:rPr lang="fr-FR" altLang="zh-CN" b="0" dirty="0">
                <a:solidFill>
                  <a:srgbClr val="24292E"/>
                </a:solidFill>
                <a:effectLst/>
                <a:latin typeface="Consolas" panose="020B0609020204030204" pitchFamily="49" charset="0"/>
              </a:rPr>
              <a:t>]</a:t>
            </a:r>
            <a:r>
              <a:rPr lang="fr-FR" altLang="zh-CN" b="0" dirty="0">
                <a:solidFill>
                  <a:srgbClr val="D73A49"/>
                </a:solidFill>
                <a:effectLst/>
                <a:latin typeface="Consolas" panose="020B0609020204030204" pitchFamily="49" charset="0"/>
              </a:rPr>
              <a:t>=</a:t>
            </a:r>
            <a:r>
              <a:rPr lang="fr-FR" altLang="zh-CN" b="0" dirty="0">
                <a:solidFill>
                  <a:srgbClr val="6F42C1"/>
                </a:solidFill>
                <a:effectLst/>
                <a:latin typeface="Consolas" panose="020B0609020204030204" pitchFamily="49" charset="0"/>
              </a:rPr>
              <a:t>torch</a:t>
            </a:r>
            <a:r>
              <a:rPr lang="fr-FR" altLang="zh-CN" b="0" dirty="0">
                <a:solidFill>
                  <a:srgbClr val="24292E"/>
                </a:solidFill>
                <a:effectLst/>
                <a:latin typeface="Consolas" panose="020B0609020204030204" pitchFamily="49" charset="0"/>
              </a:rPr>
              <a:t>.</a:t>
            </a:r>
            <a:r>
              <a:rPr lang="fr-FR" altLang="zh-CN" b="0" dirty="0">
                <a:solidFill>
                  <a:srgbClr val="6F42C1"/>
                </a:solidFill>
                <a:effectLst/>
                <a:latin typeface="Consolas" panose="020B0609020204030204" pitchFamily="49" charset="0"/>
              </a:rPr>
              <a:t>nn</a:t>
            </a:r>
            <a:r>
              <a:rPr lang="fr-FR" altLang="zh-CN" b="0" dirty="0">
                <a:solidFill>
                  <a:srgbClr val="24292E"/>
                </a:solidFill>
                <a:effectLst/>
                <a:latin typeface="Consolas" panose="020B0609020204030204" pitchFamily="49" charset="0"/>
              </a:rPr>
              <a:t>.</a:t>
            </a:r>
            <a:r>
              <a:rPr lang="fr-FR" altLang="zh-CN" b="0" dirty="0">
                <a:solidFill>
                  <a:srgbClr val="6F42C1"/>
                </a:solidFill>
                <a:effectLst/>
                <a:latin typeface="Consolas" panose="020B0609020204030204" pitchFamily="49" charset="0"/>
              </a:rPr>
              <a:t>Linear</a:t>
            </a:r>
            <a:r>
              <a:rPr lang="fr-FR" altLang="zh-CN" b="0" dirty="0">
                <a:solidFill>
                  <a:srgbClr val="24292E"/>
                </a:solidFill>
                <a:effectLst/>
                <a:latin typeface="Consolas" panose="020B0609020204030204" pitchFamily="49" charset="0"/>
              </a:rPr>
              <a:t>(</a:t>
            </a:r>
            <a:r>
              <a:rPr lang="fr-FR" altLang="zh-CN" b="0" dirty="0">
                <a:solidFill>
                  <a:srgbClr val="005CC5"/>
                </a:solidFill>
                <a:effectLst/>
                <a:latin typeface="Consolas" panose="020B0609020204030204" pitchFamily="49" charset="0"/>
              </a:rPr>
              <a:t>4096</a:t>
            </a:r>
            <a:r>
              <a:rPr lang="fr-FR" altLang="zh-CN" b="0" dirty="0">
                <a:solidFill>
                  <a:srgbClr val="24292E"/>
                </a:solidFill>
                <a:effectLst/>
                <a:latin typeface="Consolas" panose="020B0609020204030204" pitchFamily="49" charset="0"/>
              </a:rPr>
              <a:t>,</a:t>
            </a:r>
            <a:r>
              <a:rPr lang="fr-FR" altLang="zh-CN" b="0" dirty="0">
                <a:solidFill>
                  <a:srgbClr val="005CC5"/>
                </a:solidFill>
                <a:effectLst/>
                <a:latin typeface="Consolas" panose="020B0609020204030204" pitchFamily="49" charset="0"/>
              </a:rPr>
              <a:t>10</a:t>
            </a:r>
            <a:r>
              <a:rPr lang="fr-FR" altLang="zh-CN" b="0" dirty="0">
                <a:solidFill>
                  <a:srgbClr val="24292E"/>
                </a:solidFill>
                <a:effectLst/>
                <a:latin typeface="Consolas" panose="020B0609020204030204" pitchFamily="49" charset="0"/>
              </a:rPr>
              <a:t>)</a:t>
            </a:r>
            <a:endParaRPr lang="fr-FR" altLang="zh-CN" b="0" dirty="0">
              <a:solidFill>
                <a:srgbClr val="24292E"/>
              </a:solidFill>
              <a:effectLst/>
              <a:latin typeface="Consolas" panose="020B0609020204030204" pitchFamily="49" charset="0"/>
            </a:endParaRPr>
          </a:p>
          <a:p>
            <a:r>
              <a:rPr lang="fr-FR" altLang="zh-CN" b="0" dirty="0">
                <a:solidFill>
                  <a:srgbClr val="6F42C1"/>
                </a:solidFill>
                <a:effectLst/>
                <a:latin typeface="Consolas" panose="020B0609020204030204" pitchFamily="49" charset="0"/>
              </a:rPr>
              <a:t>print</a:t>
            </a:r>
            <a:r>
              <a:rPr lang="fr-FR" altLang="zh-CN" b="0" dirty="0">
                <a:solidFill>
                  <a:srgbClr val="24292E"/>
                </a:solidFill>
                <a:effectLst/>
                <a:latin typeface="Consolas" panose="020B0609020204030204" pitchFamily="49" charset="0"/>
              </a:rPr>
              <a:t>(model.classifier)</a:t>
            </a:r>
            <a:endParaRPr lang="fr-FR" altLang="zh-CN" b="0" dirty="0">
              <a:solidFill>
                <a:srgbClr val="24292E"/>
              </a:solidFill>
              <a:effectLst/>
              <a:latin typeface="Consolas" panose="020B0609020204030204" pitchFamily="49" charset="0"/>
            </a:endParaRPr>
          </a:p>
        </p:txBody>
      </p:sp>
      <p:pic>
        <p:nvPicPr>
          <p:cNvPr id="12" name="图片 11"/>
          <p:cNvPicPr>
            <a:picLocks noChangeAspect="1"/>
          </p:cNvPicPr>
          <p:nvPr/>
        </p:nvPicPr>
        <p:blipFill>
          <a:blip r:embed="rId1"/>
          <a:stretch>
            <a:fillRect/>
          </a:stretch>
        </p:blipFill>
        <p:spPr>
          <a:xfrm>
            <a:off x="3432579" y="3907925"/>
            <a:ext cx="5326842" cy="2011854"/>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图片 12"/>
          <p:cNvPicPr>
            <a:picLocks noChangeAspect="1"/>
          </p:cNvPicPr>
          <p:nvPr/>
        </p:nvPicPr>
        <p:blipFill>
          <a:blip r:embed="rId2"/>
          <a:stretch>
            <a:fillRect/>
          </a:stretch>
        </p:blipFill>
        <p:spPr>
          <a:xfrm>
            <a:off x="7187241" y="220587"/>
            <a:ext cx="4473430" cy="1156605"/>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4" name="文本框 13"/>
          <p:cNvSpPr txBox="1"/>
          <p:nvPr/>
        </p:nvSpPr>
        <p:spPr>
          <a:xfrm>
            <a:off x="9490979" y="783228"/>
            <a:ext cx="1456566" cy="281977"/>
          </a:xfrm>
          <a:prstGeom prst="rect">
            <a:avLst/>
          </a:prstGeom>
          <a:solidFill>
            <a:srgbClr val="FF3300">
              <a:alpha val="20000"/>
            </a:srgbClr>
          </a:solidFill>
        </p:spPr>
        <p:txBody>
          <a:bodyPr wrap="square" rtlCol="0">
            <a:spAutoFit/>
          </a:bodyPr>
          <a:lstStyle/>
          <a:p>
            <a:endParaRPr lang="zh-CN" altLang="en-US" dirty="0"/>
          </a:p>
        </p:txBody>
      </p:sp>
    </p:spTree>
    <p:custDataLst>
      <p:tags r:id="rId3"/>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5.4.3 </a:t>
            </a:r>
            <a:r>
              <a:rPr lang="en-US" altLang="zh-CN" dirty="0" err="1">
                <a:solidFill>
                  <a:srgbClr val="577CCE"/>
                </a:solidFill>
                <a:latin typeface="Consolas" panose="020B0609020204030204" pitchFamily="49" charset="0"/>
              </a:rPr>
              <a:t>torchvision</a:t>
            </a:r>
            <a:endParaRPr lang="zh-CN" altLang="en-US" b="0" dirty="0">
              <a:solidFill>
                <a:srgbClr val="577CCE"/>
              </a:solidFill>
              <a:effectLst/>
              <a:latin typeface="Consolas" panose="020B0609020204030204" pitchFamily="49" charset="0"/>
            </a:endParaRPr>
          </a:p>
        </p:txBody>
      </p:sp>
      <p:sp>
        <p:nvSpPr>
          <p:cNvPr id="3" name="文本框 2"/>
          <p:cNvSpPr txBox="1"/>
          <p:nvPr/>
        </p:nvSpPr>
        <p:spPr>
          <a:xfrm>
            <a:off x="684327" y="1493517"/>
            <a:ext cx="11159656"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通常，我们只需要对最后几层网络的参数进行学习，而将前面各层的预训练好的参数固定下来。下面的示例给出了上述模型除最后三层的参数外其他所有参数固定下来的代码，即将要固定的参数的</a:t>
            </a:r>
            <a:r>
              <a:rPr lang="en-US" altLang="zh-CN" b="0" dirty="0" err="1">
                <a:solidFill>
                  <a:srgbClr val="24292E"/>
                </a:solidFill>
                <a:effectLst/>
                <a:latin typeface="Consolas" panose="020B0609020204030204" pitchFamily="49" charset="0"/>
              </a:rPr>
              <a:t>requires_grad</a:t>
            </a:r>
            <a:r>
              <a:rPr lang="zh-CN" altLang="en-US" b="0" dirty="0">
                <a:solidFill>
                  <a:srgbClr val="24292E"/>
                </a:solidFill>
                <a:effectLst/>
                <a:latin typeface="Consolas" panose="020B0609020204030204" pitchFamily="49" charset="0"/>
              </a:rPr>
              <a:t>的值为</a:t>
            </a:r>
            <a:r>
              <a:rPr lang="en-US" altLang="zh-CN" b="0" dirty="0">
                <a:solidFill>
                  <a:srgbClr val="24292E"/>
                </a:solidFill>
                <a:effectLst/>
                <a:latin typeface="Consolas" panose="020B0609020204030204" pitchFamily="49" charset="0"/>
              </a:rPr>
              <a:t>False</a:t>
            </a:r>
            <a:r>
              <a:rPr lang="zh-CN" altLang="en-US" b="0" dirty="0">
                <a:solidFill>
                  <a:srgbClr val="24292E"/>
                </a:solidFill>
                <a:effectLst/>
                <a:latin typeface="Consolas" panose="020B0609020204030204" pitchFamily="49" charset="0"/>
              </a:rPr>
              <a:t>。在训练时，优化器只需要对</a:t>
            </a:r>
            <a:r>
              <a:rPr lang="en-US" altLang="zh-CN" b="0" dirty="0" err="1">
                <a:solidFill>
                  <a:srgbClr val="24292E"/>
                </a:solidFill>
                <a:effectLst/>
                <a:latin typeface="Consolas" panose="020B0609020204030204" pitchFamily="49" charset="0"/>
              </a:rPr>
              <a:t>requires_grad</a:t>
            </a:r>
            <a:r>
              <a:rPr lang="zh-CN" altLang="en-US" b="0" dirty="0">
                <a:solidFill>
                  <a:srgbClr val="24292E"/>
                </a:solidFill>
                <a:effectLst/>
                <a:latin typeface="Consolas" panose="020B0609020204030204" pitchFamily="49" charset="0"/>
              </a:rPr>
              <a:t>的值为</a:t>
            </a:r>
            <a:r>
              <a:rPr lang="en-US" altLang="zh-CN" b="0" dirty="0">
                <a:solidFill>
                  <a:srgbClr val="24292E"/>
                </a:solidFill>
                <a:effectLst/>
                <a:latin typeface="Consolas" panose="020B0609020204030204" pitchFamily="49" charset="0"/>
              </a:rPr>
              <a:t>True</a:t>
            </a:r>
            <a:r>
              <a:rPr lang="zh-CN" altLang="en-US" b="0" dirty="0">
                <a:solidFill>
                  <a:srgbClr val="24292E"/>
                </a:solidFill>
                <a:effectLst/>
                <a:latin typeface="Consolas" panose="020B0609020204030204" pitchFamily="49" charset="0"/>
              </a:rPr>
              <a:t>的参数继续学习，代码如下：</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991997" y="2510586"/>
            <a:ext cx="10698987" cy="1754326"/>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optim</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optimizer</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p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model.parameters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p.requires_grad</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False</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p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model.classifier.parameters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p.requires_grad</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True</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opt</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optimizer</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SGD</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filter</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lambda</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p</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p</a:t>
            </a:r>
            <a:r>
              <a:rPr lang="en-US" altLang="zh-CN" b="0" dirty="0" err="1">
                <a:solidFill>
                  <a:srgbClr val="24292E"/>
                </a:solidFill>
                <a:effectLst/>
                <a:latin typeface="Consolas" panose="020B0609020204030204" pitchFamily="49" charset="0"/>
              </a:rPr>
              <a:t>.requires_grad</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model.parameters</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lr</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1e-3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5" name="文本框 4"/>
          <p:cNvSpPr txBox="1"/>
          <p:nvPr/>
        </p:nvSpPr>
        <p:spPr>
          <a:xfrm>
            <a:off x="684327" y="4508844"/>
            <a:ext cx="11006658"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当然，也可以直接在定义优化器时直接给出需要学习的参数。因此，上述的代码也可以直接写成：</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991997" y="5122108"/>
            <a:ext cx="10851985"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opt</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optimizer</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SGD</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filter</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lambda</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p</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p</a:t>
            </a:r>
            <a:r>
              <a:rPr lang="en-US" altLang="zh-CN" b="0" dirty="0" err="1">
                <a:solidFill>
                  <a:srgbClr val="24292E"/>
                </a:solidFill>
                <a:effectLst/>
                <a:latin typeface="Consolas" panose="020B0609020204030204" pitchFamily="49" charset="0"/>
              </a:rPr>
              <a:t>.requires_grad</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model.classifier.parameters</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lr</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1e-3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0" name="文本框 9"/>
          <p:cNvSpPr txBox="1"/>
          <p:nvPr/>
        </p:nvSpPr>
        <p:spPr>
          <a:xfrm>
            <a:off x="684327" y="5841145"/>
            <a:ext cx="11159655"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接下来，就可以使用新样本对模型进行训练了。在训练时，就</a:t>
            </a:r>
            <a:r>
              <a:rPr lang="zh-CN" altLang="en-US" b="0" dirty="0">
                <a:solidFill>
                  <a:srgbClr val="FF0000"/>
                </a:solidFill>
                <a:effectLst/>
                <a:latin typeface="Consolas" panose="020B0609020204030204" pitchFamily="49" charset="0"/>
              </a:rPr>
              <a:t>只对后三层网络的参数进行学习</a:t>
            </a:r>
            <a:r>
              <a:rPr lang="zh-CN" altLang="en-US" b="0" dirty="0">
                <a:solidFill>
                  <a:srgbClr val="24292E"/>
                </a:solidFill>
                <a:effectLst/>
                <a:latin typeface="Consolas" panose="020B0609020204030204" pitchFamily="49" charset="0"/>
              </a:rPr>
              <a:t>，其他各层的参数都是预训练好的，主要用于特征提取。</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5.4.3 </a:t>
            </a:r>
            <a:r>
              <a:rPr lang="en-US" altLang="zh-CN" dirty="0" err="1">
                <a:solidFill>
                  <a:srgbClr val="577CCE"/>
                </a:solidFill>
                <a:latin typeface="Consolas" panose="020B0609020204030204" pitchFamily="49" charset="0"/>
              </a:rPr>
              <a:t>torchvision</a:t>
            </a:r>
            <a:endParaRPr lang="zh-CN" altLang="en-US" b="0" dirty="0">
              <a:solidFill>
                <a:srgbClr val="577CCE"/>
              </a:solidFill>
              <a:effectLst/>
              <a:latin typeface="Consolas" panose="020B0609020204030204" pitchFamily="49" charset="0"/>
            </a:endParaRPr>
          </a:p>
        </p:txBody>
      </p:sp>
      <p:sp>
        <p:nvSpPr>
          <p:cNvPr id="5" name="文本框 4"/>
          <p:cNvSpPr txBox="1"/>
          <p:nvPr/>
        </p:nvSpPr>
        <p:spPr>
          <a:xfrm>
            <a:off x="914660" y="1929330"/>
            <a:ext cx="11006658" cy="1200329"/>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torchvision.transforms</a:t>
            </a:r>
            <a:r>
              <a:rPr lang="zh-CN" altLang="en-US" b="0" dirty="0">
                <a:solidFill>
                  <a:srgbClr val="24292E"/>
                </a:solidFill>
                <a:effectLst/>
                <a:latin typeface="Consolas" panose="020B0609020204030204" pitchFamily="49" charset="0"/>
              </a:rPr>
              <a:t>模块提供的图像变换可以完成</a:t>
            </a:r>
            <a:r>
              <a:rPr lang="zh-CN" altLang="en-US" b="0" dirty="0">
                <a:solidFill>
                  <a:srgbClr val="FF0000"/>
                </a:solidFill>
                <a:effectLst/>
                <a:latin typeface="Consolas" panose="020B0609020204030204" pitchFamily="49" charset="0"/>
              </a:rPr>
              <a:t>图像尺寸放缩、切割、翻转、边填充、归一化等操作</a:t>
            </a:r>
            <a:r>
              <a:rPr lang="zh-CN" altLang="en-US" b="0" dirty="0">
                <a:solidFill>
                  <a:srgbClr val="24292E"/>
                </a:solidFill>
                <a:effectLst/>
                <a:latin typeface="Consolas" panose="020B0609020204030204" pitchFamily="49" charset="0"/>
              </a:rPr>
              <a:t>，这些操作可以从原始图像中得到更多的图像，从而实现了图像增强，丰富了训练样本。</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r>
              <a:rPr lang="zh-CN" altLang="en-US" b="0" dirty="0">
                <a:solidFill>
                  <a:srgbClr val="24292E"/>
                </a:solidFill>
                <a:effectLst/>
                <a:latin typeface="Consolas" panose="020B0609020204030204" pitchFamily="49" charset="0"/>
              </a:rPr>
              <a:t>以下代码给出了图像的各种变换示例。</a:t>
            </a:r>
            <a:endParaRPr lang="zh-CN" altLang="en-US" b="0" dirty="0">
              <a:solidFill>
                <a:srgbClr val="24292E"/>
              </a:solidFill>
              <a:effectLst/>
              <a:latin typeface="Consolas" panose="020B0609020204030204" pitchFamily="49" charset="0"/>
            </a:endParaRPr>
          </a:p>
        </p:txBody>
      </p:sp>
      <p:sp>
        <p:nvSpPr>
          <p:cNvPr id="2" name="文本框 1"/>
          <p:cNvSpPr txBox="1"/>
          <p:nvPr/>
        </p:nvSpPr>
        <p:spPr>
          <a:xfrm>
            <a:off x="531329" y="1464166"/>
            <a:ext cx="6094602" cy="369332"/>
          </a:xfrm>
          <a:prstGeom prst="rect">
            <a:avLst/>
          </a:prstGeom>
          <a:noFill/>
        </p:spPr>
        <p:txBody>
          <a:bodyPr wrap="square">
            <a:spAutoFit/>
          </a:bodyPr>
          <a:lstStyle/>
          <a:p>
            <a:r>
              <a:rPr lang="zh-CN" altLang="en-US" b="0" dirty="0">
                <a:solidFill>
                  <a:srgbClr val="577CCE"/>
                </a:solidFill>
                <a:effectLst/>
                <a:latin typeface="Consolas" panose="020B0609020204030204" pitchFamily="49" charset="0"/>
              </a:rPr>
              <a:t>（</a:t>
            </a:r>
            <a:r>
              <a:rPr lang="en-US" altLang="zh-CN" b="0" dirty="0">
                <a:solidFill>
                  <a:srgbClr val="577CCE"/>
                </a:solidFill>
                <a:effectLst/>
                <a:latin typeface="Consolas" panose="020B0609020204030204" pitchFamily="49" charset="0"/>
              </a:rPr>
              <a:t>3</a:t>
            </a:r>
            <a:r>
              <a:rPr lang="zh-CN" altLang="en-US" b="0" dirty="0">
                <a:solidFill>
                  <a:srgbClr val="577CCE"/>
                </a:solidFill>
                <a:effectLst/>
                <a:latin typeface="Consolas" panose="020B0609020204030204" pitchFamily="49" charset="0"/>
              </a:rPr>
              <a:t>）</a:t>
            </a:r>
            <a:r>
              <a:rPr lang="en-US" altLang="zh-CN" b="0" dirty="0" err="1">
                <a:solidFill>
                  <a:srgbClr val="577CCE"/>
                </a:solidFill>
                <a:effectLst/>
                <a:latin typeface="Consolas" panose="020B0609020204030204" pitchFamily="49" charset="0"/>
              </a:rPr>
              <a:t>torchvision.transforms</a:t>
            </a:r>
            <a:r>
              <a:rPr lang="zh-CN" altLang="en-US" b="0" dirty="0">
                <a:solidFill>
                  <a:srgbClr val="577CCE"/>
                </a:solidFill>
                <a:effectLst/>
                <a:latin typeface="Consolas" panose="020B0609020204030204" pitchFamily="49" charset="0"/>
              </a:rPr>
              <a:t>图像变换模块</a:t>
            </a:r>
            <a:endParaRPr lang="zh-CN" altLang="en-US" b="0" dirty="0">
              <a:solidFill>
                <a:srgbClr val="577CCE"/>
              </a:solidFill>
              <a:effectLst/>
              <a:latin typeface="Consolas" panose="020B0609020204030204" pitchFamily="49" charset="0"/>
            </a:endParaRPr>
          </a:p>
        </p:txBody>
      </p:sp>
      <p:sp>
        <p:nvSpPr>
          <p:cNvPr id="8" name="文本框 7"/>
          <p:cNvSpPr txBox="1"/>
          <p:nvPr/>
        </p:nvSpPr>
        <p:spPr>
          <a:xfrm>
            <a:off x="914661" y="3133778"/>
            <a:ext cx="5039488" cy="1754326"/>
          </a:xfrm>
          <a:prstGeom prst="rect">
            <a:avLst/>
          </a:prstGeom>
          <a:noFill/>
          <a:ln>
            <a:solidFill>
              <a:srgbClr val="577CCE"/>
            </a:solidFill>
          </a:ln>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torchvision</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PIL</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orig_img1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orig_img2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(orig_img1.shape, orig_img2.shape)</a:t>
            </a:r>
            <a:endParaRPr lang="en-US" altLang="zh-CN" b="0" dirty="0">
              <a:solidFill>
                <a:srgbClr val="24292E"/>
              </a:solidFill>
              <a:effectLst/>
              <a:latin typeface="Consolas" panose="020B0609020204030204" pitchFamily="49" charset="0"/>
            </a:endParaRPr>
          </a:p>
        </p:txBody>
      </p:sp>
      <p:sp>
        <p:nvSpPr>
          <p:cNvPr id="12" name="文本框 11"/>
          <p:cNvSpPr txBox="1"/>
          <p:nvPr/>
        </p:nvSpPr>
        <p:spPr>
          <a:xfrm>
            <a:off x="914660" y="4950391"/>
            <a:ext cx="6094602" cy="1754326"/>
          </a:xfrm>
          <a:prstGeom prst="rect">
            <a:avLst/>
          </a:prstGeom>
          <a:noFill/>
          <a:ln>
            <a:solidFill>
              <a:srgbClr val="577CCE"/>
            </a:solidFill>
          </a:ln>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对图像进行放缩，默认插值方法是线性插值</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resize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torchvision</a:t>
            </a:r>
            <a:r>
              <a:rPr lang="en-US" altLang="zh-CN" b="0" dirty="0" err="1">
                <a:solidFill>
                  <a:srgbClr val="24292E"/>
                </a:solidFill>
                <a:effectLst/>
                <a:latin typeface="Consolas" panose="020B0609020204030204" pitchFamily="49" charset="0"/>
              </a:rPr>
              <a:t>.transforms.Resize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8</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interpolation</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PIL</a:t>
            </a:r>
            <a:r>
              <a:rPr lang="en-US" altLang="zh-CN" b="0" dirty="0" err="1">
                <a:solidFill>
                  <a:srgbClr val="24292E"/>
                </a:solidFill>
                <a:effectLst/>
                <a:latin typeface="Consolas" panose="020B0609020204030204" pitchFamily="49" charset="0"/>
              </a:rPr>
              <a:t>.Image.</a:t>
            </a:r>
            <a:r>
              <a:rPr lang="en-US" altLang="zh-CN" b="0" dirty="0" err="1">
                <a:solidFill>
                  <a:srgbClr val="005CC5"/>
                </a:solidFill>
                <a:effectLst/>
                <a:latin typeface="Consolas" panose="020B0609020204030204" pitchFamily="49" charset="0"/>
              </a:rPr>
              <a:t>BILINEAR</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new_img1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resize(orig_img1)</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new_img2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resize(orig_img2)</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(new_img1.shape, new_img2.shape)</a:t>
            </a:r>
            <a:endParaRPr lang="en-US" altLang="zh-CN" b="0" dirty="0">
              <a:solidFill>
                <a:srgbClr val="24292E"/>
              </a:solidFill>
              <a:effectLst/>
              <a:latin typeface="Consolas" panose="020B0609020204030204" pitchFamily="49" charset="0"/>
            </a:endParaRPr>
          </a:p>
        </p:txBody>
      </p:sp>
      <p:sp>
        <p:nvSpPr>
          <p:cNvPr id="14" name="文本框 13"/>
          <p:cNvSpPr txBox="1"/>
          <p:nvPr/>
        </p:nvSpPr>
        <p:spPr>
          <a:xfrm>
            <a:off x="7191462" y="66194"/>
            <a:ext cx="4360178" cy="1754326"/>
          </a:xfrm>
          <a:prstGeom prst="rect">
            <a:avLst/>
          </a:prstGeom>
          <a:noFill/>
        </p:spPr>
        <p:txBody>
          <a:bodyPr wrap="square">
            <a:spAutoFit/>
          </a:bodyPr>
          <a:lstStyle/>
          <a:p>
            <a:r>
              <a:rPr lang="en-US" altLang="zh-CN" b="0" dirty="0">
                <a:solidFill>
                  <a:srgbClr val="E36209"/>
                </a:solidFill>
                <a:effectLst/>
                <a:latin typeface="Consolas" panose="020B0609020204030204" pitchFamily="49" charset="0"/>
              </a:rPr>
              <a:t>orig_img1</a:t>
            </a:r>
            <a:r>
              <a:rPr lang="zh-CN" altLang="en-US" b="0" dirty="0">
                <a:solidFill>
                  <a:srgbClr val="24292E"/>
                </a:solidFill>
                <a:effectLst/>
                <a:latin typeface="Consolas" panose="020B0609020204030204" pitchFamily="49" charset="0"/>
              </a:rPr>
              <a:t>：包含了</a:t>
            </a:r>
            <a:r>
              <a:rPr lang="en-US" altLang="zh-CN" b="0" dirty="0">
                <a:solidFill>
                  <a:srgbClr val="24292E"/>
                </a:solidFill>
                <a:effectLst/>
                <a:latin typeface="Consolas" panose="020B0609020204030204" pitchFamily="49" charset="0"/>
              </a:rPr>
              <a:t>4</a:t>
            </a:r>
            <a:r>
              <a:rPr lang="zh-CN" altLang="en-US" b="0" dirty="0">
                <a:solidFill>
                  <a:srgbClr val="24292E"/>
                </a:solidFill>
                <a:effectLst/>
                <a:latin typeface="Consolas" panose="020B0609020204030204" pitchFamily="49" charset="0"/>
              </a:rPr>
              <a:t>张彩色图像，每张图像有</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个通道（通常是红色、绿色和蓝色），每个通道的大小为</a:t>
            </a:r>
            <a:r>
              <a:rPr lang="en-US" altLang="zh-CN" b="0" dirty="0">
                <a:solidFill>
                  <a:srgbClr val="24292E"/>
                </a:solidFill>
                <a:effectLst/>
                <a:latin typeface="Consolas" panose="020B0609020204030204" pitchFamily="49" charset="0"/>
              </a:rPr>
              <a:t>64x64</a:t>
            </a:r>
            <a:r>
              <a:rPr lang="zh-CN" altLang="en-US" b="0" dirty="0">
                <a:solidFill>
                  <a:srgbClr val="24292E"/>
                </a:solidFill>
                <a:effectLst/>
                <a:latin typeface="Consolas" panose="020B0609020204030204" pitchFamily="49" charset="0"/>
              </a:rPr>
              <a:t>像素</a:t>
            </a:r>
            <a:endParaRPr lang="en-US" altLang="zh-CN" b="0" dirty="0">
              <a:solidFill>
                <a:srgbClr val="24292E"/>
              </a:solidFill>
              <a:effectLst/>
              <a:latin typeface="Consolas" panose="020B0609020204030204" pitchFamily="49" charset="0"/>
            </a:endParaRPr>
          </a:p>
          <a:p>
            <a:endParaRPr lang="en-US" altLang="zh-CN" dirty="0">
              <a:solidFill>
                <a:srgbClr val="24292E"/>
              </a:solidFill>
              <a:latin typeface="Consolas" panose="020B0609020204030204" pitchFamily="49" charset="0"/>
            </a:endParaRPr>
          </a:p>
          <a:p>
            <a:r>
              <a:rPr lang="en-US" altLang="zh-CN" b="0" dirty="0">
                <a:solidFill>
                  <a:srgbClr val="E36209"/>
                </a:solidFill>
                <a:effectLst/>
                <a:latin typeface="Consolas" panose="020B0609020204030204" pitchFamily="49" charset="0"/>
              </a:rPr>
              <a:t>orig_img2</a:t>
            </a:r>
            <a:r>
              <a:rPr lang="zh-CN" altLang="en-US" b="0" dirty="0">
                <a:solidFill>
                  <a:srgbClr val="24292E"/>
                </a:solidFill>
                <a:effectLst/>
                <a:latin typeface="Consolas" panose="020B0609020204030204" pitchFamily="49" charset="0"/>
              </a:rPr>
              <a:t>：包含</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个通道的单张彩色图像，每个通道的大小同样为</a:t>
            </a:r>
            <a:r>
              <a:rPr lang="en-US" altLang="zh-CN" b="0" dirty="0">
                <a:solidFill>
                  <a:srgbClr val="24292E"/>
                </a:solidFill>
                <a:effectLst/>
                <a:latin typeface="Consolas" panose="020B0609020204030204" pitchFamily="49" charset="0"/>
              </a:rPr>
              <a:t>64x64</a:t>
            </a:r>
            <a:r>
              <a:rPr lang="zh-CN" altLang="en-US" b="0" dirty="0">
                <a:solidFill>
                  <a:srgbClr val="24292E"/>
                </a:solidFill>
                <a:effectLst/>
                <a:latin typeface="Consolas" panose="020B0609020204030204" pitchFamily="49" charset="0"/>
              </a:rPr>
              <a:t>像素</a:t>
            </a:r>
            <a:endParaRPr lang="zh-CN" altLang="en-US" dirty="0"/>
          </a:p>
        </p:txBody>
      </p:sp>
      <p:pic>
        <p:nvPicPr>
          <p:cNvPr id="16" name="图片 15"/>
          <p:cNvPicPr>
            <a:picLocks noChangeAspect="1"/>
          </p:cNvPicPr>
          <p:nvPr/>
        </p:nvPicPr>
        <p:blipFill>
          <a:blip r:embed="rId1"/>
          <a:stretch>
            <a:fillRect/>
          </a:stretch>
        </p:blipFill>
        <p:spPr>
          <a:xfrm>
            <a:off x="6029812" y="3196075"/>
            <a:ext cx="5967170" cy="339164"/>
          </a:xfrm>
          <a:prstGeom prst="rect">
            <a:avLst/>
          </a:prstGeom>
        </p:spPr>
      </p:pic>
      <p:pic>
        <p:nvPicPr>
          <p:cNvPr id="18" name="图片 17"/>
          <p:cNvPicPr>
            <a:picLocks noChangeAspect="1"/>
          </p:cNvPicPr>
          <p:nvPr/>
        </p:nvPicPr>
        <p:blipFill>
          <a:blip r:embed="rId2"/>
          <a:stretch>
            <a:fillRect/>
          </a:stretch>
        </p:blipFill>
        <p:spPr>
          <a:xfrm>
            <a:off x="6639141" y="5833648"/>
            <a:ext cx="5051844" cy="313292"/>
          </a:xfrm>
          <a:prstGeom prst="rect">
            <a:avLst/>
          </a:prstGeom>
        </p:spPr>
      </p:pic>
      <p:sp>
        <p:nvSpPr>
          <p:cNvPr id="19" name="箭头: 下 18"/>
          <p:cNvSpPr/>
          <p:nvPr/>
        </p:nvSpPr>
        <p:spPr>
          <a:xfrm>
            <a:off x="8916087" y="3692093"/>
            <a:ext cx="308622" cy="19575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16403" y="2241837"/>
            <a:ext cx="2314024" cy="1735518"/>
          </a:xfrm>
          <a:prstGeom prst="rect">
            <a:avLst/>
          </a:prstGeom>
        </p:spPr>
      </p:pic>
      <p:pic>
        <p:nvPicPr>
          <p:cNvPr id="21" name="图片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20439" y="4685854"/>
            <a:ext cx="2105952" cy="2105952"/>
          </a:xfrm>
          <a:prstGeom prst="rect">
            <a:avLst/>
          </a:prstGeom>
        </p:spPr>
      </p:pic>
    </p:spTree>
    <p:custDataLst>
      <p:tags r:id="rId5"/>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down)">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par>
                                <p:cTn id="18" presetID="10" presetClass="entr" presetSubtype="0" fill="hold"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5.4.3 </a:t>
            </a:r>
            <a:r>
              <a:rPr lang="en-US" altLang="zh-CN" dirty="0" err="1">
                <a:solidFill>
                  <a:srgbClr val="577CCE"/>
                </a:solidFill>
                <a:latin typeface="Consolas" panose="020B0609020204030204" pitchFamily="49" charset="0"/>
              </a:rPr>
              <a:t>torchvision</a:t>
            </a:r>
            <a:endParaRPr lang="zh-CN" altLang="en-US" b="0" dirty="0">
              <a:solidFill>
                <a:srgbClr val="577CCE"/>
              </a:solidFill>
              <a:effectLst/>
              <a:latin typeface="Consolas" panose="020B0609020204030204" pitchFamily="49" charset="0"/>
            </a:endParaRPr>
          </a:p>
        </p:txBody>
      </p:sp>
      <p:sp>
        <p:nvSpPr>
          <p:cNvPr id="2" name="文本框 1"/>
          <p:cNvSpPr txBox="1"/>
          <p:nvPr/>
        </p:nvSpPr>
        <p:spPr>
          <a:xfrm>
            <a:off x="531329" y="1464166"/>
            <a:ext cx="6094602" cy="369332"/>
          </a:xfrm>
          <a:prstGeom prst="rect">
            <a:avLst/>
          </a:prstGeom>
          <a:noFill/>
        </p:spPr>
        <p:txBody>
          <a:bodyPr wrap="square">
            <a:spAutoFit/>
          </a:bodyPr>
          <a:lstStyle/>
          <a:p>
            <a:r>
              <a:rPr lang="zh-CN" altLang="en-US" b="0" dirty="0">
                <a:solidFill>
                  <a:srgbClr val="577CCE"/>
                </a:solidFill>
                <a:effectLst/>
                <a:latin typeface="Consolas" panose="020B0609020204030204" pitchFamily="49" charset="0"/>
              </a:rPr>
              <a:t>（</a:t>
            </a:r>
            <a:r>
              <a:rPr lang="en-US" altLang="zh-CN" b="0" dirty="0">
                <a:solidFill>
                  <a:srgbClr val="577CCE"/>
                </a:solidFill>
                <a:effectLst/>
                <a:latin typeface="Consolas" panose="020B0609020204030204" pitchFamily="49" charset="0"/>
              </a:rPr>
              <a:t>3</a:t>
            </a:r>
            <a:r>
              <a:rPr lang="zh-CN" altLang="en-US" b="0" dirty="0">
                <a:solidFill>
                  <a:srgbClr val="577CCE"/>
                </a:solidFill>
                <a:effectLst/>
                <a:latin typeface="Consolas" panose="020B0609020204030204" pitchFamily="49" charset="0"/>
              </a:rPr>
              <a:t>）</a:t>
            </a:r>
            <a:r>
              <a:rPr lang="en-US" altLang="zh-CN" b="0" dirty="0" err="1">
                <a:solidFill>
                  <a:srgbClr val="577CCE"/>
                </a:solidFill>
                <a:effectLst/>
                <a:latin typeface="Consolas" panose="020B0609020204030204" pitchFamily="49" charset="0"/>
              </a:rPr>
              <a:t>torchvision.transforms</a:t>
            </a:r>
            <a:r>
              <a:rPr lang="zh-CN" altLang="en-US" b="0" dirty="0">
                <a:solidFill>
                  <a:srgbClr val="577CCE"/>
                </a:solidFill>
                <a:effectLst/>
                <a:latin typeface="Consolas" panose="020B0609020204030204" pitchFamily="49" charset="0"/>
              </a:rPr>
              <a:t>图像变换模块</a:t>
            </a:r>
            <a:endParaRPr lang="zh-CN" altLang="en-US" b="0" dirty="0">
              <a:solidFill>
                <a:srgbClr val="577CCE"/>
              </a:solidFill>
              <a:effectLst/>
              <a:latin typeface="Consolas" panose="020B0609020204030204" pitchFamily="49" charset="0"/>
            </a:endParaRPr>
          </a:p>
        </p:txBody>
      </p:sp>
      <p:sp>
        <p:nvSpPr>
          <p:cNvPr id="12" name="文本框 11"/>
          <p:cNvSpPr txBox="1"/>
          <p:nvPr/>
        </p:nvSpPr>
        <p:spPr>
          <a:xfrm>
            <a:off x="531329" y="4383445"/>
            <a:ext cx="6094602" cy="2031325"/>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对图像进行中心切割</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ccrop</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torchvision</a:t>
            </a:r>
            <a:r>
              <a:rPr lang="en-US" altLang="zh-CN" b="0" dirty="0" err="1">
                <a:solidFill>
                  <a:srgbClr val="24292E"/>
                </a:solidFill>
                <a:effectLst/>
                <a:latin typeface="Consolas" panose="020B0609020204030204" pitchFamily="49" charset="0"/>
              </a:rPr>
              <a:t>.transforms.CenterCrop</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16</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16</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切割得到的尺寸为</a:t>
            </a:r>
            <a:r>
              <a:rPr lang="en-US" altLang="zh-CN" b="0" dirty="0">
                <a:solidFill>
                  <a:srgbClr val="6A737D"/>
                </a:solidFill>
                <a:effectLst/>
                <a:latin typeface="Consolas" panose="020B0609020204030204" pitchFamily="49" charset="0"/>
              </a:rPr>
              <a:t>(16,16)</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new_img3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ccrop</a:t>
            </a:r>
            <a:r>
              <a:rPr lang="en-US" altLang="zh-CN" b="0" dirty="0">
                <a:solidFill>
                  <a:srgbClr val="24292E"/>
                </a:solidFill>
                <a:effectLst/>
                <a:latin typeface="Consolas" panose="020B0609020204030204" pitchFamily="49" charset="0"/>
              </a:rPr>
              <a:t>(orig_img1)</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new_img4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ccrop</a:t>
            </a:r>
            <a:r>
              <a:rPr lang="en-US" altLang="zh-CN" b="0" dirty="0">
                <a:solidFill>
                  <a:srgbClr val="24292E"/>
                </a:solidFill>
                <a:effectLst/>
                <a:latin typeface="Consolas" panose="020B0609020204030204" pitchFamily="49" charset="0"/>
              </a:rPr>
              <a:t>(orig_img2)</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(new_img3.shape, new_img4.shape)</a:t>
            </a:r>
            <a:endParaRPr lang="en-US" altLang="zh-CN" b="0" dirty="0">
              <a:solidFill>
                <a:srgbClr val="24292E"/>
              </a:solidFill>
              <a:effectLst/>
              <a:latin typeface="Consolas" panose="020B0609020204030204" pitchFamily="49" charset="0"/>
            </a:endParaRPr>
          </a:p>
        </p:txBody>
      </p:sp>
      <p:sp>
        <p:nvSpPr>
          <p:cNvPr id="14" name="文本框 13"/>
          <p:cNvSpPr txBox="1"/>
          <p:nvPr/>
        </p:nvSpPr>
        <p:spPr>
          <a:xfrm>
            <a:off x="7191462" y="66194"/>
            <a:ext cx="4360178" cy="1754326"/>
          </a:xfrm>
          <a:prstGeom prst="rect">
            <a:avLst/>
          </a:prstGeom>
          <a:noFill/>
        </p:spPr>
        <p:txBody>
          <a:bodyPr wrap="square">
            <a:spAutoFit/>
          </a:bodyPr>
          <a:lstStyle/>
          <a:p>
            <a:r>
              <a:rPr lang="en-US" altLang="zh-CN" b="0" dirty="0">
                <a:solidFill>
                  <a:srgbClr val="E36209"/>
                </a:solidFill>
                <a:effectLst/>
                <a:latin typeface="Consolas" panose="020B0609020204030204" pitchFamily="49" charset="0"/>
              </a:rPr>
              <a:t>orig_img1</a:t>
            </a:r>
            <a:r>
              <a:rPr lang="zh-CN" altLang="en-US" b="0" dirty="0">
                <a:solidFill>
                  <a:srgbClr val="24292E"/>
                </a:solidFill>
                <a:effectLst/>
                <a:latin typeface="Consolas" panose="020B0609020204030204" pitchFamily="49" charset="0"/>
              </a:rPr>
              <a:t>：包含了</a:t>
            </a:r>
            <a:r>
              <a:rPr lang="en-US" altLang="zh-CN" b="0" dirty="0">
                <a:solidFill>
                  <a:srgbClr val="24292E"/>
                </a:solidFill>
                <a:effectLst/>
                <a:latin typeface="Consolas" panose="020B0609020204030204" pitchFamily="49" charset="0"/>
              </a:rPr>
              <a:t>4</a:t>
            </a:r>
            <a:r>
              <a:rPr lang="zh-CN" altLang="en-US" b="0" dirty="0">
                <a:solidFill>
                  <a:srgbClr val="24292E"/>
                </a:solidFill>
                <a:effectLst/>
                <a:latin typeface="Consolas" panose="020B0609020204030204" pitchFamily="49" charset="0"/>
              </a:rPr>
              <a:t>张彩色图像，每张图像有</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个通道（通常是红色、绿色和蓝色），每个通道的大小为</a:t>
            </a:r>
            <a:r>
              <a:rPr lang="en-US" altLang="zh-CN" b="0" dirty="0">
                <a:solidFill>
                  <a:srgbClr val="24292E"/>
                </a:solidFill>
                <a:effectLst/>
                <a:latin typeface="Consolas" panose="020B0609020204030204" pitchFamily="49" charset="0"/>
              </a:rPr>
              <a:t>64x64</a:t>
            </a:r>
            <a:r>
              <a:rPr lang="zh-CN" altLang="en-US" b="0" dirty="0">
                <a:solidFill>
                  <a:srgbClr val="24292E"/>
                </a:solidFill>
                <a:effectLst/>
                <a:latin typeface="Consolas" panose="020B0609020204030204" pitchFamily="49" charset="0"/>
              </a:rPr>
              <a:t>像素</a:t>
            </a:r>
            <a:endParaRPr lang="en-US" altLang="zh-CN" b="0" dirty="0">
              <a:solidFill>
                <a:srgbClr val="24292E"/>
              </a:solidFill>
              <a:effectLst/>
              <a:latin typeface="Consolas" panose="020B0609020204030204" pitchFamily="49" charset="0"/>
            </a:endParaRPr>
          </a:p>
          <a:p>
            <a:endParaRPr lang="en-US" altLang="zh-CN" dirty="0">
              <a:solidFill>
                <a:srgbClr val="24292E"/>
              </a:solidFill>
              <a:latin typeface="Consolas" panose="020B0609020204030204" pitchFamily="49" charset="0"/>
            </a:endParaRPr>
          </a:p>
          <a:p>
            <a:r>
              <a:rPr lang="en-US" altLang="zh-CN" b="0" dirty="0">
                <a:solidFill>
                  <a:srgbClr val="E36209"/>
                </a:solidFill>
                <a:effectLst/>
                <a:latin typeface="Consolas" panose="020B0609020204030204" pitchFamily="49" charset="0"/>
              </a:rPr>
              <a:t>orig_img2</a:t>
            </a:r>
            <a:r>
              <a:rPr lang="zh-CN" altLang="en-US" b="0" dirty="0">
                <a:solidFill>
                  <a:srgbClr val="24292E"/>
                </a:solidFill>
                <a:effectLst/>
                <a:latin typeface="Consolas" panose="020B0609020204030204" pitchFamily="49" charset="0"/>
              </a:rPr>
              <a:t>：包含</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个通道的单张彩色图像，每个通道的大小同样为</a:t>
            </a:r>
            <a:r>
              <a:rPr lang="en-US" altLang="zh-CN" b="0" dirty="0">
                <a:solidFill>
                  <a:srgbClr val="24292E"/>
                </a:solidFill>
                <a:effectLst/>
                <a:latin typeface="Consolas" panose="020B0609020204030204" pitchFamily="49" charset="0"/>
              </a:rPr>
              <a:t>64x64</a:t>
            </a:r>
            <a:r>
              <a:rPr lang="zh-CN" altLang="en-US" b="0" dirty="0">
                <a:solidFill>
                  <a:srgbClr val="24292E"/>
                </a:solidFill>
                <a:effectLst/>
                <a:latin typeface="Consolas" panose="020B0609020204030204" pitchFamily="49" charset="0"/>
              </a:rPr>
              <a:t>像素</a:t>
            </a:r>
            <a:endParaRPr lang="zh-CN" altLang="en-US" dirty="0"/>
          </a:p>
        </p:txBody>
      </p:sp>
      <p:pic>
        <p:nvPicPr>
          <p:cNvPr id="16" name="图片 15"/>
          <p:cNvPicPr>
            <a:picLocks noChangeAspect="1"/>
          </p:cNvPicPr>
          <p:nvPr/>
        </p:nvPicPr>
        <p:blipFill>
          <a:blip r:embed="rId1"/>
          <a:stretch>
            <a:fillRect/>
          </a:stretch>
        </p:blipFill>
        <p:spPr>
          <a:xfrm>
            <a:off x="5954148" y="2623768"/>
            <a:ext cx="5967170" cy="339164"/>
          </a:xfrm>
          <a:prstGeom prst="rect">
            <a:avLst/>
          </a:prstGeom>
        </p:spPr>
      </p:pic>
      <p:sp>
        <p:nvSpPr>
          <p:cNvPr id="19" name="箭头: 下 18"/>
          <p:cNvSpPr/>
          <p:nvPr/>
        </p:nvSpPr>
        <p:spPr>
          <a:xfrm>
            <a:off x="8852157" y="3429000"/>
            <a:ext cx="308622" cy="220840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2"/>
          <a:stretch>
            <a:fillRect/>
          </a:stretch>
        </p:blipFill>
        <p:spPr>
          <a:xfrm>
            <a:off x="5954148" y="5962680"/>
            <a:ext cx="6094603" cy="325335"/>
          </a:xfrm>
          <a:prstGeom prst="rect">
            <a:avLst/>
          </a:prstGeom>
        </p:spPr>
      </p:pic>
      <p:sp>
        <p:nvSpPr>
          <p:cNvPr id="10" name="文本框 9"/>
          <p:cNvSpPr txBox="1"/>
          <p:nvPr/>
        </p:nvSpPr>
        <p:spPr>
          <a:xfrm>
            <a:off x="531329" y="2448038"/>
            <a:ext cx="5179358" cy="646331"/>
          </a:xfrm>
          <a:prstGeom prst="rect">
            <a:avLst/>
          </a:prstGeom>
          <a:noFill/>
          <a:ln>
            <a:solidFill>
              <a:srgbClr val="577CCE"/>
            </a:solidFill>
          </a:ln>
        </p:spPr>
        <p:txBody>
          <a:bodyPr wrap="square">
            <a:spAutoFit/>
          </a:bodyPr>
          <a:lstStyle/>
          <a:p>
            <a:r>
              <a:rPr lang="en-US" altLang="zh-CN" b="0" dirty="0">
                <a:solidFill>
                  <a:srgbClr val="24292E"/>
                </a:solidFill>
                <a:effectLst/>
                <a:latin typeface="Consolas" panose="020B0609020204030204" pitchFamily="49" charset="0"/>
              </a:rPr>
              <a:t>orig_img1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orig_img2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2320184"/>
            <a:ext cx="2560414" cy="1920311"/>
          </a:xfrm>
          <a:prstGeom prst="rect">
            <a:avLst/>
          </a:prstGeom>
        </p:spPr>
      </p:pic>
      <p:pic>
        <p:nvPicPr>
          <p:cNvPr id="27" name="图片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2470" y="4814557"/>
            <a:ext cx="2560414" cy="1920311"/>
          </a:xfrm>
          <a:prstGeom prst="rect">
            <a:avLst/>
          </a:prstGeom>
        </p:spPr>
      </p:pic>
    </p:spTree>
    <p:custDataLst>
      <p:tags r:id="rId5"/>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par>
                                <p:cTn id="18" presetID="10" presetClass="entr" presetSubtype="0" fill="hold"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fade">
                                      <p:cBhvr>
                                        <p:cTn id="2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5.4.3 </a:t>
            </a:r>
            <a:r>
              <a:rPr lang="en-US" altLang="zh-CN" dirty="0" err="1">
                <a:solidFill>
                  <a:srgbClr val="577CCE"/>
                </a:solidFill>
                <a:latin typeface="Consolas" panose="020B0609020204030204" pitchFamily="49" charset="0"/>
              </a:rPr>
              <a:t>torchvision</a:t>
            </a:r>
            <a:endParaRPr lang="zh-CN" altLang="en-US" b="0" dirty="0">
              <a:solidFill>
                <a:srgbClr val="577CCE"/>
              </a:solidFill>
              <a:effectLst/>
              <a:latin typeface="Consolas" panose="020B0609020204030204" pitchFamily="49" charset="0"/>
            </a:endParaRPr>
          </a:p>
        </p:txBody>
      </p:sp>
      <p:sp>
        <p:nvSpPr>
          <p:cNvPr id="2" name="文本框 1"/>
          <p:cNvSpPr txBox="1"/>
          <p:nvPr/>
        </p:nvSpPr>
        <p:spPr>
          <a:xfrm>
            <a:off x="531329" y="1464166"/>
            <a:ext cx="6094602" cy="369332"/>
          </a:xfrm>
          <a:prstGeom prst="rect">
            <a:avLst/>
          </a:prstGeom>
          <a:noFill/>
        </p:spPr>
        <p:txBody>
          <a:bodyPr wrap="square">
            <a:spAutoFit/>
          </a:bodyPr>
          <a:lstStyle/>
          <a:p>
            <a:r>
              <a:rPr lang="zh-CN" altLang="en-US" b="0" dirty="0">
                <a:solidFill>
                  <a:srgbClr val="577CCE"/>
                </a:solidFill>
                <a:effectLst/>
                <a:latin typeface="Consolas" panose="020B0609020204030204" pitchFamily="49" charset="0"/>
              </a:rPr>
              <a:t>（</a:t>
            </a:r>
            <a:r>
              <a:rPr lang="en-US" altLang="zh-CN" b="0" dirty="0">
                <a:solidFill>
                  <a:srgbClr val="577CCE"/>
                </a:solidFill>
                <a:effectLst/>
                <a:latin typeface="Consolas" panose="020B0609020204030204" pitchFamily="49" charset="0"/>
              </a:rPr>
              <a:t>3</a:t>
            </a:r>
            <a:r>
              <a:rPr lang="zh-CN" altLang="en-US" b="0" dirty="0">
                <a:solidFill>
                  <a:srgbClr val="577CCE"/>
                </a:solidFill>
                <a:effectLst/>
                <a:latin typeface="Consolas" panose="020B0609020204030204" pitchFamily="49" charset="0"/>
              </a:rPr>
              <a:t>）</a:t>
            </a:r>
            <a:r>
              <a:rPr lang="en-US" altLang="zh-CN" b="0" dirty="0" err="1">
                <a:solidFill>
                  <a:srgbClr val="577CCE"/>
                </a:solidFill>
                <a:effectLst/>
                <a:latin typeface="Consolas" panose="020B0609020204030204" pitchFamily="49" charset="0"/>
              </a:rPr>
              <a:t>torchvision.transforms</a:t>
            </a:r>
            <a:r>
              <a:rPr lang="zh-CN" altLang="en-US" b="0" dirty="0">
                <a:solidFill>
                  <a:srgbClr val="577CCE"/>
                </a:solidFill>
                <a:effectLst/>
                <a:latin typeface="Consolas" panose="020B0609020204030204" pitchFamily="49" charset="0"/>
              </a:rPr>
              <a:t>图像变换模块</a:t>
            </a:r>
            <a:endParaRPr lang="zh-CN" altLang="en-US" b="0" dirty="0">
              <a:solidFill>
                <a:srgbClr val="577CCE"/>
              </a:solidFill>
              <a:effectLst/>
              <a:latin typeface="Consolas" panose="020B0609020204030204" pitchFamily="49" charset="0"/>
            </a:endParaRPr>
          </a:p>
        </p:txBody>
      </p:sp>
      <p:sp>
        <p:nvSpPr>
          <p:cNvPr id="12" name="文本框 11"/>
          <p:cNvSpPr txBox="1"/>
          <p:nvPr/>
        </p:nvSpPr>
        <p:spPr>
          <a:xfrm>
            <a:off x="531329" y="4383445"/>
            <a:ext cx="6094602" cy="1754326"/>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对图像进行随机切割</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rcrop</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torchvision</a:t>
            </a:r>
            <a:r>
              <a:rPr lang="en-US" altLang="zh-CN" b="0" dirty="0" err="1">
                <a:solidFill>
                  <a:srgbClr val="24292E"/>
                </a:solidFill>
                <a:effectLst/>
                <a:latin typeface="Consolas" panose="020B0609020204030204" pitchFamily="49" charset="0"/>
              </a:rPr>
              <a:t>.transforms.RandomCrop</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6</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切割得到的尺寸为</a:t>
            </a:r>
            <a:r>
              <a:rPr lang="en-US" altLang="zh-CN" b="0" dirty="0">
                <a:solidFill>
                  <a:srgbClr val="6A737D"/>
                </a:solidFill>
                <a:effectLst/>
                <a:latin typeface="Consolas" panose="020B0609020204030204" pitchFamily="49" charset="0"/>
              </a:rPr>
              <a:t>(6,6)</a:t>
            </a:r>
            <a:r>
              <a:rPr lang="zh-CN" altLang="en-US" b="0" dirty="0">
                <a:solidFill>
                  <a:srgbClr val="6A737D"/>
                </a:solidFill>
                <a:effectLst/>
                <a:latin typeface="Consolas" panose="020B0609020204030204" pitchFamily="49" charset="0"/>
              </a:rPr>
              <a:t>，注意参数为整数</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new_img5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rcrop</a:t>
            </a:r>
            <a:r>
              <a:rPr lang="en-US" altLang="zh-CN" b="0" dirty="0">
                <a:solidFill>
                  <a:srgbClr val="24292E"/>
                </a:solidFill>
                <a:effectLst/>
                <a:latin typeface="Consolas" panose="020B0609020204030204" pitchFamily="49" charset="0"/>
              </a:rPr>
              <a:t>(orig_img1)</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new_img6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rcrop</a:t>
            </a:r>
            <a:r>
              <a:rPr lang="en-US" altLang="zh-CN" b="0" dirty="0">
                <a:solidFill>
                  <a:srgbClr val="24292E"/>
                </a:solidFill>
                <a:effectLst/>
                <a:latin typeface="Consolas" panose="020B0609020204030204" pitchFamily="49" charset="0"/>
              </a:rPr>
              <a:t>(orig_img2)</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(new_img5.shape, new_img6.shape)</a:t>
            </a:r>
            <a:endParaRPr lang="en-US" altLang="zh-CN" b="0" dirty="0">
              <a:solidFill>
                <a:srgbClr val="24292E"/>
              </a:solidFill>
              <a:effectLst/>
              <a:latin typeface="Consolas" panose="020B0609020204030204" pitchFamily="49" charset="0"/>
            </a:endParaRPr>
          </a:p>
        </p:txBody>
      </p:sp>
      <p:sp>
        <p:nvSpPr>
          <p:cNvPr id="14" name="文本框 13"/>
          <p:cNvSpPr txBox="1"/>
          <p:nvPr/>
        </p:nvSpPr>
        <p:spPr>
          <a:xfrm>
            <a:off x="7191462" y="66194"/>
            <a:ext cx="4360178" cy="1754326"/>
          </a:xfrm>
          <a:prstGeom prst="rect">
            <a:avLst/>
          </a:prstGeom>
          <a:noFill/>
        </p:spPr>
        <p:txBody>
          <a:bodyPr wrap="square">
            <a:spAutoFit/>
          </a:bodyPr>
          <a:lstStyle/>
          <a:p>
            <a:r>
              <a:rPr lang="en-US" altLang="zh-CN" b="0" dirty="0">
                <a:solidFill>
                  <a:srgbClr val="E36209"/>
                </a:solidFill>
                <a:effectLst/>
                <a:latin typeface="Consolas" panose="020B0609020204030204" pitchFamily="49" charset="0"/>
              </a:rPr>
              <a:t>orig_img1</a:t>
            </a:r>
            <a:r>
              <a:rPr lang="zh-CN" altLang="en-US" b="0" dirty="0">
                <a:solidFill>
                  <a:srgbClr val="24292E"/>
                </a:solidFill>
                <a:effectLst/>
                <a:latin typeface="Consolas" panose="020B0609020204030204" pitchFamily="49" charset="0"/>
              </a:rPr>
              <a:t>：包含了</a:t>
            </a:r>
            <a:r>
              <a:rPr lang="en-US" altLang="zh-CN" b="0" dirty="0">
                <a:solidFill>
                  <a:srgbClr val="24292E"/>
                </a:solidFill>
                <a:effectLst/>
                <a:latin typeface="Consolas" panose="020B0609020204030204" pitchFamily="49" charset="0"/>
              </a:rPr>
              <a:t>4</a:t>
            </a:r>
            <a:r>
              <a:rPr lang="zh-CN" altLang="en-US" b="0" dirty="0">
                <a:solidFill>
                  <a:srgbClr val="24292E"/>
                </a:solidFill>
                <a:effectLst/>
                <a:latin typeface="Consolas" panose="020B0609020204030204" pitchFamily="49" charset="0"/>
              </a:rPr>
              <a:t>张彩色图像，每张图像有</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个通道（通常是红色、绿色和蓝色），每个通道的大小为</a:t>
            </a:r>
            <a:r>
              <a:rPr lang="en-US" altLang="zh-CN" b="0" dirty="0">
                <a:solidFill>
                  <a:srgbClr val="24292E"/>
                </a:solidFill>
                <a:effectLst/>
                <a:latin typeface="Consolas" panose="020B0609020204030204" pitchFamily="49" charset="0"/>
              </a:rPr>
              <a:t>64x64</a:t>
            </a:r>
            <a:r>
              <a:rPr lang="zh-CN" altLang="en-US" b="0" dirty="0">
                <a:solidFill>
                  <a:srgbClr val="24292E"/>
                </a:solidFill>
                <a:effectLst/>
                <a:latin typeface="Consolas" panose="020B0609020204030204" pitchFamily="49" charset="0"/>
              </a:rPr>
              <a:t>像素</a:t>
            </a:r>
            <a:endParaRPr lang="en-US" altLang="zh-CN" b="0" dirty="0">
              <a:solidFill>
                <a:srgbClr val="24292E"/>
              </a:solidFill>
              <a:effectLst/>
              <a:latin typeface="Consolas" panose="020B0609020204030204" pitchFamily="49" charset="0"/>
            </a:endParaRPr>
          </a:p>
          <a:p>
            <a:endParaRPr lang="en-US" altLang="zh-CN" dirty="0">
              <a:solidFill>
                <a:srgbClr val="24292E"/>
              </a:solidFill>
              <a:latin typeface="Consolas" panose="020B0609020204030204" pitchFamily="49" charset="0"/>
            </a:endParaRPr>
          </a:p>
          <a:p>
            <a:r>
              <a:rPr lang="en-US" altLang="zh-CN" b="0" dirty="0">
                <a:solidFill>
                  <a:srgbClr val="E36209"/>
                </a:solidFill>
                <a:effectLst/>
                <a:latin typeface="Consolas" panose="020B0609020204030204" pitchFamily="49" charset="0"/>
              </a:rPr>
              <a:t>orig_img2</a:t>
            </a:r>
            <a:r>
              <a:rPr lang="zh-CN" altLang="en-US" b="0" dirty="0">
                <a:solidFill>
                  <a:srgbClr val="24292E"/>
                </a:solidFill>
                <a:effectLst/>
                <a:latin typeface="Consolas" panose="020B0609020204030204" pitchFamily="49" charset="0"/>
              </a:rPr>
              <a:t>：包含</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个通道的单张彩色图像，每个通道的大小同样为</a:t>
            </a:r>
            <a:r>
              <a:rPr lang="en-US" altLang="zh-CN" b="0" dirty="0">
                <a:solidFill>
                  <a:srgbClr val="24292E"/>
                </a:solidFill>
                <a:effectLst/>
                <a:latin typeface="Consolas" panose="020B0609020204030204" pitchFamily="49" charset="0"/>
              </a:rPr>
              <a:t>64x64</a:t>
            </a:r>
            <a:r>
              <a:rPr lang="zh-CN" altLang="en-US" b="0" dirty="0">
                <a:solidFill>
                  <a:srgbClr val="24292E"/>
                </a:solidFill>
                <a:effectLst/>
                <a:latin typeface="Consolas" panose="020B0609020204030204" pitchFamily="49" charset="0"/>
              </a:rPr>
              <a:t>像素</a:t>
            </a:r>
            <a:endParaRPr lang="zh-CN" altLang="en-US" dirty="0"/>
          </a:p>
        </p:txBody>
      </p:sp>
      <p:pic>
        <p:nvPicPr>
          <p:cNvPr id="16" name="图片 15"/>
          <p:cNvPicPr>
            <a:picLocks noChangeAspect="1"/>
          </p:cNvPicPr>
          <p:nvPr/>
        </p:nvPicPr>
        <p:blipFill>
          <a:blip r:embed="rId1"/>
          <a:stretch>
            <a:fillRect/>
          </a:stretch>
        </p:blipFill>
        <p:spPr>
          <a:xfrm>
            <a:off x="5954148" y="2623768"/>
            <a:ext cx="5967170" cy="339164"/>
          </a:xfrm>
          <a:prstGeom prst="rect">
            <a:avLst/>
          </a:prstGeom>
        </p:spPr>
      </p:pic>
      <p:sp>
        <p:nvSpPr>
          <p:cNvPr id="19" name="箭头: 下 18"/>
          <p:cNvSpPr/>
          <p:nvPr/>
        </p:nvSpPr>
        <p:spPr>
          <a:xfrm>
            <a:off x="8852157" y="3429000"/>
            <a:ext cx="308622" cy="220840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31329" y="2448038"/>
            <a:ext cx="5179358" cy="646331"/>
          </a:xfrm>
          <a:prstGeom prst="rect">
            <a:avLst/>
          </a:prstGeom>
          <a:noFill/>
          <a:ln>
            <a:solidFill>
              <a:srgbClr val="577CCE"/>
            </a:solidFill>
          </a:ln>
        </p:spPr>
        <p:txBody>
          <a:bodyPr wrap="square">
            <a:spAutoFit/>
          </a:bodyPr>
          <a:lstStyle/>
          <a:p>
            <a:r>
              <a:rPr lang="en-US" altLang="zh-CN" b="0" dirty="0">
                <a:solidFill>
                  <a:srgbClr val="24292E"/>
                </a:solidFill>
                <a:effectLst/>
                <a:latin typeface="Consolas" panose="020B0609020204030204" pitchFamily="49" charset="0"/>
              </a:rPr>
              <a:t>orig_img1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orig_img2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11" name="图片 10"/>
          <p:cNvPicPr>
            <a:picLocks noChangeAspect="1"/>
          </p:cNvPicPr>
          <p:nvPr/>
        </p:nvPicPr>
        <p:blipFill>
          <a:blip r:embed="rId2"/>
          <a:stretch>
            <a:fillRect/>
          </a:stretch>
        </p:blipFill>
        <p:spPr>
          <a:xfrm>
            <a:off x="6153797" y="5874173"/>
            <a:ext cx="5767521" cy="311157"/>
          </a:xfrm>
          <a:prstGeom prst="rect">
            <a:avLst/>
          </a:prstGeom>
        </p:spPr>
      </p:pic>
    </p:spTree>
    <p:custDataLst>
      <p:tags r:id="rId3"/>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5.4.3 </a:t>
            </a:r>
            <a:r>
              <a:rPr lang="en-US" altLang="zh-CN" dirty="0" err="1">
                <a:solidFill>
                  <a:srgbClr val="577CCE"/>
                </a:solidFill>
                <a:latin typeface="Consolas" panose="020B0609020204030204" pitchFamily="49" charset="0"/>
              </a:rPr>
              <a:t>torchvision</a:t>
            </a:r>
            <a:endParaRPr lang="zh-CN" altLang="en-US" b="0" dirty="0">
              <a:solidFill>
                <a:srgbClr val="577CCE"/>
              </a:solidFill>
              <a:effectLst/>
              <a:latin typeface="Consolas" panose="020B0609020204030204" pitchFamily="49" charset="0"/>
            </a:endParaRPr>
          </a:p>
        </p:txBody>
      </p:sp>
      <p:sp>
        <p:nvSpPr>
          <p:cNvPr id="2" name="文本框 1"/>
          <p:cNvSpPr txBox="1"/>
          <p:nvPr/>
        </p:nvSpPr>
        <p:spPr>
          <a:xfrm>
            <a:off x="531329" y="1464166"/>
            <a:ext cx="6094602" cy="369332"/>
          </a:xfrm>
          <a:prstGeom prst="rect">
            <a:avLst/>
          </a:prstGeom>
          <a:noFill/>
        </p:spPr>
        <p:txBody>
          <a:bodyPr wrap="square">
            <a:spAutoFit/>
          </a:bodyPr>
          <a:lstStyle/>
          <a:p>
            <a:r>
              <a:rPr lang="zh-CN" altLang="en-US" b="0" dirty="0">
                <a:solidFill>
                  <a:srgbClr val="577CCE"/>
                </a:solidFill>
                <a:effectLst/>
                <a:latin typeface="Consolas" panose="020B0609020204030204" pitchFamily="49" charset="0"/>
              </a:rPr>
              <a:t>（</a:t>
            </a:r>
            <a:r>
              <a:rPr lang="en-US" altLang="zh-CN" b="0" dirty="0">
                <a:solidFill>
                  <a:srgbClr val="577CCE"/>
                </a:solidFill>
                <a:effectLst/>
                <a:latin typeface="Consolas" panose="020B0609020204030204" pitchFamily="49" charset="0"/>
              </a:rPr>
              <a:t>3</a:t>
            </a:r>
            <a:r>
              <a:rPr lang="zh-CN" altLang="en-US" b="0" dirty="0">
                <a:solidFill>
                  <a:srgbClr val="577CCE"/>
                </a:solidFill>
                <a:effectLst/>
                <a:latin typeface="Consolas" panose="020B0609020204030204" pitchFamily="49" charset="0"/>
              </a:rPr>
              <a:t>）</a:t>
            </a:r>
            <a:r>
              <a:rPr lang="en-US" altLang="zh-CN" b="0" dirty="0" err="1">
                <a:solidFill>
                  <a:srgbClr val="577CCE"/>
                </a:solidFill>
                <a:effectLst/>
                <a:latin typeface="Consolas" panose="020B0609020204030204" pitchFamily="49" charset="0"/>
              </a:rPr>
              <a:t>torchvision.transforms</a:t>
            </a:r>
            <a:r>
              <a:rPr lang="zh-CN" altLang="en-US" b="0" dirty="0">
                <a:solidFill>
                  <a:srgbClr val="577CCE"/>
                </a:solidFill>
                <a:effectLst/>
                <a:latin typeface="Consolas" panose="020B0609020204030204" pitchFamily="49" charset="0"/>
              </a:rPr>
              <a:t>图像变换模块</a:t>
            </a:r>
            <a:endParaRPr lang="zh-CN" altLang="en-US" b="0" dirty="0">
              <a:solidFill>
                <a:srgbClr val="577CCE"/>
              </a:solidFill>
              <a:effectLst/>
              <a:latin typeface="Consolas" panose="020B0609020204030204" pitchFamily="49" charset="0"/>
            </a:endParaRPr>
          </a:p>
        </p:txBody>
      </p:sp>
      <p:sp>
        <p:nvSpPr>
          <p:cNvPr id="12" name="文本框 11"/>
          <p:cNvSpPr txBox="1"/>
          <p:nvPr/>
        </p:nvSpPr>
        <p:spPr>
          <a:xfrm>
            <a:off x="531329" y="4796763"/>
            <a:ext cx="6926484" cy="1477328"/>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对图像先进行随机切割，然后再</a:t>
            </a:r>
            <a:r>
              <a:rPr lang="en-US" altLang="zh-CN" b="0" dirty="0">
                <a:solidFill>
                  <a:srgbClr val="6A737D"/>
                </a:solidFill>
                <a:effectLst/>
                <a:latin typeface="Consolas" panose="020B0609020204030204" pitchFamily="49" charset="0"/>
              </a:rPr>
              <a:t>resize</a:t>
            </a:r>
            <a:r>
              <a:rPr lang="zh-CN" altLang="en-US" b="0" dirty="0">
                <a:solidFill>
                  <a:srgbClr val="6A737D"/>
                </a:solidFill>
                <a:effectLst/>
                <a:latin typeface="Consolas" panose="020B0609020204030204" pitchFamily="49" charset="0"/>
              </a:rPr>
              <a:t>成给定的</a:t>
            </a:r>
            <a:r>
              <a:rPr lang="en-US" altLang="zh-CN" b="0" dirty="0">
                <a:solidFill>
                  <a:srgbClr val="6A737D"/>
                </a:solidFill>
                <a:effectLst/>
                <a:latin typeface="Consolas" panose="020B0609020204030204" pitchFamily="49" charset="0"/>
              </a:rPr>
              <a:t>size</a:t>
            </a:r>
            <a:r>
              <a:rPr lang="zh-CN" altLang="en-US" b="0" dirty="0">
                <a:solidFill>
                  <a:srgbClr val="6A737D"/>
                </a:solidFill>
                <a:effectLst/>
                <a:latin typeface="Consolas" panose="020B0609020204030204" pitchFamily="49" charset="0"/>
              </a:rPr>
              <a:t>大小</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rrcrop</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torchvision</a:t>
            </a:r>
            <a:r>
              <a:rPr lang="en-US" altLang="zh-CN" b="0" dirty="0" err="1">
                <a:solidFill>
                  <a:srgbClr val="24292E"/>
                </a:solidFill>
                <a:effectLst/>
                <a:latin typeface="Consolas" panose="020B0609020204030204" pitchFamily="49" charset="0"/>
              </a:rPr>
              <a:t>.transforms.</a:t>
            </a:r>
            <a:r>
              <a:rPr lang="en-US" altLang="zh-CN" b="0" dirty="0" err="1">
                <a:solidFill>
                  <a:srgbClr val="FF0000"/>
                </a:solidFill>
                <a:effectLst/>
                <a:latin typeface="Consolas" panose="020B0609020204030204" pitchFamily="49" charset="0"/>
              </a:rPr>
              <a:t>RandomResizedCrop</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new_img7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rrcrop</a:t>
            </a:r>
            <a:r>
              <a:rPr lang="en-US" altLang="zh-CN" b="0" dirty="0">
                <a:solidFill>
                  <a:srgbClr val="24292E"/>
                </a:solidFill>
                <a:effectLst/>
                <a:latin typeface="Consolas" panose="020B0609020204030204" pitchFamily="49" charset="0"/>
              </a:rPr>
              <a:t>(orig_img1)</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new_img8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rrcrop</a:t>
            </a:r>
            <a:r>
              <a:rPr lang="en-US" altLang="zh-CN" b="0" dirty="0">
                <a:solidFill>
                  <a:srgbClr val="24292E"/>
                </a:solidFill>
                <a:effectLst/>
                <a:latin typeface="Consolas" panose="020B0609020204030204" pitchFamily="49" charset="0"/>
              </a:rPr>
              <a:t>(orig_img2)</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(new_img7.shape, new_img8.shape)</a:t>
            </a:r>
            <a:endParaRPr lang="en-US" altLang="zh-CN" b="0" dirty="0">
              <a:solidFill>
                <a:srgbClr val="24292E"/>
              </a:solidFill>
              <a:effectLst/>
              <a:latin typeface="Consolas" panose="020B0609020204030204" pitchFamily="49" charset="0"/>
            </a:endParaRPr>
          </a:p>
        </p:txBody>
      </p:sp>
      <p:sp>
        <p:nvSpPr>
          <p:cNvPr id="14" name="文本框 13"/>
          <p:cNvSpPr txBox="1"/>
          <p:nvPr/>
        </p:nvSpPr>
        <p:spPr>
          <a:xfrm>
            <a:off x="7191462" y="66194"/>
            <a:ext cx="4360178" cy="1754326"/>
          </a:xfrm>
          <a:prstGeom prst="rect">
            <a:avLst/>
          </a:prstGeom>
          <a:noFill/>
        </p:spPr>
        <p:txBody>
          <a:bodyPr wrap="square">
            <a:spAutoFit/>
          </a:bodyPr>
          <a:lstStyle/>
          <a:p>
            <a:r>
              <a:rPr lang="en-US" altLang="zh-CN" b="0" dirty="0">
                <a:solidFill>
                  <a:srgbClr val="E36209"/>
                </a:solidFill>
                <a:effectLst/>
                <a:latin typeface="Consolas" panose="020B0609020204030204" pitchFamily="49" charset="0"/>
              </a:rPr>
              <a:t>orig_img1</a:t>
            </a:r>
            <a:r>
              <a:rPr lang="zh-CN" altLang="en-US" b="0" dirty="0">
                <a:solidFill>
                  <a:srgbClr val="24292E"/>
                </a:solidFill>
                <a:effectLst/>
                <a:latin typeface="Consolas" panose="020B0609020204030204" pitchFamily="49" charset="0"/>
              </a:rPr>
              <a:t>：包含了</a:t>
            </a:r>
            <a:r>
              <a:rPr lang="en-US" altLang="zh-CN" b="0" dirty="0">
                <a:solidFill>
                  <a:srgbClr val="24292E"/>
                </a:solidFill>
                <a:effectLst/>
                <a:latin typeface="Consolas" panose="020B0609020204030204" pitchFamily="49" charset="0"/>
              </a:rPr>
              <a:t>4</a:t>
            </a:r>
            <a:r>
              <a:rPr lang="zh-CN" altLang="en-US" b="0" dirty="0">
                <a:solidFill>
                  <a:srgbClr val="24292E"/>
                </a:solidFill>
                <a:effectLst/>
                <a:latin typeface="Consolas" panose="020B0609020204030204" pitchFamily="49" charset="0"/>
              </a:rPr>
              <a:t>张彩色图像，每张图像有</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个通道（通常是红色、绿色和蓝色），每个通道的大小为</a:t>
            </a:r>
            <a:r>
              <a:rPr lang="en-US" altLang="zh-CN" b="0" dirty="0">
                <a:solidFill>
                  <a:srgbClr val="24292E"/>
                </a:solidFill>
                <a:effectLst/>
                <a:latin typeface="Consolas" panose="020B0609020204030204" pitchFamily="49" charset="0"/>
              </a:rPr>
              <a:t>64x64</a:t>
            </a:r>
            <a:r>
              <a:rPr lang="zh-CN" altLang="en-US" b="0" dirty="0">
                <a:solidFill>
                  <a:srgbClr val="24292E"/>
                </a:solidFill>
                <a:effectLst/>
                <a:latin typeface="Consolas" panose="020B0609020204030204" pitchFamily="49" charset="0"/>
              </a:rPr>
              <a:t>像素</a:t>
            </a:r>
            <a:endParaRPr lang="en-US" altLang="zh-CN" b="0" dirty="0">
              <a:solidFill>
                <a:srgbClr val="24292E"/>
              </a:solidFill>
              <a:effectLst/>
              <a:latin typeface="Consolas" panose="020B0609020204030204" pitchFamily="49" charset="0"/>
            </a:endParaRPr>
          </a:p>
          <a:p>
            <a:endParaRPr lang="en-US" altLang="zh-CN" dirty="0">
              <a:solidFill>
                <a:srgbClr val="24292E"/>
              </a:solidFill>
              <a:latin typeface="Consolas" panose="020B0609020204030204" pitchFamily="49" charset="0"/>
            </a:endParaRPr>
          </a:p>
          <a:p>
            <a:r>
              <a:rPr lang="en-US" altLang="zh-CN" b="0" dirty="0">
                <a:solidFill>
                  <a:srgbClr val="E36209"/>
                </a:solidFill>
                <a:effectLst/>
                <a:latin typeface="Consolas" panose="020B0609020204030204" pitchFamily="49" charset="0"/>
              </a:rPr>
              <a:t>orig_img2</a:t>
            </a:r>
            <a:r>
              <a:rPr lang="zh-CN" altLang="en-US" b="0" dirty="0">
                <a:solidFill>
                  <a:srgbClr val="24292E"/>
                </a:solidFill>
                <a:effectLst/>
                <a:latin typeface="Consolas" panose="020B0609020204030204" pitchFamily="49" charset="0"/>
              </a:rPr>
              <a:t>：包含</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个通道的单张彩色图像，每个通道的大小同样为</a:t>
            </a:r>
            <a:r>
              <a:rPr lang="en-US" altLang="zh-CN" b="0" dirty="0">
                <a:solidFill>
                  <a:srgbClr val="24292E"/>
                </a:solidFill>
                <a:effectLst/>
                <a:latin typeface="Consolas" panose="020B0609020204030204" pitchFamily="49" charset="0"/>
              </a:rPr>
              <a:t>64x64</a:t>
            </a:r>
            <a:r>
              <a:rPr lang="zh-CN" altLang="en-US" b="0" dirty="0">
                <a:solidFill>
                  <a:srgbClr val="24292E"/>
                </a:solidFill>
                <a:effectLst/>
                <a:latin typeface="Consolas" panose="020B0609020204030204" pitchFamily="49" charset="0"/>
              </a:rPr>
              <a:t>像素</a:t>
            </a:r>
            <a:endParaRPr lang="zh-CN" altLang="en-US" dirty="0"/>
          </a:p>
        </p:txBody>
      </p:sp>
      <p:pic>
        <p:nvPicPr>
          <p:cNvPr id="16" name="图片 15"/>
          <p:cNvPicPr>
            <a:picLocks noChangeAspect="1"/>
          </p:cNvPicPr>
          <p:nvPr/>
        </p:nvPicPr>
        <p:blipFill>
          <a:blip r:embed="rId1"/>
          <a:stretch>
            <a:fillRect/>
          </a:stretch>
        </p:blipFill>
        <p:spPr>
          <a:xfrm>
            <a:off x="5954148" y="2623768"/>
            <a:ext cx="5967170" cy="339164"/>
          </a:xfrm>
          <a:prstGeom prst="rect">
            <a:avLst/>
          </a:prstGeom>
        </p:spPr>
      </p:pic>
      <p:sp>
        <p:nvSpPr>
          <p:cNvPr id="19" name="箭头: 下 18"/>
          <p:cNvSpPr/>
          <p:nvPr/>
        </p:nvSpPr>
        <p:spPr>
          <a:xfrm>
            <a:off x="8852157" y="3429000"/>
            <a:ext cx="308622" cy="220840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31329" y="2448038"/>
            <a:ext cx="5179358" cy="646331"/>
          </a:xfrm>
          <a:prstGeom prst="rect">
            <a:avLst/>
          </a:prstGeom>
          <a:noFill/>
          <a:ln>
            <a:solidFill>
              <a:srgbClr val="577CCE"/>
            </a:solidFill>
          </a:ln>
        </p:spPr>
        <p:txBody>
          <a:bodyPr wrap="square">
            <a:spAutoFit/>
          </a:bodyPr>
          <a:lstStyle/>
          <a:p>
            <a:r>
              <a:rPr lang="en-US" altLang="zh-CN" b="0" dirty="0">
                <a:solidFill>
                  <a:srgbClr val="24292E"/>
                </a:solidFill>
                <a:effectLst/>
                <a:latin typeface="Consolas" panose="020B0609020204030204" pitchFamily="49" charset="0"/>
              </a:rPr>
              <a:t>orig_img1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orig_img2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5" name="图片 4"/>
          <p:cNvPicPr>
            <a:picLocks noChangeAspect="1"/>
          </p:cNvPicPr>
          <p:nvPr/>
        </p:nvPicPr>
        <p:blipFill>
          <a:blip r:embed="rId2"/>
          <a:stretch>
            <a:fillRect/>
          </a:stretch>
        </p:blipFill>
        <p:spPr>
          <a:xfrm>
            <a:off x="6197230" y="5932848"/>
            <a:ext cx="5724088" cy="341243"/>
          </a:xfrm>
          <a:prstGeom prst="rect">
            <a:avLst/>
          </a:prstGeom>
        </p:spPr>
      </p:pic>
    </p:spTree>
    <p:custDataLst>
      <p:tags r:id="rId3"/>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5.4.3 </a:t>
            </a:r>
            <a:r>
              <a:rPr lang="en-US" altLang="zh-CN" dirty="0" err="1">
                <a:solidFill>
                  <a:srgbClr val="577CCE"/>
                </a:solidFill>
                <a:latin typeface="Consolas" panose="020B0609020204030204" pitchFamily="49" charset="0"/>
              </a:rPr>
              <a:t>torchvision</a:t>
            </a:r>
            <a:endParaRPr lang="zh-CN" altLang="en-US" b="0" dirty="0">
              <a:solidFill>
                <a:srgbClr val="577CCE"/>
              </a:solidFill>
              <a:effectLst/>
              <a:latin typeface="Consolas" panose="020B0609020204030204" pitchFamily="49" charset="0"/>
            </a:endParaRPr>
          </a:p>
        </p:txBody>
      </p:sp>
      <p:sp>
        <p:nvSpPr>
          <p:cNvPr id="2" name="文本框 1"/>
          <p:cNvSpPr txBox="1"/>
          <p:nvPr/>
        </p:nvSpPr>
        <p:spPr>
          <a:xfrm>
            <a:off x="531329" y="1464166"/>
            <a:ext cx="6094602" cy="369332"/>
          </a:xfrm>
          <a:prstGeom prst="rect">
            <a:avLst/>
          </a:prstGeom>
          <a:noFill/>
        </p:spPr>
        <p:txBody>
          <a:bodyPr wrap="square">
            <a:spAutoFit/>
          </a:bodyPr>
          <a:lstStyle/>
          <a:p>
            <a:r>
              <a:rPr lang="zh-CN" altLang="en-US" b="0" dirty="0">
                <a:solidFill>
                  <a:srgbClr val="577CCE"/>
                </a:solidFill>
                <a:effectLst/>
                <a:latin typeface="Consolas" panose="020B0609020204030204" pitchFamily="49" charset="0"/>
              </a:rPr>
              <a:t>（</a:t>
            </a:r>
            <a:r>
              <a:rPr lang="en-US" altLang="zh-CN" b="0" dirty="0">
                <a:solidFill>
                  <a:srgbClr val="577CCE"/>
                </a:solidFill>
                <a:effectLst/>
                <a:latin typeface="Consolas" panose="020B0609020204030204" pitchFamily="49" charset="0"/>
              </a:rPr>
              <a:t>3</a:t>
            </a:r>
            <a:r>
              <a:rPr lang="zh-CN" altLang="en-US" b="0" dirty="0">
                <a:solidFill>
                  <a:srgbClr val="577CCE"/>
                </a:solidFill>
                <a:effectLst/>
                <a:latin typeface="Consolas" panose="020B0609020204030204" pitchFamily="49" charset="0"/>
              </a:rPr>
              <a:t>）</a:t>
            </a:r>
            <a:r>
              <a:rPr lang="en-US" altLang="zh-CN" b="0" dirty="0" err="1">
                <a:solidFill>
                  <a:srgbClr val="577CCE"/>
                </a:solidFill>
                <a:effectLst/>
                <a:latin typeface="Consolas" panose="020B0609020204030204" pitchFamily="49" charset="0"/>
              </a:rPr>
              <a:t>torchvision.transforms</a:t>
            </a:r>
            <a:r>
              <a:rPr lang="zh-CN" altLang="en-US" b="0" dirty="0">
                <a:solidFill>
                  <a:srgbClr val="577CCE"/>
                </a:solidFill>
                <a:effectLst/>
                <a:latin typeface="Consolas" panose="020B0609020204030204" pitchFamily="49" charset="0"/>
              </a:rPr>
              <a:t>图像变换模块</a:t>
            </a:r>
            <a:endParaRPr lang="zh-CN" altLang="en-US" b="0" dirty="0">
              <a:solidFill>
                <a:srgbClr val="577CCE"/>
              </a:solidFill>
              <a:effectLst/>
              <a:latin typeface="Consolas" panose="020B0609020204030204" pitchFamily="49" charset="0"/>
            </a:endParaRPr>
          </a:p>
        </p:txBody>
      </p:sp>
      <p:sp>
        <p:nvSpPr>
          <p:cNvPr id="12" name="文本框 11"/>
          <p:cNvSpPr txBox="1"/>
          <p:nvPr/>
        </p:nvSpPr>
        <p:spPr>
          <a:xfrm>
            <a:off x="531329" y="4660444"/>
            <a:ext cx="7320766" cy="1754326"/>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对图像边缘进行扩充</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pad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torchvision</a:t>
            </a:r>
            <a:r>
              <a:rPr lang="en-US" altLang="zh-CN" b="0" dirty="0" err="1">
                <a:solidFill>
                  <a:srgbClr val="24292E"/>
                </a:solidFill>
                <a:effectLst/>
                <a:latin typeface="Consolas" panose="020B0609020204030204" pitchFamily="49" charset="0"/>
              </a:rPr>
              <a:t>.transforms.Pad</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padding</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fill</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上下左右各扩充</a:t>
            </a:r>
            <a:r>
              <a:rPr lang="en-US" altLang="zh-CN" b="0" dirty="0">
                <a:solidFill>
                  <a:srgbClr val="6A737D"/>
                </a:solidFill>
                <a:effectLst/>
                <a:latin typeface="Consolas" panose="020B0609020204030204" pitchFamily="49" charset="0"/>
              </a:rPr>
              <a:t>1</a:t>
            </a:r>
            <a:r>
              <a:rPr lang="zh-CN" altLang="en-US" b="0" dirty="0">
                <a:solidFill>
                  <a:srgbClr val="6A737D"/>
                </a:solidFill>
                <a:effectLst/>
                <a:latin typeface="Consolas" panose="020B0609020204030204" pitchFamily="49" charset="0"/>
              </a:rPr>
              <a:t>行或</a:t>
            </a:r>
            <a:r>
              <a:rPr lang="en-US" altLang="zh-CN" b="0" dirty="0">
                <a:solidFill>
                  <a:srgbClr val="6A737D"/>
                </a:solidFill>
                <a:effectLst/>
                <a:latin typeface="Consolas" panose="020B0609020204030204" pitchFamily="49" charset="0"/>
              </a:rPr>
              <a:t>1</a:t>
            </a:r>
            <a:r>
              <a:rPr lang="zh-CN" altLang="en-US" b="0" dirty="0">
                <a:solidFill>
                  <a:srgbClr val="6A737D"/>
                </a:solidFill>
                <a:effectLst/>
                <a:latin typeface="Consolas" panose="020B0609020204030204" pitchFamily="49" charset="0"/>
              </a:rPr>
              <a:t>列值为</a:t>
            </a:r>
            <a:r>
              <a:rPr lang="en-US" altLang="zh-CN" b="0" dirty="0">
                <a:solidFill>
                  <a:srgbClr val="6A737D"/>
                </a:solidFill>
                <a:effectLst/>
                <a:latin typeface="Consolas" panose="020B0609020204030204" pitchFamily="49" charset="0"/>
              </a:rPr>
              <a:t>0</a:t>
            </a:r>
            <a:r>
              <a:rPr lang="zh-CN" altLang="en-US" b="0" dirty="0">
                <a:solidFill>
                  <a:srgbClr val="6A737D"/>
                </a:solidFill>
                <a:effectLst/>
                <a:latin typeface="Consolas" panose="020B0609020204030204" pitchFamily="49" charset="0"/>
              </a:rPr>
              <a:t>的像素</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new_img9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pad(new_img7)</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new_img10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pad(new_img8)</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(new_img9.shape, new_img10.shape)</a:t>
            </a:r>
            <a:endParaRPr lang="en-US" altLang="zh-CN" b="0" dirty="0">
              <a:solidFill>
                <a:srgbClr val="24292E"/>
              </a:solidFill>
              <a:effectLst/>
              <a:latin typeface="Consolas" panose="020B0609020204030204" pitchFamily="49" charset="0"/>
            </a:endParaRPr>
          </a:p>
        </p:txBody>
      </p:sp>
      <p:sp>
        <p:nvSpPr>
          <p:cNvPr id="14" name="文本框 13"/>
          <p:cNvSpPr txBox="1"/>
          <p:nvPr/>
        </p:nvSpPr>
        <p:spPr>
          <a:xfrm>
            <a:off x="7191462" y="66194"/>
            <a:ext cx="4360178" cy="1754326"/>
          </a:xfrm>
          <a:prstGeom prst="rect">
            <a:avLst/>
          </a:prstGeom>
          <a:noFill/>
        </p:spPr>
        <p:txBody>
          <a:bodyPr wrap="square">
            <a:spAutoFit/>
          </a:bodyPr>
          <a:lstStyle/>
          <a:p>
            <a:r>
              <a:rPr lang="en-US" altLang="zh-CN" b="0" dirty="0">
                <a:solidFill>
                  <a:srgbClr val="E36209"/>
                </a:solidFill>
                <a:effectLst/>
                <a:latin typeface="Consolas" panose="020B0609020204030204" pitchFamily="49" charset="0"/>
              </a:rPr>
              <a:t>orig_img1</a:t>
            </a:r>
            <a:r>
              <a:rPr lang="zh-CN" altLang="en-US" b="0" dirty="0">
                <a:solidFill>
                  <a:srgbClr val="24292E"/>
                </a:solidFill>
                <a:effectLst/>
                <a:latin typeface="Consolas" panose="020B0609020204030204" pitchFamily="49" charset="0"/>
              </a:rPr>
              <a:t>：包含了</a:t>
            </a:r>
            <a:r>
              <a:rPr lang="en-US" altLang="zh-CN" b="0" dirty="0">
                <a:solidFill>
                  <a:srgbClr val="24292E"/>
                </a:solidFill>
                <a:effectLst/>
                <a:latin typeface="Consolas" panose="020B0609020204030204" pitchFamily="49" charset="0"/>
              </a:rPr>
              <a:t>4</a:t>
            </a:r>
            <a:r>
              <a:rPr lang="zh-CN" altLang="en-US" b="0" dirty="0">
                <a:solidFill>
                  <a:srgbClr val="24292E"/>
                </a:solidFill>
                <a:effectLst/>
                <a:latin typeface="Consolas" panose="020B0609020204030204" pitchFamily="49" charset="0"/>
              </a:rPr>
              <a:t>张彩色图像，每张图像有</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个通道（通常是红色、绿色和蓝色），每个通道的大小为</a:t>
            </a:r>
            <a:r>
              <a:rPr lang="en-US" altLang="zh-CN" b="0" dirty="0">
                <a:solidFill>
                  <a:srgbClr val="24292E"/>
                </a:solidFill>
                <a:effectLst/>
                <a:latin typeface="Consolas" panose="020B0609020204030204" pitchFamily="49" charset="0"/>
              </a:rPr>
              <a:t>64x64</a:t>
            </a:r>
            <a:r>
              <a:rPr lang="zh-CN" altLang="en-US" b="0" dirty="0">
                <a:solidFill>
                  <a:srgbClr val="24292E"/>
                </a:solidFill>
                <a:effectLst/>
                <a:latin typeface="Consolas" panose="020B0609020204030204" pitchFamily="49" charset="0"/>
              </a:rPr>
              <a:t>像素</a:t>
            </a:r>
            <a:endParaRPr lang="en-US" altLang="zh-CN" b="0" dirty="0">
              <a:solidFill>
                <a:srgbClr val="24292E"/>
              </a:solidFill>
              <a:effectLst/>
              <a:latin typeface="Consolas" panose="020B0609020204030204" pitchFamily="49" charset="0"/>
            </a:endParaRPr>
          </a:p>
          <a:p>
            <a:endParaRPr lang="en-US" altLang="zh-CN" dirty="0">
              <a:solidFill>
                <a:srgbClr val="24292E"/>
              </a:solidFill>
              <a:latin typeface="Consolas" panose="020B0609020204030204" pitchFamily="49" charset="0"/>
            </a:endParaRPr>
          </a:p>
          <a:p>
            <a:r>
              <a:rPr lang="en-US" altLang="zh-CN" b="0" dirty="0">
                <a:solidFill>
                  <a:srgbClr val="E36209"/>
                </a:solidFill>
                <a:effectLst/>
                <a:latin typeface="Consolas" panose="020B0609020204030204" pitchFamily="49" charset="0"/>
              </a:rPr>
              <a:t>orig_img2</a:t>
            </a:r>
            <a:r>
              <a:rPr lang="zh-CN" altLang="en-US" b="0" dirty="0">
                <a:solidFill>
                  <a:srgbClr val="24292E"/>
                </a:solidFill>
                <a:effectLst/>
                <a:latin typeface="Consolas" panose="020B0609020204030204" pitchFamily="49" charset="0"/>
              </a:rPr>
              <a:t>：包含</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个通道的单张彩色图像，每个通道的大小同样为</a:t>
            </a:r>
            <a:r>
              <a:rPr lang="en-US" altLang="zh-CN" b="0" dirty="0">
                <a:solidFill>
                  <a:srgbClr val="24292E"/>
                </a:solidFill>
                <a:effectLst/>
                <a:latin typeface="Consolas" panose="020B0609020204030204" pitchFamily="49" charset="0"/>
              </a:rPr>
              <a:t>64x64</a:t>
            </a:r>
            <a:r>
              <a:rPr lang="zh-CN" altLang="en-US" b="0" dirty="0">
                <a:solidFill>
                  <a:srgbClr val="24292E"/>
                </a:solidFill>
                <a:effectLst/>
                <a:latin typeface="Consolas" panose="020B0609020204030204" pitchFamily="49" charset="0"/>
              </a:rPr>
              <a:t>像素</a:t>
            </a:r>
            <a:endParaRPr lang="zh-CN" altLang="en-US" dirty="0"/>
          </a:p>
        </p:txBody>
      </p:sp>
      <p:pic>
        <p:nvPicPr>
          <p:cNvPr id="16" name="图片 15"/>
          <p:cNvPicPr>
            <a:picLocks noChangeAspect="1"/>
          </p:cNvPicPr>
          <p:nvPr/>
        </p:nvPicPr>
        <p:blipFill>
          <a:blip r:embed="rId1"/>
          <a:stretch>
            <a:fillRect/>
          </a:stretch>
        </p:blipFill>
        <p:spPr>
          <a:xfrm>
            <a:off x="5954148" y="2623768"/>
            <a:ext cx="5967170" cy="339164"/>
          </a:xfrm>
          <a:prstGeom prst="rect">
            <a:avLst/>
          </a:prstGeom>
        </p:spPr>
      </p:pic>
      <p:sp>
        <p:nvSpPr>
          <p:cNvPr id="19" name="箭头: 下 18"/>
          <p:cNvSpPr/>
          <p:nvPr/>
        </p:nvSpPr>
        <p:spPr>
          <a:xfrm>
            <a:off x="8852157" y="3429000"/>
            <a:ext cx="308622" cy="220840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531329" y="2448038"/>
            <a:ext cx="5179358" cy="646331"/>
          </a:xfrm>
          <a:prstGeom prst="rect">
            <a:avLst/>
          </a:prstGeom>
          <a:noFill/>
          <a:ln>
            <a:solidFill>
              <a:srgbClr val="577CCE"/>
            </a:solidFill>
          </a:ln>
        </p:spPr>
        <p:txBody>
          <a:bodyPr wrap="square">
            <a:spAutoFit/>
          </a:bodyPr>
          <a:lstStyle/>
          <a:p>
            <a:r>
              <a:rPr lang="en-US" altLang="zh-CN" b="0" dirty="0">
                <a:solidFill>
                  <a:srgbClr val="24292E"/>
                </a:solidFill>
                <a:effectLst/>
                <a:latin typeface="Consolas" panose="020B0609020204030204" pitchFamily="49" charset="0"/>
              </a:rPr>
              <a:t>orig_img1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orig_img2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6" name="图片 5"/>
          <p:cNvPicPr>
            <a:picLocks noChangeAspect="1"/>
          </p:cNvPicPr>
          <p:nvPr/>
        </p:nvPicPr>
        <p:blipFill>
          <a:blip r:embed="rId2"/>
          <a:stretch>
            <a:fillRect/>
          </a:stretch>
        </p:blipFill>
        <p:spPr>
          <a:xfrm>
            <a:off x="6029812" y="5942506"/>
            <a:ext cx="5967170" cy="321927"/>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6374" y="1984619"/>
            <a:ext cx="2339101" cy="1754326"/>
          </a:xfrm>
          <a:prstGeom prst="rect">
            <a:avLst/>
          </a:prstGeom>
        </p:spPr>
      </p:pic>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563" y="4699274"/>
            <a:ext cx="2368911" cy="1842486"/>
          </a:xfrm>
          <a:prstGeom prst="rect">
            <a:avLst/>
          </a:prstGeom>
        </p:spPr>
      </p:pic>
    </p:spTree>
    <p:custDataLst>
      <p:tags r:id="rId5"/>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down)">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5.4.3 </a:t>
            </a:r>
            <a:r>
              <a:rPr lang="en-US" altLang="zh-CN" dirty="0" err="1">
                <a:solidFill>
                  <a:srgbClr val="577CCE"/>
                </a:solidFill>
                <a:latin typeface="Consolas" panose="020B0609020204030204" pitchFamily="49" charset="0"/>
              </a:rPr>
              <a:t>torchvision</a:t>
            </a:r>
            <a:endParaRPr lang="zh-CN" altLang="en-US" b="0" dirty="0">
              <a:solidFill>
                <a:srgbClr val="577CCE"/>
              </a:solidFill>
              <a:effectLst/>
              <a:latin typeface="Consolas" panose="020B0609020204030204" pitchFamily="49" charset="0"/>
            </a:endParaRPr>
          </a:p>
        </p:txBody>
      </p:sp>
      <p:sp>
        <p:nvSpPr>
          <p:cNvPr id="2" name="文本框 1"/>
          <p:cNvSpPr txBox="1"/>
          <p:nvPr/>
        </p:nvSpPr>
        <p:spPr>
          <a:xfrm>
            <a:off x="531329" y="1464166"/>
            <a:ext cx="6094602" cy="369332"/>
          </a:xfrm>
          <a:prstGeom prst="rect">
            <a:avLst/>
          </a:prstGeom>
          <a:noFill/>
        </p:spPr>
        <p:txBody>
          <a:bodyPr wrap="square">
            <a:spAutoFit/>
          </a:bodyPr>
          <a:lstStyle/>
          <a:p>
            <a:r>
              <a:rPr lang="zh-CN" altLang="en-US" b="0" dirty="0">
                <a:solidFill>
                  <a:srgbClr val="577CCE"/>
                </a:solidFill>
                <a:effectLst/>
                <a:latin typeface="Consolas" panose="020B0609020204030204" pitchFamily="49" charset="0"/>
              </a:rPr>
              <a:t>（</a:t>
            </a:r>
            <a:r>
              <a:rPr lang="en-US" altLang="zh-CN" b="0" dirty="0">
                <a:solidFill>
                  <a:srgbClr val="577CCE"/>
                </a:solidFill>
                <a:effectLst/>
                <a:latin typeface="Consolas" panose="020B0609020204030204" pitchFamily="49" charset="0"/>
              </a:rPr>
              <a:t>3</a:t>
            </a:r>
            <a:r>
              <a:rPr lang="zh-CN" altLang="en-US" b="0" dirty="0">
                <a:solidFill>
                  <a:srgbClr val="577CCE"/>
                </a:solidFill>
                <a:effectLst/>
                <a:latin typeface="Consolas" panose="020B0609020204030204" pitchFamily="49" charset="0"/>
              </a:rPr>
              <a:t>）</a:t>
            </a:r>
            <a:r>
              <a:rPr lang="en-US" altLang="zh-CN" b="0" dirty="0" err="1">
                <a:solidFill>
                  <a:srgbClr val="577CCE"/>
                </a:solidFill>
                <a:effectLst/>
                <a:latin typeface="Consolas" panose="020B0609020204030204" pitchFamily="49" charset="0"/>
              </a:rPr>
              <a:t>torchvision.transforms</a:t>
            </a:r>
            <a:r>
              <a:rPr lang="zh-CN" altLang="en-US" b="0" dirty="0">
                <a:solidFill>
                  <a:srgbClr val="577CCE"/>
                </a:solidFill>
                <a:effectLst/>
                <a:latin typeface="Consolas" panose="020B0609020204030204" pitchFamily="49" charset="0"/>
              </a:rPr>
              <a:t>图像变换模块</a:t>
            </a:r>
            <a:endParaRPr lang="zh-CN" altLang="en-US" b="0" dirty="0">
              <a:solidFill>
                <a:srgbClr val="577CCE"/>
              </a:solidFill>
              <a:effectLst/>
              <a:latin typeface="Consolas" panose="020B0609020204030204" pitchFamily="49" charset="0"/>
            </a:endParaRPr>
          </a:p>
        </p:txBody>
      </p:sp>
      <p:sp>
        <p:nvSpPr>
          <p:cNvPr id="12" name="文本框 11"/>
          <p:cNvSpPr txBox="1"/>
          <p:nvPr/>
        </p:nvSpPr>
        <p:spPr>
          <a:xfrm>
            <a:off x="531329" y="3708909"/>
            <a:ext cx="7320766" cy="1754326"/>
          </a:xfrm>
          <a:prstGeom prst="rect">
            <a:avLst/>
          </a:prstGeom>
          <a:noFill/>
        </p:spPr>
        <p:txBody>
          <a:bodyPr wrap="square">
            <a:spAutoFit/>
          </a:bodyPr>
          <a:lstStyle/>
          <a:p>
            <a:r>
              <a:rPr lang="en-US" altLang="zh-CN" dirty="0">
                <a:solidFill>
                  <a:srgbClr val="6A737D"/>
                </a:solidFill>
                <a:latin typeface="Consolas" panose="020B0609020204030204" pitchFamily="49" charset="0"/>
              </a:rPr>
              <a:t># </a:t>
            </a:r>
            <a:r>
              <a:rPr lang="zh-CN" altLang="en-US" dirty="0">
                <a:solidFill>
                  <a:srgbClr val="6A737D"/>
                </a:solidFill>
                <a:latin typeface="Consolas" panose="020B0609020204030204" pitchFamily="49" charset="0"/>
              </a:rPr>
              <a:t>对图像</a:t>
            </a:r>
            <a:r>
              <a:rPr lang="en-US" altLang="zh-CN" dirty="0">
                <a:solidFill>
                  <a:srgbClr val="6A737D"/>
                </a:solidFill>
                <a:latin typeface="Consolas" panose="020B0609020204030204" pitchFamily="49" charset="0"/>
              </a:rPr>
              <a:t>RGB</a:t>
            </a:r>
            <a:r>
              <a:rPr lang="zh-CN" altLang="en-US" dirty="0">
                <a:solidFill>
                  <a:srgbClr val="6A737D"/>
                </a:solidFill>
                <a:latin typeface="Consolas" panose="020B0609020204030204" pitchFamily="49" charset="0"/>
              </a:rPr>
              <a:t>各通道像素按正态分布进行归一化</a:t>
            </a:r>
            <a:endParaRPr lang="zh-CN" altLang="en-US" dirty="0">
              <a:solidFill>
                <a:srgbClr val="24292E"/>
              </a:solidFill>
              <a:latin typeface="Consolas" panose="020B0609020204030204" pitchFamily="49" charset="0"/>
            </a:endParaRPr>
          </a:p>
          <a:p>
            <a:r>
              <a:rPr lang="en-US" altLang="zh-CN" dirty="0">
                <a:solidFill>
                  <a:srgbClr val="24292E"/>
                </a:solidFill>
                <a:latin typeface="Consolas" panose="020B0609020204030204" pitchFamily="49" charset="0"/>
              </a:rPr>
              <a:t>norm </a:t>
            </a:r>
            <a:r>
              <a:rPr lang="en-US" altLang="zh-CN" dirty="0">
                <a:solidFill>
                  <a:srgbClr val="D73A49"/>
                </a:solidFill>
                <a:latin typeface="Consolas" panose="020B0609020204030204" pitchFamily="49" charset="0"/>
              </a:rPr>
              <a:t>=</a:t>
            </a:r>
            <a:r>
              <a:rPr lang="en-US" altLang="zh-CN" dirty="0">
                <a:solidFill>
                  <a:srgbClr val="24292E"/>
                </a:solidFill>
                <a:latin typeface="Consolas" panose="020B0609020204030204" pitchFamily="49" charset="0"/>
              </a:rPr>
              <a:t> </a:t>
            </a:r>
            <a:r>
              <a:rPr lang="en-US" altLang="zh-CN" dirty="0" err="1">
                <a:solidFill>
                  <a:srgbClr val="6F42C1"/>
                </a:solidFill>
                <a:latin typeface="Consolas" panose="020B0609020204030204" pitchFamily="49" charset="0"/>
              </a:rPr>
              <a:t>torchvision</a:t>
            </a:r>
            <a:r>
              <a:rPr lang="en-US" altLang="zh-CN" dirty="0" err="1">
                <a:solidFill>
                  <a:srgbClr val="24292E"/>
                </a:solidFill>
                <a:latin typeface="Consolas" panose="020B0609020204030204" pitchFamily="49" charset="0"/>
              </a:rPr>
              <a:t>.transforms.Normalize</a:t>
            </a:r>
            <a:r>
              <a:rPr lang="en-US" altLang="zh-CN" dirty="0">
                <a:solidFill>
                  <a:srgbClr val="24292E"/>
                </a:solidFill>
                <a:latin typeface="Consolas" panose="020B0609020204030204" pitchFamily="49" charset="0"/>
              </a:rPr>
              <a:t>((</a:t>
            </a:r>
            <a:r>
              <a:rPr lang="en-US" altLang="zh-CN" dirty="0">
                <a:solidFill>
                  <a:srgbClr val="D73A49"/>
                </a:solidFill>
                <a:latin typeface="Consolas" panose="020B0609020204030204" pitchFamily="49" charset="0"/>
              </a:rPr>
              <a:t>-</a:t>
            </a:r>
            <a:r>
              <a:rPr lang="en-US" altLang="zh-CN" dirty="0">
                <a:solidFill>
                  <a:srgbClr val="005CC5"/>
                </a:solidFill>
                <a:latin typeface="Consolas" panose="020B0609020204030204" pitchFamily="49" charset="0"/>
              </a:rPr>
              <a:t>1</a:t>
            </a:r>
            <a:r>
              <a:rPr lang="en-US" altLang="zh-CN" dirty="0">
                <a:solidFill>
                  <a:srgbClr val="24292E"/>
                </a:solidFill>
                <a:latin typeface="Consolas" panose="020B0609020204030204" pitchFamily="49" charset="0"/>
              </a:rPr>
              <a:t>,</a:t>
            </a:r>
            <a:r>
              <a:rPr lang="en-US" altLang="zh-CN" dirty="0">
                <a:solidFill>
                  <a:srgbClr val="005CC5"/>
                </a:solidFill>
                <a:latin typeface="Consolas" panose="020B0609020204030204" pitchFamily="49" charset="0"/>
              </a:rPr>
              <a:t>1</a:t>
            </a:r>
            <a:r>
              <a:rPr lang="en-US" altLang="zh-CN" dirty="0">
                <a:solidFill>
                  <a:srgbClr val="24292E"/>
                </a:solidFill>
                <a:latin typeface="Consolas" panose="020B0609020204030204" pitchFamily="49" charset="0"/>
              </a:rPr>
              <a:t>,</a:t>
            </a:r>
            <a:r>
              <a:rPr lang="en-US" altLang="zh-CN" dirty="0">
                <a:solidFill>
                  <a:srgbClr val="005CC5"/>
                </a:solidFill>
                <a:latin typeface="Consolas" panose="020B0609020204030204" pitchFamily="49" charset="0"/>
              </a:rPr>
              <a:t>0</a:t>
            </a:r>
            <a:r>
              <a:rPr lang="en-US" altLang="zh-CN" dirty="0">
                <a:solidFill>
                  <a:srgbClr val="24292E"/>
                </a:solidFill>
                <a:latin typeface="Consolas" panose="020B0609020204030204" pitchFamily="49" charset="0"/>
              </a:rPr>
              <a:t>), (</a:t>
            </a:r>
            <a:r>
              <a:rPr lang="en-US" altLang="zh-CN" dirty="0">
                <a:solidFill>
                  <a:srgbClr val="005CC5"/>
                </a:solidFill>
                <a:latin typeface="Consolas" panose="020B0609020204030204" pitchFamily="49" charset="0"/>
              </a:rPr>
              <a:t>1</a:t>
            </a:r>
            <a:r>
              <a:rPr lang="en-US" altLang="zh-CN" dirty="0">
                <a:solidFill>
                  <a:srgbClr val="24292E"/>
                </a:solidFill>
                <a:latin typeface="Consolas" panose="020B0609020204030204" pitchFamily="49" charset="0"/>
              </a:rPr>
              <a:t>,</a:t>
            </a:r>
            <a:r>
              <a:rPr lang="en-US" altLang="zh-CN" dirty="0">
                <a:solidFill>
                  <a:srgbClr val="005CC5"/>
                </a:solidFill>
                <a:latin typeface="Consolas" panose="020B0609020204030204" pitchFamily="49" charset="0"/>
              </a:rPr>
              <a:t>2</a:t>
            </a:r>
            <a:r>
              <a:rPr lang="en-US" altLang="zh-CN" dirty="0">
                <a:solidFill>
                  <a:srgbClr val="24292E"/>
                </a:solidFill>
                <a:latin typeface="Consolas" panose="020B0609020204030204" pitchFamily="49" charset="0"/>
              </a:rPr>
              <a:t>,</a:t>
            </a:r>
            <a:r>
              <a:rPr lang="en-US" altLang="zh-CN" dirty="0">
                <a:solidFill>
                  <a:srgbClr val="005CC5"/>
                </a:solidFill>
                <a:latin typeface="Consolas" panose="020B0609020204030204" pitchFamily="49" charset="0"/>
              </a:rPr>
              <a:t>3</a:t>
            </a:r>
            <a:r>
              <a:rPr lang="en-US" altLang="zh-CN" dirty="0">
                <a:solidFill>
                  <a:srgbClr val="24292E"/>
                </a:solidFill>
                <a:latin typeface="Consolas" panose="020B0609020204030204" pitchFamily="49" charset="0"/>
              </a:rPr>
              <a:t>))</a:t>
            </a:r>
            <a:endParaRPr lang="en-US" altLang="zh-CN" dirty="0">
              <a:solidFill>
                <a:srgbClr val="24292E"/>
              </a:solidFill>
              <a:latin typeface="Consolas" panose="020B0609020204030204" pitchFamily="49" charset="0"/>
            </a:endParaRPr>
          </a:p>
          <a:p>
            <a:r>
              <a:rPr lang="en-US" altLang="zh-CN" dirty="0">
                <a:solidFill>
                  <a:srgbClr val="24292E"/>
                </a:solidFill>
                <a:latin typeface="Consolas" panose="020B0609020204030204" pitchFamily="49" charset="0"/>
              </a:rPr>
              <a:t>new_img11 </a:t>
            </a:r>
            <a:r>
              <a:rPr lang="en-US" altLang="zh-CN" dirty="0">
                <a:solidFill>
                  <a:srgbClr val="D73A49"/>
                </a:solidFill>
                <a:latin typeface="Consolas" panose="020B0609020204030204" pitchFamily="49" charset="0"/>
              </a:rPr>
              <a:t>=</a:t>
            </a:r>
            <a:r>
              <a:rPr lang="en-US" altLang="zh-CN" dirty="0">
                <a:solidFill>
                  <a:srgbClr val="24292E"/>
                </a:solidFill>
                <a:latin typeface="Consolas" panose="020B0609020204030204" pitchFamily="49" charset="0"/>
              </a:rPr>
              <a:t> norm(new_img7)</a:t>
            </a:r>
            <a:endParaRPr lang="en-US" altLang="zh-CN" dirty="0">
              <a:solidFill>
                <a:srgbClr val="24292E"/>
              </a:solidFill>
              <a:latin typeface="Consolas" panose="020B0609020204030204" pitchFamily="49" charset="0"/>
            </a:endParaRPr>
          </a:p>
          <a:p>
            <a:r>
              <a:rPr lang="en-US" altLang="zh-CN" dirty="0">
                <a:solidFill>
                  <a:srgbClr val="24292E"/>
                </a:solidFill>
                <a:latin typeface="Consolas" panose="020B0609020204030204" pitchFamily="49" charset="0"/>
              </a:rPr>
              <a:t>new_img12 </a:t>
            </a:r>
            <a:r>
              <a:rPr lang="en-US" altLang="zh-CN" dirty="0">
                <a:solidFill>
                  <a:srgbClr val="D73A49"/>
                </a:solidFill>
                <a:latin typeface="Consolas" panose="020B0609020204030204" pitchFamily="49" charset="0"/>
              </a:rPr>
              <a:t>=</a:t>
            </a:r>
            <a:r>
              <a:rPr lang="en-US" altLang="zh-CN" dirty="0">
                <a:solidFill>
                  <a:srgbClr val="24292E"/>
                </a:solidFill>
                <a:latin typeface="Consolas" panose="020B0609020204030204" pitchFamily="49" charset="0"/>
              </a:rPr>
              <a:t> norm(new_img8)</a:t>
            </a:r>
            <a:endParaRPr lang="en-US" altLang="zh-CN" dirty="0">
              <a:solidFill>
                <a:srgbClr val="24292E"/>
              </a:solidFill>
              <a:latin typeface="Consolas" panose="020B0609020204030204" pitchFamily="49" charset="0"/>
            </a:endParaRPr>
          </a:p>
          <a:p>
            <a:r>
              <a:rPr lang="en-US" altLang="zh-CN" dirty="0">
                <a:solidFill>
                  <a:srgbClr val="6F42C1"/>
                </a:solidFill>
                <a:latin typeface="Consolas" panose="020B0609020204030204" pitchFamily="49" charset="0"/>
              </a:rPr>
              <a:t>print</a:t>
            </a:r>
            <a:r>
              <a:rPr lang="en-US" altLang="zh-CN" dirty="0">
                <a:solidFill>
                  <a:srgbClr val="24292E"/>
                </a:solidFill>
                <a:latin typeface="Consolas" panose="020B0609020204030204" pitchFamily="49" charset="0"/>
              </a:rPr>
              <a:t>(</a:t>
            </a:r>
            <a:r>
              <a:rPr lang="en-US" altLang="zh-CN" dirty="0">
                <a:solidFill>
                  <a:srgbClr val="D73A49"/>
                </a:solidFill>
                <a:latin typeface="Consolas" panose="020B0609020204030204" pitchFamily="49" charset="0"/>
              </a:rPr>
              <a:t>f</a:t>
            </a:r>
            <a:r>
              <a:rPr lang="en-US" altLang="zh-CN" dirty="0">
                <a:solidFill>
                  <a:srgbClr val="032F62"/>
                </a:solidFill>
                <a:latin typeface="Consolas" panose="020B0609020204030204" pitchFamily="49" charset="0"/>
              </a:rPr>
              <a:t>"</a:t>
            </a:r>
            <a:r>
              <a:rPr lang="en-US" altLang="zh-CN" dirty="0">
                <a:solidFill>
                  <a:srgbClr val="005CC5"/>
                </a:solidFill>
                <a:latin typeface="Consolas" panose="020B0609020204030204" pitchFamily="49" charset="0"/>
              </a:rPr>
              <a:t>{</a:t>
            </a:r>
            <a:r>
              <a:rPr lang="en-US" altLang="zh-CN" dirty="0">
                <a:solidFill>
                  <a:srgbClr val="24292E"/>
                </a:solidFill>
                <a:latin typeface="Consolas" panose="020B0609020204030204" pitchFamily="49" charset="0"/>
              </a:rPr>
              <a:t>new_img8</a:t>
            </a:r>
            <a:r>
              <a:rPr lang="en-US" altLang="zh-CN" dirty="0">
                <a:solidFill>
                  <a:srgbClr val="005CC5"/>
                </a:solidFill>
                <a:latin typeface="Consolas" panose="020B0609020204030204" pitchFamily="49" charset="0"/>
              </a:rPr>
              <a:t>}</a:t>
            </a:r>
            <a:r>
              <a:rPr lang="en-US" altLang="zh-CN" dirty="0">
                <a:solidFill>
                  <a:srgbClr val="032F62"/>
                </a:solidFill>
                <a:latin typeface="Consolas" panose="020B0609020204030204" pitchFamily="49" charset="0"/>
              </a:rPr>
              <a:t>, </a:t>
            </a:r>
            <a:r>
              <a:rPr lang="en-US" altLang="zh-CN" dirty="0">
                <a:solidFill>
                  <a:srgbClr val="005CC5"/>
                </a:solidFill>
                <a:latin typeface="Consolas" panose="020B0609020204030204" pitchFamily="49" charset="0"/>
              </a:rPr>
              <a:t>{</a:t>
            </a:r>
            <a:r>
              <a:rPr lang="en-US" altLang="zh-CN" dirty="0">
                <a:solidFill>
                  <a:srgbClr val="24292E"/>
                </a:solidFill>
                <a:latin typeface="Consolas" panose="020B0609020204030204" pitchFamily="49" charset="0"/>
              </a:rPr>
              <a:t>new_img12</a:t>
            </a:r>
            <a:r>
              <a:rPr lang="en-US" altLang="zh-CN" dirty="0">
                <a:solidFill>
                  <a:srgbClr val="005CC5"/>
                </a:solidFill>
                <a:latin typeface="Consolas" panose="020B0609020204030204" pitchFamily="49" charset="0"/>
              </a:rPr>
              <a:t>}</a:t>
            </a:r>
            <a:r>
              <a:rPr lang="en-US" altLang="zh-CN" dirty="0">
                <a:solidFill>
                  <a:srgbClr val="032F62"/>
                </a:solidFill>
                <a:latin typeface="Consolas" panose="020B0609020204030204" pitchFamily="49" charset="0"/>
              </a:rPr>
              <a:t>"</a:t>
            </a:r>
            <a:r>
              <a:rPr lang="en-US" altLang="zh-CN" dirty="0">
                <a:solidFill>
                  <a:srgbClr val="24292E"/>
                </a:solidFill>
                <a:latin typeface="Consolas" panose="020B0609020204030204" pitchFamily="49" charset="0"/>
              </a:rPr>
              <a:t>)</a:t>
            </a:r>
            <a:endParaRPr lang="en-US" altLang="zh-CN" dirty="0">
              <a:solidFill>
                <a:srgbClr val="24292E"/>
              </a:solidFill>
              <a:latin typeface="Consolas" panose="020B0609020204030204" pitchFamily="49" charset="0"/>
            </a:endParaRPr>
          </a:p>
        </p:txBody>
      </p:sp>
      <p:sp>
        <p:nvSpPr>
          <p:cNvPr id="14" name="文本框 13"/>
          <p:cNvSpPr txBox="1"/>
          <p:nvPr/>
        </p:nvSpPr>
        <p:spPr>
          <a:xfrm>
            <a:off x="7191462" y="66194"/>
            <a:ext cx="4360178" cy="1754326"/>
          </a:xfrm>
          <a:prstGeom prst="rect">
            <a:avLst/>
          </a:prstGeom>
          <a:noFill/>
        </p:spPr>
        <p:txBody>
          <a:bodyPr wrap="square">
            <a:spAutoFit/>
          </a:bodyPr>
          <a:lstStyle/>
          <a:p>
            <a:r>
              <a:rPr lang="en-US" altLang="zh-CN" b="0" dirty="0">
                <a:solidFill>
                  <a:srgbClr val="E36209"/>
                </a:solidFill>
                <a:effectLst/>
                <a:latin typeface="Consolas" panose="020B0609020204030204" pitchFamily="49" charset="0"/>
              </a:rPr>
              <a:t>orig_img1</a:t>
            </a:r>
            <a:r>
              <a:rPr lang="zh-CN" altLang="en-US" b="0" dirty="0">
                <a:solidFill>
                  <a:srgbClr val="24292E"/>
                </a:solidFill>
                <a:effectLst/>
                <a:latin typeface="Consolas" panose="020B0609020204030204" pitchFamily="49" charset="0"/>
              </a:rPr>
              <a:t>：包含了</a:t>
            </a:r>
            <a:r>
              <a:rPr lang="en-US" altLang="zh-CN" b="0" dirty="0">
                <a:solidFill>
                  <a:srgbClr val="24292E"/>
                </a:solidFill>
                <a:effectLst/>
                <a:latin typeface="Consolas" panose="020B0609020204030204" pitchFamily="49" charset="0"/>
              </a:rPr>
              <a:t>4</a:t>
            </a:r>
            <a:r>
              <a:rPr lang="zh-CN" altLang="en-US" b="0" dirty="0">
                <a:solidFill>
                  <a:srgbClr val="24292E"/>
                </a:solidFill>
                <a:effectLst/>
                <a:latin typeface="Consolas" panose="020B0609020204030204" pitchFamily="49" charset="0"/>
              </a:rPr>
              <a:t>张彩色图像，每张图像有</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个通道（通常是红色、绿色和蓝色），每个通道的大小为</a:t>
            </a:r>
            <a:r>
              <a:rPr lang="en-US" altLang="zh-CN" b="0" dirty="0">
                <a:solidFill>
                  <a:srgbClr val="24292E"/>
                </a:solidFill>
                <a:effectLst/>
                <a:latin typeface="Consolas" panose="020B0609020204030204" pitchFamily="49" charset="0"/>
              </a:rPr>
              <a:t>64x64</a:t>
            </a:r>
            <a:r>
              <a:rPr lang="zh-CN" altLang="en-US" b="0" dirty="0">
                <a:solidFill>
                  <a:srgbClr val="24292E"/>
                </a:solidFill>
                <a:effectLst/>
                <a:latin typeface="Consolas" panose="020B0609020204030204" pitchFamily="49" charset="0"/>
              </a:rPr>
              <a:t>像素</a:t>
            </a:r>
            <a:endParaRPr lang="en-US" altLang="zh-CN" b="0" dirty="0">
              <a:solidFill>
                <a:srgbClr val="24292E"/>
              </a:solidFill>
              <a:effectLst/>
              <a:latin typeface="Consolas" panose="020B0609020204030204" pitchFamily="49" charset="0"/>
            </a:endParaRPr>
          </a:p>
          <a:p>
            <a:endParaRPr lang="en-US" altLang="zh-CN" dirty="0">
              <a:solidFill>
                <a:srgbClr val="24292E"/>
              </a:solidFill>
              <a:latin typeface="Consolas" panose="020B0609020204030204" pitchFamily="49" charset="0"/>
            </a:endParaRPr>
          </a:p>
          <a:p>
            <a:r>
              <a:rPr lang="en-US" altLang="zh-CN" b="0" dirty="0">
                <a:solidFill>
                  <a:srgbClr val="E36209"/>
                </a:solidFill>
                <a:effectLst/>
                <a:latin typeface="Consolas" panose="020B0609020204030204" pitchFamily="49" charset="0"/>
              </a:rPr>
              <a:t>orig_img2</a:t>
            </a:r>
            <a:r>
              <a:rPr lang="zh-CN" altLang="en-US" b="0" dirty="0">
                <a:solidFill>
                  <a:srgbClr val="24292E"/>
                </a:solidFill>
                <a:effectLst/>
                <a:latin typeface="Consolas" panose="020B0609020204030204" pitchFamily="49" charset="0"/>
              </a:rPr>
              <a:t>：包含</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个通道的单张彩色图像，每个通道的大小同样为</a:t>
            </a:r>
            <a:r>
              <a:rPr lang="en-US" altLang="zh-CN" b="0" dirty="0">
                <a:solidFill>
                  <a:srgbClr val="24292E"/>
                </a:solidFill>
                <a:effectLst/>
                <a:latin typeface="Consolas" panose="020B0609020204030204" pitchFamily="49" charset="0"/>
              </a:rPr>
              <a:t>64x64</a:t>
            </a:r>
            <a:r>
              <a:rPr lang="zh-CN" altLang="en-US" b="0" dirty="0">
                <a:solidFill>
                  <a:srgbClr val="24292E"/>
                </a:solidFill>
                <a:effectLst/>
                <a:latin typeface="Consolas" panose="020B0609020204030204" pitchFamily="49" charset="0"/>
              </a:rPr>
              <a:t>像素</a:t>
            </a:r>
            <a:endParaRPr lang="zh-CN" altLang="en-US" dirty="0"/>
          </a:p>
        </p:txBody>
      </p:sp>
      <p:sp>
        <p:nvSpPr>
          <p:cNvPr id="10" name="文本框 9"/>
          <p:cNvSpPr txBox="1"/>
          <p:nvPr/>
        </p:nvSpPr>
        <p:spPr>
          <a:xfrm>
            <a:off x="531329" y="2448038"/>
            <a:ext cx="5179358" cy="646331"/>
          </a:xfrm>
          <a:prstGeom prst="rect">
            <a:avLst/>
          </a:prstGeom>
          <a:noFill/>
          <a:ln>
            <a:solidFill>
              <a:srgbClr val="577CCE"/>
            </a:solidFill>
          </a:ln>
        </p:spPr>
        <p:txBody>
          <a:bodyPr wrap="square">
            <a:spAutoFit/>
          </a:bodyPr>
          <a:lstStyle/>
          <a:p>
            <a:r>
              <a:rPr lang="en-US" altLang="zh-CN" b="0" dirty="0">
                <a:solidFill>
                  <a:srgbClr val="24292E"/>
                </a:solidFill>
                <a:effectLst/>
                <a:latin typeface="Consolas" panose="020B0609020204030204" pitchFamily="49" charset="0"/>
              </a:rPr>
              <a:t>orig_img1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orig_img2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15" name="图片 14"/>
          <p:cNvPicPr>
            <a:picLocks noChangeAspect="1"/>
          </p:cNvPicPr>
          <p:nvPr/>
        </p:nvPicPr>
        <p:blipFill>
          <a:blip r:embed="rId1"/>
          <a:stretch>
            <a:fillRect/>
          </a:stretch>
        </p:blipFill>
        <p:spPr>
          <a:xfrm>
            <a:off x="6837799" y="3319723"/>
            <a:ext cx="5260889" cy="3173356"/>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5.4.3 </a:t>
            </a:r>
            <a:r>
              <a:rPr lang="en-US" altLang="zh-CN" dirty="0" err="1">
                <a:solidFill>
                  <a:srgbClr val="577CCE"/>
                </a:solidFill>
                <a:latin typeface="Consolas" panose="020B0609020204030204" pitchFamily="49" charset="0"/>
              </a:rPr>
              <a:t>torchvision</a:t>
            </a:r>
            <a:endParaRPr lang="zh-CN" altLang="en-US" b="0" dirty="0">
              <a:solidFill>
                <a:srgbClr val="577CCE"/>
              </a:solidFill>
              <a:effectLst/>
              <a:latin typeface="Consolas" panose="020B0609020204030204" pitchFamily="49" charset="0"/>
            </a:endParaRPr>
          </a:p>
        </p:txBody>
      </p:sp>
      <p:sp>
        <p:nvSpPr>
          <p:cNvPr id="2" name="文本框 1"/>
          <p:cNvSpPr txBox="1"/>
          <p:nvPr/>
        </p:nvSpPr>
        <p:spPr>
          <a:xfrm>
            <a:off x="531329" y="1464166"/>
            <a:ext cx="6094602" cy="369332"/>
          </a:xfrm>
          <a:prstGeom prst="rect">
            <a:avLst/>
          </a:prstGeom>
          <a:noFill/>
        </p:spPr>
        <p:txBody>
          <a:bodyPr wrap="square">
            <a:spAutoFit/>
          </a:bodyPr>
          <a:lstStyle/>
          <a:p>
            <a:r>
              <a:rPr lang="zh-CN" altLang="en-US" b="0" dirty="0">
                <a:solidFill>
                  <a:srgbClr val="577CCE"/>
                </a:solidFill>
                <a:effectLst/>
                <a:latin typeface="Consolas" panose="020B0609020204030204" pitchFamily="49" charset="0"/>
              </a:rPr>
              <a:t>（</a:t>
            </a:r>
            <a:r>
              <a:rPr lang="en-US" altLang="zh-CN" b="0" dirty="0">
                <a:solidFill>
                  <a:srgbClr val="577CCE"/>
                </a:solidFill>
                <a:effectLst/>
                <a:latin typeface="Consolas" panose="020B0609020204030204" pitchFamily="49" charset="0"/>
              </a:rPr>
              <a:t>3</a:t>
            </a:r>
            <a:r>
              <a:rPr lang="zh-CN" altLang="en-US" b="0" dirty="0">
                <a:solidFill>
                  <a:srgbClr val="577CCE"/>
                </a:solidFill>
                <a:effectLst/>
                <a:latin typeface="Consolas" panose="020B0609020204030204" pitchFamily="49" charset="0"/>
              </a:rPr>
              <a:t>）</a:t>
            </a:r>
            <a:r>
              <a:rPr lang="en-US" altLang="zh-CN" b="0" dirty="0" err="1">
                <a:solidFill>
                  <a:srgbClr val="577CCE"/>
                </a:solidFill>
                <a:effectLst/>
                <a:latin typeface="Consolas" panose="020B0609020204030204" pitchFamily="49" charset="0"/>
              </a:rPr>
              <a:t>torchvision.transforms</a:t>
            </a:r>
            <a:r>
              <a:rPr lang="zh-CN" altLang="en-US" b="0" dirty="0">
                <a:solidFill>
                  <a:srgbClr val="577CCE"/>
                </a:solidFill>
                <a:effectLst/>
                <a:latin typeface="Consolas" panose="020B0609020204030204" pitchFamily="49" charset="0"/>
              </a:rPr>
              <a:t>图像变换模块</a:t>
            </a:r>
            <a:endParaRPr lang="zh-CN" altLang="en-US" b="0" dirty="0">
              <a:solidFill>
                <a:srgbClr val="577CCE"/>
              </a:solidFill>
              <a:effectLst/>
              <a:latin typeface="Consolas" panose="020B0609020204030204" pitchFamily="49" charset="0"/>
            </a:endParaRPr>
          </a:p>
        </p:txBody>
      </p:sp>
      <p:sp>
        <p:nvSpPr>
          <p:cNvPr id="12" name="文本框 11"/>
          <p:cNvSpPr txBox="1"/>
          <p:nvPr/>
        </p:nvSpPr>
        <p:spPr>
          <a:xfrm>
            <a:off x="3578630" y="2199321"/>
            <a:ext cx="5710081" cy="1477328"/>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转换为</a:t>
            </a:r>
            <a:r>
              <a:rPr lang="en-US" altLang="zh-CN" b="0" dirty="0">
                <a:solidFill>
                  <a:srgbClr val="6A737D"/>
                </a:solidFill>
                <a:effectLst/>
                <a:latin typeface="Consolas" panose="020B0609020204030204" pitchFamily="49" charset="0"/>
              </a:rPr>
              <a:t>Image</a:t>
            </a:r>
            <a:r>
              <a:rPr lang="zh-CN" altLang="en-US" b="0" dirty="0">
                <a:solidFill>
                  <a:srgbClr val="6A737D"/>
                </a:solidFill>
                <a:effectLst/>
                <a:latin typeface="Consolas" panose="020B0609020204030204" pitchFamily="49" charset="0"/>
              </a:rPr>
              <a:t>图像</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topil</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torchvision</a:t>
            </a:r>
            <a:r>
              <a:rPr lang="en-US" altLang="zh-CN" b="0" dirty="0" err="1">
                <a:solidFill>
                  <a:srgbClr val="24292E"/>
                </a:solidFill>
                <a:effectLst/>
                <a:latin typeface="Consolas" panose="020B0609020204030204" pitchFamily="49" charset="0"/>
              </a:rPr>
              <a:t>.transforms.ToPILImage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new_img14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topil</a:t>
            </a:r>
            <a:r>
              <a:rPr lang="en-US" altLang="zh-CN" b="0" dirty="0">
                <a:solidFill>
                  <a:srgbClr val="24292E"/>
                </a:solidFill>
                <a:effectLst/>
                <a:latin typeface="Consolas" panose="020B0609020204030204" pitchFamily="49" charset="0"/>
              </a:rPr>
              <a:t>(new_img8)</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(new_img8.shape, new_img14.size)</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new_img14.save(</a:t>
            </a:r>
            <a:r>
              <a:rPr lang="en-US" altLang="zh-CN" b="0" dirty="0">
                <a:solidFill>
                  <a:srgbClr val="032F62"/>
                </a:solidFill>
                <a:effectLst/>
                <a:latin typeface="Consolas" panose="020B0609020204030204" pitchFamily="49" charset="0"/>
              </a:rPr>
              <a:t>"a.png"</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将图像保存为文件</a:t>
            </a:r>
            <a:endParaRPr lang="zh-CN" altLang="en-US" b="0" dirty="0">
              <a:solidFill>
                <a:srgbClr val="24292E"/>
              </a:solidFill>
              <a:effectLst/>
              <a:latin typeface="Consolas" panose="020B0609020204030204" pitchFamily="49" charset="0"/>
            </a:endParaRPr>
          </a:p>
        </p:txBody>
      </p:sp>
      <p:pic>
        <p:nvPicPr>
          <p:cNvPr id="5" name="图片 4"/>
          <p:cNvPicPr>
            <a:picLocks noChangeAspect="1"/>
          </p:cNvPicPr>
          <p:nvPr/>
        </p:nvPicPr>
        <p:blipFill>
          <a:blip r:embed="rId1"/>
          <a:stretch>
            <a:fillRect/>
          </a:stretch>
        </p:blipFill>
        <p:spPr>
          <a:xfrm>
            <a:off x="3853421" y="4487011"/>
            <a:ext cx="4485158" cy="464924"/>
          </a:xfrm>
          <a:prstGeom prst="rect">
            <a:avLst/>
          </a:prstGeom>
        </p:spPr>
      </p:pic>
    </p:spTree>
    <p:custDataLst>
      <p:tags r:id="rId2"/>
    </p:custDataLst>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5.4.3 </a:t>
            </a:r>
            <a:r>
              <a:rPr lang="en-US" altLang="zh-CN" dirty="0" err="1">
                <a:solidFill>
                  <a:srgbClr val="577CCE"/>
                </a:solidFill>
                <a:latin typeface="Consolas" panose="020B0609020204030204" pitchFamily="49" charset="0"/>
              </a:rPr>
              <a:t>torchvision</a:t>
            </a:r>
            <a:endParaRPr lang="zh-CN" altLang="en-US" b="0" dirty="0">
              <a:solidFill>
                <a:srgbClr val="577CCE"/>
              </a:solidFill>
              <a:effectLst/>
              <a:latin typeface="Consolas" panose="020B0609020204030204" pitchFamily="49" charset="0"/>
            </a:endParaRPr>
          </a:p>
        </p:txBody>
      </p:sp>
      <p:sp>
        <p:nvSpPr>
          <p:cNvPr id="2" name="文本框 1"/>
          <p:cNvSpPr txBox="1"/>
          <p:nvPr/>
        </p:nvSpPr>
        <p:spPr>
          <a:xfrm>
            <a:off x="531329" y="1464166"/>
            <a:ext cx="6094602" cy="369332"/>
          </a:xfrm>
          <a:prstGeom prst="rect">
            <a:avLst/>
          </a:prstGeom>
          <a:noFill/>
        </p:spPr>
        <p:txBody>
          <a:bodyPr wrap="square">
            <a:spAutoFit/>
          </a:bodyPr>
          <a:lstStyle/>
          <a:p>
            <a:r>
              <a:rPr lang="zh-CN" altLang="en-US" b="0" dirty="0">
                <a:solidFill>
                  <a:srgbClr val="577CCE"/>
                </a:solidFill>
                <a:effectLst/>
                <a:latin typeface="Consolas" panose="020B0609020204030204" pitchFamily="49" charset="0"/>
              </a:rPr>
              <a:t>（</a:t>
            </a:r>
            <a:r>
              <a:rPr lang="en-US" altLang="zh-CN" b="0" dirty="0">
                <a:solidFill>
                  <a:srgbClr val="577CCE"/>
                </a:solidFill>
                <a:effectLst/>
                <a:latin typeface="Consolas" panose="020B0609020204030204" pitchFamily="49" charset="0"/>
              </a:rPr>
              <a:t>3</a:t>
            </a:r>
            <a:r>
              <a:rPr lang="zh-CN" altLang="en-US" b="0" dirty="0">
                <a:solidFill>
                  <a:srgbClr val="577CCE"/>
                </a:solidFill>
                <a:effectLst/>
                <a:latin typeface="Consolas" panose="020B0609020204030204" pitchFamily="49" charset="0"/>
              </a:rPr>
              <a:t>）</a:t>
            </a:r>
            <a:r>
              <a:rPr lang="en-US" altLang="zh-CN" b="0" dirty="0" err="1">
                <a:solidFill>
                  <a:srgbClr val="577CCE"/>
                </a:solidFill>
                <a:effectLst/>
                <a:latin typeface="Consolas" panose="020B0609020204030204" pitchFamily="49" charset="0"/>
              </a:rPr>
              <a:t>torchvision.transforms</a:t>
            </a:r>
            <a:r>
              <a:rPr lang="zh-CN" altLang="en-US" b="0" dirty="0">
                <a:solidFill>
                  <a:srgbClr val="577CCE"/>
                </a:solidFill>
                <a:effectLst/>
                <a:latin typeface="Consolas" panose="020B0609020204030204" pitchFamily="49" charset="0"/>
              </a:rPr>
              <a:t>图像变换模块</a:t>
            </a:r>
            <a:endParaRPr lang="zh-CN" altLang="en-US" b="0" dirty="0">
              <a:solidFill>
                <a:srgbClr val="577CCE"/>
              </a:solidFill>
              <a:effectLst/>
              <a:latin typeface="Consolas" panose="020B0609020204030204" pitchFamily="49" charset="0"/>
            </a:endParaRPr>
          </a:p>
        </p:txBody>
      </p:sp>
      <p:sp>
        <p:nvSpPr>
          <p:cNvPr id="6" name="文本框 5"/>
          <p:cNvSpPr txBox="1"/>
          <p:nvPr/>
        </p:nvSpPr>
        <p:spPr>
          <a:xfrm>
            <a:off x="903387" y="2027768"/>
            <a:ext cx="10891534"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当对图像依次进行多个变换操作时，可以使用</a:t>
            </a:r>
            <a:r>
              <a:rPr lang="en-US" altLang="zh-CN" b="0" dirty="0" err="1">
                <a:solidFill>
                  <a:srgbClr val="24292E"/>
                </a:solidFill>
                <a:effectLst/>
                <a:latin typeface="Consolas" panose="020B0609020204030204" pitchFamily="49" charset="0"/>
              </a:rPr>
              <a:t>torchvision.transforms.Compose</a:t>
            </a:r>
            <a:r>
              <a:rPr lang="zh-CN" altLang="en-US" b="0" dirty="0">
                <a:solidFill>
                  <a:srgbClr val="24292E"/>
                </a:solidFill>
                <a:effectLst/>
                <a:latin typeface="Consolas" panose="020B0609020204030204" pitchFamily="49" charset="0"/>
              </a:rPr>
              <a:t>类将这些变换连接在一起，构成一个统一的操作一次调用完成。示例如下：</a:t>
            </a:r>
            <a:endParaRPr lang="zh-CN" altLang="en-US" b="0" dirty="0">
              <a:solidFill>
                <a:srgbClr val="24292E"/>
              </a:solidFill>
              <a:effectLst/>
              <a:latin typeface="Consolas" panose="020B0609020204030204" pitchFamily="49" charset="0"/>
            </a:endParaRPr>
          </a:p>
        </p:txBody>
      </p:sp>
      <p:sp>
        <p:nvSpPr>
          <p:cNvPr id="8" name="文本框 7"/>
          <p:cNvSpPr txBox="1"/>
          <p:nvPr/>
        </p:nvSpPr>
        <p:spPr>
          <a:xfrm>
            <a:off x="1346200" y="2868369"/>
            <a:ext cx="9727268" cy="3139321"/>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torchvision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transforms</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PIL</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Image</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orig_img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Image</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open</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"a.png"</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opts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transforms.Compose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transforms.CenterCrop</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transforms.ToTensor</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transforms.Normalize</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100</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150</a:t>
            </a:r>
            <a:r>
              <a:rPr lang="en-US" altLang="zh-CN" b="0" dirty="0">
                <a:solidFill>
                  <a:srgbClr val="24292E"/>
                </a:solidFill>
                <a:effectLst/>
                <a:latin typeface="Consolas" panose="020B0609020204030204" pitchFamily="49" charset="0"/>
              </a:rPr>
              <a:t>,</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200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5</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transforms.ToPILImage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new_img</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opts(</a:t>
            </a:r>
            <a:r>
              <a:rPr lang="en-US" altLang="zh-CN" b="0" dirty="0" err="1">
                <a:solidFill>
                  <a:srgbClr val="24292E"/>
                </a:solidFill>
                <a:effectLst/>
                <a:latin typeface="Consolas" panose="020B0609020204030204" pitchFamily="49" charset="0"/>
              </a:rPr>
              <a:t>orig_img</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new_img.save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"b.png"</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5.4.4 </a:t>
            </a:r>
            <a:r>
              <a:rPr lang="en-US" altLang="zh-CN" dirty="0" err="1">
                <a:solidFill>
                  <a:srgbClr val="577CCE"/>
                </a:solidFill>
                <a:latin typeface="Consolas" panose="020B0609020204030204" pitchFamily="49" charset="0"/>
              </a:rPr>
              <a:t>torchaudio</a:t>
            </a:r>
            <a:endParaRPr lang="zh-CN" altLang="en-US" b="0" dirty="0">
              <a:solidFill>
                <a:srgbClr val="577CCE"/>
              </a:solidFill>
              <a:effectLst/>
              <a:latin typeface="Consolas" panose="020B0609020204030204" pitchFamily="49" charset="0"/>
            </a:endParaRPr>
          </a:p>
        </p:txBody>
      </p:sp>
      <p:sp>
        <p:nvSpPr>
          <p:cNvPr id="6" name="文本框 5"/>
          <p:cNvSpPr txBox="1"/>
          <p:nvPr/>
        </p:nvSpPr>
        <p:spPr>
          <a:xfrm>
            <a:off x="799451" y="1545034"/>
            <a:ext cx="10891534" cy="923330"/>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Torchaudio</a:t>
            </a:r>
            <a:r>
              <a:rPr lang="zh-CN" altLang="en-US" b="0" dirty="0">
                <a:solidFill>
                  <a:srgbClr val="24292E"/>
                </a:solidFill>
                <a:effectLst/>
                <a:latin typeface="Consolas" panose="020B0609020204030204" pitchFamily="49" charset="0"/>
              </a:rPr>
              <a:t>是</a:t>
            </a:r>
            <a:r>
              <a:rPr lang="en-US" altLang="zh-CN" b="0" dirty="0" err="1">
                <a:solidFill>
                  <a:srgbClr val="24292E"/>
                </a:solidFill>
                <a:effectLst/>
                <a:latin typeface="Consolas" panose="020B0609020204030204" pitchFamily="49" charset="0"/>
              </a:rPr>
              <a:t>PyTorch</a:t>
            </a:r>
            <a:r>
              <a:rPr lang="zh-CN" altLang="en-US" b="0" dirty="0">
                <a:solidFill>
                  <a:srgbClr val="24292E"/>
                </a:solidFill>
                <a:effectLst/>
                <a:latin typeface="Consolas" panose="020B0609020204030204" pitchFamily="49" charset="0"/>
              </a:rPr>
              <a:t>提供的一个音频处理和识别的包，内置了很多针对音频文件的</a:t>
            </a:r>
            <a:r>
              <a:rPr lang="en-US" altLang="zh-CN" b="0" dirty="0">
                <a:solidFill>
                  <a:srgbClr val="24292E"/>
                </a:solidFill>
                <a:effectLst/>
                <a:latin typeface="Consolas" panose="020B0609020204030204" pitchFamily="49" charset="0"/>
              </a:rPr>
              <a:t>I/O</a:t>
            </a:r>
            <a:r>
              <a:rPr lang="zh-CN" altLang="en-US" b="0" dirty="0">
                <a:solidFill>
                  <a:srgbClr val="24292E"/>
                </a:solidFill>
                <a:effectLst/>
                <a:latin typeface="Consolas" panose="020B0609020204030204" pitchFamily="49" charset="0"/>
              </a:rPr>
              <a:t>操作、音频变换及特征提取、音频数据集、音频处理及自动语音识别（</a:t>
            </a:r>
            <a:r>
              <a:rPr lang="en-US" altLang="zh-CN" b="0" dirty="0">
                <a:solidFill>
                  <a:srgbClr val="24292E"/>
                </a:solidFill>
                <a:effectLst/>
                <a:latin typeface="Consolas" panose="020B0609020204030204" pitchFamily="49" charset="0"/>
              </a:rPr>
              <a:t>ASR</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Automatic Speech Recognition</a:t>
            </a:r>
            <a:r>
              <a:rPr lang="zh-CN" altLang="en-US" b="0" dirty="0">
                <a:solidFill>
                  <a:srgbClr val="24292E"/>
                </a:solidFill>
                <a:effectLst/>
                <a:latin typeface="Consolas" panose="020B0609020204030204" pitchFamily="49" charset="0"/>
              </a:rPr>
              <a:t>）预训练模型等等。在使用</a:t>
            </a:r>
            <a:r>
              <a:rPr lang="en-US" altLang="zh-CN" b="0" dirty="0" err="1">
                <a:solidFill>
                  <a:srgbClr val="24292E"/>
                </a:solidFill>
                <a:effectLst/>
                <a:latin typeface="Consolas" panose="020B0609020204030204" pitchFamily="49" charset="0"/>
              </a:rPr>
              <a:t>torchaudio</a:t>
            </a:r>
            <a:r>
              <a:rPr lang="zh-CN" altLang="en-US" b="0" dirty="0">
                <a:solidFill>
                  <a:srgbClr val="24292E"/>
                </a:solidFill>
                <a:effectLst/>
                <a:latin typeface="Consolas" panose="020B0609020204030204" pitchFamily="49" charset="0"/>
              </a:rPr>
              <a:t>之前，先确保已经安装，可使用如下命令进行安装：</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4536696" y="2613620"/>
            <a:ext cx="3118607" cy="369332"/>
          </a:xfrm>
          <a:prstGeom prst="rect">
            <a:avLst/>
          </a:prstGeom>
          <a:noFill/>
        </p:spPr>
        <p:txBody>
          <a:bodyPr wrap="square">
            <a:spAutoFit/>
          </a:bodyPr>
          <a:lstStyle/>
          <a:p>
            <a:r>
              <a:rPr lang="en-US" altLang="zh-CN" b="1" dirty="0">
                <a:solidFill>
                  <a:srgbClr val="E36209"/>
                </a:solidFill>
                <a:effectLst/>
                <a:latin typeface="Consolas" panose="020B0609020204030204" pitchFamily="49" charset="0"/>
              </a:rPr>
              <a:t>pip install </a:t>
            </a:r>
            <a:r>
              <a:rPr lang="en-US" altLang="zh-CN" b="1" dirty="0" err="1">
                <a:solidFill>
                  <a:srgbClr val="E36209"/>
                </a:solidFill>
                <a:effectLst/>
                <a:latin typeface="Consolas" panose="020B0609020204030204" pitchFamily="49" charset="0"/>
              </a:rPr>
              <a:t>torchaudio</a:t>
            </a:r>
            <a:endParaRPr lang="en-US" altLang="zh-CN" b="1" dirty="0">
              <a:solidFill>
                <a:srgbClr val="E36209"/>
              </a:solidFill>
              <a:effectLst/>
              <a:latin typeface="Consolas" panose="020B0609020204030204" pitchFamily="49" charset="0"/>
            </a:endParaRPr>
          </a:p>
        </p:txBody>
      </p:sp>
      <p:sp>
        <p:nvSpPr>
          <p:cNvPr id="11" name="文本框 10"/>
          <p:cNvSpPr txBox="1"/>
          <p:nvPr/>
        </p:nvSpPr>
        <p:spPr>
          <a:xfrm>
            <a:off x="4069323" y="3560678"/>
            <a:ext cx="4529392" cy="369332"/>
          </a:xfrm>
          <a:prstGeom prst="rect">
            <a:avLst/>
          </a:prstGeom>
          <a:noFill/>
        </p:spPr>
        <p:txBody>
          <a:bodyPr wrap="square">
            <a:spAutoFit/>
          </a:bodyPr>
          <a:lstStyle/>
          <a:p>
            <a:r>
              <a:rPr lang="zh-CN" altLang="en-US" b="1" dirty="0">
                <a:solidFill>
                  <a:srgbClr val="E36209"/>
                </a:solidFill>
              </a:rPr>
              <a:t>conda install -c pytorch torchaudio</a:t>
            </a:r>
            <a:endParaRPr lang="zh-CN" altLang="en-US" b="1" dirty="0">
              <a:solidFill>
                <a:srgbClr val="E36209"/>
              </a:solidFill>
            </a:endParaRPr>
          </a:p>
        </p:txBody>
      </p:sp>
      <p:sp>
        <p:nvSpPr>
          <p:cNvPr id="12" name="文本框 11"/>
          <p:cNvSpPr txBox="1"/>
          <p:nvPr/>
        </p:nvSpPr>
        <p:spPr>
          <a:xfrm>
            <a:off x="5876101" y="3087149"/>
            <a:ext cx="738231" cy="369332"/>
          </a:xfrm>
          <a:prstGeom prst="rect">
            <a:avLst/>
          </a:prstGeom>
          <a:noFill/>
        </p:spPr>
        <p:txBody>
          <a:bodyPr wrap="square" rtlCol="0">
            <a:spAutoFit/>
          </a:bodyPr>
          <a:lstStyle/>
          <a:p>
            <a:r>
              <a:rPr lang="en-US" altLang="zh-CN" b="1" i="1" dirty="0"/>
              <a:t>or</a:t>
            </a:r>
            <a:endParaRPr lang="zh-CN" altLang="en-US" b="1" i="1" dirty="0"/>
          </a:p>
        </p:txBody>
      </p:sp>
      <p:sp>
        <p:nvSpPr>
          <p:cNvPr id="14" name="文本框 13"/>
          <p:cNvSpPr txBox="1"/>
          <p:nvPr/>
        </p:nvSpPr>
        <p:spPr>
          <a:xfrm>
            <a:off x="908508" y="4527282"/>
            <a:ext cx="6094602" cy="369332"/>
          </a:xfrm>
          <a:prstGeom prst="rect">
            <a:avLst/>
          </a:prstGeom>
          <a:noFill/>
        </p:spPr>
        <p:txBody>
          <a:bodyPr wrap="square">
            <a:spAutoFit/>
          </a:bodyPr>
          <a:lstStyle/>
          <a:p>
            <a:r>
              <a:rPr lang="zh-CN" altLang="en-US" dirty="0"/>
              <a:t>安装完成后，可导入该包， 查看版本：</a:t>
            </a:r>
            <a:endParaRPr lang="zh-CN" altLang="en-US" dirty="0"/>
          </a:p>
        </p:txBody>
      </p:sp>
      <p:sp>
        <p:nvSpPr>
          <p:cNvPr id="16" name="文本框 15"/>
          <p:cNvSpPr txBox="1"/>
          <p:nvPr/>
        </p:nvSpPr>
        <p:spPr>
          <a:xfrm>
            <a:off x="4473575" y="5192233"/>
            <a:ext cx="3955809" cy="646331"/>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torchaudio</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torchaudio</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__version__</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8" name="文本框 17"/>
          <p:cNvSpPr txBox="1"/>
          <p:nvPr/>
        </p:nvSpPr>
        <p:spPr>
          <a:xfrm>
            <a:off x="150613" y="6414770"/>
            <a:ext cx="10117511" cy="338554"/>
          </a:xfrm>
          <a:prstGeom prst="rect">
            <a:avLst/>
          </a:prstGeom>
          <a:noFill/>
        </p:spPr>
        <p:txBody>
          <a:bodyPr wrap="square">
            <a:spAutoFit/>
          </a:bodyPr>
          <a:lstStyle/>
          <a:p>
            <a:r>
              <a:rPr lang="zh-CN" altLang="en-US" sz="1600" b="0" i="1" dirty="0">
                <a:solidFill>
                  <a:srgbClr val="333333"/>
                </a:solidFill>
                <a:effectLst/>
                <a:latin typeface="Consolas" panose="020B0609020204030204" pitchFamily="49" charset="0"/>
              </a:rPr>
              <a:t>可能需要额外安装</a:t>
            </a:r>
            <a:r>
              <a:rPr lang="en-US" altLang="zh-CN" sz="1600" b="0" i="1" dirty="0" err="1">
                <a:solidFill>
                  <a:srgbClr val="333333"/>
                </a:solidFill>
                <a:effectLst/>
                <a:latin typeface="Consolas" panose="020B0609020204030204" pitchFamily="49" charset="0"/>
              </a:rPr>
              <a:t>torchaudio</a:t>
            </a:r>
            <a:r>
              <a:rPr lang="zh-CN" altLang="en-US" sz="1600" i="1" dirty="0">
                <a:solidFill>
                  <a:srgbClr val="333333"/>
                </a:solidFill>
                <a:latin typeface="Consolas" panose="020B0609020204030204" pitchFamily="49" charset="0"/>
              </a:rPr>
              <a:t>所需的</a:t>
            </a:r>
            <a:r>
              <a:rPr lang="en-US" altLang="zh-CN" sz="1600" i="1" dirty="0">
                <a:solidFill>
                  <a:srgbClr val="333333"/>
                </a:solidFill>
                <a:latin typeface="Consolas" panose="020B0609020204030204" pitchFamily="49" charset="0"/>
              </a:rPr>
              <a:t>backend</a:t>
            </a:r>
            <a:r>
              <a:rPr lang="zh-CN" altLang="en-US" sz="1600" i="1" dirty="0">
                <a:solidFill>
                  <a:srgbClr val="333333"/>
                </a:solidFill>
                <a:latin typeface="Consolas" panose="020B0609020204030204" pitchFamily="49" charset="0"/>
              </a:rPr>
              <a:t>（</a:t>
            </a:r>
            <a:r>
              <a:rPr lang="zh-CN" altLang="en-US" sz="1600" b="0" i="1" dirty="0">
                <a:solidFill>
                  <a:srgbClr val="212121"/>
                </a:solidFill>
                <a:effectLst/>
                <a:latin typeface="Roboto" panose="02000000000000000000" pitchFamily="2" charset="0"/>
              </a:rPr>
              <a:t>音频后端库</a:t>
            </a:r>
            <a:r>
              <a:rPr lang="zh-CN" altLang="en-US" sz="1600" i="1" dirty="0">
                <a:solidFill>
                  <a:srgbClr val="333333"/>
                </a:solidFill>
                <a:latin typeface="Consolas" panose="020B0609020204030204" pitchFamily="49" charset="0"/>
              </a:rPr>
              <a:t>），如：</a:t>
            </a:r>
            <a:r>
              <a:rPr lang="en-US" altLang="zh-CN" sz="1600" b="0" i="1" dirty="0" err="1">
                <a:solidFill>
                  <a:srgbClr val="333333"/>
                </a:solidFill>
                <a:effectLst/>
                <a:latin typeface="Consolas" panose="020B0609020204030204" pitchFamily="49" charset="0"/>
              </a:rPr>
              <a:t>soundfile</a:t>
            </a:r>
            <a:r>
              <a:rPr lang="zh-CN" altLang="en-US" sz="1600" b="0" i="1" dirty="0">
                <a:solidFill>
                  <a:srgbClr val="333333"/>
                </a:solidFill>
                <a:effectLst/>
                <a:latin typeface="Consolas" panose="020B0609020204030204" pitchFamily="49" charset="0"/>
              </a:rPr>
              <a:t>、</a:t>
            </a:r>
            <a:r>
              <a:rPr lang="en-US" altLang="zh-CN" sz="1600" b="0" i="1" dirty="0" err="1">
                <a:solidFill>
                  <a:srgbClr val="333333"/>
                </a:solidFill>
                <a:effectLst/>
                <a:latin typeface="Consolas" panose="020B0609020204030204" pitchFamily="49" charset="0"/>
              </a:rPr>
              <a:t>Librosa</a:t>
            </a:r>
            <a:r>
              <a:rPr lang="zh-CN" altLang="en-US" sz="1600" b="0" i="1" dirty="0">
                <a:solidFill>
                  <a:srgbClr val="333333"/>
                </a:solidFill>
                <a:effectLst/>
                <a:latin typeface="Consolas" panose="020B0609020204030204" pitchFamily="49" charset="0"/>
              </a:rPr>
              <a:t>、</a:t>
            </a:r>
            <a:r>
              <a:rPr lang="en-US" altLang="zh-CN" sz="1600" b="0" i="1" dirty="0">
                <a:solidFill>
                  <a:srgbClr val="333333"/>
                </a:solidFill>
                <a:effectLst/>
                <a:latin typeface="Consolas" panose="020B0609020204030204" pitchFamily="49" charset="0"/>
              </a:rPr>
              <a:t>sox</a:t>
            </a:r>
            <a:endParaRPr lang="zh-CN" altLang="en-US" sz="1600" i="1" dirty="0"/>
          </a:p>
        </p:txBody>
      </p:sp>
    </p:spTree>
    <p:custDataLst>
      <p:tags r:id="rId1"/>
    </p:custDataLst>
  </p:cSld>
  <p:clrMapOvr>
    <a:masterClrMapping/>
  </p:clrMapOvr>
  <p:transition spd="slow">
    <p:push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5.4.4 </a:t>
            </a:r>
            <a:r>
              <a:rPr lang="en-US" altLang="zh-CN" dirty="0" err="1">
                <a:solidFill>
                  <a:srgbClr val="577CCE"/>
                </a:solidFill>
                <a:latin typeface="Consolas" panose="020B0609020204030204" pitchFamily="49" charset="0"/>
              </a:rPr>
              <a:t>torchaudio</a:t>
            </a:r>
            <a:endParaRPr lang="zh-CN" altLang="en-US" b="0" dirty="0">
              <a:solidFill>
                <a:srgbClr val="577CCE"/>
              </a:solidFill>
              <a:effectLst/>
              <a:latin typeface="Consolas" panose="020B0609020204030204" pitchFamily="49" charset="0"/>
            </a:endParaRPr>
          </a:p>
        </p:txBody>
      </p:sp>
      <p:sp>
        <p:nvSpPr>
          <p:cNvPr id="6" name="文本框 5"/>
          <p:cNvSpPr txBox="1"/>
          <p:nvPr/>
        </p:nvSpPr>
        <p:spPr>
          <a:xfrm>
            <a:off x="799451" y="1545034"/>
            <a:ext cx="1089153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下面的代码给出查看音频文件信息并进行显示的示例。</a:t>
            </a:r>
            <a:endParaRPr lang="zh-CN" altLang="en-US" b="0" dirty="0">
              <a:solidFill>
                <a:srgbClr val="24292E"/>
              </a:solidFill>
              <a:effectLst/>
              <a:latin typeface="Consolas" panose="020B0609020204030204" pitchFamily="49" charset="0"/>
            </a:endParaRPr>
          </a:p>
        </p:txBody>
      </p:sp>
      <p:sp>
        <p:nvSpPr>
          <p:cNvPr id="3" name="文本框 2"/>
          <p:cNvSpPr txBox="1"/>
          <p:nvPr/>
        </p:nvSpPr>
        <p:spPr>
          <a:xfrm>
            <a:off x="1346200" y="1999450"/>
            <a:ext cx="10650782" cy="3416320"/>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requests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a:t>
            </a:r>
            <a:r>
              <a:rPr lang="zh-CN" altLang="en-US" b="0" dirty="0">
                <a:solidFill>
                  <a:srgbClr val="6A737D"/>
                </a:solidFill>
                <a:effectLst/>
                <a:latin typeface="Consolas" panose="020B0609020204030204" pitchFamily="49" charset="0"/>
              </a:rPr>
              <a:t>导入从网络下载文件用到的包</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os</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SAMPLE_WAV_URL</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"https://pytorch-tutorial-assets.s3.amazonaws.com/</a:t>
            </a:r>
            <a:r>
              <a:rPr lang="en-US" altLang="zh-CN" b="0" dirty="0" err="1">
                <a:solidFill>
                  <a:srgbClr val="032F62"/>
                </a:solidFill>
                <a:effectLst/>
                <a:latin typeface="Consolas" panose="020B0609020204030204" pitchFamily="49" charset="0"/>
              </a:rPr>
              <a:t>VOiCES_devkit</a:t>
            </a:r>
            <a:r>
              <a:rPr lang="en-US" altLang="zh-CN" b="0" dirty="0">
                <a:solidFill>
                  <a:srgbClr val="032F62"/>
                </a:solidFill>
                <a:effectLst/>
                <a:latin typeface="Consolas" panose="020B0609020204030204" pitchFamily="49" charset="0"/>
              </a:rPr>
              <a:t>/source-16k/train/sp0307/Lab41-SRI-VOiCES-src-sp0307-ch127535-sg0042.wav"</a:t>
            </a:r>
            <a:endParaRPr lang="en-US" altLang="zh-CN" b="0" dirty="0">
              <a:solidFill>
                <a:srgbClr val="24292E"/>
              </a:solidFill>
              <a:effectLst/>
              <a:latin typeface="Consolas" panose="020B0609020204030204" pitchFamily="49" charset="0"/>
            </a:endParaRPr>
          </a:p>
          <a:p>
            <a:r>
              <a:rPr lang="en-US" altLang="zh-CN" b="0" dirty="0">
                <a:solidFill>
                  <a:srgbClr val="005CC5"/>
                </a:solidFill>
                <a:effectLst/>
                <a:latin typeface="Consolas" panose="020B0609020204030204" pitchFamily="49" charset="0"/>
              </a:rPr>
              <a:t>SPEECH_FILE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os</a:t>
            </a:r>
            <a:r>
              <a:rPr lang="en-US" altLang="zh-CN" b="0" dirty="0" err="1">
                <a:solidFill>
                  <a:srgbClr val="24292E"/>
                </a:solidFill>
                <a:effectLst/>
                <a:latin typeface="Consolas" panose="020B0609020204030204" pitchFamily="49" charset="0"/>
              </a:rPr>
              <a:t>.path.</a:t>
            </a:r>
            <a:r>
              <a:rPr lang="en-US" altLang="zh-CN" b="0" dirty="0" err="1">
                <a:solidFill>
                  <a:srgbClr val="6F42C1"/>
                </a:solidFill>
                <a:effectLst/>
                <a:latin typeface="Consolas" panose="020B0609020204030204" pitchFamily="49" charset="0"/>
              </a:rPr>
              <a:t>join</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"speech.wav"</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if</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not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os</a:t>
            </a:r>
            <a:r>
              <a:rPr lang="en-US" altLang="zh-CN" b="0" dirty="0" err="1">
                <a:solidFill>
                  <a:srgbClr val="24292E"/>
                </a:solidFill>
                <a:effectLst/>
                <a:latin typeface="Consolas" panose="020B0609020204030204" pitchFamily="49" charset="0"/>
              </a:rPr>
              <a:t>.path.</a:t>
            </a:r>
            <a:r>
              <a:rPr lang="en-US" altLang="zh-CN" b="0" dirty="0" err="1">
                <a:solidFill>
                  <a:srgbClr val="6F42C1"/>
                </a:solidFill>
                <a:effectLst/>
                <a:latin typeface="Consolas" panose="020B0609020204030204" pitchFamily="49" charset="0"/>
              </a:rPr>
              <a:t>exists</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SPEECH_FILE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如果文件在本地不存在，则下载该文件</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with</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open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SPEECH_FILE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wb</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file_:</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file_.</a:t>
            </a:r>
            <a:r>
              <a:rPr lang="en-US" altLang="zh-CN" b="0" dirty="0" err="1">
                <a:solidFill>
                  <a:srgbClr val="6F42C1"/>
                </a:solidFill>
                <a:effectLst/>
                <a:latin typeface="Consolas" panose="020B0609020204030204" pitchFamily="49" charset="0"/>
              </a:rPr>
              <a:t>write</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requests</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get</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SAMPLE_WAV_URL</a:t>
            </a:r>
            <a:r>
              <a:rPr lang="en-US" altLang="zh-CN" b="0" dirty="0">
                <a:solidFill>
                  <a:srgbClr val="24292E"/>
                </a:solidFill>
                <a:effectLst/>
                <a:latin typeface="Consolas" panose="020B0609020204030204" pitchFamily="49" charset="0"/>
              </a:rPr>
              <a:t>).content)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file_.</a:t>
            </a:r>
            <a:r>
              <a:rPr lang="en-US" altLang="zh-CN" b="0" dirty="0" err="1">
                <a:solidFill>
                  <a:srgbClr val="6F42C1"/>
                </a:solidFill>
                <a:effectLst/>
                <a:latin typeface="Consolas" panose="020B0609020204030204" pitchFamily="49" charset="0"/>
              </a:rPr>
              <a:t>close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metadata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torchaudio</a:t>
            </a:r>
            <a:r>
              <a:rPr lang="en-US" altLang="zh-CN" b="0" dirty="0">
                <a:solidFill>
                  <a:srgbClr val="24292E"/>
                </a:solidFill>
                <a:effectLst/>
                <a:latin typeface="Consolas" panose="020B0609020204030204" pitchFamily="49" charset="0"/>
              </a:rPr>
              <a:t>.info(</a:t>
            </a:r>
            <a:r>
              <a:rPr lang="en-US" altLang="zh-CN" b="0" dirty="0">
                <a:solidFill>
                  <a:srgbClr val="005CC5"/>
                </a:solidFill>
                <a:effectLst/>
                <a:latin typeface="Consolas" panose="020B0609020204030204" pitchFamily="49" charset="0"/>
              </a:rPr>
              <a:t>SPEECH_FILE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得到音频文件信息</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(metadata)</a:t>
            </a:r>
            <a:endParaRPr lang="en-US" altLang="zh-CN" b="0" dirty="0">
              <a:solidFill>
                <a:srgbClr val="24292E"/>
              </a:solidFill>
              <a:effectLst/>
              <a:latin typeface="Consolas" panose="020B0609020204030204" pitchFamily="49" charset="0"/>
            </a:endParaRPr>
          </a:p>
        </p:txBody>
      </p:sp>
      <p:pic>
        <p:nvPicPr>
          <p:cNvPr id="7" name="图片 6"/>
          <p:cNvPicPr>
            <a:picLocks noChangeAspect="1"/>
          </p:cNvPicPr>
          <p:nvPr/>
        </p:nvPicPr>
        <p:blipFill>
          <a:blip r:embed="rId1"/>
          <a:stretch>
            <a:fillRect/>
          </a:stretch>
        </p:blipFill>
        <p:spPr>
          <a:xfrm>
            <a:off x="1346199" y="5827554"/>
            <a:ext cx="10207753" cy="335549"/>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5.4.4 </a:t>
            </a:r>
            <a:r>
              <a:rPr lang="en-US" altLang="zh-CN" dirty="0" err="1">
                <a:solidFill>
                  <a:srgbClr val="577CCE"/>
                </a:solidFill>
                <a:latin typeface="Consolas" panose="020B0609020204030204" pitchFamily="49" charset="0"/>
              </a:rPr>
              <a:t>torchaudio</a:t>
            </a:r>
            <a:endParaRPr lang="zh-CN" altLang="en-US" b="0" dirty="0">
              <a:solidFill>
                <a:srgbClr val="577CCE"/>
              </a:solidFill>
              <a:effectLst/>
              <a:latin typeface="Consolas" panose="020B0609020204030204" pitchFamily="49" charset="0"/>
            </a:endParaRPr>
          </a:p>
        </p:txBody>
      </p:sp>
      <p:pic>
        <p:nvPicPr>
          <p:cNvPr id="7" name="图片 6"/>
          <p:cNvPicPr>
            <a:picLocks noChangeAspect="1"/>
          </p:cNvPicPr>
          <p:nvPr/>
        </p:nvPicPr>
        <p:blipFill>
          <a:blip r:embed="rId1"/>
          <a:stretch>
            <a:fillRect/>
          </a:stretch>
        </p:blipFill>
        <p:spPr>
          <a:xfrm>
            <a:off x="851249" y="1545034"/>
            <a:ext cx="10207753" cy="335549"/>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文本框 4"/>
          <p:cNvSpPr txBox="1"/>
          <p:nvPr/>
        </p:nvSpPr>
        <p:spPr>
          <a:xfrm>
            <a:off x="723549" y="2176267"/>
            <a:ext cx="10609977" cy="1477328"/>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通过结果可知，该音频文件</a:t>
            </a:r>
            <a:r>
              <a:rPr lang="zh-CN" altLang="en-US" b="0" dirty="0">
                <a:solidFill>
                  <a:srgbClr val="577CCE"/>
                </a:solidFill>
                <a:effectLst/>
                <a:latin typeface="Consolas" panose="020B0609020204030204" pitchFamily="49" charset="0"/>
              </a:rPr>
              <a:t>采样率为</a:t>
            </a:r>
            <a:r>
              <a:rPr lang="en-US" altLang="zh-CN" b="0" dirty="0">
                <a:solidFill>
                  <a:srgbClr val="577CCE"/>
                </a:solidFill>
                <a:effectLst/>
                <a:latin typeface="Consolas" panose="020B0609020204030204" pitchFamily="49" charset="0"/>
              </a:rPr>
              <a:t>16000Hz</a:t>
            </a:r>
            <a:r>
              <a:rPr lang="zh-CN" altLang="en-US" b="0" dirty="0">
                <a:solidFill>
                  <a:srgbClr val="24292E"/>
                </a:solidFill>
                <a:effectLst/>
                <a:latin typeface="Consolas" panose="020B0609020204030204" pitchFamily="49" charset="0"/>
              </a:rPr>
              <a:t>，共有</a:t>
            </a:r>
            <a:r>
              <a:rPr lang="en-US" altLang="zh-CN" b="0" dirty="0">
                <a:solidFill>
                  <a:srgbClr val="577CCE"/>
                </a:solidFill>
                <a:effectLst/>
                <a:latin typeface="Consolas" panose="020B0609020204030204" pitchFamily="49" charset="0"/>
              </a:rPr>
              <a:t>54400</a:t>
            </a:r>
            <a:r>
              <a:rPr lang="zh-CN" altLang="en-US" b="0" dirty="0">
                <a:solidFill>
                  <a:srgbClr val="577CCE"/>
                </a:solidFill>
                <a:effectLst/>
                <a:latin typeface="Consolas" panose="020B0609020204030204" pitchFamily="49" charset="0"/>
              </a:rPr>
              <a:t>个采样</a:t>
            </a:r>
            <a:r>
              <a:rPr lang="zh-CN" altLang="en-US" b="0" dirty="0">
                <a:solidFill>
                  <a:srgbClr val="24292E"/>
                </a:solidFill>
                <a:effectLst/>
                <a:latin typeface="Consolas" panose="020B0609020204030204" pitchFamily="49" charset="0"/>
              </a:rPr>
              <a:t>，</a:t>
            </a:r>
            <a:r>
              <a:rPr lang="zh-CN" altLang="en-US" b="0" dirty="0">
                <a:solidFill>
                  <a:srgbClr val="577CCE"/>
                </a:solidFill>
                <a:effectLst/>
                <a:latin typeface="Consolas" panose="020B0609020204030204" pitchFamily="49" charset="0"/>
              </a:rPr>
              <a:t>单声道</a:t>
            </a:r>
            <a:r>
              <a:rPr lang="zh-CN" altLang="en-US" b="0" dirty="0">
                <a:solidFill>
                  <a:srgbClr val="24292E"/>
                </a:solidFill>
                <a:effectLst/>
                <a:latin typeface="Consolas" panose="020B0609020204030204" pitchFamily="49" charset="0"/>
              </a:rPr>
              <a:t>，</a:t>
            </a:r>
            <a:r>
              <a:rPr lang="zh-CN" altLang="en-US" b="0" dirty="0">
                <a:solidFill>
                  <a:srgbClr val="577CCE"/>
                </a:solidFill>
                <a:effectLst/>
                <a:latin typeface="Consolas" panose="020B0609020204030204" pitchFamily="49" charset="0"/>
              </a:rPr>
              <a:t>采样采用</a:t>
            </a:r>
            <a:r>
              <a:rPr lang="en-US" altLang="zh-CN" b="0" dirty="0">
                <a:solidFill>
                  <a:srgbClr val="577CCE"/>
                </a:solidFill>
                <a:effectLst/>
                <a:latin typeface="Consolas" panose="020B0609020204030204" pitchFamily="49" charset="0"/>
              </a:rPr>
              <a:t>16bit</a:t>
            </a:r>
            <a:r>
              <a:rPr lang="zh-CN" altLang="en-US" b="0" dirty="0">
                <a:solidFill>
                  <a:srgbClr val="577CCE"/>
                </a:solidFill>
                <a:effectLst/>
                <a:latin typeface="Consolas" panose="020B0609020204030204" pitchFamily="49" charset="0"/>
              </a:rPr>
              <a:t>编码</a:t>
            </a:r>
            <a:r>
              <a:rPr lang="zh-CN" altLang="en-US" b="0" dirty="0">
                <a:solidFill>
                  <a:srgbClr val="24292E"/>
                </a:solidFill>
                <a:effectLst/>
                <a:latin typeface="Consolas" panose="020B0609020204030204" pitchFamily="49" charset="0"/>
              </a:rPr>
              <a:t>，使用</a:t>
            </a:r>
            <a:r>
              <a:rPr lang="en-US" altLang="zh-CN" b="0" dirty="0">
                <a:solidFill>
                  <a:srgbClr val="577CCE"/>
                </a:solidFill>
                <a:effectLst/>
                <a:latin typeface="Consolas" panose="020B0609020204030204" pitchFamily="49" charset="0"/>
              </a:rPr>
              <a:t>PCM_S</a:t>
            </a:r>
            <a:r>
              <a:rPr lang="zh-CN" altLang="en-US" b="0" dirty="0">
                <a:solidFill>
                  <a:srgbClr val="577CCE"/>
                </a:solidFill>
                <a:effectLst/>
                <a:latin typeface="Consolas" panose="020B0609020204030204" pitchFamily="49" charset="0"/>
              </a:rPr>
              <a:t>编码方式</a:t>
            </a:r>
            <a:r>
              <a:rPr lang="zh-CN" altLang="en-US" b="0" dirty="0">
                <a:solidFill>
                  <a:srgbClr val="24292E"/>
                </a:solidFill>
                <a:effectLst/>
                <a:latin typeface="Consolas" panose="020B0609020204030204" pitchFamily="49" charset="0"/>
              </a:rPr>
              <a:t>。我们可以在当前目录中找到该文件并使用播放器进行播放，内容为一段</a:t>
            </a:r>
            <a:r>
              <a:rPr lang="en-US" altLang="zh-CN" b="0" dirty="0">
                <a:solidFill>
                  <a:srgbClr val="24292E"/>
                </a:solidFill>
                <a:effectLst/>
                <a:latin typeface="Consolas" panose="020B0609020204030204" pitchFamily="49" charset="0"/>
              </a:rPr>
              <a:t>3.4</a:t>
            </a:r>
            <a:r>
              <a:rPr lang="zh-CN" altLang="en-US" b="0" dirty="0">
                <a:solidFill>
                  <a:srgbClr val="24292E"/>
                </a:solidFill>
                <a:effectLst/>
                <a:latin typeface="Consolas" panose="020B0609020204030204" pitchFamily="49" charset="0"/>
              </a:rPr>
              <a:t>秒的男生英文语音：“</a:t>
            </a:r>
            <a:r>
              <a:rPr lang="en-US" altLang="zh-CN" b="0" i="1" dirty="0">
                <a:solidFill>
                  <a:srgbClr val="FF0000"/>
                </a:solidFill>
                <a:effectLst/>
                <a:latin typeface="Consolas" panose="020B0609020204030204" pitchFamily="49" charset="0"/>
              </a:rPr>
              <a:t>I had that curiosity beside me at this moment. </a:t>
            </a:r>
            <a:r>
              <a:rPr lang="en-US" altLang="zh-CN" b="0" dirty="0">
                <a:solidFill>
                  <a:srgbClr val="24292E"/>
                </a:solidFill>
                <a:effectLst/>
                <a:latin typeface="Consolas" panose="020B0609020204030204" pitchFamily="49" charset="0"/>
              </a:rPr>
              <a:t>”</a:t>
            </a:r>
            <a:r>
              <a:rPr lang="zh-CN" altLang="en-US" b="0" dirty="0">
                <a:solidFill>
                  <a:srgbClr val="24292E"/>
                </a:solidFill>
                <a:effectLst/>
                <a:latin typeface="Consolas" panose="020B0609020204030204" pitchFamily="49" charset="0"/>
              </a:rPr>
              <a:t>。</a:t>
            </a:r>
            <a:endParaRPr lang="zh-CN" altLang="en-US" b="0" dirty="0">
              <a:solidFill>
                <a:srgbClr val="24292E"/>
              </a:solidFill>
              <a:effectLst/>
              <a:latin typeface="Consolas" panose="020B0609020204030204" pitchFamily="49" charset="0"/>
            </a:endParaRPr>
          </a:p>
          <a:p>
            <a:br>
              <a:rPr lang="zh-CN" altLang="en-US" b="0" dirty="0">
                <a:solidFill>
                  <a:srgbClr val="24292E"/>
                </a:solidFill>
                <a:effectLst/>
                <a:latin typeface="Consolas" panose="020B0609020204030204" pitchFamily="49" charset="0"/>
              </a:rPr>
            </a:br>
            <a:r>
              <a:rPr lang="zh-CN" altLang="en-US" b="0" dirty="0">
                <a:solidFill>
                  <a:srgbClr val="24292E"/>
                </a:solidFill>
                <a:effectLst/>
                <a:latin typeface="Consolas" panose="020B0609020204030204" pitchFamily="49" charset="0"/>
              </a:rPr>
              <a:t>下面我们将使用预训练英文语音识别模型，对上例中的音频文件进行识别。</a:t>
            </a:r>
            <a:endParaRPr lang="zh-CN" altLang="en-US" b="0" dirty="0">
              <a:solidFill>
                <a:srgbClr val="24292E"/>
              </a:solidFill>
              <a:effectLst/>
              <a:latin typeface="Consolas" panose="020B0609020204030204" pitchFamily="49" charset="0"/>
            </a:endParaRPr>
          </a:p>
        </p:txBody>
      </p:sp>
      <p:sp>
        <p:nvSpPr>
          <p:cNvPr id="15" name="文本框 14"/>
          <p:cNvSpPr txBox="1"/>
          <p:nvPr/>
        </p:nvSpPr>
        <p:spPr>
          <a:xfrm>
            <a:off x="1655453" y="3808664"/>
            <a:ext cx="9217404" cy="2585323"/>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得到可用的计算资源</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device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device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cuda</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if</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cuda</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is_available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else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cpu</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打开音频文件</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waveform, </a:t>
            </a:r>
            <a:r>
              <a:rPr lang="en-US" altLang="zh-CN" b="0" dirty="0" err="1">
                <a:solidFill>
                  <a:srgbClr val="24292E"/>
                </a:solidFill>
                <a:effectLst/>
                <a:latin typeface="Consolas" panose="020B0609020204030204" pitchFamily="49" charset="0"/>
              </a:rPr>
              <a:t>sample_rate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torchaudio</a:t>
            </a:r>
            <a:r>
              <a:rPr lang="en-US" altLang="zh-CN" b="0" dirty="0" err="1">
                <a:solidFill>
                  <a:srgbClr val="24292E"/>
                </a:solidFill>
                <a:effectLst/>
                <a:latin typeface="Consolas" panose="020B0609020204030204" pitchFamily="49" charset="0"/>
              </a:rPr>
              <a:t>.load</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SPEECH_FILE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waveform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waveform.to(device)</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设置预训练模型</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bundle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torchaudio</a:t>
            </a:r>
            <a:r>
              <a:rPr lang="en-US" altLang="zh-CN" b="0" dirty="0">
                <a:solidFill>
                  <a:srgbClr val="24292E"/>
                </a:solidFill>
                <a:effectLst/>
                <a:latin typeface="Consolas" panose="020B0609020204030204" pitchFamily="49" charset="0"/>
              </a:rPr>
              <a:t>.pipelines.</a:t>
            </a:r>
            <a:r>
              <a:rPr lang="en-US" altLang="zh-CN" b="0" dirty="0">
                <a:solidFill>
                  <a:srgbClr val="005CC5"/>
                </a:solidFill>
                <a:effectLst/>
                <a:latin typeface="Consolas" panose="020B0609020204030204" pitchFamily="49" charset="0"/>
              </a:rPr>
              <a:t>WAV2VEC2_ASR_BASE_960H</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model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bundle.get_model</a:t>
            </a:r>
            <a:r>
              <a:rPr lang="en-US" altLang="zh-CN" b="0" dirty="0">
                <a:solidFill>
                  <a:srgbClr val="24292E"/>
                </a:solidFill>
                <a:effectLst/>
                <a:latin typeface="Consolas" panose="020B0609020204030204" pitchFamily="49" charset="0"/>
              </a:rPr>
              <a:t>().to(device)</a:t>
            </a:r>
            <a:endParaRPr lang="en-US" altLang="zh-CN" b="0" dirty="0">
              <a:solidFill>
                <a:srgbClr val="24292E"/>
              </a:solidFill>
              <a:effectLst/>
              <a:latin typeface="Consolas" panose="020B0609020204030204" pitchFamily="49" charset="0"/>
            </a:endParaRPr>
          </a:p>
        </p:txBody>
      </p:sp>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5.4.4 </a:t>
            </a:r>
            <a:r>
              <a:rPr lang="en-US" altLang="zh-CN" dirty="0" err="1">
                <a:solidFill>
                  <a:srgbClr val="577CCE"/>
                </a:solidFill>
                <a:latin typeface="Consolas" panose="020B0609020204030204" pitchFamily="49" charset="0"/>
              </a:rPr>
              <a:t>torchaudio</a:t>
            </a:r>
            <a:endParaRPr lang="zh-CN" altLang="en-US" b="0" dirty="0">
              <a:solidFill>
                <a:srgbClr val="577CCE"/>
              </a:solidFill>
              <a:effectLst/>
              <a:latin typeface="Consolas" panose="020B0609020204030204" pitchFamily="49" charset="0"/>
            </a:endParaRPr>
          </a:p>
        </p:txBody>
      </p:sp>
      <p:sp>
        <p:nvSpPr>
          <p:cNvPr id="17" name="文本框 16"/>
          <p:cNvSpPr txBox="1"/>
          <p:nvPr/>
        </p:nvSpPr>
        <p:spPr>
          <a:xfrm>
            <a:off x="531329" y="1399778"/>
            <a:ext cx="11465652" cy="5355312"/>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确定合适的采用频率</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if</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sample_rate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bundle.sample_rate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Waveform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torchaudio</a:t>
            </a:r>
            <a:r>
              <a:rPr lang="en-US" altLang="zh-CN" b="0" dirty="0" err="1">
                <a:solidFill>
                  <a:srgbClr val="24292E"/>
                </a:solidFill>
                <a:effectLst/>
                <a:latin typeface="Consolas" panose="020B0609020204030204" pitchFamily="49" charset="0"/>
              </a:rPr>
              <a:t>.functional.resample</a:t>
            </a:r>
            <a:r>
              <a:rPr lang="en-US" altLang="zh-CN" b="0" dirty="0">
                <a:solidFill>
                  <a:srgbClr val="24292E"/>
                </a:solidFill>
                <a:effectLst/>
                <a:latin typeface="Consolas" panose="020B0609020204030204" pitchFamily="49" charset="0"/>
              </a:rPr>
              <a:t>(waveform, </a:t>
            </a:r>
            <a:r>
              <a:rPr lang="en-US" altLang="zh-CN" b="0" dirty="0" err="1">
                <a:solidFill>
                  <a:srgbClr val="24292E"/>
                </a:solidFill>
                <a:effectLst/>
                <a:latin typeface="Consolas" panose="020B0609020204030204" pitchFamily="49" charset="0"/>
              </a:rPr>
              <a:t>sample_rate</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bundle.sample_rate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对音频数据进行分类，得到每个音素对应的每个类别的概率</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with</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inference_mode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emission, _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model(waveform)</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定义针对分类结果的识别模型类    </a:t>
            </a:r>
            <a:endParaRPr lang="zh-CN" altLang="en-US"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class</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GreedyCTCDecoder</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Module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def</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__</a:t>
            </a:r>
            <a:r>
              <a:rPr lang="en-US" altLang="zh-CN" b="0" dirty="0" err="1">
                <a:solidFill>
                  <a:srgbClr val="005CC5"/>
                </a:solidFill>
                <a:effectLst/>
                <a:latin typeface="Consolas" panose="020B0609020204030204" pitchFamily="49" charset="0"/>
              </a:rPr>
              <a:t>init</a:t>
            </a:r>
            <a:r>
              <a:rPr lang="en-US" altLang="zh-CN" b="0" dirty="0">
                <a:solidFill>
                  <a:srgbClr val="005CC5"/>
                </a:solidFill>
                <a:effectLst/>
                <a:latin typeface="Consolas" panose="020B0609020204030204" pitchFamily="49" charset="0"/>
              </a:rPr>
              <a:t>__</a:t>
            </a:r>
            <a:r>
              <a:rPr lang="en-US" altLang="zh-CN" b="0" dirty="0">
                <a:solidFill>
                  <a:srgbClr val="24292E"/>
                </a:solidFill>
                <a:effectLst/>
                <a:latin typeface="Consolas" panose="020B0609020204030204" pitchFamily="49" charset="0"/>
              </a:rPr>
              <a:t>(self, </a:t>
            </a:r>
            <a:r>
              <a:rPr lang="en-US" altLang="zh-CN" b="0" dirty="0">
                <a:solidFill>
                  <a:srgbClr val="E36209"/>
                </a:solidFill>
                <a:effectLst/>
                <a:latin typeface="Consolas" panose="020B0609020204030204" pitchFamily="49" charset="0"/>
              </a:rPr>
              <a:t>labels</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blank</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super</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__</a:t>
            </a:r>
            <a:r>
              <a:rPr lang="en-US" altLang="zh-CN" b="0" dirty="0" err="1">
                <a:solidFill>
                  <a:srgbClr val="005CC5"/>
                </a:solidFill>
                <a:effectLst/>
                <a:latin typeface="Consolas" panose="020B0609020204030204" pitchFamily="49" charset="0"/>
              </a:rPr>
              <a:t>init</a:t>
            </a:r>
            <a:r>
              <a:rPr lang="en-US" altLang="zh-CN" b="0" dirty="0">
                <a:solidFill>
                  <a:srgbClr val="005CC5"/>
                </a:solidFill>
                <a:effectLst/>
                <a:latin typeface="Consolas" panose="020B0609020204030204" pitchFamily="49" charset="0"/>
              </a:rPr>
              <a:t>__</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self.labels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labels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self.blank</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blank</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def</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forward</a:t>
            </a:r>
            <a:r>
              <a:rPr lang="en-US" altLang="zh-CN" b="0" dirty="0">
                <a:solidFill>
                  <a:srgbClr val="24292E"/>
                </a:solidFill>
                <a:effectLst/>
                <a:latin typeface="Consolas" panose="020B0609020204030204" pitchFamily="49" charset="0"/>
              </a:rPr>
              <a:t>(self, </a:t>
            </a:r>
            <a:r>
              <a:rPr lang="en-US" altLang="zh-CN" b="0" dirty="0">
                <a:solidFill>
                  <a:srgbClr val="E36209"/>
                </a:solidFill>
                <a:effectLst/>
                <a:latin typeface="Consolas" panose="020B0609020204030204" pitchFamily="49" charset="0"/>
              </a:rPr>
              <a:t>emission</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Tensor</a:t>
            </a:r>
            <a:r>
              <a:rPr lang="en-US" altLang="zh-CN" b="0" dirty="0">
                <a:solidFill>
                  <a:srgbClr val="24292E"/>
                </a:solidFill>
                <a:effectLst/>
                <a:latin typeface="Consolas" panose="020B0609020204030204" pitchFamily="49" charset="0"/>
              </a:rPr>
              <a:t>) -&gt; </a:t>
            </a:r>
            <a:r>
              <a:rPr lang="en-US" altLang="zh-CN" b="0" dirty="0">
                <a:solidFill>
                  <a:srgbClr val="6F42C1"/>
                </a:solidFill>
                <a:effectLst/>
                <a:latin typeface="Consolas" panose="020B0609020204030204" pitchFamily="49" charset="0"/>
              </a:rPr>
              <a:t>str</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indices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argmax</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emission</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dim</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en-US" altLang="zh-CN" b="0" dirty="0" err="1">
                <a:solidFill>
                  <a:srgbClr val="6A737D"/>
                </a:solidFill>
                <a:effectLst/>
                <a:latin typeface="Consolas" panose="020B0609020204030204" pitchFamily="49" charset="0"/>
              </a:rPr>
              <a:t>num_seq</a:t>
            </a:r>
            <a:r>
              <a:rPr lang="en-US" altLang="zh-CN" b="0" dirty="0">
                <a:solidFill>
                  <a:srgbClr val="6A737D"/>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indices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.unique_consecutive</a:t>
            </a:r>
            <a:r>
              <a:rPr lang="en-US" altLang="zh-CN" b="0" dirty="0">
                <a:solidFill>
                  <a:srgbClr val="24292E"/>
                </a:solidFill>
                <a:effectLst/>
                <a:latin typeface="Consolas" panose="020B0609020204030204" pitchFamily="49" charset="0"/>
              </a:rPr>
              <a:t>(indices, </a:t>
            </a:r>
            <a:r>
              <a:rPr lang="en-US" altLang="zh-CN" b="0" dirty="0">
                <a:solidFill>
                  <a:srgbClr val="E36209"/>
                </a:solidFill>
                <a:effectLst/>
                <a:latin typeface="Consolas" panose="020B0609020204030204" pitchFamily="49" charset="0"/>
              </a:rPr>
              <a:t>dim</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indices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indices </a:t>
            </a:r>
            <a:r>
              <a:rPr lang="en-US" altLang="zh-CN" b="0" dirty="0">
                <a:solidFill>
                  <a:srgbClr val="D73A49"/>
                </a:solidFill>
                <a:effectLst/>
                <a:latin typeface="Consolas" panose="020B0609020204030204" pitchFamily="49" charset="0"/>
              </a:rPr>
              <a:t>if</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self.blank</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return</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join</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self.labels</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i</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i</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indices])</a:t>
            </a:r>
            <a:endParaRPr lang="en-US" altLang="zh-CN" b="0" dirty="0">
              <a:solidFill>
                <a:srgbClr val="24292E"/>
              </a:solidFill>
              <a:effectLst/>
              <a:latin typeface="Consolas" panose="020B0609020204030204" pitchFamily="49" charset="0"/>
            </a:endParaRPr>
          </a:p>
          <a:p>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5.4.4 </a:t>
            </a:r>
            <a:r>
              <a:rPr lang="en-US" altLang="zh-CN" dirty="0" err="1">
                <a:solidFill>
                  <a:srgbClr val="577CCE"/>
                </a:solidFill>
                <a:latin typeface="Consolas" panose="020B0609020204030204" pitchFamily="49" charset="0"/>
              </a:rPr>
              <a:t>torchaudio</a:t>
            </a:r>
            <a:endParaRPr lang="zh-CN" altLang="en-US" b="0" dirty="0">
              <a:solidFill>
                <a:srgbClr val="577CCE"/>
              </a:solidFill>
              <a:effectLst/>
              <a:latin typeface="Consolas" panose="020B0609020204030204" pitchFamily="49" charset="0"/>
            </a:endParaRPr>
          </a:p>
        </p:txBody>
      </p:sp>
      <p:sp>
        <p:nvSpPr>
          <p:cNvPr id="3" name="文本框 2"/>
          <p:cNvSpPr txBox="1"/>
          <p:nvPr/>
        </p:nvSpPr>
        <p:spPr>
          <a:xfrm>
            <a:off x="908107" y="1545034"/>
            <a:ext cx="9905301" cy="1754326"/>
          </a:xfrm>
          <a:prstGeom prst="rect">
            <a:avLst/>
          </a:prstGeom>
          <a:noFill/>
        </p:spPr>
        <p:txBody>
          <a:bodyPr wrap="square">
            <a:spAutoFit/>
          </a:bodyPr>
          <a:lstStyle/>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识别模型类实例化</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decoder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GreedyCTCDecoder</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labels</a:t>
            </a:r>
            <a:r>
              <a:rPr lang="en-US" altLang="zh-CN" b="0" dirty="0">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bundle.get_labels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针对分类结果进行识别，得到识别的字符串</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transcript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decoder(emission[</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打印最终的音频识别结果</a:t>
            </a:r>
            <a:endParaRPr lang="zh-CN" altLang="en-US" b="0" dirty="0">
              <a:solidFill>
                <a:srgbClr val="24292E"/>
              </a:solidFill>
              <a:effectLst/>
              <a:latin typeface="Consolas" panose="020B0609020204030204" pitchFamily="49" charset="0"/>
            </a:endParaRPr>
          </a:p>
          <a:p>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(transcript)</a:t>
            </a:r>
            <a:endParaRPr lang="zh-CN" altLang="en-US" dirty="0"/>
          </a:p>
        </p:txBody>
      </p:sp>
      <p:sp>
        <p:nvSpPr>
          <p:cNvPr id="5" name="文本框 4"/>
          <p:cNvSpPr txBox="1"/>
          <p:nvPr/>
        </p:nvSpPr>
        <p:spPr>
          <a:xfrm>
            <a:off x="5075339" y="2976194"/>
            <a:ext cx="6921643" cy="400110"/>
          </a:xfrm>
          <a:prstGeom prst="rect">
            <a:avLst/>
          </a:prstGeom>
          <a:noFill/>
        </p:spPr>
        <p:txBody>
          <a:bodyPr wrap="square">
            <a:spAutoFit/>
          </a:bodyPr>
          <a:lstStyle/>
          <a:p>
            <a:r>
              <a:rPr lang="en-US" altLang="zh-CN" sz="2000" i="1" dirty="0">
                <a:solidFill>
                  <a:srgbClr val="577CCE"/>
                </a:solidFill>
                <a:latin typeface="Consolas" panose="020B0609020204030204" pitchFamily="49" charset="0"/>
              </a:rPr>
              <a:t>“</a:t>
            </a:r>
            <a:r>
              <a:rPr lang="en-US" altLang="zh-CN" sz="2000" b="0" i="1" dirty="0">
                <a:solidFill>
                  <a:srgbClr val="FF0000"/>
                </a:solidFill>
                <a:effectLst/>
                <a:latin typeface="Consolas" panose="020B0609020204030204" pitchFamily="49" charset="0"/>
              </a:rPr>
              <a:t>I had that curiosity beside me at this moment.</a:t>
            </a:r>
            <a:r>
              <a:rPr lang="en-US" altLang="zh-CN" sz="2000" b="0" i="1" dirty="0">
                <a:solidFill>
                  <a:srgbClr val="577CCE"/>
                </a:solidFill>
                <a:effectLst/>
                <a:latin typeface="Consolas" panose="020B0609020204030204" pitchFamily="49" charset="0"/>
              </a:rPr>
              <a:t>”</a:t>
            </a:r>
            <a:r>
              <a:rPr lang="en-US" altLang="zh-CN" sz="2000" b="0" i="1" dirty="0">
                <a:solidFill>
                  <a:srgbClr val="FF0000"/>
                </a:solidFill>
                <a:effectLst/>
                <a:latin typeface="Consolas" panose="020B0609020204030204" pitchFamily="49" charset="0"/>
              </a:rPr>
              <a:t> </a:t>
            </a:r>
            <a:endParaRPr lang="zh-CN" altLang="en-US" sz="2000" dirty="0"/>
          </a:p>
        </p:txBody>
      </p:sp>
      <p:pic>
        <p:nvPicPr>
          <p:cNvPr id="7" name="图片 6"/>
          <p:cNvPicPr>
            <a:picLocks noChangeAspect="1"/>
          </p:cNvPicPr>
          <p:nvPr/>
        </p:nvPicPr>
        <p:blipFill>
          <a:blip r:embed="rId1"/>
          <a:stretch>
            <a:fillRect/>
          </a:stretch>
        </p:blipFill>
        <p:spPr>
          <a:xfrm>
            <a:off x="5223342" y="4288479"/>
            <a:ext cx="6773640" cy="442041"/>
          </a:xfrm>
          <a:prstGeom prst="rect">
            <a:avLst/>
          </a:prstGeom>
        </p:spPr>
      </p:pic>
      <p:sp>
        <p:nvSpPr>
          <p:cNvPr id="8" name="箭头: 下 7"/>
          <p:cNvSpPr/>
          <p:nvPr/>
        </p:nvSpPr>
        <p:spPr>
          <a:xfrm>
            <a:off x="8263156" y="3481697"/>
            <a:ext cx="503339" cy="70440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908107" y="5312966"/>
            <a:ext cx="10853258" cy="369332"/>
          </a:xfrm>
          <a:prstGeom prst="rect">
            <a:avLst/>
          </a:prstGeom>
          <a:noFill/>
        </p:spPr>
        <p:txBody>
          <a:bodyPr wrap="square">
            <a:spAutoFit/>
          </a:bodyPr>
          <a:lstStyle/>
          <a:p>
            <a:r>
              <a:rPr lang="zh-CN" altLang="en-US" dirty="0"/>
              <a:t>不难发现，对于英文音频的识别效果是非常好的。同学们也可以更换其他的音频文件，查看语音识别结果。</a:t>
            </a:r>
            <a:endParaRPr lang="zh-CN" altLang="en-US" dirty="0"/>
          </a:p>
        </p:txBody>
      </p:sp>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22" presetClass="entr" presetSubtype="4"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down)">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10"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5.4.5 </a:t>
            </a:r>
            <a:r>
              <a:rPr lang="zh-CN" altLang="en-US" dirty="0">
                <a:solidFill>
                  <a:srgbClr val="577CCE"/>
                </a:solidFill>
                <a:latin typeface="Consolas" panose="020B0609020204030204" pitchFamily="49" charset="0"/>
              </a:rPr>
              <a:t>模型持久化方法</a:t>
            </a:r>
            <a:endParaRPr lang="zh-CN" altLang="en-US" b="0" dirty="0">
              <a:solidFill>
                <a:srgbClr val="577CCE"/>
              </a:solidFill>
              <a:effectLst/>
              <a:latin typeface="Consolas" panose="020B0609020204030204" pitchFamily="49" charset="0"/>
            </a:endParaRPr>
          </a:p>
        </p:txBody>
      </p:sp>
      <p:sp>
        <p:nvSpPr>
          <p:cNvPr id="6" name="文本框 5"/>
          <p:cNvSpPr txBox="1"/>
          <p:nvPr/>
        </p:nvSpPr>
        <p:spPr>
          <a:xfrm>
            <a:off x="799451" y="1545034"/>
            <a:ext cx="10891534" cy="923330"/>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与</a:t>
            </a:r>
            <a:r>
              <a:rPr lang="en-US" altLang="zh-CN" b="0" dirty="0" err="1">
                <a:solidFill>
                  <a:srgbClr val="24292E"/>
                </a:solidFill>
                <a:effectLst/>
                <a:latin typeface="Consolas" panose="020B0609020204030204" pitchFamily="49" charset="0"/>
              </a:rPr>
              <a:t>SKLearn</a:t>
            </a:r>
            <a:r>
              <a:rPr lang="zh-CN" altLang="en-US" b="0" dirty="0">
                <a:solidFill>
                  <a:srgbClr val="24292E"/>
                </a:solidFill>
                <a:effectLst/>
                <a:latin typeface="Consolas" panose="020B0609020204030204" pitchFamily="49" charset="0"/>
              </a:rPr>
              <a:t>的持久化类似，通过</a:t>
            </a:r>
            <a:r>
              <a:rPr lang="en-US" altLang="zh-CN" b="0" dirty="0" err="1">
                <a:solidFill>
                  <a:srgbClr val="24292E"/>
                </a:solidFill>
                <a:effectLst/>
                <a:latin typeface="Consolas" panose="020B0609020204030204" pitchFamily="49" charset="0"/>
              </a:rPr>
              <a:t>PyTorch</a:t>
            </a:r>
            <a:r>
              <a:rPr lang="zh-CN" altLang="en-US" b="0" dirty="0">
                <a:solidFill>
                  <a:srgbClr val="24292E"/>
                </a:solidFill>
                <a:effectLst/>
                <a:latin typeface="Consolas" panose="020B0609020204030204" pitchFamily="49" charset="0"/>
              </a:rPr>
              <a:t>训练好的模型往往需要部署到实际的业务系统中执行推理任务，这就需要对模型进行</a:t>
            </a:r>
            <a:r>
              <a:rPr lang="zh-CN" altLang="en-US" b="0" dirty="0">
                <a:solidFill>
                  <a:srgbClr val="FF0000"/>
                </a:solidFill>
                <a:effectLst/>
                <a:latin typeface="Consolas" panose="020B0609020204030204" pitchFamily="49" charset="0"/>
              </a:rPr>
              <a:t>持久化</a:t>
            </a:r>
            <a:r>
              <a:rPr lang="zh-CN" altLang="en-US" b="0" dirty="0">
                <a:solidFill>
                  <a:srgbClr val="24292E"/>
                </a:solidFill>
                <a:effectLst/>
                <a:latin typeface="Consolas" panose="020B0609020204030204" pitchFamily="49" charset="0"/>
              </a:rPr>
              <a:t>，通常直接保存成文件即可。在实际的业务系统中使用时，再</a:t>
            </a:r>
            <a:r>
              <a:rPr lang="zh-CN" altLang="en-US" b="0" dirty="0">
                <a:solidFill>
                  <a:srgbClr val="FF0000"/>
                </a:solidFill>
                <a:effectLst/>
                <a:latin typeface="Consolas" panose="020B0609020204030204" pitchFamily="49" charset="0"/>
              </a:rPr>
              <a:t>将模型文件加载到内存中使用</a:t>
            </a:r>
            <a:r>
              <a:rPr lang="zh-CN" altLang="en-US" b="0" dirty="0">
                <a:solidFill>
                  <a:srgbClr val="24292E"/>
                </a:solidFill>
                <a:effectLst/>
                <a:latin typeface="Consolas" panose="020B0609020204030204" pitchFamily="49" charset="0"/>
              </a:rPr>
              <a:t>。</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799450" y="2613619"/>
            <a:ext cx="10891533" cy="1200329"/>
          </a:xfrm>
          <a:prstGeom prst="rect">
            <a:avLst/>
          </a:prstGeom>
          <a:noFill/>
        </p:spPr>
        <p:txBody>
          <a:bodyPr wrap="square">
            <a:spAutoFit/>
          </a:bodyPr>
          <a:lstStyle/>
          <a:p>
            <a:r>
              <a:rPr lang="zh-CN" altLang="en-US" dirty="0"/>
              <a:t>PyTorch有两种模型保存的方式，一种是</a:t>
            </a:r>
            <a:r>
              <a:rPr lang="zh-CN" altLang="en-US" dirty="0">
                <a:solidFill>
                  <a:srgbClr val="FF0000"/>
                </a:solidFill>
              </a:rPr>
              <a:t>保存整个网络结构信息和模型参数信息</a:t>
            </a:r>
            <a:r>
              <a:rPr lang="zh-CN" altLang="en-US" dirty="0"/>
              <a:t>，另一种方式是</a:t>
            </a:r>
            <a:r>
              <a:rPr lang="zh-CN" altLang="en-US" dirty="0">
                <a:solidFill>
                  <a:srgbClr val="FF0000"/>
                </a:solidFill>
              </a:rPr>
              <a:t>只保存网络的模型参数</a:t>
            </a:r>
            <a:r>
              <a:rPr lang="zh-CN" altLang="en-US" dirty="0"/>
              <a:t>，不保存网络结构。</a:t>
            </a:r>
            <a:endParaRPr lang="zh-CN" altLang="en-US" dirty="0"/>
          </a:p>
          <a:p>
            <a:endParaRPr lang="zh-CN" altLang="en-US" dirty="0"/>
          </a:p>
          <a:p>
            <a:r>
              <a:rPr lang="zh-CN" altLang="en-US" dirty="0">
                <a:solidFill>
                  <a:srgbClr val="FF0000"/>
                </a:solidFill>
              </a:rPr>
              <a:t>保存整个网络结构信息和模型参数信息</a:t>
            </a:r>
            <a:r>
              <a:rPr lang="zh-CN" altLang="en-US" dirty="0"/>
              <a:t>的示例如下：</a:t>
            </a:r>
            <a:endParaRPr lang="zh-CN" altLang="en-US" dirty="0"/>
          </a:p>
        </p:txBody>
      </p:sp>
      <p:sp>
        <p:nvSpPr>
          <p:cNvPr id="9" name="文本框 8"/>
          <p:cNvSpPr txBox="1"/>
          <p:nvPr/>
        </p:nvSpPr>
        <p:spPr>
          <a:xfrm>
            <a:off x="3197915" y="4060164"/>
            <a:ext cx="6094602" cy="369332"/>
          </a:xfrm>
          <a:prstGeom prst="rect">
            <a:avLst/>
          </a:prstGeom>
          <a:noFill/>
        </p:spPr>
        <p:txBody>
          <a:bodyPr wrap="square">
            <a:spAutoFit/>
          </a:bodyPr>
          <a:lstStyle/>
          <a:p>
            <a:r>
              <a:rPr lang="en-US" altLang="zh-CN" b="1" dirty="0" err="1">
                <a:solidFill>
                  <a:srgbClr val="6F42C1"/>
                </a:solidFill>
                <a:effectLst/>
                <a:latin typeface="Consolas" panose="020B0609020204030204" pitchFamily="49" charset="0"/>
              </a:rPr>
              <a:t>torch</a:t>
            </a:r>
            <a:r>
              <a:rPr lang="en-US" altLang="zh-CN" b="1" dirty="0" err="1">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save</a:t>
            </a:r>
            <a:r>
              <a:rPr lang="en-US" altLang="zh-CN" b="1" dirty="0">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GreedyCTCDecoder</a:t>
            </a:r>
            <a:r>
              <a:rPr lang="en-US" altLang="zh-CN" b="1" dirty="0">
                <a:solidFill>
                  <a:srgbClr val="24292E"/>
                </a:solidFill>
                <a:effectLst/>
                <a:latin typeface="Consolas" panose="020B0609020204030204" pitchFamily="49" charset="0"/>
              </a:rPr>
              <a:t>, </a:t>
            </a:r>
            <a:r>
              <a:rPr lang="en-US" altLang="zh-CN" b="1" dirty="0">
                <a:solidFill>
                  <a:srgbClr val="032F62"/>
                </a:solidFill>
                <a:effectLst/>
                <a:latin typeface="Consolas" panose="020B0609020204030204" pitchFamily="49" charset="0"/>
              </a:rPr>
              <a:t>'./</a:t>
            </a:r>
            <a:r>
              <a:rPr lang="en-US" altLang="zh-CN" b="1" dirty="0" err="1">
                <a:solidFill>
                  <a:srgbClr val="032F62"/>
                </a:solidFill>
                <a:effectLst/>
                <a:latin typeface="Consolas" panose="020B0609020204030204" pitchFamily="49" charset="0"/>
              </a:rPr>
              <a:t>model.pth</a:t>
            </a:r>
            <a:r>
              <a:rPr lang="en-US" altLang="zh-CN" b="1" dirty="0">
                <a:solidFill>
                  <a:srgbClr val="032F62"/>
                </a:solidFill>
                <a:effectLst/>
                <a:latin typeface="Consolas" panose="020B0609020204030204" pitchFamily="49" charset="0"/>
              </a:rPr>
              <a:t>'</a:t>
            </a:r>
            <a:r>
              <a:rPr lang="en-US" altLang="zh-CN" b="1" dirty="0">
                <a:solidFill>
                  <a:srgbClr val="24292E"/>
                </a:solidFill>
                <a:effectLst/>
                <a:latin typeface="Consolas" panose="020B0609020204030204" pitchFamily="49" charset="0"/>
              </a:rPr>
              <a:t>)</a:t>
            </a:r>
            <a:endParaRPr lang="en-US" altLang="zh-CN" b="1" dirty="0">
              <a:solidFill>
                <a:srgbClr val="24292E"/>
              </a:solidFill>
              <a:effectLst/>
              <a:latin typeface="Consolas" panose="020B0609020204030204" pitchFamily="49" charset="0"/>
            </a:endParaRPr>
          </a:p>
        </p:txBody>
      </p:sp>
      <p:sp>
        <p:nvSpPr>
          <p:cNvPr id="11" name="文本框 10"/>
          <p:cNvSpPr txBox="1"/>
          <p:nvPr/>
        </p:nvSpPr>
        <p:spPr>
          <a:xfrm>
            <a:off x="799449" y="4675712"/>
            <a:ext cx="10891533"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该代码将训练好的模型</a:t>
            </a:r>
            <a:r>
              <a:rPr lang="en-US" altLang="zh-CN" b="0" dirty="0" err="1">
                <a:solidFill>
                  <a:srgbClr val="24292E"/>
                </a:solidFill>
                <a:effectLst/>
                <a:latin typeface="Consolas" panose="020B0609020204030204" pitchFamily="49" charset="0"/>
              </a:rPr>
              <a:t>model_object</a:t>
            </a:r>
            <a:r>
              <a:rPr lang="zh-CN" altLang="en-US" b="0" dirty="0">
                <a:solidFill>
                  <a:srgbClr val="FF0000"/>
                </a:solidFill>
                <a:effectLst/>
                <a:latin typeface="Consolas" panose="020B0609020204030204" pitchFamily="49" charset="0"/>
              </a:rPr>
              <a:t>保存到当前目录下的</a:t>
            </a:r>
            <a:r>
              <a:rPr lang="en-US" altLang="zh-CN" b="0" dirty="0" err="1">
                <a:solidFill>
                  <a:srgbClr val="FF0000"/>
                </a:solidFill>
                <a:effectLst/>
                <a:latin typeface="Consolas" panose="020B0609020204030204" pitchFamily="49" charset="0"/>
              </a:rPr>
              <a:t>model.pth</a:t>
            </a:r>
            <a:r>
              <a:rPr lang="zh-CN" altLang="en-US" b="0" dirty="0">
                <a:solidFill>
                  <a:srgbClr val="FF0000"/>
                </a:solidFill>
                <a:effectLst/>
                <a:latin typeface="Consolas" panose="020B0609020204030204" pitchFamily="49" charset="0"/>
              </a:rPr>
              <a:t>文件</a:t>
            </a:r>
            <a:r>
              <a:rPr lang="zh-CN" altLang="en-US" b="0" dirty="0">
                <a:solidFill>
                  <a:srgbClr val="24292E"/>
                </a:solidFill>
                <a:effectLst/>
                <a:latin typeface="Consolas" panose="020B0609020204030204" pitchFamily="49" charset="0"/>
              </a:rPr>
              <a:t>。以下代码完成</a:t>
            </a:r>
            <a:r>
              <a:rPr lang="zh-CN" altLang="en-US" b="0" dirty="0">
                <a:solidFill>
                  <a:srgbClr val="E36209"/>
                </a:solidFill>
                <a:effectLst/>
                <a:latin typeface="Consolas" panose="020B0609020204030204" pitchFamily="49" charset="0"/>
              </a:rPr>
              <a:t>模型加载</a:t>
            </a:r>
            <a:r>
              <a:rPr lang="zh-CN" altLang="en-US" b="0" dirty="0">
                <a:solidFill>
                  <a:srgbClr val="24292E"/>
                </a:solidFill>
                <a:effectLst/>
                <a:latin typeface="Consolas" panose="020B0609020204030204" pitchFamily="49" charset="0"/>
              </a:rPr>
              <a:t>，加载后即可使用该模型进行推理。</a:t>
            </a:r>
            <a:endParaRPr lang="zh-CN" altLang="en-US" b="0" dirty="0">
              <a:solidFill>
                <a:srgbClr val="24292E"/>
              </a:solidFill>
              <a:effectLst/>
              <a:latin typeface="Consolas" panose="020B0609020204030204" pitchFamily="49" charset="0"/>
            </a:endParaRPr>
          </a:p>
        </p:txBody>
      </p:sp>
      <p:sp>
        <p:nvSpPr>
          <p:cNvPr id="13" name="文本框 12"/>
          <p:cNvSpPr txBox="1"/>
          <p:nvPr/>
        </p:nvSpPr>
        <p:spPr>
          <a:xfrm>
            <a:off x="3471291" y="5568259"/>
            <a:ext cx="6094602" cy="369332"/>
          </a:xfrm>
          <a:prstGeom prst="rect">
            <a:avLst/>
          </a:prstGeom>
          <a:noFill/>
        </p:spPr>
        <p:txBody>
          <a:bodyPr wrap="square">
            <a:spAutoFit/>
          </a:bodyPr>
          <a:lstStyle/>
          <a:p>
            <a:r>
              <a:rPr lang="en-US" altLang="zh-CN" b="1" dirty="0">
                <a:solidFill>
                  <a:srgbClr val="24292E"/>
                </a:solidFill>
                <a:effectLst/>
                <a:latin typeface="Consolas" panose="020B0609020204030204" pitchFamily="49" charset="0"/>
              </a:rPr>
              <a:t>model </a:t>
            </a:r>
            <a:r>
              <a:rPr lang="en-US" altLang="zh-CN" b="1" dirty="0">
                <a:solidFill>
                  <a:srgbClr val="D73A49"/>
                </a:solidFill>
                <a:effectLst/>
                <a:latin typeface="Consolas" panose="020B0609020204030204" pitchFamily="49" charset="0"/>
              </a:rPr>
              <a:t>=</a:t>
            </a:r>
            <a:r>
              <a:rPr lang="en-US" altLang="zh-CN" b="1" dirty="0">
                <a:solidFill>
                  <a:srgbClr val="24292E"/>
                </a:solidFill>
                <a:effectLst/>
                <a:latin typeface="Consolas" panose="020B0609020204030204" pitchFamily="49" charset="0"/>
              </a:rPr>
              <a:t> </a:t>
            </a:r>
            <a:r>
              <a:rPr lang="en-US" altLang="zh-CN" b="1" dirty="0" err="1">
                <a:solidFill>
                  <a:srgbClr val="6F42C1"/>
                </a:solidFill>
                <a:effectLst/>
                <a:latin typeface="Consolas" panose="020B0609020204030204" pitchFamily="49" charset="0"/>
              </a:rPr>
              <a:t>torch</a:t>
            </a:r>
            <a:r>
              <a:rPr lang="en-US" altLang="zh-CN" b="1" dirty="0" err="1">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load</a:t>
            </a:r>
            <a:r>
              <a:rPr lang="en-US" altLang="zh-CN" b="1" dirty="0">
                <a:solidFill>
                  <a:srgbClr val="24292E"/>
                </a:solidFill>
                <a:effectLst/>
                <a:latin typeface="Consolas" panose="020B0609020204030204" pitchFamily="49" charset="0"/>
              </a:rPr>
              <a:t>(</a:t>
            </a:r>
            <a:r>
              <a:rPr lang="en-US" altLang="zh-CN" b="1" dirty="0">
                <a:solidFill>
                  <a:srgbClr val="032F62"/>
                </a:solidFill>
                <a:effectLst/>
                <a:latin typeface="Consolas" panose="020B0609020204030204" pitchFamily="49" charset="0"/>
              </a:rPr>
              <a:t>'./</a:t>
            </a:r>
            <a:r>
              <a:rPr lang="en-US" altLang="zh-CN" b="1" dirty="0" err="1">
                <a:solidFill>
                  <a:srgbClr val="032F62"/>
                </a:solidFill>
                <a:effectLst/>
                <a:latin typeface="Consolas" panose="020B0609020204030204" pitchFamily="49" charset="0"/>
              </a:rPr>
              <a:t>model.pth</a:t>
            </a:r>
            <a:r>
              <a:rPr lang="en-US" altLang="zh-CN" b="1" dirty="0">
                <a:solidFill>
                  <a:srgbClr val="032F62"/>
                </a:solidFill>
                <a:effectLst/>
                <a:latin typeface="Consolas" panose="020B0609020204030204" pitchFamily="49" charset="0"/>
              </a:rPr>
              <a:t>'</a:t>
            </a:r>
            <a:r>
              <a:rPr lang="en-US" altLang="zh-CN" b="1" dirty="0">
                <a:solidFill>
                  <a:srgbClr val="24292E"/>
                </a:solidFill>
                <a:effectLst/>
                <a:latin typeface="Consolas" panose="020B0609020204030204" pitchFamily="49" charset="0"/>
              </a:rPr>
              <a:t>)</a:t>
            </a:r>
            <a:endParaRPr lang="en-US" altLang="zh-CN" b="1"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5.4.5 </a:t>
            </a:r>
            <a:r>
              <a:rPr lang="zh-CN" altLang="en-US" dirty="0">
                <a:solidFill>
                  <a:srgbClr val="577CCE"/>
                </a:solidFill>
                <a:latin typeface="Consolas" panose="020B0609020204030204" pitchFamily="49" charset="0"/>
              </a:rPr>
              <a:t>模型持久化方法</a:t>
            </a:r>
            <a:endParaRPr lang="zh-CN" altLang="en-US" b="0" dirty="0">
              <a:solidFill>
                <a:srgbClr val="577CCE"/>
              </a:solidFill>
              <a:effectLst/>
              <a:latin typeface="Consolas" panose="020B0609020204030204" pitchFamily="49" charset="0"/>
            </a:endParaRPr>
          </a:p>
        </p:txBody>
      </p:sp>
      <p:sp>
        <p:nvSpPr>
          <p:cNvPr id="6" name="文本框 5"/>
          <p:cNvSpPr txBox="1"/>
          <p:nvPr/>
        </p:nvSpPr>
        <p:spPr>
          <a:xfrm>
            <a:off x="799451" y="1545034"/>
            <a:ext cx="10891534"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若仅保存网络的模型参数，则直接执行如下代码：</a:t>
            </a:r>
            <a:endParaRPr lang="zh-CN" altLang="en-US" b="0" dirty="0">
              <a:solidFill>
                <a:srgbClr val="24292E"/>
              </a:solidFill>
              <a:effectLst/>
              <a:latin typeface="Consolas" panose="020B0609020204030204" pitchFamily="49" charset="0"/>
            </a:endParaRPr>
          </a:p>
        </p:txBody>
      </p:sp>
      <p:sp>
        <p:nvSpPr>
          <p:cNvPr id="5" name="文本框 4"/>
          <p:cNvSpPr txBox="1"/>
          <p:nvPr/>
        </p:nvSpPr>
        <p:spPr>
          <a:xfrm>
            <a:off x="799450" y="2613619"/>
            <a:ext cx="10891533"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加载模型时，需要先导入网络，然后再加载参数，示例如下：</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2845262" y="3413385"/>
            <a:ext cx="8345336" cy="923330"/>
          </a:xfrm>
          <a:prstGeom prst="rect">
            <a:avLst/>
          </a:prstGeom>
          <a:noFill/>
        </p:spPr>
        <p:txBody>
          <a:bodyPr wrap="square">
            <a:spAutoFit/>
          </a:bodyPr>
          <a:lstStyle/>
          <a:p>
            <a:r>
              <a:rPr lang="en-US" altLang="zh-CN" b="1" dirty="0">
                <a:solidFill>
                  <a:srgbClr val="D73A49"/>
                </a:solidFill>
                <a:effectLst/>
                <a:latin typeface="Consolas" panose="020B0609020204030204" pitchFamily="49" charset="0"/>
              </a:rPr>
              <a:t>from</a:t>
            </a:r>
            <a:r>
              <a:rPr lang="en-US" altLang="zh-CN" b="1" dirty="0">
                <a:solidFill>
                  <a:srgbClr val="24292E"/>
                </a:solidFill>
                <a:effectLst/>
                <a:latin typeface="Consolas" panose="020B0609020204030204" pitchFamily="49" charset="0"/>
              </a:rPr>
              <a:t> models </a:t>
            </a:r>
            <a:r>
              <a:rPr lang="en-US" altLang="zh-CN" b="1" dirty="0">
                <a:solidFill>
                  <a:srgbClr val="D73A49"/>
                </a:solidFill>
                <a:effectLst/>
                <a:latin typeface="Consolas" panose="020B0609020204030204" pitchFamily="49" charset="0"/>
              </a:rPr>
              <a:t>import</a:t>
            </a:r>
            <a:r>
              <a:rPr lang="en-US" altLang="zh-CN" b="1" dirty="0">
                <a:solidFill>
                  <a:srgbClr val="24292E"/>
                </a:solidFill>
                <a:effectLst/>
                <a:latin typeface="Consolas" panose="020B0609020204030204" pitchFamily="49" charset="0"/>
              </a:rPr>
              <a:t> </a:t>
            </a:r>
            <a:r>
              <a:rPr lang="en-US" altLang="zh-CN" b="1" dirty="0" err="1">
                <a:solidFill>
                  <a:srgbClr val="24292E"/>
                </a:solidFill>
                <a:effectLst/>
                <a:latin typeface="Consolas" panose="020B0609020204030204" pitchFamily="49" charset="0"/>
              </a:rPr>
              <a:t>VggModel</a:t>
            </a:r>
            <a:endParaRPr lang="en-US" altLang="zh-CN" b="1" dirty="0">
              <a:solidFill>
                <a:srgbClr val="24292E"/>
              </a:solidFill>
              <a:effectLst/>
              <a:latin typeface="Consolas" panose="020B0609020204030204" pitchFamily="49" charset="0"/>
            </a:endParaRPr>
          </a:p>
          <a:p>
            <a:r>
              <a:rPr lang="en-US" altLang="zh-CN" b="1" dirty="0">
                <a:solidFill>
                  <a:srgbClr val="24292E"/>
                </a:solidFill>
                <a:effectLst/>
                <a:latin typeface="Consolas" panose="020B0609020204030204" pitchFamily="49" charset="0"/>
              </a:rPr>
              <a:t>model </a:t>
            </a:r>
            <a:r>
              <a:rPr lang="en-US" altLang="zh-CN" b="1" dirty="0">
                <a:solidFill>
                  <a:srgbClr val="D73A49"/>
                </a:solidFill>
                <a:effectLst/>
                <a:latin typeface="Consolas" panose="020B0609020204030204" pitchFamily="49" charset="0"/>
              </a:rPr>
              <a:t>=</a:t>
            </a:r>
            <a:r>
              <a:rPr lang="en-US" altLang="zh-CN" b="1" dirty="0">
                <a:solidFill>
                  <a:srgbClr val="24292E"/>
                </a:solidFill>
                <a:effectLst/>
                <a:latin typeface="Consolas" panose="020B0609020204030204" pitchFamily="49" charset="0"/>
              </a:rPr>
              <a:t> </a:t>
            </a:r>
            <a:r>
              <a:rPr lang="en-US" altLang="zh-CN" b="1" dirty="0" err="1">
                <a:solidFill>
                  <a:srgbClr val="24292E"/>
                </a:solidFill>
                <a:effectLst/>
                <a:latin typeface="Consolas" panose="020B0609020204030204" pitchFamily="49" charset="0"/>
              </a:rPr>
              <a:t>VggModel</a:t>
            </a:r>
            <a:r>
              <a:rPr lang="en-US" altLang="zh-CN" b="1" dirty="0">
                <a:solidFill>
                  <a:srgbClr val="24292E"/>
                </a:solidFill>
                <a:effectLst/>
                <a:latin typeface="Consolas" panose="020B0609020204030204" pitchFamily="49" charset="0"/>
              </a:rPr>
              <a:t>()</a:t>
            </a:r>
            <a:endParaRPr lang="en-US" altLang="zh-CN" b="1" dirty="0">
              <a:solidFill>
                <a:srgbClr val="24292E"/>
              </a:solidFill>
              <a:effectLst/>
              <a:latin typeface="Consolas" panose="020B0609020204030204" pitchFamily="49" charset="0"/>
            </a:endParaRPr>
          </a:p>
          <a:p>
            <a:r>
              <a:rPr lang="en-US" altLang="zh-CN" b="1" dirty="0" err="1">
                <a:solidFill>
                  <a:srgbClr val="24292E"/>
                </a:solidFill>
                <a:effectLst/>
                <a:latin typeface="Consolas" panose="020B0609020204030204" pitchFamily="49" charset="0"/>
              </a:rPr>
              <a:t>model.load_state_dict</a:t>
            </a:r>
            <a:r>
              <a:rPr lang="en-US" altLang="zh-CN" b="1" dirty="0">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torch</a:t>
            </a:r>
            <a:r>
              <a:rPr lang="en-US" altLang="zh-CN" b="1" dirty="0" err="1">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load</a:t>
            </a:r>
            <a:r>
              <a:rPr lang="en-US" altLang="zh-CN" b="1" dirty="0">
                <a:solidFill>
                  <a:srgbClr val="24292E"/>
                </a:solidFill>
                <a:effectLst/>
                <a:latin typeface="Consolas" panose="020B0609020204030204" pitchFamily="49" charset="0"/>
              </a:rPr>
              <a:t>(</a:t>
            </a:r>
            <a:r>
              <a:rPr lang="en-US" altLang="zh-CN" b="1" dirty="0">
                <a:solidFill>
                  <a:srgbClr val="032F62"/>
                </a:solidFill>
                <a:effectLst/>
                <a:latin typeface="Consolas" panose="020B0609020204030204" pitchFamily="49" charset="0"/>
              </a:rPr>
              <a:t>'./</a:t>
            </a:r>
            <a:r>
              <a:rPr lang="en-US" altLang="zh-CN" b="1" dirty="0" err="1">
                <a:solidFill>
                  <a:srgbClr val="032F62"/>
                </a:solidFill>
                <a:effectLst/>
                <a:latin typeface="Consolas" panose="020B0609020204030204" pitchFamily="49" charset="0"/>
              </a:rPr>
              <a:t>params.pth</a:t>
            </a:r>
            <a:r>
              <a:rPr lang="en-US" altLang="zh-CN" b="1" dirty="0">
                <a:solidFill>
                  <a:srgbClr val="032F62"/>
                </a:solidFill>
                <a:effectLst/>
                <a:latin typeface="Consolas" panose="020B0609020204030204" pitchFamily="49" charset="0"/>
              </a:rPr>
              <a:t>'</a:t>
            </a:r>
            <a:r>
              <a:rPr lang="en-US" altLang="zh-CN" b="1" dirty="0">
                <a:solidFill>
                  <a:srgbClr val="24292E"/>
                </a:solidFill>
                <a:effectLst/>
                <a:latin typeface="Consolas" panose="020B0609020204030204" pitchFamily="49" charset="0"/>
              </a:rPr>
              <a:t>))</a:t>
            </a:r>
            <a:endParaRPr lang="en-US" altLang="zh-CN" b="1" dirty="0">
              <a:solidFill>
                <a:srgbClr val="24292E"/>
              </a:solidFill>
              <a:effectLst/>
              <a:latin typeface="Consolas" panose="020B0609020204030204" pitchFamily="49" charset="0"/>
            </a:endParaRPr>
          </a:p>
        </p:txBody>
      </p:sp>
      <p:sp>
        <p:nvSpPr>
          <p:cNvPr id="3" name="文本框 2"/>
          <p:cNvSpPr txBox="1"/>
          <p:nvPr/>
        </p:nvSpPr>
        <p:spPr>
          <a:xfrm>
            <a:off x="2845262" y="2052865"/>
            <a:ext cx="7346659" cy="369332"/>
          </a:xfrm>
          <a:prstGeom prst="rect">
            <a:avLst/>
          </a:prstGeom>
          <a:noFill/>
        </p:spPr>
        <p:txBody>
          <a:bodyPr wrap="square">
            <a:spAutoFit/>
          </a:bodyPr>
          <a:lstStyle/>
          <a:p>
            <a:r>
              <a:rPr lang="en-US" altLang="zh-CN" b="1" dirty="0" err="1">
                <a:solidFill>
                  <a:srgbClr val="6F42C1"/>
                </a:solidFill>
                <a:effectLst/>
                <a:latin typeface="Consolas" panose="020B0609020204030204" pitchFamily="49" charset="0"/>
              </a:rPr>
              <a:t>torch</a:t>
            </a:r>
            <a:r>
              <a:rPr lang="en-US" altLang="zh-CN" b="1" dirty="0" err="1">
                <a:solidFill>
                  <a:srgbClr val="24292E"/>
                </a:solidFill>
                <a:effectLst/>
                <a:latin typeface="Consolas" panose="020B0609020204030204" pitchFamily="49" charset="0"/>
              </a:rPr>
              <a:t>.</a:t>
            </a:r>
            <a:r>
              <a:rPr lang="en-US" altLang="zh-CN" b="1" dirty="0" err="1">
                <a:solidFill>
                  <a:srgbClr val="6F42C1"/>
                </a:solidFill>
                <a:effectLst/>
                <a:latin typeface="Consolas" panose="020B0609020204030204" pitchFamily="49" charset="0"/>
              </a:rPr>
              <a:t>save</a:t>
            </a:r>
            <a:r>
              <a:rPr lang="en-US" altLang="zh-CN" b="1" dirty="0">
                <a:solidFill>
                  <a:srgbClr val="24292E"/>
                </a:solidFill>
                <a:effectLst/>
                <a:latin typeface="Consolas" panose="020B0609020204030204" pitchFamily="49" charset="0"/>
              </a:rPr>
              <a:t>(</a:t>
            </a:r>
            <a:r>
              <a:rPr lang="en-US" altLang="zh-CN" b="1" dirty="0" err="1">
                <a:solidFill>
                  <a:srgbClr val="24292E"/>
                </a:solidFill>
                <a:effectLst/>
                <a:latin typeface="Consolas" panose="020B0609020204030204" pitchFamily="49" charset="0"/>
              </a:rPr>
              <a:t>model_object.state_dict</a:t>
            </a:r>
            <a:r>
              <a:rPr lang="en-US" altLang="zh-CN" b="1" dirty="0">
                <a:solidFill>
                  <a:srgbClr val="24292E"/>
                </a:solidFill>
                <a:effectLst/>
                <a:latin typeface="Consolas" panose="020B0609020204030204" pitchFamily="49" charset="0"/>
              </a:rPr>
              <a:t>(), </a:t>
            </a:r>
            <a:r>
              <a:rPr lang="en-US" altLang="zh-CN" b="1" dirty="0">
                <a:solidFill>
                  <a:srgbClr val="032F62"/>
                </a:solidFill>
                <a:effectLst/>
                <a:latin typeface="Consolas" panose="020B0609020204030204" pitchFamily="49" charset="0"/>
              </a:rPr>
              <a:t>'./</a:t>
            </a:r>
            <a:r>
              <a:rPr lang="en-US" altLang="zh-CN" b="1" dirty="0" err="1">
                <a:solidFill>
                  <a:srgbClr val="032F62"/>
                </a:solidFill>
                <a:effectLst/>
                <a:latin typeface="Consolas" panose="020B0609020204030204" pitchFamily="49" charset="0"/>
              </a:rPr>
              <a:t>params.pth</a:t>
            </a:r>
            <a:r>
              <a:rPr lang="en-US" altLang="zh-CN" b="1" dirty="0">
                <a:solidFill>
                  <a:srgbClr val="032F62"/>
                </a:solidFill>
                <a:effectLst/>
                <a:latin typeface="Consolas" panose="020B0609020204030204" pitchFamily="49" charset="0"/>
              </a:rPr>
              <a:t>'</a:t>
            </a:r>
            <a:r>
              <a:rPr lang="en-US" altLang="zh-CN" b="1" dirty="0">
                <a:solidFill>
                  <a:srgbClr val="24292E"/>
                </a:solidFill>
                <a:effectLst/>
                <a:latin typeface="Consolas" panose="020B0609020204030204" pitchFamily="49" charset="0"/>
              </a:rPr>
              <a:t>)</a:t>
            </a:r>
            <a:endParaRPr lang="en-US" altLang="zh-CN" b="1"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5.4.6 </a:t>
            </a:r>
            <a:r>
              <a:rPr lang="zh-CN" altLang="en-US" dirty="0">
                <a:solidFill>
                  <a:srgbClr val="577CCE"/>
                </a:solidFill>
                <a:latin typeface="Consolas" panose="020B0609020204030204" pitchFamily="49" charset="0"/>
              </a:rPr>
              <a:t>可视化工具包</a:t>
            </a:r>
            <a:r>
              <a:rPr lang="en-US" altLang="zh-CN" dirty="0" err="1">
                <a:solidFill>
                  <a:srgbClr val="577CCE"/>
                </a:solidFill>
                <a:latin typeface="Consolas" panose="020B0609020204030204" pitchFamily="49" charset="0"/>
              </a:rPr>
              <a:t>Visdom</a:t>
            </a:r>
            <a:endParaRPr lang="zh-CN" altLang="en-US" b="0" dirty="0">
              <a:solidFill>
                <a:srgbClr val="577CCE"/>
              </a:solidFill>
              <a:effectLst/>
              <a:latin typeface="Consolas" panose="020B0609020204030204" pitchFamily="49" charset="0"/>
            </a:endParaRPr>
          </a:p>
        </p:txBody>
      </p:sp>
      <p:sp>
        <p:nvSpPr>
          <p:cNvPr id="6" name="文本框 5"/>
          <p:cNvSpPr txBox="1"/>
          <p:nvPr/>
        </p:nvSpPr>
        <p:spPr>
          <a:xfrm>
            <a:off x="799451" y="1545034"/>
            <a:ext cx="10891534"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Facebook</a:t>
            </a:r>
            <a:r>
              <a:rPr lang="zh-CN" altLang="en-US" b="0" dirty="0">
                <a:solidFill>
                  <a:srgbClr val="24292E"/>
                </a:solidFill>
                <a:effectLst/>
                <a:latin typeface="Consolas" panose="020B0609020204030204" pitchFamily="49" charset="0"/>
              </a:rPr>
              <a:t>专为</a:t>
            </a:r>
            <a:r>
              <a:rPr lang="en-US" altLang="zh-CN" b="0" dirty="0" err="1">
                <a:solidFill>
                  <a:srgbClr val="24292E"/>
                </a:solidFill>
                <a:effectLst/>
                <a:latin typeface="Consolas" panose="020B0609020204030204" pitchFamily="49" charset="0"/>
              </a:rPr>
              <a:t>Pytorch</a:t>
            </a:r>
            <a:r>
              <a:rPr lang="zh-CN" altLang="en-US" b="0" dirty="0">
                <a:solidFill>
                  <a:srgbClr val="24292E"/>
                </a:solidFill>
                <a:effectLst/>
                <a:latin typeface="Consolas" panose="020B0609020204030204" pitchFamily="49" charset="0"/>
              </a:rPr>
              <a:t>开发的实时</a:t>
            </a:r>
            <a:r>
              <a:rPr lang="zh-CN" altLang="en-US" b="0" dirty="0">
                <a:solidFill>
                  <a:srgbClr val="FF0000"/>
                </a:solidFill>
                <a:effectLst/>
                <a:latin typeface="Consolas" panose="020B0609020204030204" pitchFamily="49" charset="0"/>
              </a:rPr>
              <a:t>可视化工具包</a:t>
            </a:r>
            <a:r>
              <a:rPr lang="en-US" altLang="zh-CN" b="0" dirty="0" err="1">
                <a:solidFill>
                  <a:srgbClr val="FF0000"/>
                </a:solidFill>
                <a:effectLst/>
                <a:latin typeface="Consolas" panose="020B0609020204030204" pitchFamily="49" charset="0"/>
              </a:rPr>
              <a:t>Visdom</a:t>
            </a:r>
            <a:r>
              <a:rPr lang="zh-CN" altLang="en-US" b="0" dirty="0">
                <a:solidFill>
                  <a:srgbClr val="24292E"/>
                </a:solidFill>
                <a:effectLst/>
                <a:latin typeface="Consolas" panose="020B0609020204030204" pitchFamily="49" charset="0"/>
              </a:rPr>
              <a:t>，常用于实时显示训练过程的数据，具有灵活高效、界面美观等特点。安装</a:t>
            </a:r>
            <a:r>
              <a:rPr lang="en-US" altLang="zh-CN" b="0" dirty="0" err="1">
                <a:solidFill>
                  <a:srgbClr val="24292E"/>
                </a:solidFill>
                <a:effectLst/>
                <a:latin typeface="Consolas" panose="020B0609020204030204" pitchFamily="49" charset="0"/>
              </a:rPr>
              <a:t>Visdom</a:t>
            </a:r>
            <a:r>
              <a:rPr lang="zh-CN" altLang="en-US" b="0" dirty="0">
                <a:solidFill>
                  <a:srgbClr val="24292E"/>
                </a:solidFill>
                <a:effectLst/>
                <a:latin typeface="Consolas" panose="020B0609020204030204" pitchFamily="49" charset="0"/>
              </a:rPr>
              <a:t>非常简单，例如可在终端输入如下命令：</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4613745" y="2234671"/>
            <a:ext cx="2554806" cy="369332"/>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pip install </a:t>
            </a:r>
            <a:r>
              <a:rPr lang="en-US" altLang="zh-CN" b="0" dirty="0" err="1">
                <a:solidFill>
                  <a:srgbClr val="24292E"/>
                </a:solidFill>
                <a:effectLst/>
                <a:latin typeface="Consolas" panose="020B0609020204030204" pitchFamily="49" charset="0"/>
              </a:rPr>
              <a:t>visdom</a:t>
            </a:r>
            <a:endParaRPr lang="en-US" altLang="zh-CN" b="0" dirty="0">
              <a:solidFill>
                <a:srgbClr val="24292E"/>
              </a:solidFill>
              <a:effectLst/>
              <a:latin typeface="Consolas" panose="020B0609020204030204" pitchFamily="49" charset="0"/>
            </a:endParaRPr>
          </a:p>
        </p:txBody>
      </p:sp>
      <p:sp>
        <p:nvSpPr>
          <p:cNvPr id="10" name="文本框 9"/>
          <p:cNvSpPr txBox="1"/>
          <p:nvPr/>
        </p:nvSpPr>
        <p:spPr>
          <a:xfrm>
            <a:off x="799451" y="2708338"/>
            <a:ext cx="11061870" cy="646331"/>
          </a:xfrm>
          <a:prstGeom prst="rect">
            <a:avLst/>
          </a:prstGeom>
          <a:noFill/>
        </p:spPr>
        <p:txBody>
          <a:bodyPr wrap="square">
            <a:spAutoFit/>
          </a:bodyPr>
          <a:lstStyle/>
          <a:p>
            <a:r>
              <a:rPr lang="zh-CN" altLang="en-US" b="0" dirty="0">
                <a:solidFill>
                  <a:srgbClr val="FF0000"/>
                </a:solidFill>
                <a:effectLst/>
                <a:latin typeface="Consolas" panose="020B0609020204030204" pitchFamily="49" charset="0"/>
              </a:rPr>
              <a:t>启动 </a:t>
            </a:r>
            <a:r>
              <a:rPr lang="en-US" altLang="zh-CN" b="0" dirty="0" err="1">
                <a:solidFill>
                  <a:srgbClr val="FF0000"/>
                </a:solidFill>
                <a:effectLst/>
                <a:latin typeface="Consolas" panose="020B0609020204030204" pitchFamily="49" charset="0"/>
              </a:rPr>
              <a:t>Visdom</a:t>
            </a:r>
            <a:r>
              <a:rPr lang="en-US" altLang="zh-CN" b="0" dirty="0">
                <a:solidFill>
                  <a:srgbClr val="FF0000"/>
                </a:solidFill>
                <a:effectLst/>
                <a:latin typeface="Consolas" panose="020B0609020204030204" pitchFamily="49" charset="0"/>
              </a:rPr>
              <a:t> </a:t>
            </a:r>
            <a:r>
              <a:rPr lang="zh-CN" altLang="en-US" b="0" dirty="0">
                <a:solidFill>
                  <a:srgbClr val="FF0000"/>
                </a:solidFill>
                <a:effectLst/>
                <a:latin typeface="Consolas" panose="020B0609020204030204" pitchFamily="49" charset="0"/>
              </a:rPr>
              <a:t>服务器</a:t>
            </a:r>
            <a:r>
              <a:rPr lang="zh-CN" altLang="en-US" b="0" dirty="0">
                <a:solidFill>
                  <a:srgbClr val="24292E"/>
                </a:solidFill>
                <a:effectLst/>
                <a:latin typeface="Consolas" panose="020B0609020204030204" pitchFamily="49" charset="0"/>
              </a:rPr>
              <a:t>：在终端中执行以下命令，启动</a:t>
            </a:r>
            <a:r>
              <a:rPr lang="en-US" altLang="zh-CN" b="0" dirty="0" err="1">
                <a:solidFill>
                  <a:srgbClr val="24292E"/>
                </a:solidFill>
                <a:effectLst/>
                <a:latin typeface="Consolas" panose="020B0609020204030204" pitchFamily="49" charset="0"/>
              </a:rPr>
              <a:t>Visdom</a:t>
            </a:r>
            <a:r>
              <a:rPr lang="zh-CN" altLang="en-US" b="0" dirty="0">
                <a:solidFill>
                  <a:srgbClr val="24292E"/>
                </a:solidFill>
                <a:effectLst/>
                <a:latin typeface="Consolas" panose="020B0609020204030204" pitchFamily="49" charset="0"/>
              </a:rPr>
              <a:t>服务器，它会监听一个特定的端口（默认为</a:t>
            </a:r>
            <a:r>
              <a:rPr lang="en-US" altLang="zh-CN" b="0" dirty="0">
                <a:solidFill>
                  <a:srgbClr val="24292E"/>
                </a:solidFill>
                <a:effectLst/>
                <a:latin typeface="Consolas" panose="020B0609020204030204" pitchFamily="49" charset="0"/>
              </a:rPr>
              <a:t>8097</a:t>
            </a:r>
            <a:r>
              <a:rPr lang="zh-CN" altLang="en-US" b="0" dirty="0">
                <a:solidFill>
                  <a:srgbClr val="24292E"/>
                </a:solidFill>
                <a:effectLst/>
                <a:latin typeface="Consolas" panose="020B0609020204030204" pitchFamily="49" charset="0"/>
              </a:rPr>
              <a:t>）：</a:t>
            </a:r>
            <a:endParaRPr lang="zh-CN" altLang="en-US" b="0" dirty="0">
              <a:solidFill>
                <a:srgbClr val="24292E"/>
              </a:solidFill>
              <a:effectLst/>
              <a:latin typeface="Consolas" panose="020B0609020204030204" pitchFamily="49" charset="0"/>
            </a:endParaRPr>
          </a:p>
        </p:txBody>
      </p:sp>
      <p:sp>
        <p:nvSpPr>
          <p:cNvPr id="18" name="文本框 17"/>
          <p:cNvSpPr txBox="1"/>
          <p:nvPr/>
        </p:nvSpPr>
        <p:spPr>
          <a:xfrm>
            <a:off x="4613745" y="3485779"/>
            <a:ext cx="2896319" cy="369332"/>
          </a:xfrm>
          <a:prstGeom prst="rect">
            <a:avLst/>
          </a:prstGeom>
          <a:noFill/>
        </p:spPr>
        <p:txBody>
          <a:bodyPr wrap="square">
            <a:spAutoFit/>
          </a:bodyPr>
          <a:lstStyle/>
          <a:p>
            <a:r>
              <a:rPr lang="zh-CN" altLang="en-US" dirty="0"/>
              <a:t>python -m visdom.server</a:t>
            </a:r>
            <a:endParaRPr lang="zh-CN" altLang="en-US" dirty="0"/>
          </a:p>
        </p:txBody>
      </p:sp>
      <p:sp>
        <p:nvSpPr>
          <p:cNvPr id="20" name="文本框 19"/>
          <p:cNvSpPr txBox="1"/>
          <p:nvPr/>
        </p:nvSpPr>
        <p:spPr>
          <a:xfrm>
            <a:off x="799451" y="4158258"/>
            <a:ext cx="10891534" cy="369332"/>
          </a:xfrm>
          <a:prstGeom prst="rect">
            <a:avLst/>
          </a:prstGeom>
          <a:noFill/>
        </p:spPr>
        <p:txBody>
          <a:bodyPr wrap="square">
            <a:spAutoFit/>
          </a:bodyPr>
          <a:lstStyle/>
          <a:p>
            <a:r>
              <a:rPr lang="zh-CN" altLang="en-US" dirty="0"/>
              <a:t>执行该命令后，终端会显示一个网址，通常为：</a:t>
            </a:r>
            <a:r>
              <a:rPr lang="en-US" altLang="zh-CN" b="1" i="1" dirty="0">
                <a:solidFill>
                  <a:srgbClr val="E36209"/>
                </a:solidFill>
              </a:rPr>
              <a:t>http://localhost:8097</a:t>
            </a:r>
            <a:r>
              <a:rPr lang="zh-CN" altLang="en-US" dirty="0"/>
              <a:t>。</a:t>
            </a:r>
            <a:endParaRPr lang="zh-CN" altLang="en-US" dirty="0"/>
          </a:p>
        </p:txBody>
      </p:sp>
      <p:sp>
        <p:nvSpPr>
          <p:cNvPr id="22" name="文本框 21"/>
          <p:cNvSpPr txBox="1"/>
          <p:nvPr/>
        </p:nvSpPr>
        <p:spPr>
          <a:xfrm>
            <a:off x="799450" y="4731014"/>
            <a:ext cx="10891533" cy="646331"/>
          </a:xfrm>
          <a:prstGeom prst="rect">
            <a:avLst/>
          </a:prstGeom>
          <a:noFill/>
        </p:spPr>
        <p:txBody>
          <a:bodyPr wrap="square">
            <a:spAutoFit/>
          </a:bodyPr>
          <a:lstStyle/>
          <a:p>
            <a:r>
              <a:rPr lang="zh-CN" altLang="en-US" dirty="0"/>
              <a:t>当我们在编写训练程序时， 可以在代码中加入在 Visdom 进行数据展示的代码。 这样，在执行训练程序时， 便可在浏览器登陆后的界面中， 查看可视化的效果。</a:t>
            </a:r>
            <a:endParaRPr lang="zh-CN" altLang="en-US" dirty="0"/>
          </a:p>
        </p:txBody>
      </p:sp>
      <p:sp>
        <p:nvSpPr>
          <p:cNvPr id="24" name="文本框 23"/>
          <p:cNvSpPr txBox="1"/>
          <p:nvPr/>
        </p:nvSpPr>
        <p:spPr>
          <a:xfrm>
            <a:off x="799450" y="5580769"/>
            <a:ext cx="6094562" cy="369332"/>
          </a:xfrm>
          <a:prstGeom prst="rect">
            <a:avLst/>
          </a:prstGeom>
          <a:noFill/>
        </p:spPr>
        <p:txBody>
          <a:bodyPr wrap="square">
            <a:spAutoFit/>
          </a:bodyPr>
          <a:lstStyle/>
          <a:p>
            <a:r>
              <a:rPr lang="zh-CN" altLang="en-US" dirty="0">
                <a:solidFill>
                  <a:srgbClr val="577CCE"/>
                </a:solidFill>
              </a:rPr>
              <a:t>下面代码演示 Visdom 根据数据点绘制曲线。</a:t>
            </a:r>
            <a:endParaRPr lang="zh-CN" altLang="en-US" dirty="0">
              <a:solidFill>
                <a:srgbClr val="577CCE"/>
              </a:solidFill>
            </a:endParaRPr>
          </a:p>
        </p:txBody>
      </p:sp>
    </p:spTree>
    <p:custDataLst>
      <p:tags r:id="rId1"/>
    </p:custDataLst>
  </p:cSld>
  <p:clrMapOvr>
    <a:masterClrMapping/>
  </p:clrMapOvr>
  <p:transition spd="slow">
    <p:push dir="u"/>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5.4.6 </a:t>
            </a:r>
            <a:r>
              <a:rPr lang="zh-CN" altLang="en-US" dirty="0">
                <a:solidFill>
                  <a:srgbClr val="577CCE"/>
                </a:solidFill>
                <a:latin typeface="Consolas" panose="020B0609020204030204" pitchFamily="49" charset="0"/>
              </a:rPr>
              <a:t>可视化工具包</a:t>
            </a:r>
            <a:r>
              <a:rPr lang="en-US" altLang="zh-CN" dirty="0" err="1">
                <a:solidFill>
                  <a:srgbClr val="577CCE"/>
                </a:solidFill>
                <a:latin typeface="Consolas" panose="020B0609020204030204" pitchFamily="49" charset="0"/>
              </a:rPr>
              <a:t>Visdom</a:t>
            </a:r>
            <a:endParaRPr lang="zh-CN" altLang="en-US" b="0" dirty="0">
              <a:solidFill>
                <a:srgbClr val="577CCE"/>
              </a:solidFill>
              <a:effectLst/>
              <a:latin typeface="Consolas" panose="020B0609020204030204" pitchFamily="49" charset="0"/>
            </a:endParaRPr>
          </a:p>
        </p:txBody>
      </p:sp>
      <p:sp>
        <p:nvSpPr>
          <p:cNvPr id="6" name="文本框 5"/>
          <p:cNvSpPr txBox="1"/>
          <p:nvPr/>
        </p:nvSpPr>
        <p:spPr>
          <a:xfrm>
            <a:off x="799451" y="1545034"/>
            <a:ext cx="10891534" cy="4247317"/>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visdom</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Visdom</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viz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Visdom</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初始化</a:t>
            </a:r>
            <a:r>
              <a:rPr lang="en-US" altLang="zh-CN" b="0" dirty="0" err="1">
                <a:solidFill>
                  <a:srgbClr val="6A737D"/>
                </a:solidFill>
                <a:effectLst/>
                <a:latin typeface="Consolas" panose="020B0609020204030204" pitchFamily="49" charset="0"/>
              </a:rPr>
              <a:t>visdom</a:t>
            </a:r>
            <a:r>
              <a:rPr lang="zh-CN" altLang="en-US" b="0" dirty="0">
                <a:solidFill>
                  <a:srgbClr val="6A737D"/>
                </a:solidFill>
                <a:effectLst/>
                <a:latin typeface="Consolas" panose="020B0609020204030204" pitchFamily="49" charset="0"/>
              </a:rPr>
              <a:t>类，默认可视化环境为</a:t>
            </a:r>
            <a:r>
              <a:rPr lang="en-US" altLang="zh-CN" b="0" dirty="0">
                <a:solidFill>
                  <a:srgbClr val="6A737D"/>
                </a:solidFill>
                <a:effectLst/>
                <a:latin typeface="Consolas" panose="020B0609020204030204" pitchFamily="49" charset="0"/>
              </a:rPr>
              <a:t>main</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viz.line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Y</a:t>
            </a:r>
            <a:r>
              <a:rPr lang="zh-CN" altLang="en-US" b="0" dirty="0">
                <a:solidFill>
                  <a:srgbClr val="6A737D"/>
                </a:solidFill>
                <a:effectLst/>
                <a:latin typeface="Consolas" panose="020B0609020204030204" pitchFamily="49" charset="0"/>
              </a:rPr>
              <a:t>的第一个点坐标</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X</a:t>
            </a:r>
            <a:r>
              <a:rPr lang="zh-CN" altLang="en-US" b="0" dirty="0">
                <a:solidFill>
                  <a:srgbClr val="6A737D"/>
                </a:solidFill>
                <a:effectLst/>
                <a:latin typeface="Consolas" panose="020B0609020204030204" pitchFamily="49" charset="0"/>
              </a:rPr>
              <a:t>的第一个点坐标</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win</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"train loss"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窗口名称</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opts</a:t>
            </a:r>
            <a:r>
              <a:rPr lang="en-US" altLang="zh-CN" b="0" dirty="0">
                <a:solidFill>
                  <a:srgbClr val="D73A49"/>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dict</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title</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train_loss</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图像标例</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设置起始点</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viz.line</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Y</a:t>
            </a:r>
            <a:r>
              <a:rPr lang="zh-CN" altLang="en-US" b="0" dirty="0">
                <a:solidFill>
                  <a:srgbClr val="6A737D"/>
                </a:solidFill>
                <a:effectLst/>
                <a:latin typeface="Consolas" panose="020B0609020204030204" pitchFamily="49" charset="0"/>
              </a:rPr>
              <a:t>的下一个点坐标</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X</a:t>
            </a:r>
            <a:r>
              <a:rPr lang="zh-CN" altLang="en-US" b="0" dirty="0">
                <a:solidFill>
                  <a:srgbClr val="6A737D"/>
                </a:solidFill>
                <a:effectLst/>
                <a:latin typeface="Consolas" panose="020B0609020204030204" pitchFamily="49" charset="0"/>
              </a:rPr>
              <a:t>的下一个点坐标</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win</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"train loss"</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窗口名称，与上个窗口同名表示显示在同一个表格里</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update</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'append'</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添加到上一个点后面</a:t>
            </a:r>
            <a:endParaRPr lang="zh-CN" altLang="en-US" b="0" dirty="0">
              <a:solidFill>
                <a:srgbClr val="24292E"/>
              </a:solidFill>
              <a:effectLst/>
              <a:latin typeface="Consolas" panose="020B0609020204030204" pitchFamily="49" charset="0"/>
            </a:endParaRPr>
          </a:p>
          <a:p>
            <a:r>
              <a:rPr lang="zh-CN" altLang="en-US" b="0" dirty="0">
                <a:solidFill>
                  <a:srgbClr val="24292E"/>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endParaRPr lang="en-US" altLang="zh-CN" b="0" dirty="0">
              <a:solidFill>
                <a:srgbClr val="24292E"/>
              </a:solidFill>
              <a:effectLst/>
              <a:latin typeface="Consolas" panose="020B0609020204030204" pitchFamily="49" charset="0"/>
            </a:endParaRPr>
          </a:p>
        </p:txBody>
      </p:sp>
      <p:pic>
        <p:nvPicPr>
          <p:cNvPr id="3" name="图片 2"/>
          <p:cNvPicPr>
            <a:picLocks noChangeAspect="1"/>
          </p:cNvPicPr>
          <p:nvPr/>
        </p:nvPicPr>
        <p:blipFill>
          <a:blip r:embed="rId1"/>
          <a:stretch>
            <a:fillRect/>
          </a:stretch>
        </p:blipFill>
        <p:spPr>
          <a:xfrm>
            <a:off x="5123955" y="2587533"/>
            <a:ext cx="6447079" cy="4046571"/>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5.4 </a:t>
            </a:r>
            <a:r>
              <a:rPr lang="en-US" altLang="zh-CN" sz="3200" dirty="0" err="1"/>
              <a:t>PyTorch</a:t>
            </a:r>
            <a:r>
              <a:rPr lang="zh-CN" altLang="en-US" sz="3200" dirty="0"/>
              <a:t>常用工具介绍</a:t>
            </a:r>
            <a:endParaRPr lang="zh-CN" altLang="en-US" sz="3200" dirty="0">
              <a:solidFill>
                <a:srgbClr val="FF0000"/>
              </a:solidFill>
              <a:sym typeface="+mn-ea"/>
            </a:endParaRPr>
          </a:p>
        </p:txBody>
      </p:sp>
      <p:sp>
        <p:nvSpPr>
          <p:cNvPr id="4" name="文本框 3"/>
          <p:cNvSpPr txBox="1"/>
          <p:nvPr/>
        </p:nvSpPr>
        <p:spPr>
          <a:xfrm>
            <a:off x="531329" y="1030446"/>
            <a:ext cx="114656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5.4.6 </a:t>
            </a:r>
            <a:r>
              <a:rPr lang="zh-CN" altLang="en-US" dirty="0">
                <a:solidFill>
                  <a:srgbClr val="577CCE"/>
                </a:solidFill>
                <a:latin typeface="Consolas" panose="020B0609020204030204" pitchFamily="49" charset="0"/>
              </a:rPr>
              <a:t>可视化工具包</a:t>
            </a:r>
            <a:r>
              <a:rPr lang="en-US" altLang="zh-CN" dirty="0" err="1">
                <a:solidFill>
                  <a:srgbClr val="577CCE"/>
                </a:solidFill>
                <a:latin typeface="Consolas" panose="020B0609020204030204" pitchFamily="49" charset="0"/>
              </a:rPr>
              <a:t>Visdom</a:t>
            </a:r>
            <a:endParaRPr lang="zh-CN" altLang="en-US" b="0" dirty="0">
              <a:solidFill>
                <a:srgbClr val="577CCE"/>
              </a:solidFill>
              <a:effectLst/>
              <a:latin typeface="Consolas" panose="020B0609020204030204" pitchFamily="49" charset="0"/>
            </a:endParaRPr>
          </a:p>
        </p:txBody>
      </p:sp>
      <p:sp>
        <p:nvSpPr>
          <p:cNvPr id="5" name="文本框 4"/>
          <p:cNvSpPr txBox="1"/>
          <p:nvPr/>
        </p:nvSpPr>
        <p:spPr>
          <a:xfrm>
            <a:off x="761280" y="1531990"/>
            <a:ext cx="10809753"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上述示例是在默认的</a:t>
            </a:r>
            <a:r>
              <a:rPr lang="en-US" altLang="zh-CN" b="0" dirty="0">
                <a:solidFill>
                  <a:srgbClr val="24292E"/>
                </a:solidFill>
                <a:effectLst/>
                <a:latin typeface="Consolas" panose="020B0609020204030204" pitchFamily="49" charset="0"/>
              </a:rPr>
              <a:t>main</a:t>
            </a:r>
            <a:r>
              <a:rPr lang="zh-CN" altLang="en-US" b="0" dirty="0">
                <a:solidFill>
                  <a:srgbClr val="24292E"/>
                </a:solidFill>
                <a:effectLst/>
                <a:latin typeface="Consolas" panose="020B0609020204030204" pitchFamily="49" charset="0"/>
              </a:rPr>
              <a:t>环境下展示，</a:t>
            </a:r>
            <a:r>
              <a:rPr lang="en-US" altLang="zh-CN" b="0" dirty="0" err="1">
                <a:solidFill>
                  <a:srgbClr val="24292E"/>
                </a:solidFill>
                <a:effectLst/>
                <a:latin typeface="Consolas" panose="020B0609020204030204" pitchFamily="49" charset="0"/>
              </a:rPr>
              <a:t>Visdom</a:t>
            </a:r>
            <a:r>
              <a:rPr lang="zh-CN" altLang="en-US" b="0" dirty="0">
                <a:solidFill>
                  <a:srgbClr val="24292E"/>
                </a:solidFill>
                <a:effectLst/>
                <a:latin typeface="Consolas" panose="020B0609020204030204" pitchFamily="49" charset="0"/>
              </a:rPr>
              <a:t>也支持在多环境下显示不同的可视化结果，如下代码展示了在设置的</a:t>
            </a:r>
            <a:r>
              <a:rPr lang="en-US" altLang="zh-CN" b="0" dirty="0">
                <a:solidFill>
                  <a:srgbClr val="24292E"/>
                </a:solidFill>
                <a:effectLst/>
                <a:latin typeface="Consolas" panose="020B0609020204030204" pitchFamily="49" charset="0"/>
              </a:rPr>
              <a:t>image</a:t>
            </a:r>
            <a:r>
              <a:rPr lang="zh-CN" altLang="en-US" b="0" dirty="0">
                <a:solidFill>
                  <a:srgbClr val="24292E"/>
                </a:solidFill>
                <a:effectLst/>
                <a:latin typeface="Consolas" panose="020B0609020204030204" pitchFamily="49" charset="0"/>
              </a:rPr>
              <a:t>环境下展示图像：</a:t>
            </a:r>
            <a:endParaRPr lang="zh-CN" altLang="en-US" b="0" dirty="0">
              <a:solidFill>
                <a:srgbClr val="24292E"/>
              </a:solidFill>
              <a:effectLst/>
              <a:latin typeface="Consolas" panose="020B0609020204030204" pitchFamily="49" charset="0"/>
            </a:endParaRPr>
          </a:p>
        </p:txBody>
      </p:sp>
      <p:sp>
        <p:nvSpPr>
          <p:cNvPr id="8" name="文本框 7"/>
          <p:cNvSpPr txBox="1"/>
          <p:nvPr/>
        </p:nvSpPr>
        <p:spPr>
          <a:xfrm>
            <a:off x="1687183" y="2690336"/>
            <a:ext cx="10504817" cy="1477328"/>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visdom</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Visdom</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numpy</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np</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image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np</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random</a:t>
            </a:r>
            <a:r>
              <a:rPr lang="en-US" altLang="zh-CN" b="0" dirty="0" err="1">
                <a:solidFill>
                  <a:srgbClr val="24292E"/>
                </a:solidFill>
                <a:effectLst/>
                <a:latin typeface="Consolas" panose="020B0609020204030204" pitchFamily="49" charset="0"/>
              </a:rPr>
              <a:t>.randn</a:t>
            </a:r>
            <a:r>
              <a:rPr lang="en-US" altLang="zh-CN" b="0" dirty="0">
                <a:solidFill>
                  <a:srgbClr val="24292E"/>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200</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200</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一张</a:t>
            </a:r>
            <a:r>
              <a:rPr lang="en-US" altLang="zh-CN" b="0" dirty="0">
                <a:solidFill>
                  <a:srgbClr val="6A737D"/>
                </a:solidFill>
                <a:effectLst/>
                <a:latin typeface="Consolas" panose="020B0609020204030204" pitchFamily="49" charset="0"/>
              </a:rPr>
              <a:t>3</a:t>
            </a:r>
            <a:r>
              <a:rPr lang="zh-CN" altLang="en-US" b="0" dirty="0">
                <a:solidFill>
                  <a:srgbClr val="6A737D"/>
                </a:solidFill>
                <a:effectLst/>
                <a:latin typeface="Consolas" panose="020B0609020204030204" pitchFamily="49" charset="0"/>
              </a:rPr>
              <a:t>通道</a:t>
            </a:r>
            <a:r>
              <a:rPr lang="en-US" altLang="zh-CN" b="0" dirty="0">
                <a:solidFill>
                  <a:srgbClr val="6A737D"/>
                </a:solidFill>
                <a:effectLst/>
                <a:latin typeface="Consolas" panose="020B0609020204030204" pitchFamily="49" charset="0"/>
              </a:rPr>
              <a:t>,200*200</a:t>
            </a:r>
            <a:r>
              <a:rPr lang="zh-CN" altLang="en-US" b="0" dirty="0">
                <a:solidFill>
                  <a:srgbClr val="6A737D"/>
                </a:solidFill>
                <a:effectLst/>
                <a:latin typeface="Consolas" panose="020B0609020204030204" pitchFamily="49" charset="0"/>
              </a:rPr>
              <a:t>大小的图像</a:t>
            </a:r>
            <a:endParaRPr lang="zh-CN" altLang="en-US"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viz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Visdom</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env</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'image'</a:t>
            </a:r>
            <a:r>
              <a:rPr lang="en-US" altLang="zh-CN" b="0" dirty="0">
                <a:solidFill>
                  <a:srgbClr val="24292E"/>
                </a:solidFill>
                <a:effectLst/>
                <a:latin typeface="Consolas" panose="020B0609020204030204" pitchFamily="49" charset="0"/>
              </a:rPr>
              <a: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切换到</a:t>
            </a:r>
            <a:r>
              <a:rPr lang="en-US" altLang="zh-CN" b="0" dirty="0">
                <a:solidFill>
                  <a:srgbClr val="6A737D"/>
                </a:solidFill>
                <a:effectLst/>
                <a:latin typeface="Consolas" panose="020B0609020204030204" pitchFamily="49" charset="0"/>
              </a:rPr>
              <a:t>image</a:t>
            </a:r>
            <a:r>
              <a:rPr lang="zh-CN" altLang="en-US" b="0" dirty="0">
                <a:solidFill>
                  <a:srgbClr val="6A737D"/>
                </a:solidFill>
                <a:effectLst/>
                <a:latin typeface="Consolas" panose="020B0609020204030204" pitchFamily="49" charset="0"/>
              </a:rPr>
              <a:t>环境</a:t>
            </a:r>
            <a:endParaRPr lang="zh-CN" altLang="en-US"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viz.images</a:t>
            </a:r>
            <a:r>
              <a:rPr lang="en-US" altLang="zh-CN" b="0" dirty="0">
                <a:solidFill>
                  <a:srgbClr val="24292E"/>
                </a:solidFill>
                <a:effectLst/>
                <a:latin typeface="Consolas" panose="020B0609020204030204" pitchFamily="49" charset="0"/>
              </a:rPr>
              <a:t>(image, </a:t>
            </a:r>
            <a:r>
              <a:rPr lang="en-US" altLang="zh-CN" b="0" dirty="0">
                <a:solidFill>
                  <a:srgbClr val="E36209"/>
                </a:solidFill>
                <a:effectLst/>
                <a:latin typeface="Consolas" panose="020B0609020204030204" pitchFamily="49" charset="0"/>
              </a:rPr>
              <a:t>win</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10" name="图片 9"/>
          <p:cNvPicPr>
            <a:picLocks noChangeAspect="1"/>
          </p:cNvPicPr>
          <p:nvPr/>
        </p:nvPicPr>
        <p:blipFill>
          <a:blip r:embed="rId1"/>
          <a:stretch>
            <a:fillRect/>
          </a:stretch>
        </p:blipFill>
        <p:spPr>
          <a:xfrm>
            <a:off x="2660671" y="2738089"/>
            <a:ext cx="4378483" cy="3883180"/>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5.5 </a:t>
            </a:r>
            <a:r>
              <a:rPr lang="en-US" altLang="zh-CN" sz="3200" dirty="0" err="1"/>
              <a:t>PyTorch</a:t>
            </a:r>
            <a:r>
              <a:rPr lang="zh-CN" altLang="en-US" sz="3200" dirty="0"/>
              <a:t>回归实战</a:t>
            </a:r>
            <a:endParaRPr lang="zh-CN" altLang="en-US" sz="3200" dirty="0">
              <a:solidFill>
                <a:srgbClr val="FF0000"/>
              </a:solidFill>
              <a:sym typeface="+mn-ea"/>
            </a:endParaRPr>
          </a:p>
        </p:txBody>
      </p:sp>
      <p:sp>
        <p:nvSpPr>
          <p:cNvPr id="5" name="文本框 4"/>
          <p:cNvSpPr txBox="1"/>
          <p:nvPr/>
        </p:nvSpPr>
        <p:spPr>
          <a:xfrm>
            <a:off x="761280" y="1531990"/>
            <a:ext cx="10809753" cy="923330"/>
          </a:xfrm>
          <a:prstGeom prst="rect">
            <a:avLst/>
          </a:prstGeom>
          <a:noFill/>
        </p:spPr>
        <p:txBody>
          <a:bodyPr wrap="square">
            <a:spAutoFit/>
          </a:bodyPr>
          <a:lstStyle/>
          <a:p>
            <a:r>
              <a:rPr lang="zh-CN" altLang="en-US" dirty="0"/>
              <a:t>回归问题是机器学习研究的主要任务之一，用于预测输入变量（即自变量）和输出变量（即因变量）之间的关系。下面将使用经典的</a:t>
            </a:r>
            <a:r>
              <a:rPr lang="en-US" altLang="zh-CN" dirty="0"/>
              <a:t>Auto MPG</a:t>
            </a:r>
            <a:r>
              <a:rPr lang="zh-CN" altLang="en-US" dirty="0"/>
              <a:t>（</a:t>
            </a:r>
            <a:r>
              <a:rPr lang="en-US" altLang="zh-CN" dirty="0"/>
              <a:t>Mile Per Gallon</a:t>
            </a:r>
            <a:r>
              <a:rPr lang="zh-CN" altLang="en-US" dirty="0"/>
              <a:t>）数据集，演示如何基于</a:t>
            </a:r>
            <a:r>
              <a:rPr lang="en-US" altLang="zh-CN" dirty="0" err="1"/>
              <a:t>PyTorch</a:t>
            </a:r>
            <a:r>
              <a:rPr lang="zh-CN" altLang="en-US" dirty="0"/>
              <a:t>构建深度网络模型来预测汽车的燃油效率。</a:t>
            </a:r>
            <a:endParaRPr lang="zh-CN" altLang="en-US" dirty="0"/>
          </a:p>
        </p:txBody>
      </p:sp>
      <p:sp>
        <p:nvSpPr>
          <p:cNvPr id="14" name="文本框 13"/>
          <p:cNvSpPr txBox="1"/>
          <p:nvPr/>
        </p:nvSpPr>
        <p:spPr>
          <a:xfrm>
            <a:off x="761280" y="2621086"/>
            <a:ext cx="3032594"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5.5.1 </a:t>
            </a:r>
            <a:r>
              <a:rPr lang="zh-CN" altLang="en-US" dirty="0">
                <a:solidFill>
                  <a:srgbClr val="577CCE"/>
                </a:solidFill>
                <a:latin typeface="Consolas" panose="020B0609020204030204" pitchFamily="49" charset="0"/>
              </a:rPr>
              <a:t>数据处理</a:t>
            </a:r>
            <a:endParaRPr lang="zh-CN" altLang="en-US" b="0" dirty="0">
              <a:solidFill>
                <a:srgbClr val="577CCE"/>
              </a:solidFill>
              <a:effectLst/>
              <a:latin typeface="Consolas" panose="020B0609020204030204" pitchFamily="49" charset="0"/>
            </a:endParaRPr>
          </a:p>
        </p:txBody>
      </p:sp>
      <p:sp>
        <p:nvSpPr>
          <p:cNvPr id="16" name="文本框 15"/>
          <p:cNvSpPr txBox="1"/>
          <p:nvPr/>
        </p:nvSpPr>
        <p:spPr>
          <a:xfrm>
            <a:off x="1054688" y="3072348"/>
            <a:ext cx="10030256" cy="1200329"/>
          </a:xfrm>
          <a:prstGeom prst="rect">
            <a:avLst/>
          </a:prstGeom>
          <a:noFill/>
        </p:spPr>
        <p:txBody>
          <a:bodyPr wrap="square">
            <a:spAutoFit/>
          </a:bodyPr>
          <a:lstStyle/>
          <a:p>
            <a:r>
              <a:rPr lang="en-US" altLang="zh-CN" dirty="0"/>
              <a:t>Auto MPG </a:t>
            </a:r>
            <a:r>
              <a:rPr lang="zh-CN" altLang="en-US" dirty="0"/>
              <a:t>数据集共有 </a:t>
            </a:r>
            <a:r>
              <a:rPr lang="en-US" altLang="zh-CN" dirty="0"/>
              <a:t>398 </a:t>
            </a:r>
            <a:r>
              <a:rPr lang="zh-CN" altLang="en-US" dirty="0"/>
              <a:t>条记录， 每条记录有 </a:t>
            </a:r>
            <a:r>
              <a:rPr lang="en-US" altLang="zh-CN" dirty="0"/>
              <a:t>9 </a:t>
            </a:r>
            <a:r>
              <a:rPr lang="zh-CN" altLang="en-US" dirty="0"/>
              <a:t>列数据， 分别记录各种车的燃油效率、气缸数、 排量、 马力、 重量、 加速性能、 车型年份、 原产地共 </a:t>
            </a:r>
            <a:r>
              <a:rPr lang="en-US" altLang="zh-CN" dirty="0"/>
              <a:t>8 </a:t>
            </a:r>
            <a:r>
              <a:rPr lang="zh-CN" altLang="en-US" dirty="0"/>
              <a:t>个特征， 以及汽车型号， 下载地址为 </a:t>
            </a:r>
            <a:r>
              <a:rPr lang="en-US" altLang="zh-CN" b="1" i="1" dirty="0">
                <a:solidFill>
                  <a:srgbClr val="E36209"/>
                </a:solidFill>
              </a:rPr>
              <a:t>http://archive.ics.uci.edu/ml/machine-learning-databases/auto-mpg/auto-mpg.</a:t>
            </a:r>
            <a:r>
              <a:rPr lang="en-US" altLang="zh-CN" b="1" i="1">
                <a:solidFill>
                  <a:srgbClr val="E36209"/>
                </a:solidFill>
              </a:rPr>
              <a:t>data</a:t>
            </a:r>
            <a:r>
              <a:rPr lang="zh-CN" altLang="en-US" dirty="0"/>
              <a:t>。</a:t>
            </a:r>
            <a:endParaRPr lang="en-US" altLang="zh-CN" dirty="0"/>
          </a:p>
          <a:p>
            <a:r>
              <a:rPr lang="zh-CN" altLang="en-US" dirty="0"/>
              <a:t>图 </a:t>
            </a:r>
            <a:r>
              <a:rPr lang="en-US" altLang="zh-CN" dirty="0"/>
              <a:t>5-5 </a:t>
            </a:r>
            <a:r>
              <a:rPr lang="zh-CN" altLang="en-US" dirty="0"/>
              <a:t>给出了该数据集的部分数据展示。</a:t>
            </a:r>
            <a:endParaRPr lang="zh-CN" altLang="en-US" dirty="0"/>
          </a:p>
        </p:txBody>
      </p:sp>
      <p:pic>
        <p:nvPicPr>
          <p:cNvPr id="22" name="图片 21"/>
          <p:cNvPicPr>
            <a:picLocks noChangeAspect="1"/>
          </p:cNvPicPr>
          <p:nvPr/>
        </p:nvPicPr>
        <p:blipFill>
          <a:blip r:embed="rId1"/>
          <a:stretch>
            <a:fillRect/>
          </a:stretch>
        </p:blipFill>
        <p:spPr>
          <a:xfrm>
            <a:off x="2188171" y="3125363"/>
            <a:ext cx="7955969" cy="3475021"/>
          </a:xfrm>
          <a:prstGeom prst="rect">
            <a:avLst/>
          </a:prstGeom>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5.5 </a:t>
            </a:r>
            <a:r>
              <a:rPr lang="en-US" altLang="zh-CN" sz="3200" dirty="0" err="1"/>
              <a:t>PyTorch</a:t>
            </a:r>
            <a:r>
              <a:rPr lang="zh-CN" altLang="en-US" sz="3200" dirty="0"/>
              <a:t>回归实战</a:t>
            </a:r>
            <a:endParaRPr lang="zh-CN" altLang="en-US" sz="3200" dirty="0">
              <a:solidFill>
                <a:srgbClr val="FF0000"/>
              </a:solidFill>
              <a:sym typeface="+mn-ea"/>
            </a:endParaRPr>
          </a:p>
        </p:txBody>
      </p:sp>
      <p:sp>
        <p:nvSpPr>
          <p:cNvPr id="14" name="文本框 13"/>
          <p:cNvSpPr txBox="1"/>
          <p:nvPr/>
        </p:nvSpPr>
        <p:spPr>
          <a:xfrm>
            <a:off x="677390" y="1399778"/>
            <a:ext cx="3032594"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5.5.1 </a:t>
            </a:r>
            <a:r>
              <a:rPr lang="zh-CN" altLang="en-US" dirty="0">
                <a:solidFill>
                  <a:srgbClr val="577CCE"/>
                </a:solidFill>
                <a:latin typeface="Consolas" panose="020B0609020204030204" pitchFamily="49" charset="0"/>
              </a:rPr>
              <a:t>数据处理</a:t>
            </a:r>
            <a:endParaRPr lang="zh-CN" altLang="en-US" b="0" dirty="0">
              <a:solidFill>
                <a:srgbClr val="577CCE"/>
              </a:solidFill>
              <a:effectLst/>
              <a:latin typeface="Consolas" panose="020B0609020204030204" pitchFamily="49" charset="0"/>
            </a:endParaRPr>
          </a:p>
        </p:txBody>
      </p:sp>
      <p:sp>
        <p:nvSpPr>
          <p:cNvPr id="16" name="文本框 15"/>
          <p:cNvSpPr txBox="1"/>
          <p:nvPr/>
        </p:nvSpPr>
        <p:spPr>
          <a:xfrm>
            <a:off x="1054687" y="1817710"/>
            <a:ext cx="10564763" cy="369332"/>
          </a:xfrm>
          <a:prstGeom prst="rect">
            <a:avLst/>
          </a:prstGeom>
          <a:noFill/>
        </p:spPr>
        <p:txBody>
          <a:bodyPr wrap="square">
            <a:spAutoFit/>
          </a:bodyPr>
          <a:lstStyle/>
          <a:p>
            <a:r>
              <a:rPr lang="zh-CN" altLang="en-US" dirty="0"/>
              <a:t>在确定了各列特征的含义后，我们可以使用Pandas导入数据集：</a:t>
            </a:r>
            <a:endParaRPr lang="zh-CN" altLang="en-US" dirty="0"/>
          </a:p>
        </p:txBody>
      </p:sp>
      <p:sp>
        <p:nvSpPr>
          <p:cNvPr id="18" name="文本框 17"/>
          <p:cNvSpPr txBox="1"/>
          <p:nvPr/>
        </p:nvSpPr>
        <p:spPr>
          <a:xfrm>
            <a:off x="1103104" y="2295420"/>
            <a:ext cx="10467928" cy="2585323"/>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pandas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pd</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dataset_path</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D73A49"/>
                </a:solidFill>
                <a:effectLst/>
                <a:latin typeface="Consolas" panose="020B0609020204030204" pitchFamily="49" charset="0"/>
              </a:rPr>
              <a:t>r</a:t>
            </a:r>
            <a:r>
              <a:rPr lang="en-US" altLang="zh-CN" b="0" dirty="0" err="1">
                <a:solidFill>
                  <a:srgbClr val="032F62"/>
                </a:solidFill>
                <a:effectLst/>
                <a:latin typeface="Consolas" panose="020B0609020204030204" pitchFamily="49" charset="0"/>
              </a:rPr>
              <a:t>'C</a:t>
            </a:r>
            <a:r>
              <a:rPr lang="en-US" altLang="zh-CN" b="0" dirty="0">
                <a:solidFill>
                  <a:srgbClr val="032F62"/>
                </a:solidFill>
                <a:effectLst/>
                <a:latin typeface="Consolas" panose="020B0609020204030204" pitchFamily="49" charset="0"/>
              </a:rPr>
              <a:t>:</a:t>
            </a:r>
            <a:r>
              <a:rPr lang="en-US" altLang="zh-CN" b="1" dirty="0">
                <a:solidFill>
                  <a:srgbClr val="22863A"/>
                </a:solidFill>
                <a:effectLst/>
                <a:latin typeface="Consolas" panose="020B0609020204030204" pitchFamily="49" charset="0"/>
              </a:rPr>
              <a:t>\U</a:t>
            </a:r>
            <a:r>
              <a:rPr lang="en-US" altLang="zh-CN" b="0" dirty="0">
                <a:solidFill>
                  <a:srgbClr val="032F62"/>
                </a:solidFill>
                <a:effectLst/>
                <a:latin typeface="Consolas" panose="020B0609020204030204" pitchFamily="49" charset="0"/>
              </a:rPr>
              <a:t>sers</a:t>
            </a:r>
            <a:r>
              <a:rPr lang="en-US" altLang="zh-CN" b="0" dirty="0">
                <a:solidFill>
                  <a:srgbClr val="22863A"/>
                </a:solidFill>
                <a:effectLst/>
                <a:latin typeface="Consolas" panose="020B0609020204030204" pitchFamily="49" charset="0"/>
              </a:rPr>
              <a:t>\86</a:t>
            </a:r>
            <a:r>
              <a:rPr lang="en-US" altLang="zh-CN" b="0" dirty="0">
                <a:solidFill>
                  <a:srgbClr val="032F62"/>
                </a:solidFill>
                <a:effectLst/>
                <a:latin typeface="Consolas" panose="020B0609020204030204" pitchFamily="49" charset="0"/>
              </a:rPr>
              <a:t>188</a:t>
            </a:r>
            <a:r>
              <a:rPr lang="en-US" altLang="zh-CN" b="0" dirty="0">
                <a:solidFill>
                  <a:srgbClr val="005CC5"/>
                </a:solidFill>
                <a:effectLst/>
                <a:latin typeface="Consolas" panose="020B0609020204030204" pitchFamily="49" charset="0"/>
              </a:rPr>
              <a:t>\D</a:t>
            </a:r>
            <a:r>
              <a:rPr lang="en-US" altLang="zh-CN" b="0" dirty="0">
                <a:solidFill>
                  <a:srgbClr val="032F62"/>
                </a:solidFill>
                <a:effectLst/>
                <a:latin typeface="Consolas" panose="020B0609020204030204" pitchFamily="49" charset="0"/>
              </a:rPr>
              <a:t>esktop</a:t>
            </a:r>
            <a:r>
              <a:rPr lang="en-US" altLang="zh-CN" b="1" dirty="0">
                <a:solidFill>
                  <a:srgbClr val="22863A"/>
                </a:solidFill>
                <a:effectLst/>
                <a:latin typeface="Consolas" panose="020B0609020204030204" pitchFamily="49" charset="0"/>
              </a:rPr>
              <a:t>\</a:t>
            </a:r>
            <a:r>
              <a:rPr lang="zh-CN" altLang="en-US" b="1" dirty="0">
                <a:solidFill>
                  <a:srgbClr val="22863A"/>
                </a:solidFill>
                <a:effectLst/>
                <a:latin typeface="Consolas" panose="020B0609020204030204" pitchFamily="49" charset="0"/>
              </a:rPr>
              <a:t>人</a:t>
            </a:r>
            <a:r>
              <a:rPr lang="zh-CN" altLang="en-US" b="0" dirty="0">
                <a:solidFill>
                  <a:srgbClr val="032F62"/>
                </a:solidFill>
                <a:effectLst/>
                <a:latin typeface="Consolas" panose="020B0609020204030204" pitchFamily="49" charset="0"/>
              </a:rPr>
              <a:t>工智能导论</a:t>
            </a:r>
            <a:r>
              <a:rPr lang="en-US" altLang="zh-CN" b="1" dirty="0">
                <a:solidFill>
                  <a:srgbClr val="22863A"/>
                </a:solidFill>
                <a:effectLst/>
                <a:latin typeface="Consolas" panose="020B0609020204030204" pitchFamily="49" charset="0"/>
              </a:rPr>
              <a:t>\</a:t>
            </a:r>
            <a:r>
              <a:rPr lang="en-US" altLang="zh-CN" b="1" dirty="0" err="1">
                <a:solidFill>
                  <a:srgbClr val="22863A"/>
                </a:solidFill>
                <a:effectLst/>
                <a:latin typeface="Consolas" panose="020B0609020204030204" pitchFamily="49" charset="0"/>
              </a:rPr>
              <a:t>j</a:t>
            </a:r>
            <a:r>
              <a:rPr lang="en-US" altLang="zh-CN" b="0" dirty="0" err="1">
                <a:solidFill>
                  <a:srgbClr val="032F62"/>
                </a:solidFill>
                <a:effectLst/>
                <a:latin typeface="Consolas" panose="020B0609020204030204" pitchFamily="49" charset="0"/>
              </a:rPr>
              <a:t>upyter</a:t>
            </a:r>
            <a:r>
              <a:rPr lang="en-US" altLang="zh-CN" b="0" dirty="0">
                <a:solidFill>
                  <a:srgbClr val="032F62"/>
                </a:solidFill>
                <a:effectLst/>
                <a:latin typeface="Consolas" panose="020B0609020204030204" pitchFamily="49" charset="0"/>
              </a:rPr>
              <a:t> notebook</a:t>
            </a:r>
            <a:r>
              <a:rPr lang="en-US" altLang="zh-CN" b="1" dirty="0">
                <a:solidFill>
                  <a:srgbClr val="22863A"/>
                </a:solidFill>
                <a:effectLst/>
                <a:latin typeface="Consolas" panose="020B0609020204030204" pitchFamily="49" charset="0"/>
              </a:rPr>
              <a:t>\</a:t>
            </a:r>
            <a:r>
              <a:rPr lang="zh-CN" altLang="en-US" b="1" dirty="0">
                <a:solidFill>
                  <a:srgbClr val="22863A"/>
                </a:solidFill>
                <a:effectLst/>
                <a:latin typeface="Consolas" panose="020B0609020204030204" pitchFamily="49" charset="0"/>
              </a:rPr>
              <a:t>第</a:t>
            </a:r>
            <a:r>
              <a:rPr lang="zh-CN" altLang="en-US" b="0" dirty="0">
                <a:solidFill>
                  <a:srgbClr val="032F62"/>
                </a:solidFill>
                <a:effectLst/>
                <a:latin typeface="Consolas" panose="020B0609020204030204" pitchFamily="49" charset="0"/>
              </a:rPr>
              <a:t>五章</a:t>
            </a:r>
            <a:r>
              <a:rPr lang="en-US" altLang="zh-CN" b="1" dirty="0">
                <a:solidFill>
                  <a:srgbClr val="22863A"/>
                </a:solidFill>
                <a:effectLst/>
                <a:latin typeface="Consolas" panose="020B0609020204030204" pitchFamily="49" charset="0"/>
              </a:rPr>
              <a:t>\a</a:t>
            </a:r>
            <a:r>
              <a:rPr lang="en-US" altLang="zh-CN" b="0" dirty="0">
                <a:solidFill>
                  <a:srgbClr val="032F62"/>
                </a:solidFill>
                <a:effectLst/>
                <a:latin typeface="Consolas" panose="020B0609020204030204" pitchFamily="49" charset="0"/>
              </a:rPr>
              <a:t>uto-</a:t>
            </a:r>
            <a:r>
              <a:rPr lang="en-US" altLang="zh-CN" b="0" dirty="0" err="1">
                <a:solidFill>
                  <a:srgbClr val="032F62"/>
                </a:solidFill>
                <a:effectLst/>
                <a:latin typeface="Consolas" panose="020B0609020204030204" pitchFamily="49" charset="0"/>
              </a:rPr>
              <a:t>mpg</a:t>
            </a:r>
            <a:r>
              <a:rPr lang="en-US" altLang="zh-CN" b="0" dirty="0" err="1">
                <a:solidFill>
                  <a:srgbClr val="005CC5"/>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data</a:t>
            </a:r>
            <a:r>
              <a:rPr lang="en-US" altLang="zh-CN" b="0" dirty="0">
                <a:solidFill>
                  <a:srgbClr val="032F62"/>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column_names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MPG'</a:t>
            </a:r>
            <a:r>
              <a:rPr lang="en-US" altLang="zh-CN" b="0" dirty="0" err="1">
                <a:solidFill>
                  <a:srgbClr val="24292E"/>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'Cylinders'</a:t>
            </a:r>
            <a:r>
              <a:rPr lang="en-US" altLang="zh-CN" b="0" dirty="0" err="1">
                <a:solidFill>
                  <a:srgbClr val="24292E"/>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'Displacement'</a:t>
            </a:r>
            <a:r>
              <a:rPr lang="en-US" altLang="zh-CN" b="0" dirty="0" err="1">
                <a:solidFill>
                  <a:srgbClr val="24292E"/>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'Horsepower'</a:t>
            </a:r>
            <a:r>
              <a:rPr lang="en-US" altLang="zh-CN" b="0" dirty="0" err="1">
                <a:solidFill>
                  <a:srgbClr val="24292E"/>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'Weight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'Acceleration'</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'Model Year'</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'Origin'</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raw_dataset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pd</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read_csv</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dataset_path</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names</a:t>
            </a:r>
            <a:r>
              <a:rPr lang="en-US" altLang="zh-CN" b="0" dirty="0">
                <a:solidFill>
                  <a:srgbClr val="D73A49"/>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column_names</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na_values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comment</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sep</a:t>
            </a:r>
            <a:r>
              <a:rPr lang="en-US" altLang="zh-CN" b="0" dirty="0">
                <a:solidFill>
                  <a:srgbClr val="D73A49"/>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 "</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skipinitialspace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dataset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raw_dataset.copy</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dataset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展示数据集内容</a:t>
            </a:r>
            <a:endParaRPr lang="zh-CN" altLang="en-US" b="0" dirty="0">
              <a:solidFill>
                <a:srgbClr val="24292E"/>
              </a:solidFill>
              <a:effectLst/>
              <a:latin typeface="Consolas" panose="020B0609020204030204" pitchFamily="49" charset="0"/>
            </a:endParaRPr>
          </a:p>
        </p:txBody>
      </p:sp>
      <p:pic>
        <p:nvPicPr>
          <p:cNvPr id="20" name="图片 19"/>
          <p:cNvPicPr>
            <a:picLocks noChangeAspect="1"/>
          </p:cNvPicPr>
          <p:nvPr/>
        </p:nvPicPr>
        <p:blipFill>
          <a:blip r:embed="rId1"/>
          <a:stretch>
            <a:fillRect/>
          </a:stretch>
        </p:blipFill>
        <p:spPr>
          <a:xfrm>
            <a:off x="4269392" y="400064"/>
            <a:ext cx="7581803" cy="4002617"/>
          </a:xfrm>
          <a:prstGeom prst="rect">
            <a:avLst/>
          </a:prstGeom>
          <a:ln>
            <a:noFill/>
          </a:ln>
          <a:effectLst>
            <a:outerShdw blurRad="292100" dist="139700" dir="2700000" algn="tl" rotWithShape="0">
              <a:srgbClr val="333333">
                <a:alpha val="65000"/>
              </a:srgbClr>
            </a:outerShdw>
          </a:effectLst>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5.5 </a:t>
            </a:r>
            <a:r>
              <a:rPr lang="en-US" altLang="zh-CN" sz="3200" dirty="0" err="1"/>
              <a:t>PyTorch</a:t>
            </a:r>
            <a:r>
              <a:rPr lang="zh-CN" altLang="en-US" sz="3200" dirty="0"/>
              <a:t>回归实战</a:t>
            </a:r>
            <a:endParaRPr lang="zh-CN" altLang="en-US" sz="3200" dirty="0">
              <a:solidFill>
                <a:srgbClr val="FF0000"/>
              </a:solidFill>
              <a:sym typeface="+mn-ea"/>
            </a:endParaRPr>
          </a:p>
        </p:txBody>
      </p:sp>
      <p:sp>
        <p:nvSpPr>
          <p:cNvPr id="5" name="文本框 4"/>
          <p:cNvSpPr txBox="1"/>
          <p:nvPr/>
        </p:nvSpPr>
        <p:spPr>
          <a:xfrm>
            <a:off x="761280" y="1531990"/>
            <a:ext cx="108097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5.5.1 </a:t>
            </a:r>
            <a:r>
              <a:rPr lang="zh-CN" altLang="en-US" dirty="0">
                <a:solidFill>
                  <a:srgbClr val="577CCE"/>
                </a:solidFill>
                <a:latin typeface="Consolas" panose="020B0609020204030204" pitchFamily="49" charset="0"/>
              </a:rPr>
              <a:t>数据处理</a:t>
            </a:r>
            <a:endParaRPr lang="zh-CN" altLang="en-US" b="0" dirty="0">
              <a:solidFill>
                <a:srgbClr val="577CCE"/>
              </a:solidFill>
              <a:effectLst/>
              <a:latin typeface="Consolas" panose="020B0609020204030204" pitchFamily="49" charset="0"/>
            </a:endParaRPr>
          </a:p>
        </p:txBody>
      </p:sp>
      <p:sp>
        <p:nvSpPr>
          <p:cNvPr id="16" name="文本框 15"/>
          <p:cNvSpPr txBox="1"/>
          <p:nvPr/>
        </p:nvSpPr>
        <p:spPr>
          <a:xfrm>
            <a:off x="981773" y="1990866"/>
            <a:ext cx="10564763"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由于数据集中有些字段为空，为了便于处理，我们删除包含未知值的数据行：</a:t>
            </a:r>
            <a:endParaRPr lang="zh-CN" altLang="en-US" b="0" dirty="0">
              <a:solidFill>
                <a:srgbClr val="24292E"/>
              </a:solidFill>
              <a:effectLst/>
              <a:latin typeface="Consolas" panose="020B0609020204030204" pitchFamily="49" charset="0"/>
            </a:endParaRPr>
          </a:p>
        </p:txBody>
      </p:sp>
      <p:sp>
        <p:nvSpPr>
          <p:cNvPr id="3" name="文本框 2"/>
          <p:cNvSpPr txBox="1"/>
          <p:nvPr/>
        </p:nvSpPr>
        <p:spPr>
          <a:xfrm>
            <a:off x="1346200" y="2450180"/>
            <a:ext cx="6123962" cy="646331"/>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dataset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dataset.</a:t>
            </a:r>
            <a:r>
              <a:rPr lang="en-US" altLang="zh-CN" b="0" dirty="0" err="1">
                <a:solidFill>
                  <a:srgbClr val="6F42C1"/>
                </a:solidFill>
                <a:effectLst/>
                <a:latin typeface="Consolas" panose="020B0609020204030204" pitchFamily="49" charset="0"/>
              </a:rPr>
              <a:t>dropna</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dataset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再次展示数据集内容</a:t>
            </a:r>
            <a:endParaRPr lang="zh-CN" altLang="en-US" b="0" dirty="0">
              <a:solidFill>
                <a:srgbClr val="24292E"/>
              </a:solidFill>
              <a:effectLst/>
              <a:latin typeface="Consolas" panose="020B0609020204030204" pitchFamily="49" charset="0"/>
            </a:endParaRPr>
          </a:p>
        </p:txBody>
      </p:sp>
      <p:pic>
        <p:nvPicPr>
          <p:cNvPr id="6" name="图片 5"/>
          <p:cNvPicPr>
            <a:picLocks noChangeAspect="1"/>
          </p:cNvPicPr>
          <p:nvPr/>
        </p:nvPicPr>
        <p:blipFill>
          <a:blip r:embed="rId1"/>
          <a:stretch>
            <a:fillRect/>
          </a:stretch>
        </p:blipFill>
        <p:spPr>
          <a:xfrm>
            <a:off x="192947" y="3344695"/>
            <a:ext cx="6350466" cy="3352564"/>
          </a:xfrm>
          <a:prstGeom prst="rect">
            <a:avLst/>
          </a:prstGeom>
          <a:ln>
            <a:noFill/>
          </a:ln>
          <a:effectLst>
            <a:outerShdw blurRad="292100" dist="139700" dir="2700000" algn="tl" rotWithShape="0">
              <a:srgbClr val="333333">
                <a:alpha val="65000"/>
              </a:srgbClr>
            </a:outerShdw>
          </a:effectLst>
        </p:spPr>
      </p:pic>
      <p:pic>
        <p:nvPicPr>
          <p:cNvPr id="10" name="图片 9"/>
          <p:cNvPicPr>
            <a:picLocks noChangeAspect="1"/>
          </p:cNvPicPr>
          <p:nvPr/>
        </p:nvPicPr>
        <p:blipFill>
          <a:blip r:embed="rId2"/>
          <a:stretch>
            <a:fillRect/>
          </a:stretch>
        </p:blipFill>
        <p:spPr>
          <a:xfrm>
            <a:off x="4698284" y="3186493"/>
            <a:ext cx="6848252" cy="3565619"/>
          </a:xfrm>
          <a:prstGeom prst="rect">
            <a:avLst/>
          </a:prstGeom>
          <a:ln>
            <a:noFill/>
          </a:ln>
          <a:effectLst>
            <a:outerShdw blurRad="292100" dist="139700" dir="2700000" algn="tl" rotWithShape="0">
              <a:srgbClr val="333333">
                <a:alpha val="65000"/>
              </a:srgbClr>
            </a:outerShdw>
          </a:effectLst>
        </p:spPr>
      </p:pic>
      <p:sp>
        <p:nvSpPr>
          <p:cNvPr id="11" name="箭头: 右 10"/>
          <p:cNvSpPr/>
          <p:nvPr/>
        </p:nvSpPr>
        <p:spPr>
          <a:xfrm>
            <a:off x="3984771" y="4655890"/>
            <a:ext cx="968928" cy="535706"/>
          </a:xfrm>
          <a:prstGeom prst="rightArrow">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35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11"/>
          <p:cNvSpPr/>
          <p:nvPr/>
        </p:nvSpPr>
        <p:spPr>
          <a:xfrm>
            <a:off x="192947" y="6414770"/>
            <a:ext cx="1506057" cy="282489"/>
          </a:xfrm>
          <a:prstGeom prst="rect">
            <a:avLst/>
          </a:prstGeom>
          <a:solidFill>
            <a:srgbClr val="ED4A39">
              <a:alpha val="5411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698284" y="6469623"/>
            <a:ext cx="1506057" cy="282489"/>
          </a:xfrm>
          <a:prstGeom prst="rect">
            <a:avLst/>
          </a:prstGeom>
          <a:solidFill>
            <a:srgbClr val="ED4A39">
              <a:alpha val="5411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3"/>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500"/>
                                        <p:tgtEl>
                                          <p:spTgt spid="11"/>
                                        </p:tgtEl>
                                      </p:cBhvr>
                                    </p:animEffect>
                                  </p:childTnLst>
                                </p:cTn>
                              </p:par>
                              <p:par>
                                <p:cTn id="11" presetID="22" presetClass="entr" presetSubtype="8"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5.5 </a:t>
            </a:r>
            <a:r>
              <a:rPr lang="en-US" altLang="zh-CN" sz="3200" dirty="0" err="1"/>
              <a:t>PyTorch</a:t>
            </a:r>
            <a:r>
              <a:rPr lang="zh-CN" altLang="en-US" sz="3200" dirty="0"/>
              <a:t>回归实战</a:t>
            </a:r>
            <a:endParaRPr lang="zh-CN" altLang="en-US" sz="3200" dirty="0">
              <a:solidFill>
                <a:srgbClr val="FF0000"/>
              </a:solidFill>
              <a:sym typeface="+mn-ea"/>
            </a:endParaRPr>
          </a:p>
        </p:txBody>
      </p:sp>
      <p:sp>
        <p:nvSpPr>
          <p:cNvPr id="5" name="文本框 4"/>
          <p:cNvSpPr txBox="1"/>
          <p:nvPr/>
        </p:nvSpPr>
        <p:spPr>
          <a:xfrm>
            <a:off x="761280" y="1531990"/>
            <a:ext cx="108097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5.5.1 </a:t>
            </a:r>
            <a:r>
              <a:rPr lang="zh-CN" altLang="en-US" dirty="0">
                <a:solidFill>
                  <a:srgbClr val="577CCE"/>
                </a:solidFill>
                <a:latin typeface="Consolas" panose="020B0609020204030204" pitchFamily="49" charset="0"/>
              </a:rPr>
              <a:t>数据处理</a:t>
            </a:r>
            <a:endParaRPr lang="zh-CN" altLang="en-US" b="0" dirty="0">
              <a:solidFill>
                <a:srgbClr val="577CCE"/>
              </a:solidFill>
              <a:effectLst/>
              <a:latin typeface="Consolas" panose="020B0609020204030204" pitchFamily="49" charset="0"/>
            </a:endParaRPr>
          </a:p>
        </p:txBody>
      </p:sp>
      <p:sp>
        <p:nvSpPr>
          <p:cNvPr id="16" name="文本框 15"/>
          <p:cNvSpPr txBox="1"/>
          <p:nvPr/>
        </p:nvSpPr>
        <p:spPr>
          <a:xfrm>
            <a:off x="981773" y="1990866"/>
            <a:ext cx="10564763"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对于“</a:t>
            </a:r>
            <a:r>
              <a:rPr lang="en-US" altLang="zh-CN" b="0" dirty="0">
                <a:solidFill>
                  <a:srgbClr val="24292E"/>
                </a:solidFill>
                <a:effectLst/>
                <a:latin typeface="Consolas" panose="020B0609020204030204" pitchFamily="49" charset="0"/>
              </a:rPr>
              <a:t>Origin”</a:t>
            </a:r>
            <a:r>
              <a:rPr lang="zh-CN" altLang="en-US" b="0" dirty="0">
                <a:solidFill>
                  <a:srgbClr val="24292E"/>
                </a:solidFill>
                <a:effectLst/>
                <a:latin typeface="Consolas" panose="020B0609020204030204" pitchFamily="49" charset="0"/>
              </a:rPr>
              <a:t>（原产地）特征，实际上是一个分类特征，取值为</a:t>
            </a:r>
            <a:r>
              <a:rPr lang="en-US" altLang="zh-CN" b="0" dirty="0">
                <a:solidFill>
                  <a:srgbClr val="24292E"/>
                </a:solidFill>
                <a:effectLst/>
                <a:latin typeface="Consolas" panose="020B0609020204030204" pitchFamily="49" charset="0"/>
              </a:rPr>
              <a:t>1</a:t>
            </a:r>
            <a:r>
              <a:rPr lang="zh-CN" altLang="en-US" b="0" dirty="0">
                <a:solidFill>
                  <a:srgbClr val="24292E"/>
                </a:solidFill>
                <a:effectLst/>
                <a:latin typeface="Consolas" panose="020B0609020204030204" pitchFamily="49" charset="0"/>
              </a:rPr>
              <a:t>到</a:t>
            </a:r>
            <a:r>
              <a:rPr lang="en-US" altLang="zh-CN" b="0" dirty="0">
                <a:solidFill>
                  <a:srgbClr val="24292E"/>
                </a:solidFill>
                <a:effectLst/>
                <a:latin typeface="Consolas" panose="020B0609020204030204" pitchFamily="49" charset="0"/>
              </a:rPr>
              <a:t>3</a:t>
            </a:r>
            <a:r>
              <a:rPr lang="zh-CN" altLang="en-US" b="0" dirty="0">
                <a:solidFill>
                  <a:srgbClr val="24292E"/>
                </a:solidFill>
                <a:effectLst/>
                <a:latin typeface="Consolas" panose="020B0609020204030204" pitchFamily="49" charset="0"/>
              </a:rPr>
              <a:t>，分别代表</a:t>
            </a:r>
            <a:r>
              <a:rPr lang="en-US" altLang="zh-CN" b="0" dirty="0">
                <a:solidFill>
                  <a:srgbClr val="24292E"/>
                </a:solidFill>
                <a:effectLst/>
                <a:latin typeface="Consolas" panose="020B0609020204030204" pitchFamily="49" charset="0"/>
              </a:rPr>
              <a:t>USA</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Europe</a:t>
            </a:r>
            <a:r>
              <a:rPr lang="zh-CN" altLang="en-US" b="0" dirty="0">
                <a:solidFill>
                  <a:srgbClr val="24292E"/>
                </a:solidFill>
                <a:effectLst/>
                <a:latin typeface="Consolas" panose="020B0609020204030204" pitchFamily="49" charset="0"/>
              </a:rPr>
              <a:t>和</a:t>
            </a:r>
            <a:r>
              <a:rPr lang="en-US" altLang="zh-CN" b="0" dirty="0">
                <a:solidFill>
                  <a:srgbClr val="24292E"/>
                </a:solidFill>
                <a:effectLst/>
                <a:latin typeface="Consolas" panose="020B0609020204030204" pitchFamily="49" charset="0"/>
              </a:rPr>
              <a:t>Japan</a:t>
            </a:r>
            <a:r>
              <a:rPr lang="zh-CN" altLang="en-US" b="0" dirty="0">
                <a:solidFill>
                  <a:srgbClr val="24292E"/>
                </a:solidFill>
                <a:effectLst/>
                <a:latin typeface="Consolas" panose="020B0609020204030204" pitchFamily="49" charset="0"/>
              </a:rPr>
              <a:t>。该特征可以直接使用，也可以将其转换成</a:t>
            </a:r>
            <a:r>
              <a:rPr lang="en-US" altLang="zh-CN" b="0" dirty="0">
                <a:solidFill>
                  <a:srgbClr val="24292E"/>
                </a:solidFill>
                <a:effectLst/>
                <a:latin typeface="Consolas" panose="020B0609020204030204" pitchFamily="49" charset="0"/>
              </a:rPr>
              <a:t>one-hot</a:t>
            </a:r>
            <a:r>
              <a:rPr lang="zh-CN" altLang="en-US" b="0" dirty="0">
                <a:solidFill>
                  <a:srgbClr val="24292E"/>
                </a:solidFill>
                <a:effectLst/>
                <a:latin typeface="Consolas" panose="020B0609020204030204" pitchFamily="49" charset="0"/>
              </a:rPr>
              <a:t>编码，变为三个特征：</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1346200" y="2726741"/>
            <a:ext cx="5197213" cy="1477328"/>
          </a:xfrm>
          <a:prstGeom prst="rect">
            <a:avLst/>
          </a:prstGeom>
          <a:noFill/>
        </p:spPr>
        <p:txBody>
          <a:bodyPr wrap="square">
            <a:spAutoFit/>
          </a:bodyPr>
          <a:lstStyle/>
          <a:p>
            <a:r>
              <a:rPr lang="en-US" altLang="zh-CN" b="0" dirty="0">
                <a:solidFill>
                  <a:srgbClr val="24292E"/>
                </a:solidFill>
                <a:effectLst/>
                <a:latin typeface="Consolas" panose="020B0609020204030204" pitchFamily="49" charset="0"/>
              </a:rPr>
              <a:t>origin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dataset.</a:t>
            </a:r>
            <a:r>
              <a:rPr lang="en-US" altLang="zh-CN" b="0" dirty="0" err="1">
                <a:solidFill>
                  <a:srgbClr val="6F42C1"/>
                </a:solidFill>
                <a:effectLst/>
                <a:latin typeface="Consolas" panose="020B0609020204030204" pitchFamily="49" charset="0"/>
              </a:rPr>
              <a:t>pop</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'Origin'</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dataset[</a:t>
            </a:r>
            <a:r>
              <a:rPr lang="en-US" altLang="zh-CN" b="0" dirty="0">
                <a:solidFill>
                  <a:srgbClr val="032F62"/>
                </a:solidFill>
                <a:effectLst/>
                <a:latin typeface="Consolas" panose="020B0609020204030204" pitchFamily="49" charset="0"/>
              </a:rPr>
              <a:t>'USA'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(origin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dataset[</a:t>
            </a:r>
            <a:r>
              <a:rPr lang="en-US" altLang="zh-CN" b="0" dirty="0">
                <a:solidFill>
                  <a:srgbClr val="032F62"/>
                </a:solidFill>
                <a:effectLst/>
                <a:latin typeface="Consolas" panose="020B0609020204030204" pitchFamily="49" charset="0"/>
              </a:rPr>
              <a:t>'Europe'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(origin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dataset[</a:t>
            </a:r>
            <a:r>
              <a:rPr lang="en-US" altLang="zh-CN" b="0" dirty="0">
                <a:solidFill>
                  <a:srgbClr val="032F62"/>
                </a:solidFill>
                <a:effectLst/>
                <a:latin typeface="Consolas" panose="020B0609020204030204" pitchFamily="49" charset="0"/>
              </a:rPr>
              <a:t>'Japan'</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(origin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3</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1.0</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dataset  </a:t>
            </a:r>
            <a:r>
              <a:rPr lang="en-US" altLang="zh-CN" b="0" dirty="0">
                <a:solidFill>
                  <a:srgbClr val="6A737D"/>
                </a:solidFill>
                <a:effectLst/>
                <a:latin typeface="Consolas" panose="020B0609020204030204" pitchFamily="49" charset="0"/>
              </a:rPr>
              <a:t># </a:t>
            </a:r>
            <a:r>
              <a:rPr lang="zh-CN" altLang="en-US" b="0" dirty="0">
                <a:solidFill>
                  <a:srgbClr val="6A737D"/>
                </a:solidFill>
                <a:effectLst/>
                <a:latin typeface="Consolas" panose="020B0609020204030204" pitchFamily="49" charset="0"/>
              </a:rPr>
              <a:t>再次展示数据集内容</a:t>
            </a:r>
            <a:endParaRPr lang="zh-CN" altLang="en-US" b="0" dirty="0">
              <a:solidFill>
                <a:srgbClr val="24292E"/>
              </a:solidFill>
              <a:effectLst/>
              <a:latin typeface="Consolas" panose="020B0609020204030204" pitchFamily="49" charset="0"/>
            </a:endParaRPr>
          </a:p>
        </p:txBody>
      </p:sp>
      <p:pic>
        <p:nvPicPr>
          <p:cNvPr id="13" name="图片 12"/>
          <p:cNvPicPr>
            <a:picLocks noChangeAspect="1"/>
          </p:cNvPicPr>
          <p:nvPr/>
        </p:nvPicPr>
        <p:blipFill>
          <a:blip r:embed="rId1"/>
          <a:stretch>
            <a:fillRect/>
          </a:stretch>
        </p:blipFill>
        <p:spPr>
          <a:xfrm>
            <a:off x="9192660" y="2568452"/>
            <a:ext cx="2378373" cy="4079824"/>
          </a:xfrm>
          <a:prstGeom prst="rect">
            <a:avLst/>
          </a:prstGeom>
          <a:ln>
            <a:noFill/>
          </a:ln>
          <a:effectLst>
            <a:outerShdw blurRad="292100" dist="139700" dir="2700000" algn="tl" rotWithShape="0">
              <a:srgbClr val="333333">
                <a:alpha val="65000"/>
              </a:srgbClr>
            </a:outerShdw>
          </a:effectLst>
        </p:spPr>
      </p:pic>
      <p:pic>
        <p:nvPicPr>
          <p:cNvPr id="15" name="图片 14"/>
          <p:cNvPicPr>
            <a:picLocks noChangeAspect="1"/>
          </p:cNvPicPr>
          <p:nvPr/>
        </p:nvPicPr>
        <p:blipFill>
          <a:blip r:embed="rId2"/>
          <a:stretch>
            <a:fillRect/>
          </a:stretch>
        </p:blipFill>
        <p:spPr>
          <a:xfrm>
            <a:off x="6408901" y="2726741"/>
            <a:ext cx="1383817" cy="3855540"/>
          </a:xfrm>
          <a:prstGeom prst="rect">
            <a:avLst/>
          </a:prstGeom>
          <a:ln>
            <a:noFill/>
          </a:ln>
          <a:effectLst>
            <a:outerShdw blurRad="292100" dist="139700" dir="2700000" algn="tl" rotWithShape="0">
              <a:srgbClr val="333333">
                <a:alpha val="65000"/>
              </a:srgbClr>
            </a:outerShdw>
          </a:effectLst>
        </p:spPr>
      </p:pic>
      <p:sp>
        <p:nvSpPr>
          <p:cNvPr id="17" name="箭头: 右 16"/>
          <p:cNvSpPr/>
          <p:nvPr/>
        </p:nvSpPr>
        <p:spPr>
          <a:xfrm>
            <a:off x="8003097" y="4204069"/>
            <a:ext cx="1098958" cy="535711"/>
          </a:xfrm>
          <a:prstGeom prst="rightArrow">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981773" y="4739780"/>
            <a:ext cx="5016355"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此时，数据集中去掉了</a:t>
            </a:r>
            <a:r>
              <a:rPr lang="en-US" altLang="zh-CN" b="0" dirty="0">
                <a:solidFill>
                  <a:srgbClr val="24292E"/>
                </a:solidFill>
                <a:effectLst/>
                <a:latin typeface="Consolas" panose="020B0609020204030204" pitchFamily="49" charset="0"/>
              </a:rPr>
              <a:t>Origin</a:t>
            </a:r>
            <a:r>
              <a:rPr lang="zh-CN" altLang="en-US" b="0" dirty="0">
                <a:solidFill>
                  <a:srgbClr val="24292E"/>
                </a:solidFill>
                <a:effectLst/>
                <a:latin typeface="Consolas" panose="020B0609020204030204" pitchFamily="49" charset="0"/>
              </a:rPr>
              <a:t>特征，增加了</a:t>
            </a:r>
            <a:r>
              <a:rPr lang="en-US" altLang="zh-CN" b="0" dirty="0">
                <a:solidFill>
                  <a:srgbClr val="24292E"/>
                </a:solidFill>
                <a:effectLst/>
                <a:latin typeface="Consolas" panose="020B0609020204030204" pitchFamily="49" charset="0"/>
              </a:rPr>
              <a:t>USA</a:t>
            </a:r>
            <a:r>
              <a:rPr lang="zh-CN" altLang="en-US" b="0" dirty="0">
                <a:solidFill>
                  <a:srgbClr val="24292E"/>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Europe</a:t>
            </a:r>
            <a:r>
              <a:rPr lang="zh-CN" altLang="en-US" b="0" dirty="0">
                <a:solidFill>
                  <a:srgbClr val="24292E"/>
                </a:solidFill>
                <a:effectLst/>
                <a:latin typeface="Consolas" panose="020B0609020204030204" pitchFamily="49" charset="0"/>
              </a:rPr>
              <a:t>和</a:t>
            </a:r>
            <a:r>
              <a:rPr lang="en-US" altLang="zh-CN" b="0" dirty="0">
                <a:solidFill>
                  <a:srgbClr val="24292E"/>
                </a:solidFill>
                <a:effectLst/>
                <a:latin typeface="Consolas" panose="020B0609020204030204" pitchFamily="49" charset="0"/>
              </a:rPr>
              <a:t>Japan</a:t>
            </a:r>
            <a:r>
              <a:rPr lang="zh-CN" altLang="en-US" b="0" dirty="0">
                <a:solidFill>
                  <a:srgbClr val="24292E"/>
                </a:solidFill>
                <a:effectLst/>
                <a:latin typeface="Consolas" panose="020B0609020204030204" pitchFamily="49" charset="0"/>
              </a:rPr>
              <a:t>三个特征。</a:t>
            </a:r>
            <a:endParaRPr lang="zh-CN" altLang="en-US" b="0" dirty="0">
              <a:solidFill>
                <a:srgbClr val="24292E"/>
              </a:solidFill>
              <a:effectLst/>
              <a:latin typeface="Consolas" panose="020B0609020204030204" pitchFamily="49" charset="0"/>
            </a:endParaRPr>
          </a:p>
        </p:txBody>
      </p:sp>
    </p:spTree>
    <p:custDataLst>
      <p:tags r:id="rId3"/>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500"/>
                                        <p:tgtEl>
                                          <p:spTgt spid="17"/>
                                        </p:tgtEl>
                                      </p:cBhvr>
                                    </p:animEffect>
                                  </p:childTnLst>
                                </p:cTn>
                              </p:par>
                              <p:par>
                                <p:cTn id="11" presetID="22" presetClass="entr" presetSubtype="8"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3">
                                            <p:txEl>
                                              <p:pRg st="0" end="0"/>
                                            </p:txEl>
                                          </p:spTgt>
                                        </p:tgtEl>
                                        <p:attrNameLst>
                                          <p:attrName>style.visibility</p:attrName>
                                        </p:attrNameLst>
                                      </p:cBhvr>
                                      <p:to>
                                        <p:strVal val="visible"/>
                                      </p:to>
                                    </p:set>
                                    <p:animEffect transition="in" filter="fade">
                                      <p:cBhvr>
                                        <p:cTn id="18" dur="500"/>
                                        <p:tgtEl>
                                          <p:spTgt spid="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5.5 </a:t>
            </a:r>
            <a:r>
              <a:rPr lang="en-US" altLang="zh-CN" sz="3200" dirty="0" err="1"/>
              <a:t>PyTorch</a:t>
            </a:r>
            <a:r>
              <a:rPr lang="zh-CN" altLang="en-US" sz="3200" dirty="0"/>
              <a:t>回归实战</a:t>
            </a:r>
            <a:endParaRPr lang="zh-CN" altLang="en-US" sz="3200" dirty="0">
              <a:solidFill>
                <a:srgbClr val="FF0000"/>
              </a:solidFill>
              <a:sym typeface="+mn-ea"/>
            </a:endParaRPr>
          </a:p>
        </p:txBody>
      </p:sp>
      <p:sp>
        <p:nvSpPr>
          <p:cNvPr id="5" name="文本框 4"/>
          <p:cNvSpPr txBox="1"/>
          <p:nvPr/>
        </p:nvSpPr>
        <p:spPr>
          <a:xfrm>
            <a:off x="761280" y="1531990"/>
            <a:ext cx="108097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5.5.1 </a:t>
            </a:r>
            <a:r>
              <a:rPr lang="zh-CN" altLang="en-US" dirty="0">
                <a:solidFill>
                  <a:srgbClr val="577CCE"/>
                </a:solidFill>
                <a:latin typeface="Consolas" panose="020B0609020204030204" pitchFamily="49" charset="0"/>
              </a:rPr>
              <a:t>数据处理</a:t>
            </a:r>
            <a:endParaRPr lang="zh-CN" altLang="en-US" b="0" dirty="0">
              <a:solidFill>
                <a:srgbClr val="577CCE"/>
              </a:solidFill>
              <a:effectLst/>
              <a:latin typeface="Consolas" panose="020B0609020204030204" pitchFamily="49" charset="0"/>
            </a:endParaRPr>
          </a:p>
        </p:txBody>
      </p:sp>
      <p:sp>
        <p:nvSpPr>
          <p:cNvPr id="7" name="文本框 6"/>
          <p:cNvSpPr txBox="1"/>
          <p:nvPr/>
        </p:nvSpPr>
        <p:spPr>
          <a:xfrm>
            <a:off x="1346200" y="2414022"/>
            <a:ext cx="8326306" cy="646331"/>
          </a:xfrm>
          <a:prstGeom prst="rect">
            <a:avLst/>
          </a:prstGeom>
          <a:noFill/>
        </p:spPr>
        <p:txBody>
          <a:bodyPr wrap="square">
            <a:spAutoFit/>
          </a:bodyPr>
          <a:lstStyle/>
          <a:p>
            <a:r>
              <a:rPr lang="en-US" altLang="zh-CN" dirty="0" err="1">
                <a:solidFill>
                  <a:srgbClr val="24292E"/>
                </a:solidFill>
                <a:latin typeface="Consolas" panose="020B0609020204030204" pitchFamily="49" charset="0"/>
              </a:rPr>
              <a:t>train_dataset</a:t>
            </a:r>
            <a:r>
              <a:rPr lang="en-US" altLang="zh-CN" dirty="0">
                <a:solidFill>
                  <a:srgbClr val="24292E"/>
                </a:solidFill>
                <a:latin typeface="Consolas" panose="020B0609020204030204" pitchFamily="49" charset="0"/>
              </a:rPr>
              <a:t> </a:t>
            </a:r>
            <a:r>
              <a:rPr lang="en-US" altLang="zh-CN" dirty="0">
                <a:solidFill>
                  <a:srgbClr val="D73A49"/>
                </a:solidFill>
                <a:latin typeface="Consolas" panose="020B0609020204030204" pitchFamily="49" charset="0"/>
              </a:rPr>
              <a:t>=</a:t>
            </a:r>
            <a:r>
              <a:rPr lang="en-US" altLang="zh-CN" dirty="0">
                <a:solidFill>
                  <a:srgbClr val="24292E"/>
                </a:solidFill>
                <a:latin typeface="Consolas" panose="020B0609020204030204" pitchFamily="49" charset="0"/>
              </a:rPr>
              <a:t> </a:t>
            </a:r>
            <a:r>
              <a:rPr lang="en-US" altLang="zh-CN" dirty="0" err="1">
                <a:solidFill>
                  <a:srgbClr val="24292E"/>
                </a:solidFill>
                <a:latin typeface="Consolas" panose="020B0609020204030204" pitchFamily="49" charset="0"/>
              </a:rPr>
              <a:t>dataset.</a:t>
            </a:r>
            <a:r>
              <a:rPr lang="en-US" altLang="zh-CN" dirty="0" err="1">
                <a:solidFill>
                  <a:srgbClr val="6F42C1"/>
                </a:solidFill>
                <a:latin typeface="Consolas" panose="020B0609020204030204" pitchFamily="49" charset="0"/>
              </a:rPr>
              <a:t>sample</a:t>
            </a:r>
            <a:r>
              <a:rPr lang="en-US" altLang="zh-CN" dirty="0">
                <a:solidFill>
                  <a:srgbClr val="24292E"/>
                </a:solidFill>
                <a:latin typeface="Consolas" panose="020B0609020204030204" pitchFamily="49" charset="0"/>
              </a:rPr>
              <a:t>(</a:t>
            </a:r>
            <a:r>
              <a:rPr lang="en-US" altLang="zh-CN" dirty="0">
                <a:solidFill>
                  <a:srgbClr val="E36209"/>
                </a:solidFill>
                <a:latin typeface="Consolas" panose="020B0609020204030204" pitchFamily="49" charset="0"/>
              </a:rPr>
              <a:t>frac</a:t>
            </a:r>
            <a:r>
              <a:rPr lang="en-US" altLang="zh-CN" dirty="0">
                <a:solidFill>
                  <a:srgbClr val="D73A49"/>
                </a:solidFill>
                <a:latin typeface="Consolas" panose="020B0609020204030204" pitchFamily="49" charset="0"/>
              </a:rPr>
              <a:t>=</a:t>
            </a:r>
            <a:r>
              <a:rPr lang="en-US" altLang="zh-CN" dirty="0">
                <a:solidFill>
                  <a:srgbClr val="005CC5"/>
                </a:solidFill>
                <a:latin typeface="Consolas" panose="020B0609020204030204" pitchFamily="49" charset="0"/>
              </a:rPr>
              <a:t>0.8</a:t>
            </a:r>
            <a:r>
              <a:rPr lang="en-US" altLang="zh-CN" dirty="0">
                <a:solidFill>
                  <a:srgbClr val="24292E"/>
                </a:solidFill>
                <a:latin typeface="Consolas" panose="020B0609020204030204" pitchFamily="49" charset="0"/>
              </a:rPr>
              <a:t>, </a:t>
            </a:r>
            <a:r>
              <a:rPr lang="en-US" altLang="zh-CN" dirty="0" err="1">
                <a:solidFill>
                  <a:srgbClr val="E36209"/>
                </a:solidFill>
                <a:latin typeface="Consolas" panose="020B0609020204030204" pitchFamily="49" charset="0"/>
              </a:rPr>
              <a:t>random_state</a:t>
            </a:r>
            <a:r>
              <a:rPr lang="en-US" altLang="zh-CN" dirty="0">
                <a:solidFill>
                  <a:srgbClr val="D73A49"/>
                </a:solidFill>
                <a:latin typeface="Consolas" panose="020B0609020204030204" pitchFamily="49" charset="0"/>
              </a:rPr>
              <a:t>=</a:t>
            </a:r>
            <a:r>
              <a:rPr lang="en-US" altLang="zh-CN" dirty="0">
                <a:solidFill>
                  <a:srgbClr val="005CC5"/>
                </a:solidFill>
                <a:latin typeface="Consolas" panose="020B0609020204030204" pitchFamily="49" charset="0"/>
              </a:rPr>
              <a:t>0</a:t>
            </a:r>
            <a:r>
              <a:rPr lang="en-US" altLang="zh-CN" dirty="0">
                <a:solidFill>
                  <a:srgbClr val="24292E"/>
                </a:solidFill>
                <a:latin typeface="Consolas" panose="020B0609020204030204" pitchFamily="49" charset="0"/>
              </a:rPr>
              <a:t>)</a:t>
            </a:r>
            <a:endParaRPr lang="en-US" altLang="zh-CN" dirty="0">
              <a:solidFill>
                <a:srgbClr val="24292E"/>
              </a:solidFill>
              <a:latin typeface="Consolas" panose="020B0609020204030204" pitchFamily="49" charset="0"/>
            </a:endParaRPr>
          </a:p>
          <a:p>
            <a:r>
              <a:rPr lang="en-US" altLang="zh-CN" dirty="0" err="1">
                <a:solidFill>
                  <a:srgbClr val="24292E"/>
                </a:solidFill>
                <a:latin typeface="Consolas" panose="020B0609020204030204" pitchFamily="49" charset="0"/>
              </a:rPr>
              <a:t>test_dataset</a:t>
            </a:r>
            <a:r>
              <a:rPr lang="en-US" altLang="zh-CN" dirty="0">
                <a:solidFill>
                  <a:srgbClr val="24292E"/>
                </a:solidFill>
                <a:latin typeface="Consolas" panose="020B0609020204030204" pitchFamily="49" charset="0"/>
              </a:rPr>
              <a:t> </a:t>
            </a:r>
            <a:r>
              <a:rPr lang="en-US" altLang="zh-CN" dirty="0">
                <a:solidFill>
                  <a:srgbClr val="D73A49"/>
                </a:solidFill>
                <a:latin typeface="Consolas" panose="020B0609020204030204" pitchFamily="49" charset="0"/>
              </a:rPr>
              <a:t>=</a:t>
            </a:r>
            <a:r>
              <a:rPr lang="en-US" altLang="zh-CN" dirty="0">
                <a:solidFill>
                  <a:srgbClr val="24292E"/>
                </a:solidFill>
                <a:latin typeface="Consolas" panose="020B0609020204030204" pitchFamily="49" charset="0"/>
              </a:rPr>
              <a:t> </a:t>
            </a:r>
            <a:r>
              <a:rPr lang="en-US" altLang="zh-CN" dirty="0" err="1">
                <a:solidFill>
                  <a:srgbClr val="24292E"/>
                </a:solidFill>
                <a:latin typeface="Consolas" panose="020B0609020204030204" pitchFamily="49" charset="0"/>
              </a:rPr>
              <a:t>dataset.</a:t>
            </a:r>
            <a:r>
              <a:rPr lang="en-US" altLang="zh-CN" dirty="0" err="1">
                <a:solidFill>
                  <a:srgbClr val="6F42C1"/>
                </a:solidFill>
                <a:latin typeface="Consolas" panose="020B0609020204030204" pitchFamily="49" charset="0"/>
              </a:rPr>
              <a:t>drop</a:t>
            </a:r>
            <a:r>
              <a:rPr lang="en-US" altLang="zh-CN" dirty="0">
                <a:solidFill>
                  <a:srgbClr val="24292E"/>
                </a:solidFill>
                <a:latin typeface="Consolas" panose="020B0609020204030204" pitchFamily="49" charset="0"/>
              </a:rPr>
              <a:t>(</a:t>
            </a:r>
            <a:r>
              <a:rPr lang="en-US" altLang="zh-CN" dirty="0" err="1">
                <a:solidFill>
                  <a:srgbClr val="24292E"/>
                </a:solidFill>
                <a:latin typeface="Consolas" panose="020B0609020204030204" pitchFamily="49" charset="0"/>
              </a:rPr>
              <a:t>train_dataset.index</a:t>
            </a:r>
            <a:r>
              <a:rPr lang="en-US" altLang="zh-CN" dirty="0">
                <a:solidFill>
                  <a:srgbClr val="24292E"/>
                </a:solidFill>
                <a:latin typeface="Consolas" panose="020B0609020204030204" pitchFamily="49" charset="0"/>
              </a:rPr>
              <a:t>)</a:t>
            </a:r>
            <a:endParaRPr lang="en-US" altLang="zh-CN" dirty="0">
              <a:solidFill>
                <a:srgbClr val="24292E"/>
              </a:solidFill>
              <a:latin typeface="Consolas" panose="020B0609020204030204" pitchFamily="49" charset="0"/>
            </a:endParaRPr>
          </a:p>
        </p:txBody>
      </p:sp>
      <p:sp>
        <p:nvSpPr>
          <p:cNvPr id="2" name="文本框 1"/>
          <p:cNvSpPr txBox="1"/>
          <p:nvPr/>
        </p:nvSpPr>
        <p:spPr>
          <a:xfrm>
            <a:off x="981773" y="1990866"/>
            <a:ext cx="10564763"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为了便于最后评估模型，我们需要将数据集拆分为一个训练数据集和一个测试数据集：</a:t>
            </a:r>
            <a:endParaRPr lang="zh-CN" altLang="en-US" b="0" dirty="0">
              <a:solidFill>
                <a:srgbClr val="24292E"/>
              </a:solidFill>
              <a:effectLst/>
              <a:latin typeface="Consolas" panose="020B0609020204030204" pitchFamily="49" charset="0"/>
            </a:endParaRPr>
          </a:p>
        </p:txBody>
      </p:sp>
      <p:sp>
        <p:nvSpPr>
          <p:cNvPr id="9" name="文本框 8"/>
          <p:cNvSpPr txBox="1"/>
          <p:nvPr/>
        </p:nvSpPr>
        <p:spPr>
          <a:xfrm>
            <a:off x="981773" y="3215592"/>
            <a:ext cx="6094602"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计算各特征的统计值：</a:t>
            </a:r>
            <a:endParaRPr lang="zh-CN" altLang="en-US" b="0" dirty="0">
              <a:solidFill>
                <a:srgbClr val="24292E"/>
              </a:solidFill>
              <a:effectLst/>
              <a:latin typeface="Consolas" panose="020B0609020204030204" pitchFamily="49" charset="0"/>
            </a:endParaRPr>
          </a:p>
        </p:txBody>
      </p:sp>
      <p:sp>
        <p:nvSpPr>
          <p:cNvPr id="11" name="文本框 10"/>
          <p:cNvSpPr txBox="1"/>
          <p:nvPr/>
        </p:nvSpPr>
        <p:spPr>
          <a:xfrm>
            <a:off x="1346200" y="3672808"/>
            <a:ext cx="6094602" cy="923330"/>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train_stats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train_dataset.</a:t>
            </a:r>
            <a:r>
              <a:rPr lang="en-US" altLang="zh-CN" b="0" dirty="0" err="1">
                <a:solidFill>
                  <a:srgbClr val="6F42C1"/>
                </a:solidFill>
                <a:effectLst/>
                <a:latin typeface="Consolas" panose="020B0609020204030204" pitchFamily="49" charset="0"/>
              </a:rPr>
              <a:t>describe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train_stats.</a:t>
            </a:r>
            <a:r>
              <a:rPr lang="en-US" altLang="zh-CN" b="0" dirty="0" err="1">
                <a:solidFill>
                  <a:srgbClr val="6F42C1"/>
                </a:solidFill>
                <a:effectLst/>
                <a:latin typeface="Consolas" panose="020B0609020204030204" pitchFamily="49" charset="0"/>
              </a:rPr>
              <a:t>pop</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"MPG"</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train_stats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train_stats.</a:t>
            </a:r>
            <a:r>
              <a:rPr lang="en-US" altLang="zh-CN" b="0" dirty="0" err="1">
                <a:solidFill>
                  <a:srgbClr val="6F42C1"/>
                </a:solidFill>
                <a:effectLst/>
                <a:latin typeface="Consolas" panose="020B0609020204030204" pitchFamily="49" charset="0"/>
              </a:rPr>
              <a:t>transpose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4" name="文本框 13"/>
          <p:cNvSpPr txBox="1"/>
          <p:nvPr/>
        </p:nvSpPr>
        <p:spPr>
          <a:xfrm>
            <a:off x="981773" y="4684022"/>
            <a:ext cx="10589260"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分别将训练集和测试集的训练特征和标签分离，标签是模型需要预测的值，即燃油效率：</a:t>
            </a:r>
            <a:endParaRPr lang="zh-CN" altLang="en-US" b="0" dirty="0">
              <a:solidFill>
                <a:srgbClr val="24292E"/>
              </a:solidFill>
              <a:effectLst/>
              <a:latin typeface="Consolas" panose="020B0609020204030204" pitchFamily="49" charset="0"/>
            </a:endParaRPr>
          </a:p>
        </p:txBody>
      </p:sp>
      <p:sp>
        <p:nvSpPr>
          <p:cNvPr id="19" name="文本框 18"/>
          <p:cNvSpPr txBox="1"/>
          <p:nvPr/>
        </p:nvSpPr>
        <p:spPr>
          <a:xfrm>
            <a:off x="1346200" y="5141238"/>
            <a:ext cx="6094602" cy="646331"/>
          </a:xfrm>
          <a:prstGeom prst="rect">
            <a:avLst/>
          </a:prstGeom>
          <a:noFill/>
        </p:spPr>
        <p:txBody>
          <a:bodyPr wrap="square">
            <a:spAutoFit/>
          </a:bodyPr>
          <a:lstStyle/>
          <a:p>
            <a:r>
              <a:rPr lang="en-US" altLang="zh-CN" b="0" dirty="0" err="1">
                <a:solidFill>
                  <a:srgbClr val="24292E"/>
                </a:solidFill>
                <a:effectLst/>
                <a:latin typeface="Consolas" panose="020B0609020204030204" pitchFamily="49" charset="0"/>
              </a:rPr>
              <a:t>train_labels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train_dataset.</a:t>
            </a:r>
            <a:r>
              <a:rPr lang="en-US" altLang="zh-CN" b="0" dirty="0" err="1">
                <a:solidFill>
                  <a:srgbClr val="6F42C1"/>
                </a:solidFill>
                <a:effectLst/>
                <a:latin typeface="Consolas" panose="020B0609020204030204" pitchFamily="49" charset="0"/>
              </a:rPr>
              <a:t>pop</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'MPG'</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test_labels</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test_dataset.</a:t>
            </a:r>
            <a:r>
              <a:rPr lang="en-US" altLang="zh-CN" b="0" dirty="0" err="1">
                <a:solidFill>
                  <a:srgbClr val="6F42C1"/>
                </a:solidFill>
                <a:effectLst/>
                <a:latin typeface="Consolas" panose="020B0609020204030204" pitchFamily="49" charset="0"/>
              </a:rPr>
              <a:t>pop</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'MPG'</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5.5 </a:t>
            </a:r>
            <a:r>
              <a:rPr lang="en-US" altLang="zh-CN" sz="3200" dirty="0" err="1"/>
              <a:t>PyTorch</a:t>
            </a:r>
            <a:r>
              <a:rPr lang="zh-CN" altLang="en-US" sz="3200" dirty="0"/>
              <a:t>回归实战</a:t>
            </a:r>
            <a:endParaRPr lang="zh-CN" altLang="en-US" sz="3200" dirty="0">
              <a:solidFill>
                <a:srgbClr val="FF0000"/>
              </a:solidFill>
              <a:sym typeface="+mn-ea"/>
            </a:endParaRPr>
          </a:p>
        </p:txBody>
      </p:sp>
      <p:sp>
        <p:nvSpPr>
          <p:cNvPr id="5" name="文本框 4"/>
          <p:cNvSpPr txBox="1"/>
          <p:nvPr/>
        </p:nvSpPr>
        <p:spPr>
          <a:xfrm>
            <a:off x="761280" y="1531990"/>
            <a:ext cx="108097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5.5.1 </a:t>
            </a:r>
            <a:r>
              <a:rPr lang="zh-CN" altLang="en-US" dirty="0">
                <a:solidFill>
                  <a:srgbClr val="577CCE"/>
                </a:solidFill>
                <a:latin typeface="Consolas" panose="020B0609020204030204" pitchFamily="49" charset="0"/>
              </a:rPr>
              <a:t>数据处理</a:t>
            </a:r>
            <a:endParaRPr lang="zh-CN" altLang="en-US" b="0" dirty="0">
              <a:solidFill>
                <a:srgbClr val="577CCE"/>
              </a:solidFill>
              <a:effectLst/>
              <a:latin typeface="Consolas" panose="020B0609020204030204" pitchFamily="49" charset="0"/>
            </a:endParaRPr>
          </a:p>
        </p:txBody>
      </p:sp>
      <p:sp>
        <p:nvSpPr>
          <p:cNvPr id="2" name="文本框 1"/>
          <p:cNvSpPr txBox="1"/>
          <p:nvPr/>
        </p:nvSpPr>
        <p:spPr>
          <a:xfrm>
            <a:off x="981773" y="1990866"/>
            <a:ext cx="10564763"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为了能使模型更加快速地收敛，将各特征做归一化处理。尽管在没有做归一化的情况下模型也可能收敛，但可能会让训练变得更慢，并会造成最终的模型依赖特征选择的单位。</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1346200" y="2743476"/>
            <a:ext cx="10200336" cy="1200329"/>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def</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norm</a:t>
            </a:r>
            <a:r>
              <a:rPr lang="en-US" altLang="zh-CN" b="0" dirty="0">
                <a:solidFill>
                  <a:srgbClr val="24292E"/>
                </a:solidFill>
                <a:effectLst/>
                <a:latin typeface="Consolas" panose="020B0609020204030204" pitchFamily="49" charset="0"/>
              </a:rPr>
              <a:t>(</a:t>
            </a:r>
            <a:r>
              <a:rPr lang="en-US" altLang="zh-CN" b="0" dirty="0">
                <a:solidFill>
                  <a:srgbClr val="E36209"/>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return</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train_stats</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'mean'</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train_stats</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'std'</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normed_train_data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norm</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train_dataset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normed_test_data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norm</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test_dataset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
        <p:nvSpPr>
          <p:cNvPr id="10" name="文本框 9"/>
          <p:cNvSpPr txBox="1"/>
          <p:nvPr/>
        </p:nvSpPr>
        <p:spPr>
          <a:xfrm>
            <a:off x="981773" y="4144053"/>
            <a:ext cx="6094602" cy="369332"/>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之后将会使用这个已经归一化的数据来训练模型。</a:t>
            </a:r>
            <a:endParaRPr lang="zh-CN" altLang="en-US"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5.5 </a:t>
            </a:r>
            <a:r>
              <a:rPr lang="en-US" altLang="zh-CN" sz="3200" dirty="0" err="1"/>
              <a:t>PyTorch</a:t>
            </a:r>
            <a:r>
              <a:rPr lang="zh-CN" altLang="en-US" sz="3200" dirty="0"/>
              <a:t>回归实战</a:t>
            </a:r>
            <a:endParaRPr lang="zh-CN" altLang="en-US" sz="3200" dirty="0">
              <a:solidFill>
                <a:srgbClr val="FF0000"/>
              </a:solidFill>
              <a:sym typeface="+mn-ea"/>
            </a:endParaRPr>
          </a:p>
        </p:txBody>
      </p:sp>
      <p:sp>
        <p:nvSpPr>
          <p:cNvPr id="5" name="文本框 4"/>
          <p:cNvSpPr txBox="1"/>
          <p:nvPr/>
        </p:nvSpPr>
        <p:spPr>
          <a:xfrm>
            <a:off x="761280" y="1531990"/>
            <a:ext cx="108097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5.5.2 </a:t>
            </a:r>
            <a:r>
              <a:rPr lang="zh-CN" altLang="en-US" dirty="0">
                <a:solidFill>
                  <a:srgbClr val="577CCE"/>
                </a:solidFill>
                <a:latin typeface="Consolas" panose="020B0609020204030204" pitchFamily="49" charset="0"/>
              </a:rPr>
              <a:t>构建模型</a:t>
            </a:r>
            <a:endParaRPr lang="zh-CN" altLang="en-US" b="0" dirty="0">
              <a:solidFill>
                <a:srgbClr val="577CCE"/>
              </a:solidFill>
              <a:effectLst/>
              <a:latin typeface="Consolas" panose="020B0609020204030204" pitchFamily="49" charset="0"/>
            </a:endParaRPr>
          </a:p>
        </p:txBody>
      </p:sp>
      <p:sp>
        <p:nvSpPr>
          <p:cNvPr id="2" name="文本框 1"/>
          <p:cNvSpPr txBox="1"/>
          <p:nvPr/>
        </p:nvSpPr>
        <p:spPr>
          <a:xfrm>
            <a:off x="981773" y="1990866"/>
            <a:ext cx="10564763"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这里将构建一个简单的神经网络回归模型，其中包含两个全连接层，以及一个输出层。模型定义在一个 </a:t>
            </a:r>
            <a:r>
              <a:rPr lang="en-US" altLang="zh-CN" b="0" dirty="0">
                <a:solidFill>
                  <a:srgbClr val="24292E"/>
                </a:solidFill>
                <a:effectLst/>
                <a:latin typeface="Consolas" panose="020B0609020204030204" pitchFamily="49" charset="0"/>
              </a:rPr>
              <a:t>Model </a:t>
            </a:r>
            <a:r>
              <a:rPr lang="zh-CN" altLang="en-US" b="0" dirty="0">
                <a:solidFill>
                  <a:srgbClr val="24292E"/>
                </a:solidFill>
                <a:effectLst/>
                <a:latin typeface="Consolas" panose="020B0609020204030204" pitchFamily="49" charset="0"/>
              </a:rPr>
              <a:t>类中，然后实例化出一个模型对象：</a:t>
            </a:r>
            <a:endParaRPr lang="zh-CN" altLang="en-US" b="0" dirty="0">
              <a:solidFill>
                <a:srgbClr val="24292E"/>
              </a:solidFill>
              <a:effectLst/>
              <a:latin typeface="Consolas" panose="020B0609020204030204" pitchFamily="49" charset="0"/>
            </a:endParaRPr>
          </a:p>
        </p:txBody>
      </p:sp>
      <p:sp>
        <p:nvSpPr>
          <p:cNvPr id="7" name="文本框 6"/>
          <p:cNvSpPr txBox="1"/>
          <p:nvPr/>
        </p:nvSpPr>
        <p:spPr>
          <a:xfrm>
            <a:off x="1187230" y="2637197"/>
            <a:ext cx="10809752" cy="4247317"/>
          </a:xfrm>
          <a:prstGeom prst="rect">
            <a:avLst/>
          </a:prstGeom>
          <a:noFill/>
        </p:spPr>
        <p:txBody>
          <a:bodyPr wrap="square">
            <a:spAutoFit/>
          </a:bodyPr>
          <a:lstStyle/>
          <a:p>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class</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Model</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Module</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def</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__</a:t>
            </a:r>
            <a:r>
              <a:rPr lang="en-US" altLang="zh-CN" b="0" dirty="0" err="1">
                <a:solidFill>
                  <a:srgbClr val="005CC5"/>
                </a:solidFill>
                <a:effectLst/>
                <a:latin typeface="Consolas" panose="020B0609020204030204" pitchFamily="49" charset="0"/>
              </a:rPr>
              <a:t>init</a:t>
            </a:r>
            <a:r>
              <a:rPr lang="en-US" altLang="zh-CN" b="0" dirty="0">
                <a:solidFill>
                  <a:srgbClr val="005CC5"/>
                </a:solidFill>
                <a:effectLst/>
                <a:latin typeface="Consolas" panose="020B0609020204030204" pitchFamily="49" charset="0"/>
              </a:rPr>
              <a:t>__</a:t>
            </a:r>
            <a:r>
              <a:rPr lang="en-US" altLang="zh-CN" b="0" dirty="0">
                <a:solidFill>
                  <a:srgbClr val="24292E"/>
                </a:solidFill>
                <a:effectLst/>
                <a:latin typeface="Consolas" panose="020B0609020204030204" pitchFamily="49" charset="0"/>
              </a:rPr>
              <a:t>(self, </a:t>
            </a:r>
            <a:r>
              <a:rPr lang="en-US" altLang="zh-CN" b="0" dirty="0" err="1">
                <a:solidFill>
                  <a:srgbClr val="E36209"/>
                </a:solidFill>
                <a:effectLst/>
                <a:latin typeface="Consolas" panose="020B0609020204030204" pitchFamily="49" charset="0"/>
              </a:rPr>
              <a:t>input_dim</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middle_dim</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super</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Model</a:t>
            </a:r>
            <a:r>
              <a:rPr lang="en-US" altLang="zh-CN" b="0" dirty="0">
                <a:solidFill>
                  <a:srgbClr val="24292E"/>
                </a:solidFill>
                <a:effectLst/>
                <a:latin typeface="Consolas" panose="020B0609020204030204" pitchFamily="49" charset="0"/>
              </a:rPr>
              <a:t>, self).</a:t>
            </a:r>
            <a:r>
              <a:rPr lang="en-US" altLang="zh-CN" b="0" dirty="0">
                <a:solidFill>
                  <a:srgbClr val="005CC5"/>
                </a:solidFill>
                <a:effectLst/>
                <a:latin typeface="Consolas" panose="020B0609020204030204" pitchFamily="49" charset="0"/>
              </a:rPr>
              <a:t>__</a:t>
            </a:r>
            <a:r>
              <a:rPr lang="en-US" altLang="zh-CN" b="0" dirty="0" err="1">
                <a:solidFill>
                  <a:srgbClr val="005CC5"/>
                </a:solidFill>
                <a:effectLst/>
                <a:latin typeface="Consolas" panose="020B0609020204030204" pitchFamily="49" charset="0"/>
              </a:rPr>
              <a:t>init</a:t>
            </a:r>
            <a:r>
              <a:rPr lang="en-US" altLang="zh-CN" b="0" dirty="0">
                <a:solidFill>
                  <a:srgbClr val="005CC5"/>
                </a:solidFill>
                <a:effectLst/>
                <a:latin typeface="Consolas" panose="020B0609020204030204" pitchFamily="49" charset="0"/>
              </a:rPr>
              <a:t>__</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self.fc1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Linear</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input_dim</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middle_dim</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self.relu</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ReLU</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self.fc2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Linear</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middle_dim</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middle_dim</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self.out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Linear</a:t>
            </a:r>
            <a:r>
              <a:rPr lang="en-US" altLang="zh-CN" b="0" dirty="0">
                <a:solidFill>
                  <a:srgbClr val="24292E"/>
                </a:solidFill>
                <a:effectLst/>
                <a:latin typeface="Consolas" panose="020B0609020204030204" pitchFamily="49" charset="0"/>
              </a:rPr>
              <a:t>(</a:t>
            </a:r>
            <a:r>
              <a:rPr lang="en-US" altLang="zh-CN" b="0" dirty="0" err="1">
                <a:solidFill>
                  <a:srgbClr val="E36209"/>
                </a:solidFill>
                <a:effectLst/>
                <a:latin typeface="Consolas" panose="020B0609020204030204" pitchFamily="49" charset="0"/>
              </a:rPr>
              <a:t>middle_dim</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def</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forward</a:t>
            </a:r>
            <a:r>
              <a:rPr lang="en-US" altLang="zh-CN" b="0" dirty="0">
                <a:solidFill>
                  <a:srgbClr val="24292E"/>
                </a:solidFill>
                <a:effectLst/>
                <a:latin typeface="Consolas" panose="020B0609020204030204" pitchFamily="49" charset="0"/>
              </a:rPr>
              <a:t>(self, </a:t>
            </a:r>
            <a:r>
              <a:rPr lang="en-US" altLang="zh-CN" b="0" dirty="0">
                <a:solidFill>
                  <a:srgbClr val="E36209"/>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return</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self.out</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self.relu</a:t>
            </a:r>
            <a:r>
              <a:rPr lang="en-US" altLang="zh-CN" b="0" dirty="0">
                <a:solidFill>
                  <a:srgbClr val="24292E"/>
                </a:solidFill>
                <a:effectLst/>
                <a:latin typeface="Consolas" panose="020B0609020204030204" pitchFamily="49" charset="0"/>
              </a:rPr>
              <a:t>(self.fc2(</a:t>
            </a:r>
            <a:r>
              <a:rPr lang="en-US" altLang="zh-CN" b="0" dirty="0" err="1">
                <a:solidFill>
                  <a:srgbClr val="24292E"/>
                </a:solidFill>
                <a:effectLst/>
                <a:latin typeface="Consolas" panose="020B0609020204030204" pitchFamily="49" charset="0"/>
              </a:rPr>
              <a:t>self.relu</a:t>
            </a:r>
            <a:r>
              <a:rPr lang="en-US" altLang="zh-CN" b="0" dirty="0">
                <a:solidFill>
                  <a:srgbClr val="24292E"/>
                </a:solidFill>
                <a:effectLst/>
                <a:latin typeface="Consolas" panose="020B0609020204030204" pitchFamily="49" charset="0"/>
              </a:rPr>
              <a:t>(self.fc1(</a:t>
            </a:r>
            <a:r>
              <a:rPr lang="en-US" altLang="zh-CN" b="0" dirty="0">
                <a:solidFill>
                  <a:srgbClr val="E36209"/>
                </a:solidFill>
                <a:effectLst/>
                <a:latin typeface="Consolas" panose="020B0609020204030204" pitchFamily="49" charset="0"/>
              </a:rPr>
              <a:t>x</a:t>
            </a:r>
            <a:r>
              <a:rPr lang="en-US" altLang="zh-CN" b="0" dirty="0">
                <a:solidFill>
                  <a:srgbClr val="24292E"/>
                </a:solidFill>
                <a:effectLst/>
                <a:latin typeface="Consolas" panose="020B0609020204030204" pitchFamily="49" charset="0"/>
              </a:rPr>
              <a:t>))))).view(</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device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device</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cuda</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if</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cuda</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is_available</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else</a:t>
            </a:r>
            <a:r>
              <a:rPr lang="en-US" altLang="zh-CN" b="0" dirty="0">
                <a:solidFill>
                  <a:srgbClr val="24292E"/>
                </a:solidFill>
                <a:effectLst/>
                <a:latin typeface="Consolas" panose="020B0609020204030204" pitchFamily="49" charset="0"/>
              </a:rPr>
              <a:t> </a:t>
            </a:r>
            <a:r>
              <a:rPr lang="en-US" altLang="zh-CN" b="0" dirty="0">
                <a:solidFill>
                  <a:srgbClr val="032F62"/>
                </a:solidFill>
                <a:effectLst/>
                <a:latin typeface="Consolas" panose="020B0609020204030204" pitchFamily="49" charset="0"/>
              </a:rPr>
              <a:t>'</a:t>
            </a:r>
            <a:r>
              <a:rPr lang="en-US" altLang="zh-CN" b="0" dirty="0" err="1">
                <a:solidFill>
                  <a:srgbClr val="032F62"/>
                </a:solidFill>
                <a:effectLst/>
                <a:latin typeface="Consolas" panose="020B0609020204030204" pitchFamily="49" charset="0"/>
              </a:rPr>
              <a:t>cpu</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model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Model</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len</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train_dataset.</a:t>
            </a:r>
            <a:r>
              <a:rPr lang="en-US" altLang="zh-CN" b="0" dirty="0" err="1">
                <a:solidFill>
                  <a:srgbClr val="6F42C1"/>
                </a:solidFill>
                <a:effectLst/>
                <a:latin typeface="Consolas" panose="020B0609020204030204" pitchFamily="49" charset="0"/>
              </a:rPr>
              <a:t>keys</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64</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to</a:t>
            </a:r>
            <a:r>
              <a:rPr lang="en-US" altLang="zh-CN" b="0" dirty="0">
                <a:solidFill>
                  <a:srgbClr val="24292E"/>
                </a:solidFill>
                <a:effectLst/>
                <a:latin typeface="Consolas" panose="020B0609020204030204" pitchFamily="49" charset="0"/>
              </a:rPr>
              <a:t>(device)</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5.5 </a:t>
            </a:r>
            <a:r>
              <a:rPr lang="en-US" altLang="zh-CN" sz="3200" dirty="0" err="1"/>
              <a:t>PyTorch</a:t>
            </a:r>
            <a:r>
              <a:rPr lang="zh-CN" altLang="en-US" sz="3200" dirty="0"/>
              <a:t>回归实战</a:t>
            </a:r>
            <a:endParaRPr lang="zh-CN" altLang="en-US" sz="3200" dirty="0">
              <a:solidFill>
                <a:srgbClr val="FF0000"/>
              </a:solidFill>
              <a:sym typeface="+mn-ea"/>
            </a:endParaRPr>
          </a:p>
        </p:txBody>
      </p:sp>
      <p:sp>
        <p:nvSpPr>
          <p:cNvPr id="5" name="文本框 4"/>
          <p:cNvSpPr txBox="1"/>
          <p:nvPr/>
        </p:nvSpPr>
        <p:spPr>
          <a:xfrm>
            <a:off x="761280" y="1531990"/>
            <a:ext cx="108097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5.5.3 </a:t>
            </a:r>
            <a:r>
              <a:rPr lang="zh-CN" altLang="en-US" dirty="0">
                <a:solidFill>
                  <a:srgbClr val="577CCE"/>
                </a:solidFill>
                <a:latin typeface="Consolas" panose="020B0609020204030204" pitchFamily="49" charset="0"/>
              </a:rPr>
              <a:t>模型训练</a:t>
            </a:r>
            <a:endParaRPr lang="zh-CN" altLang="en-US" b="0" dirty="0">
              <a:solidFill>
                <a:srgbClr val="577CCE"/>
              </a:solidFill>
              <a:effectLst/>
              <a:latin typeface="Consolas" panose="020B0609020204030204" pitchFamily="49" charset="0"/>
            </a:endParaRPr>
          </a:p>
        </p:txBody>
      </p:sp>
      <p:sp>
        <p:nvSpPr>
          <p:cNvPr id="2" name="文本框 1"/>
          <p:cNvSpPr txBox="1"/>
          <p:nvPr/>
        </p:nvSpPr>
        <p:spPr>
          <a:xfrm>
            <a:off x="981773" y="1990866"/>
            <a:ext cx="10564763"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下面将生成供训练和测试用的</a:t>
            </a:r>
            <a:r>
              <a:rPr lang="en-US" altLang="zh-CN" b="0" dirty="0" err="1">
                <a:solidFill>
                  <a:srgbClr val="24292E"/>
                </a:solidFill>
                <a:effectLst/>
                <a:latin typeface="Consolas" panose="020B0609020204030204" pitchFamily="49" charset="0"/>
              </a:rPr>
              <a:t>DataLoader</a:t>
            </a:r>
            <a:r>
              <a:rPr lang="zh-CN" altLang="en-US" b="0" dirty="0">
                <a:solidFill>
                  <a:srgbClr val="24292E"/>
                </a:solidFill>
                <a:effectLst/>
                <a:latin typeface="Consolas" panose="020B0609020204030204" pitchFamily="49" charset="0"/>
              </a:rPr>
              <a:t>，损失函数使用平方误差损失</a:t>
            </a:r>
            <a:r>
              <a:rPr lang="en-US" altLang="zh-CN" b="0" dirty="0" err="1">
                <a:solidFill>
                  <a:srgbClr val="24292E"/>
                </a:solidFill>
                <a:effectLst/>
                <a:latin typeface="Consolas" panose="020B0609020204030204" pitchFamily="49" charset="0"/>
              </a:rPr>
              <a:t>MSELoss</a:t>
            </a:r>
            <a:r>
              <a:rPr lang="zh-CN" altLang="en-US" b="0" dirty="0">
                <a:solidFill>
                  <a:srgbClr val="24292E"/>
                </a:solidFill>
                <a:effectLst/>
                <a:latin typeface="Consolas" panose="020B0609020204030204" pitchFamily="49" charset="0"/>
              </a:rPr>
              <a:t>，优化器使用</a:t>
            </a:r>
            <a:r>
              <a:rPr lang="en-US" altLang="zh-CN" b="0" dirty="0">
                <a:solidFill>
                  <a:srgbClr val="24292E"/>
                </a:solidFill>
                <a:effectLst/>
                <a:latin typeface="Consolas" panose="020B0609020204030204" pitchFamily="49" charset="0"/>
              </a:rPr>
              <a:t>SGD</a:t>
            </a:r>
            <a:r>
              <a:rPr lang="zh-CN" altLang="en-US" b="0" dirty="0">
                <a:solidFill>
                  <a:srgbClr val="24292E"/>
                </a:solidFill>
                <a:effectLst/>
                <a:latin typeface="Consolas" panose="020B0609020204030204" pitchFamily="49" charset="0"/>
              </a:rPr>
              <a:t>，一共进行</a:t>
            </a:r>
            <a:r>
              <a:rPr lang="en-US" altLang="zh-CN" b="0" dirty="0">
                <a:solidFill>
                  <a:srgbClr val="24292E"/>
                </a:solidFill>
                <a:effectLst/>
                <a:latin typeface="Consolas" panose="020B0609020204030204" pitchFamily="49" charset="0"/>
              </a:rPr>
              <a:t>20</a:t>
            </a:r>
            <a:r>
              <a:rPr lang="zh-CN" altLang="en-US" b="0" dirty="0">
                <a:solidFill>
                  <a:srgbClr val="24292E"/>
                </a:solidFill>
                <a:effectLst/>
                <a:latin typeface="Consolas" panose="020B0609020204030204" pitchFamily="49" charset="0"/>
              </a:rPr>
              <a:t>轮（</a:t>
            </a:r>
            <a:r>
              <a:rPr lang="en-US" altLang="zh-CN" b="0" dirty="0">
                <a:solidFill>
                  <a:srgbClr val="24292E"/>
                </a:solidFill>
                <a:effectLst/>
                <a:latin typeface="Consolas" panose="020B0609020204030204" pitchFamily="49" charset="0"/>
              </a:rPr>
              <a:t>epoch</a:t>
            </a:r>
            <a:r>
              <a:rPr lang="zh-CN" altLang="en-US" b="0" dirty="0">
                <a:solidFill>
                  <a:srgbClr val="24292E"/>
                </a:solidFill>
                <a:effectLst/>
                <a:latin typeface="Consolas" panose="020B0609020204030204" pitchFamily="49" charset="0"/>
              </a:rPr>
              <a:t>）的训练。每</a:t>
            </a:r>
            <a:r>
              <a:rPr lang="en-US" altLang="zh-CN" b="0" dirty="0">
                <a:solidFill>
                  <a:srgbClr val="24292E"/>
                </a:solidFill>
                <a:effectLst/>
                <a:latin typeface="Consolas" panose="020B0609020204030204" pitchFamily="49" charset="0"/>
              </a:rPr>
              <a:t>4</a:t>
            </a:r>
            <a:r>
              <a:rPr lang="zh-CN" altLang="en-US" b="0" dirty="0">
                <a:solidFill>
                  <a:srgbClr val="24292E"/>
                </a:solidFill>
                <a:effectLst/>
                <a:latin typeface="Consolas" panose="020B0609020204030204" pitchFamily="49" charset="0"/>
              </a:rPr>
              <a:t>轮训练后打印训练集上的误差损失值。</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1001293" y="2849229"/>
            <a:ext cx="10689692" cy="3139321"/>
          </a:xfrm>
          <a:prstGeom prst="rect">
            <a:avLst/>
          </a:prstGeom>
          <a:noFill/>
          <a:ln>
            <a:solidFill>
              <a:srgbClr val="577CCE"/>
            </a:solidFill>
          </a:ln>
        </p:spPr>
        <p:txBody>
          <a:bodyPr wrap="square">
            <a:spAutoFit/>
          </a:bodyPr>
          <a:lstStyle/>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utils</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data</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TensorDataset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DataLoader</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from</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torch</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import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optim</a:t>
            </a:r>
            <a:r>
              <a:rPr lang="en-US" altLang="zh-CN" b="0" dirty="0">
                <a:solidFill>
                  <a:srgbClr val="24292E"/>
                </a:solidFill>
                <a:effectLst/>
                <a:latin typeface="Consolas" panose="020B0609020204030204" pitchFamily="49" charset="0"/>
              </a:rPr>
              <a:t> </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train_dataset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TensorDataset</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from_numpy</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normed_train_data.values</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float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from_numpy</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train_labels.values</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float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train_loader</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DataLoader</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train_dataset</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batch_size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32</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shuffle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True</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num_workers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test_dataset</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TensorDataset</a:t>
            </a:r>
            <a:r>
              <a:rPr lang="en-US" altLang="zh-CN" b="0" dirty="0">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from_numpy</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normed_test_data.values</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float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torch</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from_numpy</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test_labels.values</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float</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err="1">
                <a:solidFill>
                  <a:srgbClr val="24292E"/>
                </a:solidFill>
                <a:effectLst/>
                <a:latin typeface="Consolas" panose="020B0609020204030204" pitchFamily="49" charset="0"/>
              </a:rPr>
              <a:t>test_loader</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DataLoader</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test_dataset</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batch_size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32</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shuffle</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False</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num_workers</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br>
              <a:rPr lang="en-US" altLang="zh-CN" b="0" dirty="0">
                <a:solidFill>
                  <a:srgbClr val="24292E"/>
                </a:solidFill>
                <a:effectLst/>
                <a:latin typeface="Consolas" panose="020B0609020204030204" pitchFamily="49" charset="0"/>
              </a:rPr>
            </a:br>
            <a:r>
              <a:rPr lang="en-US" altLang="zh-CN" b="0" dirty="0">
                <a:solidFill>
                  <a:srgbClr val="24292E"/>
                </a:solidFill>
                <a:effectLst/>
                <a:latin typeface="Consolas" panose="020B0609020204030204" pitchFamily="49" charset="0"/>
              </a:rPr>
              <a:t>criterion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nn</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MSELoss</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optimizer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err="1">
                <a:solidFill>
                  <a:srgbClr val="6F42C1"/>
                </a:solidFill>
                <a:effectLst/>
                <a:latin typeface="Consolas" panose="020B0609020204030204" pitchFamily="49" charset="0"/>
              </a:rPr>
              <a:t>optim</a:t>
            </a:r>
            <a:r>
              <a:rPr lang="en-US" altLang="zh-CN" b="0" dirty="0" err="1">
                <a:solidFill>
                  <a:srgbClr val="24292E"/>
                </a:solidFill>
                <a:effectLst/>
                <a:latin typeface="Consolas" panose="020B0609020204030204" pitchFamily="49" charset="0"/>
              </a:rPr>
              <a:t>.</a:t>
            </a:r>
            <a:r>
              <a:rPr lang="en-US" altLang="zh-CN" b="0" dirty="0" err="1">
                <a:solidFill>
                  <a:srgbClr val="6F42C1"/>
                </a:solidFill>
                <a:effectLst/>
                <a:latin typeface="Consolas" panose="020B0609020204030204" pitchFamily="49" charset="0"/>
              </a:rPr>
              <a:t>SGD</a:t>
            </a:r>
            <a:r>
              <a:rPr lang="en-US" altLang="zh-CN" b="0" dirty="0">
                <a:solidFill>
                  <a:srgbClr val="24292E"/>
                </a:solidFill>
                <a:effectLst/>
                <a:latin typeface="Consolas" panose="020B0609020204030204" pitchFamily="49" charset="0"/>
              </a:rPr>
              <a:t>(</a:t>
            </a:r>
            <a:r>
              <a:rPr lang="en-US" altLang="zh-CN" b="0" dirty="0" err="1">
                <a:solidFill>
                  <a:srgbClr val="24292E"/>
                </a:solidFill>
                <a:effectLst/>
                <a:latin typeface="Consolas" panose="020B0609020204030204" pitchFamily="49" charset="0"/>
              </a:rPr>
              <a:t>model.</a:t>
            </a:r>
            <a:r>
              <a:rPr lang="en-US" altLang="zh-CN" b="0" dirty="0" err="1">
                <a:solidFill>
                  <a:srgbClr val="6F42C1"/>
                </a:solidFill>
                <a:effectLst/>
                <a:latin typeface="Consolas" panose="020B0609020204030204" pitchFamily="49" charset="0"/>
              </a:rPr>
              <a:t>parameters</a:t>
            </a:r>
            <a:r>
              <a:rPr lang="en-US" altLang="zh-CN" b="0" dirty="0">
                <a:solidFill>
                  <a:srgbClr val="24292E"/>
                </a:solidFill>
                <a:effectLst/>
                <a:latin typeface="Consolas" panose="020B0609020204030204" pitchFamily="49" charset="0"/>
              </a:rPr>
              <a:t>(), </a:t>
            </a:r>
            <a:r>
              <a:rPr lang="en-US" altLang="zh-CN" b="0" dirty="0" err="1">
                <a:solidFill>
                  <a:srgbClr val="E36209"/>
                </a:solidFill>
                <a:effectLst/>
                <a:latin typeface="Consolas" panose="020B0609020204030204" pitchFamily="49" charset="0"/>
              </a:rPr>
              <a:t>lr</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0.001</a:t>
            </a:r>
            <a:r>
              <a:rPr lang="en-US" altLang="zh-CN" b="0" dirty="0">
                <a:solidFill>
                  <a:srgbClr val="24292E"/>
                </a:solidFill>
                <a:effectLst/>
                <a:latin typeface="Consolas" panose="020B0609020204030204" pitchFamily="49" charset="0"/>
              </a:rPr>
              <a:t>, </a:t>
            </a:r>
            <a:r>
              <a:rPr lang="en-US" altLang="zh-CN" b="0" dirty="0">
                <a:solidFill>
                  <a:srgbClr val="E36209"/>
                </a:solidFill>
                <a:effectLst/>
                <a:latin typeface="Consolas" panose="020B0609020204030204" pitchFamily="49" charset="0"/>
              </a:rPr>
              <a:t>momentum</a:t>
            </a:r>
            <a:r>
              <a:rPr lang="en-US" altLang="zh-CN" b="0" dirty="0">
                <a:solidFill>
                  <a:srgbClr val="D73A49"/>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0.9</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5.5 </a:t>
            </a:r>
            <a:r>
              <a:rPr lang="en-US" altLang="zh-CN" sz="3200" dirty="0" err="1"/>
              <a:t>PyTorch</a:t>
            </a:r>
            <a:r>
              <a:rPr lang="zh-CN" altLang="en-US" sz="3200" dirty="0"/>
              <a:t>回归实战</a:t>
            </a:r>
            <a:endParaRPr lang="zh-CN" altLang="en-US" sz="3200" dirty="0">
              <a:solidFill>
                <a:srgbClr val="FF0000"/>
              </a:solidFill>
              <a:sym typeface="+mn-ea"/>
            </a:endParaRPr>
          </a:p>
        </p:txBody>
      </p:sp>
      <p:sp>
        <p:nvSpPr>
          <p:cNvPr id="5" name="文本框 4"/>
          <p:cNvSpPr txBox="1"/>
          <p:nvPr/>
        </p:nvSpPr>
        <p:spPr>
          <a:xfrm>
            <a:off x="761280" y="1531990"/>
            <a:ext cx="108097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5.5.3 </a:t>
            </a:r>
            <a:r>
              <a:rPr lang="zh-CN" altLang="en-US" dirty="0">
                <a:solidFill>
                  <a:srgbClr val="577CCE"/>
                </a:solidFill>
                <a:latin typeface="Consolas" panose="020B0609020204030204" pitchFamily="49" charset="0"/>
              </a:rPr>
              <a:t>模型训练</a:t>
            </a:r>
            <a:endParaRPr lang="zh-CN" altLang="en-US" b="0" dirty="0">
              <a:solidFill>
                <a:srgbClr val="577CCE"/>
              </a:solidFill>
              <a:effectLst/>
              <a:latin typeface="Consolas" panose="020B0609020204030204" pitchFamily="49" charset="0"/>
            </a:endParaRPr>
          </a:p>
        </p:txBody>
      </p:sp>
      <p:sp>
        <p:nvSpPr>
          <p:cNvPr id="2" name="文本框 1"/>
          <p:cNvSpPr txBox="1"/>
          <p:nvPr/>
        </p:nvSpPr>
        <p:spPr>
          <a:xfrm>
            <a:off x="981773" y="1990866"/>
            <a:ext cx="10564763" cy="646331"/>
          </a:xfrm>
          <a:prstGeom prst="rect">
            <a:avLst/>
          </a:prstGeom>
          <a:noFill/>
        </p:spPr>
        <p:txBody>
          <a:bodyPr wrap="square">
            <a:spAutoFit/>
          </a:bodyPr>
          <a:lstStyle/>
          <a:p>
            <a:r>
              <a:rPr lang="zh-CN" altLang="en-US" b="0" dirty="0">
                <a:solidFill>
                  <a:srgbClr val="24292E"/>
                </a:solidFill>
                <a:effectLst/>
                <a:latin typeface="Consolas" panose="020B0609020204030204" pitchFamily="49" charset="0"/>
              </a:rPr>
              <a:t>下面将生成供训练和测试用的</a:t>
            </a:r>
            <a:r>
              <a:rPr lang="en-US" altLang="zh-CN" b="0" dirty="0" err="1">
                <a:solidFill>
                  <a:srgbClr val="24292E"/>
                </a:solidFill>
                <a:effectLst/>
                <a:latin typeface="Consolas" panose="020B0609020204030204" pitchFamily="49" charset="0"/>
              </a:rPr>
              <a:t>DataLoader</a:t>
            </a:r>
            <a:r>
              <a:rPr lang="zh-CN" altLang="en-US" b="0" dirty="0">
                <a:solidFill>
                  <a:srgbClr val="24292E"/>
                </a:solidFill>
                <a:effectLst/>
                <a:latin typeface="Consolas" panose="020B0609020204030204" pitchFamily="49" charset="0"/>
              </a:rPr>
              <a:t>，损失函数使用平方误差损失</a:t>
            </a:r>
            <a:r>
              <a:rPr lang="en-US" altLang="zh-CN" b="0" dirty="0" err="1">
                <a:solidFill>
                  <a:srgbClr val="24292E"/>
                </a:solidFill>
                <a:effectLst/>
                <a:latin typeface="Consolas" panose="020B0609020204030204" pitchFamily="49" charset="0"/>
              </a:rPr>
              <a:t>MSELoss</a:t>
            </a:r>
            <a:r>
              <a:rPr lang="zh-CN" altLang="en-US" b="0" dirty="0">
                <a:solidFill>
                  <a:srgbClr val="24292E"/>
                </a:solidFill>
                <a:effectLst/>
                <a:latin typeface="Consolas" panose="020B0609020204030204" pitchFamily="49" charset="0"/>
              </a:rPr>
              <a:t>，优化器使用</a:t>
            </a:r>
            <a:r>
              <a:rPr lang="en-US" altLang="zh-CN" b="0" dirty="0">
                <a:solidFill>
                  <a:srgbClr val="24292E"/>
                </a:solidFill>
                <a:effectLst/>
                <a:latin typeface="Consolas" panose="020B0609020204030204" pitchFamily="49" charset="0"/>
              </a:rPr>
              <a:t>SGD</a:t>
            </a:r>
            <a:r>
              <a:rPr lang="zh-CN" altLang="en-US" b="0" dirty="0">
                <a:solidFill>
                  <a:srgbClr val="24292E"/>
                </a:solidFill>
                <a:effectLst/>
                <a:latin typeface="Consolas" panose="020B0609020204030204" pitchFamily="49" charset="0"/>
              </a:rPr>
              <a:t>，一共进行</a:t>
            </a:r>
            <a:r>
              <a:rPr lang="en-US" altLang="zh-CN" b="0" dirty="0">
                <a:solidFill>
                  <a:srgbClr val="24292E"/>
                </a:solidFill>
                <a:effectLst/>
                <a:latin typeface="Consolas" panose="020B0609020204030204" pitchFamily="49" charset="0"/>
              </a:rPr>
              <a:t>20</a:t>
            </a:r>
            <a:r>
              <a:rPr lang="zh-CN" altLang="en-US" b="0" dirty="0">
                <a:solidFill>
                  <a:srgbClr val="24292E"/>
                </a:solidFill>
                <a:effectLst/>
                <a:latin typeface="Consolas" panose="020B0609020204030204" pitchFamily="49" charset="0"/>
              </a:rPr>
              <a:t>轮（</a:t>
            </a:r>
            <a:r>
              <a:rPr lang="en-US" altLang="zh-CN" b="0" dirty="0">
                <a:solidFill>
                  <a:srgbClr val="24292E"/>
                </a:solidFill>
                <a:effectLst/>
                <a:latin typeface="Consolas" panose="020B0609020204030204" pitchFamily="49" charset="0"/>
              </a:rPr>
              <a:t>epoch</a:t>
            </a:r>
            <a:r>
              <a:rPr lang="zh-CN" altLang="en-US" b="0" dirty="0">
                <a:solidFill>
                  <a:srgbClr val="24292E"/>
                </a:solidFill>
                <a:effectLst/>
                <a:latin typeface="Consolas" panose="020B0609020204030204" pitchFamily="49" charset="0"/>
              </a:rPr>
              <a:t>）的训练。每</a:t>
            </a:r>
            <a:r>
              <a:rPr lang="en-US" altLang="zh-CN" b="0" dirty="0">
                <a:solidFill>
                  <a:srgbClr val="24292E"/>
                </a:solidFill>
                <a:effectLst/>
                <a:latin typeface="Consolas" panose="020B0609020204030204" pitchFamily="49" charset="0"/>
              </a:rPr>
              <a:t>4</a:t>
            </a:r>
            <a:r>
              <a:rPr lang="zh-CN" altLang="en-US" b="0" dirty="0">
                <a:solidFill>
                  <a:srgbClr val="24292E"/>
                </a:solidFill>
                <a:effectLst/>
                <a:latin typeface="Consolas" panose="020B0609020204030204" pitchFamily="49" charset="0"/>
              </a:rPr>
              <a:t>轮训练后打印训练集上的误差损失值。</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1001293" y="2849229"/>
            <a:ext cx="10689692" cy="3139321"/>
          </a:xfrm>
          <a:prstGeom prst="rect">
            <a:avLst/>
          </a:prstGeom>
          <a:noFill/>
          <a:ln>
            <a:solidFill>
              <a:srgbClr val="577CCE"/>
            </a:solidFill>
          </a:ln>
        </p:spPr>
        <p:txBody>
          <a:bodyPr wrap="square">
            <a:spAutoFit/>
          </a:bodyPr>
          <a:lstStyle/>
          <a:p>
            <a:r>
              <a:rPr lang="en-US" altLang="zh-CN" b="0" dirty="0">
                <a:solidFill>
                  <a:srgbClr val="24292E"/>
                </a:solidFill>
                <a:effectLst/>
                <a:latin typeface="Consolas" panose="020B0609020204030204" pitchFamily="49" charset="0"/>
              </a:rPr>
              <a:t>epochs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20</a:t>
            </a:r>
            <a:endParaRPr lang="en-US" altLang="zh-CN" b="0" dirty="0">
              <a:solidFill>
                <a:srgbClr val="24292E"/>
              </a:solidFill>
              <a:effectLst/>
              <a:latin typeface="Consolas" panose="020B0609020204030204" pitchFamily="49" charset="0"/>
            </a:endParaRPr>
          </a:p>
          <a:p>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epoch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range</a:t>
            </a:r>
            <a:r>
              <a:rPr lang="en-US" altLang="zh-CN" b="0" dirty="0">
                <a:solidFill>
                  <a:srgbClr val="24292E"/>
                </a:solidFill>
                <a:effectLst/>
                <a:latin typeface="Consolas" panose="020B0609020204030204" pitchFamily="49" charset="0"/>
              </a:rPr>
              <a:t>(epochs):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for</a:t>
            </a:r>
            <a:r>
              <a:rPr lang="en-US" altLang="zh-CN" b="0" dirty="0">
                <a:solidFill>
                  <a:srgbClr val="24292E"/>
                </a:solidFill>
                <a:effectLst/>
                <a:latin typeface="Consolas" panose="020B0609020204030204" pitchFamily="49" charset="0"/>
              </a:rPr>
              <a:t> feats, labels </a:t>
            </a:r>
            <a:r>
              <a:rPr lang="en-US" altLang="zh-CN" b="0" dirty="0">
                <a:solidFill>
                  <a:srgbClr val="D73A49"/>
                </a:solidFill>
                <a:effectLst/>
                <a:latin typeface="Consolas" panose="020B0609020204030204" pitchFamily="49" charset="0"/>
              </a:rPr>
              <a:t>in</a:t>
            </a:r>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train_loader</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optimizer.</a:t>
            </a:r>
            <a:r>
              <a:rPr lang="en-US" altLang="zh-CN" b="0" dirty="0" err="1">
                <a:solidFill>
                  <a:srgbClr val="6F42C1"/>
                </a:solidFill>
                <a:effectLst/>
                <a:latin typeface="Consolas" panose="020B0609020204030204" pitchFamily="49" charset="0"/>
              </a:rPr>
              <a:t>zero_grad</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feats, labels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feats.to(device), labels.to(device)</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y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model(feats)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loss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criterion(y, labels)</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loss.backward</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err="1">
                <a:solidFill>
                  <a:srgbClr val="24292E"/>
                </a:solidFill>
                <a:effectLst/>
                <a:latin typeface="Consolas" panose="020B0609020204030204" pitchFamily="49" charset="0"/>
              </a:rPr>
              <a:t>optimizer.</a:t>
            </a:r>
            <a:r>
              <a:rPr lang="en-US" altLang="zh-CN" b="0" dirty="0" err="1">
                <a:solidFill>
                  <a:srgbClr val="6F42C1"/>
                </a:solidFill>
                <a:effectLst/>
                <a:latin typeface="Consolas" panose="020B0609020204030204" pitchFamily="49" charset="0"/>
              </a:rPr>
              <a:t>step</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if</a:t>
            </a:r>
            <a:r>
              <a:rPr lang="en-US" altLang="zh-CN" b="0" dirty="0">
                <a:solidFill>
                  <a:srgbClr val="24292E"/>
                </a:solidFill>
                <a:effectLst/>
                <a:latin typeface="Consolas" panose="020B0609020204030204" pitchFamily="49" charset="0"/>
              </a:rPr>
              <a:t> (epoch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4</a:t>
            </a:r>
            <a:r>
              <a:rPr lang="en-US" altLang="zh-CN" b="0" dirty="0">
                <a:solidFill>
                  <a:srgbClr val="24292E"/>
                </a:solidFill>
                <a:effectLst/>
                <a:latin typeface="Consolas" panose="020B0609020204030204" pitchFamily="49" charset="0"/>
              </a:rPr>
              <a:t>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0</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a:p>
            <a:r>
              <a:rPr lang="en-US" altLang="zh-CN" b="0" dirty="0">
                <a:solidFill>
                  <a:srgbClr val="24292E"/>
                </a:solidFill>
                <a:effectLst/>
                <a:latin typeface="Consolas" panose="020B0609020204030204" pitchFamily="49" charset="0"/>
              </a:rPr>
              <a:t>        </a:t>
            </a:r>
            <a:r>
              <a:rPr lang="en-US" altLang="zh-CN" b="0" dirty="0">
                <a:solidFill>
                  <a:srgbClr val="6F42C1"/>
                </a:solidFill>
                <a:effectLst/>
                <a:latin typeface="Consolas" panose="020B0609020204030204" pitchFamily="49" charset="0"/>
              </a:rPr>
              <a:t>print</a:t>
            </a:r>
            <a:r>
              <a:rPr lang="en-US" altLang="zh-CN" b="0" dirty="0">
                <a:solidFill>
                  <a:srgbClr val="24292E"/>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'Epoch </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 loss </a:t>
            </a:r>
            <a:r>
              <a:rPr lang="en-US" altLang="zh-CN" b="0" dirty="0">
                <a:solidFill>
                  <a:srgbClr val="005CC5"/>
                </a:solidFill>
                <a:effectLst/>
                <a:latin typeface="Consolas" panose="020B0609020204030204" pitchFamily="49" charset="0"/>
              </a:rPr>
              <a:t>{}</a:t>
            </a:r>
            <a:r>
              <a:rPr lang="en-US" altLang="zh-CN" b="0" dirty="0">
                <a:solidFill>
                  <a:srgbClr val="032F62"/>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a:t>
            </a:r>
            <a:r>
              <a:rPr lang="en-US" altLang="zh-CN" b="0" dirty="0">
                <a:solidFill>
                  <a:srgbClr val="6F42C1"/>
                </a:solidFill>
                <a:effectLst/>
                <a:latin typeface="Consolas" panose="020B0609020204030204" pitchFamily="49" charset="0"/>
              </a:rPr>
              <a:t>format</a:t>
            </a:r>
            <a:r>
              <a:rPr lang="en-US" altLang="zh-CN" b="0" dirty="0">
                <a:solidFill>
                  <a:srgbClr val="24292E"/>
                </a:solidFill>
                <a:effectLst/>
                <a:latin typeface="Consolas" panose="020B0609020204030204" pitchFamily="49" charset="0"/>
              </a:rPr>
              <a:t>(epoch </a:t>
            </a:r>
            <a:r>
              <a:rPr lang="en-US" altLang="zh-CN" b="0" dirty="0">
                <a:solidFill>
                  <a:srgbClr val="D73A49"/>
                </a:solidFill>
                <a:effectLst/>
                <a:latin typeface="Consolas" panose="020B0609020204030204" pitchFamily="49" charset="0"/>
              </a:rPr>
              <a:t>+</a:t>
            </a:r>
            <a:r>
              <a:rPr lang="en-US" altLang="zh-CN" b="0" dirty="0">
                <a:solidFill>
                  <a:srgbClr val="24292E"/>
                </a:solidFill>
                <a:effectLst/>
                <a:latin typeface="Consolas" panose="020B0609020204030204" pitchFamily="49" charset="0"/>
              </a:rPr>
              <a:t> </a:t>
            </a:r>
            <a:r>
              <a:rPr lang="en-US" altLang="zh-CN" b="0" dirty="0">
                <a:solidFill>
                  <a:srgbClr val="005CC5"/>
                </a:solidFill>
                <a:effectLst/>
                <a:latin typeface="Consolas" panose="020B0609020204030204" pitchFamily="49" charset="0"/>
              </a:rPr>
              <a:t>1</a:t>
            </a:r>
            <a:r>
              <a:rPr lang="en-US" altLang="zh-CN" b="0" dirty="0">
                <a:solidFill>
                  <a:srgbClr val="24292E"/>
                </a:solidFill>
                <a:effectLst/>
                <a:latin typeface="Consolas" panose="020B0609020204030204" pitchFamily="49" charset="0"/>
              </a:rPr>
              <a:t>, epochs, </a:t>
            </a:r>
            <a:r>
              <a:rPr lang="en-US" altLang="zh-CN" b="0" dirty="0" err="1">
                <a:solidFill>
                  <a:srgbClr val="24292E"/>
                </a:solidFill>
                <a:effectLst/>
                <a:latin typeface="Consolas" panose="020B0609020204030204" pitchFamily="49" charset="0"/>
              </a:rPr>
              <a:t>loss.item</a:t>
            </a:r>
            <a:r>
              <a:rPr lang="en-US" altLang="zh-CN" b="0" dirty="0">
                <a:solidFill>
                  <a:srgbClr val="24292E"/>
                </a:solidFill>
                <a:effectLst/>
                <a:latin typeface="Consolas" panose="020B0609020204030204" pitchFamily="49" charset="0"/>
              </a:rPr>
              <a:t>()))</a:t>
            </a:r>
            <a:endParaRPr lang="en-US" altLang="zh-CN" b="0" dirty="0">
              <a:solidFill>
                <a:srgbClr val="24292E"/>
              </a:solidFill>
              <a:effectLst/>
              <a:latin typeface="Consolas" panose="020B0609020204030204" pitchFamily="49" charset="0"/>
            </a:endParaRPr>
          </a:p>
        </p:txBody>
      </p:sp>
      <p:pic>
        <p:nvPicPr>
          <p:cNvPr id="7" name="图片 6"/>
          <p:cNvPicPr>
            <a:picLocks noChangeAspect="1"/>
          </p:cNvPicPr>
          <p:nvPr/>
        </p:nvPicPr>
        <p:blipFill>
          <a:blip r:embed="rId1"/>
          <a:stretch>
            <a:fillRect/>
          </a:stretch>
        </p:blipFill>
        <p:spPr>
          <a:xfrm>
            <a:off x="6518592" y="325060"/>
            <a:ext cx="4181062" cy="1465953"/>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t>5.5 </a:t>
            </a:r>
            <a:r>
              <a:rPr lang="en-US" altLang="zh-CN" sz="3200" dirty="0" err="1"/>
              <a:t>PyTorch</a:t>
            </a:r>
            <a:r>
              <a:rPr lang="zh-CN" altLang="en-US" sz="3200" dirty="0"/>
              <a:t>回归实战</a:t>
            </a:r>
            <a:endParaRPr lang="zh-CN" altLang="en-US" sz="3200" dirty="0">
              <a:solidFill>
                <a:srgbClr val="FF0000"/>
              </a:solidFill>
              <a:sym typeface="+mn-ea"/>
            </a:endParaRPr>
          </a:p>
        </p:txBody>
      </p:sp>
      <p:sp>
        <p:nvSpPr>
          <p:cNvPr id="5" name="文本框 4"/>
          <p:cNvSpPr txBox="1"/>
          <p:nvPr/>
        </p:nvSpPr>
        <p:spPr>
          <a:xfrm>
            <a:off x="761280" y="1531990"/>
            <a:ext cx="10809753" cy="369332"/>
          </a:xfrm>
          <a:prstGeom prst="rect">
            <a:avLst/>
          </a:prstGeom>
          <a:noFill/>
        </p:spPr>
        <p:txBody>
          <a:bodyPr wrap="square">
            <a:spAutoFit/>
          </a:bodyPr>
          <a:lstStyle/>
          <a:p>
            <a:r>
              <a:rPr lang="en-US" altLang="zh-CN" dirty="0">
                <a:solidFill>
                  <a:srgbClr val="577CCE"/>
                </a:solidFill>
                <a:latin typeface="Consolas" panose="020B0609020204030204" pitchFamily="49" charset="0"/>
              </a:rPr>
              <a:t>5.5.4 </a:t>
            </a:r>
            <a:r>
              <a:rPr lang="zh-CN" altLang="en-US" dirty="0">
                <a:solidFill>
                  <a:srgbClr val="577CCE"/>
                </a:solidFill>
                <a:latin typeface="Consolas" panose="020B0609020204030204" pitchFamily="49" charset="0"/>
              </a:rPr>
              <a:t>模型测试</a:t>
            </a:r>
            <a:endParaRPr lang="zh-CN" altLang="en-US" b="0" dirty="0">
              <a:solidFill>
                <a:srgbClr val="577CCE"/>
              </a:solidFill>
              <a:effectLst/>
              <a:latin typeface="Consolas" panose="020B0609020204030204" pitchFamily="49" charset="0"/>
            </a:endParaRPr>
          </a:p>
        </p:txBody>
      </p:sp>
      <p:sp>
        <p:nvSpPr>
          <p:cNvPr id="2" name="文本框 1"/>
          <p:cNvSpPr txBox="1"/>
          <p:nvPr/>
        </p:nvSpPr>
        <p:spPr>
          <a:xfrm>
            <a:off x="981773" y="1990866"/>
            <a:ext cx="10564763" cy="646331"/>
          </a:xfrm>
          <a:prstGeom prst="rect">
            <a:avLst/>
          </a:prstGeom>
          <a:noFill/>
        </p:spPr>
        <p:txBody>
          <a:bodyPr wrap="square">
            <a:spAutoFit/>
          </a:bodyPr>
          <a:lstStyle/>
          <a:p>
            <a:r>
              <a:rPr lang="zh-CN" altLang="en-US" dirty="0">
                <a:solidFill>
                  <a:srgbClr val="24292E"/>
                </a:solidFill>
                <a:latin typeface="Consolas" panose="020B0609020204030204" pitchFamily="49" charset="0"/>
              </a:rPr>
              <a:t>通过使用测试集来检验模型的泛化效果。由于在训练模型时没有使用测试集，这样就可以估计在实际使用模型时，它的预测性能大致如何。代码如下：</a:t>
            </a:r>
            <a:endParaRPr lang="zh-CN" altLang="en-US" b="0" dirty="0">
              <a:solidFill>
                <a:srgbClr val="24292E"/>
              </a:solidFill>
              <a:effectLst/>
              <a:latin typeface="Consolas" panose="020B0609020204030204" pitchFamily="49" charset="0"/>
            </a:endParaRPr>
          </a:p>
        </p:txBody>
      </p:sp>
      <p:sp>
        <p:nvSpPr>
          <p:cNvPr id="6" name="文本框 5"/>
          <p:cNvSpPr txBox="1"/>
          <p:nvPr/>
        </p:nvSpPr>
        <p:spPr>
          <a:xfrm>
            <a:off x="1307290" y="2726741"/>
            <a:ext cx="10689692" cy="2862322"/>
          </a:xfrm>
          <a:prstGeom prst="rect">
            <a:avLst/>
          </a:prstGeom>
          <a:noFill/>
        </p:spPr>
        <p:txBody>
          <a:bodyPr wrap="square">
            <a:spAutoFit/>
          </a:bodyPr>
          <a:lstStyle/>
          <a:p>
            <a:r>
              <a:rPr lang="en-US" altLang="zh-CN" dirty="0">
                <a:solidFill>
                  <a:srgbClr val="24292E"/>
                </a:solidFill>
                <a:latin typeface="Consolas" panose="020B0609020204030204" pitchFamily="49" charset="0"/>
              </a:rPr>
              <a:t>preds </a:t>
            </a:r>
            <a:r>
              <a:rPr lang="en-US" altLang="zh-CN" dirty="0">
                <a:solidFill>
                  <a:srgbClr val="D73A49"/>
                </a:solidFill>
                <a:latin typeface="Consolas" panose="020B0609020204030204" pitchFamily="49" charset="0"/>
              </a:rPr>
              <a:t>=</a:t>
            </a:r>
            <a:r>
              <a:rPr lang="en-US" altLang="zh-CN" dirty="0">
                <a:solidFill>
                  <a:srgbClr val="24292E"/>
                </a:solidFill>
                <a:latin typeface="Consolas" panose="020B0609020204030204" pitchFamily="49" charset="0"/>
              </a:rPr>
              <a:t> </a:t>
            </a:r>
            <a:r>
              <a:rPr lang="en-US" altLang="zh-CN" dirty="0" err="1">
                <a:solidFill>
                  <a:srgbClr val="6F42C1"/>
                </a:solidFill>
                <a:latin typeface="Consolas" panose="020B0609020204030204" pitchFamily="49" charset="0"/>
              </a:rPr>
              <a:t>torch</a:t>
            </a:r>
            <a:r>
              <a:rPr lang="en-US" altLang="zh-CN" dirty="0" err="1">
                <a:solidFill>
                  <a:srgbClr val="24292E"/>
                </a:solidFill>
                <a:latin typeface="Consolas" panose="020B0609020204030204" pitchFamily="49" charset="0"/>
              </a:rPr>
              <a:t>.</a:t>
            </a:r>
            <a:r>
              <a:rPr lang="en-US" altLang="zh-CN" dirty="0" err="1">
                <a:solidFill>
                  <a:srgbClr val="6F42C1"/>
                </a:solidFill>
                <a:latin typeface="Consolas" panose="020B0609020204030204" pitchFamily="49" charset="0"/>
              </a:rPr>
              <a:t>empty</a:t>
            </a:r>
            <a:r>
              <a:rPr lang="en-US" altLang="zh-CN" dirty="0">
                <a:solidFill>
                  <a:srgbClr val="24292E"/>
                </a:solidFill>
                <a:latin typeface="Consolas" panose="020B0609020204030204" pitchFamily="49" charset="0"/>
              </a:rPr>
              <a:t>((</a:t>
            </a:r>
            <a:r>
              <a:rPr lang="en-US" altLang="zh-CN" dirty="0">
                <a:solidFill>
                  <a:srgbClr val="005CC5"/>
                </a:solidFill>
                <a:latin typeface="Consolas" panose="020B0609020204030204" pitchFamily="49" charset="0"/>
              </a:rPr>
              <a:t>0</a:t>
            </a:r>
            <a:r>
              <a:rPr lang="en-US" altLang="zh-CN" dirty="0">
                <a:solidFill>
                  <a:srgbClr val="24292E"/>
                </a:solidFill>
                <a:latin typeface="Consolas" panose="020B0609020204030204" pitchFamily="49" charset="0"/>
              </a:rPr>
              <a:t>,)).</a:t>
            </a:r>
            <a:r>
              <a:rPr lang="en-US" altLang="zh-CN" dirty="0">
                <a:solidFill>
                  <a:srgbClr val="6F42C1"/>
                </a:solidFill>
                <a:latin typeface="Consolas" panose="020B0609020204030204" pitchFamily="49" charset="0"/>
              </a:rPr>
              <a:t>to</a:t>
            </a:r>
            <a:r>
              <a:rPr lang="en-US" altLang="zh-CN" dirty="0">
                <a:solidFill>
                  <a:srgbClr val="24292E"/>
                </a:solidFill>
                <a:latin typeface="Consolas" panose="020B0609020204030204" pitchFamily="49" charset="0"/>
              </a:rPr>
              <a:t>(device)</a:t>
            </a:r>
            <a:endParaRPr lang="en-US" altLang="zh-CN" dirty="0">
              <a:solidFill>
                <a:srgbClr val="24292E"/>
              </a:solidFill>
              <a:latin typeface="Consolas" panose="020B0609020204030204" pitchFamily="49" charset="0"/>
            </a:endParaRPr>
          </a:p>
          <a:p>
            <a:r>
              <a:rPr lang="en-US" altLang="zh-CN" dirty="0" err="1">
                <a:solidFill>
                  <a:srgbClr val="24292E"/>
                </a:solidFill>
                <a:latin typeface="Consolas" panose="020B0609020204030204" pitchFamily="49" charset="0"/>
              </a:rPr>
              <a:t>gts</a:t>
            </a:r>
            <a:r>
              <a:rPr lang="en-US" altLang="zh-CN" dirty="0">
                <a:solidFill>
                  <a:srgbClr val="24292E"/>
                </a:solidFill>
                <a:latin typeface="Consolas" panose="020B0609020204030204" pitchFamily="49" charset="0"/>
              </a:rPr>
              <a:t> </a:t>
            </a:r>
            <a:r>
              <a:rPr lang="en-US" altLang="zh-CN" dirty="0">
                <a:solidFill>
                  <a:srgbClr val="D73A49"/>
                </a:solidFill>
                <a:latin typeface="Consolas" panose="020B0609020204030204" pitchFamily="49" charset="0"/>
              </a:rPr>
              <a:t>=</a:t>
            </a:r>
            <a:r>
              <a:rPr lang="en-US" altLang="zh-CN" dirty="0">
                <a:solidFill>
                  <a:srgbClr val="24292E"/>
                </a:solidFill>
                <a:latin typeface="Consolas" panose="020B0609020204030204" pitchFamily="49" charset="0"/>
              </a:rPr>
              <a:t> </a:t>
            </a:r>
            <a:r>
              <a:rPr lang="en-US" altLang="zh-CN" dirty="0" err="1">
                <a:solidFill>
                  <a:srgbClr val="6F42C1"/>
                </a:solidFill>
                <a:latin typeface="Consolas" panose="020B0609020204030204" pitchFamily="49" charset="0"/>
              </a:rPr>
              <a:t>torch</a:t>
            </a:r>
            <a:r>
              <a:rPr lang="en-US" altLang="zh-CN" dirty="0" err="1">
                <a:solidFill>
                  <a:srgbClr val="24292E"/>
                </a:solidFill>
                <a:latin typeface="Consolas" panose="020B0609020204030204" pitchFamily="49" charset="0"/>
              </a:rPr>
              <a:t>.</a:t>
            </a:r>
            <a:r>
              <a:rPr lang="en-US" altLang="zh-CN" dirty="0" err="1">
                <a:solidFill>
                  <a:srgbClr val="6F42C1"/>
                </a:solidFill>
                <a:latin typeface="Consolas" panose="020B0609020204030204" pitchFamily="49" charset="0"/>
              </a:rPr>
              <a:t>empty</a:t>
            </a:r>
            <a:r>
              <a:rPr lang="en-US" altLang="zh-CN" dirty="0">
                <a:solidFill>
                  <a:srgbClr val="24292E"/>
                </a:solidFill>
                <a:latin typeface="Consolas" panose="020B0609020204030204" pitchFamily="49" charset="0"/>
              </a:rPr>
              <a:t>((</a:t>
            </a:r>
            <a:r>
              <a:rPr lang="en-US" altLang="zh-CN" dirty="0">
                <a:solidFill>
                  <a:srgbClr val="005CC5"/>
                </a:solidFill>
                <a:latin typeface="Consolas" panose="020B0609020204030204" pitchFamily="49" charset="0"/>
              </a:rPr>
              <a:t>0</a:t>
            </a:r>
            <a:r>
              <a:rPr lang="en-US" altLang="zh-CN" dirty="0">
                <a:solidFill>
                  <a:srgbClr val="24292E"/>
                </a:solidFill>
                <a:latin typeface="Consolas" panose="020B0609020204030204" pitchFamily="49" charset="0"/>
              </a:rPr>
              <a:t>,)).</a:t>
            </a:r>
            <a:r>
              <a:rPr lang="en-US" altLang="zh-CN" dirty="0">
                <a:solidFill>
                  <a:srgbClr val="6F42C1"/>
                </a:solidFill>
                <a:latin typeface="Consolas" panose="020B0609020204030204" pitchFamily="49" charset="0"/>
              </a:rPr>
              <a:t>to</a:t>
            </a:r>
            <a:r>
              <a:rPr lang="en-US" altLang="zh-CN" dirty="0">
                <a:solidFill>
                  <a:srgbClr val="24292E"/>
                </a:solidFill>
                <a:latin typeface="Consolas" panose="020B0609020204030204" pitchFamily="49" charset="0"/>
              </a:rPr>
              <a:t>(device)</a:t>
            </a:r>
            <a:endParaRPr lang="en-US" altLang="zh-CN" dirty="0">
              <a:solidFill>
                <a:srgbClr val="24292E"/>
              </a:solidFill>
              <a:latin typeface="Consolas" panose="020B0609020204030204" pitchFamily="49" charset="0"/>
            </a:endParaRPr>
          </a:p>
          <a:p>
            <a:r>
              <a:rPr lang="en-US" altLang="zh-CN" dirty="0">
                <a:solidFill>
                  <a:srgbClr val="D73A49"/>
                </a:solidFill>
                <a:latin typeface="Consolas" panose="020B0609020204030204" pitchFamily="49" charset="0"/>
              </a:rPr>
              <a:t>with</a:t>
            </a:r>
            <a:r>
              <a:rPr lang="en-US" altLang="zh-CN" dirty="0">
                <a:solidFill>
                  <a:srgbClr val="24292E"/>
                </a:solidFill>
                <a:latin typeface="Consolas" panose="020B0609020204030204" pitchFamily="49" charset="0"/>
              </a:rPr>
              <a:t> </a:t>
            </a:r>
            <a:r>
              <a:rPr lang="en-US" altLang="zh-CN" dirty="0" err="1">
                <a:solidFill>
                  <a:srgbClr val="6F42C1"/>
                </a:solidFill>
                <a:latin typeface="Consolas" panose="020B0609020204030204" pitchFamily="49" charset="0"/>
              </a:rPr>
              <a:t>torch</a:t>
            </a:r>
            <a:r>
              <a:rPr lang="en-US" altLang="zh-CN" dirty="0" err="1">
                <a:solidFill>
                  <a:srgbClr val="24292E"/>
                </a:solidFill>
                <a:latin typeface="Consolas" panose="020B0609020204030204" pitchFamily="49" charset="0"/>
              </a:rPr>
              <a:t>.</a:t>
            </a:r>
            <a:r>
              <a:rPr lang="en-US" altLang="zh-CN" dirty="0" err="1">
                <a:solidFill>
                  <a:srgbClr val="6F42C1"/>
                </a:solidFill>
                <a:latin typeface="Consolas" panose="020B0609020204030204" pitchFamily="49" charset="0"/>
              </a:rPr>
              <a:t>no_grad</a:t>
            </a:r>
            <a:r>
              <a:rPr lang="en-US" altLang="zh-CN" dirty="0">
                <a:solidFill>
                  <a:srgbClr val="24292E"/>
                </a:solidFill>
                <a:latin typeface="Consolas" panose="020B0609020204030204" pitchFamily="49" charset="0"/>
              </a:rPr>
              <a:t>():</a:t>
            </a:r>
            <a:endParaRPr lang="en-US" altLang="zh-CN" dirty="0">
              <a:solidFill>
                <a:srgbClr val="24292E"/>
              </a:solidFill>
              <a:latin typeface="Consolas" panose="020B0609020204030204" pitchFamily="49" charset="0"/>
            </a:endParaRPr>
          </a:p>
          <a:p>
            <a:r>
              <a:rPr lang="en-US" altLang="zh-CN" dirty="0">
                <a:solidFill>
                  <a:srgbClr val="24292E"/>
                </a:solidFill>
                <a:latin typeface="Consolas" panose="020B0609020204030204" pitchFamily="49" charset="0"/>
              </a:rPr>
              <a:t>    </a:t>
            </a:r>
            <a:r>
              <a:rPr lang="en-US" altLang="zh-CN" dirty="0">
                <a:solidFill>
                  <a:srgbClr val="D73A49"/>
                </a:solidFill>
                <a:latin typeface="Consolas" panose="020B0609020204030204" pitchFamily="49" charset="0"/>
              </a:rPr>
              <a:t>for</a:t>
            </a:r>
            <a:r>
              <a:rPr lang="en-US" altLang="zh-CN" dirty="0">
                <a:solidFill>
                  <a:srgbClr val="24292E"/>
                </a:solidFill>
                <a:latin typeface="Consolas" panose="020B0609020204030204" pitchFamily="49" charset="0"/>
              </a:rPr>
              <a:t> feats, labels </a:t>
            </a:r>
            <a:r>
              <a:rPr lang="en-US" altLang="zh-CN" dirty="0">
                <a:solidFill>
                  <a:srgbClr val="D73A49"/>
                </a:solidFill>
                <a:latin typeface="Consolas" panose="020B0609020204030204" pitchFamily="49" charset="0"/>
              </a:rPr>
              <a:t>in</a:t>
            </a:r>
            <a:r>
              <a:rPr lang="en-US" altLang="zh-CN" dirty="0">
                <a:solidFill>
                  <a:srgbClr val="24292E"/>
                </a:solidFill>
                <a:latin typeface="Consolas" panose="020B0609020204030204" pitchFamily="49" charset="0"/>
              </a:rPr>
              <a:t> </a:t>
            </a:r>
            <a:r>
              <a:rPr lang="en-US" altLang="zh-CN" dirty="0" err="1">
                <a:solidFill>
                  <a:srgbClr val="24292E"/>
                </a:solidFill>
                <a:latin typeface="Consolas" panose="020B0609020204030204" pitchFamily="49" charset="0"/>
              </a:rPr>
              <a:t>test_loader</a:t>
            </a:r>
            <a:r>
              <a:rPr lang="en-US" altLang="zh-CN" dirty="0">
                <a:solidFill>
                  <a:srgbClr val="24292E"/>
                </a:solidFill>
                <a:latin typeface="Consolas" panose="020B0609020204030204" pitchFamily="49" charset="0"/>
              </a:rPr>
              <a:t>:</a:t>
            </a:r>
            <a:endParaRPr lang="en-US" altLang="zh-CN" dirty="0">
              <a:solidFill>
                <a:srgbClr val="24292E"/>
              </a:solidFill>
              <a:latin typeface="Consolas" panose="020B0609020204030204" pitchFamily="49" charset="0"/>
            </a:endParaRPr>
          </a:p>
          <a:p>
            <a:r>
              <a:rPr lang="en-US" altLang="zh-CN" dirty="0">
                <a:solidFill>
                  <a:srgbClr val="24292E"/>
                </a:solidFill>
                <a:latin typeface="Consolas" panose="020B0609020204030204" pitchFamily="49" charset="0"/>
              </a:rPr>
              <a:t>        feats, labels </a:t>
            </a:r>
            <a:r>
              <a:rPr lang="en-US" altLang="zh-CN" dirty="0">
                <a:solidFill>
                  <a:srgbClr val="D73A49"/>
                </a:solidFill>
                <a:latin typeface="Consolas" panose="020B0609020204030204" pitchFamily="49" charset="0"/>
              </a:rPr>
              <a:t>=</a:t>
            </a:r>
            <a:r>
              <a:rPr lang="en-US" altLang="zh-CN" dirty="0">
                <a:solidFill>
                  <a:srgbClr val="24292E"/>
                </a:solidFill>
                <a:latin typeface="Consolas" panose="020B0609020204030204" pitchFamily="49" charset="0"/>
              </a:rPr>
              <a:t> feats.to(device), labels.to(device)</a:t>
            </a:r>
            <a:endParaRPr lang="en-US" altLang="zh-CN" dirty="0">
              <a:solidFill>
                <a:srgbClr val="24292E"/>
              </a:solidFill>
              <a:latin typeface="Consolas" panose="020B0609020204030204" pitchFamily="49" charset="0"/>
            </a:endParaRPr>
          </a:p>
          <a:p>
            <a:r>
              <a:rPr lang="en-US" altLang="zh-CN" dirty="0">
                <a:solidFill>
                  <a:srgbClr val="24292E"/>
                </a:solidFill>
                <a:latin typeface="Consolas" panose="020B0609020204030204" pitchFamily="49" charset="0"/>
              </a:rPr>
              <a:t>        y </a:t>
            </a:r>
            <a:r>
              <a:rPr lang="en-US" altLang="zh-CN" dirty="0">
                <a:solidFill>
                  <a:srgbClr val="D73A49"/>
                </a:solidFill>
                <a:latin typeface="Consolas" panose="020B0609020204030204" pitchFamily="49" charset="0"/>
              </a:rPr>
              <a:t>=</a:t>
            </a:r>
            <a:r>
              <a:rPr lang="en-US" altLang="zh-CN" dirty="0">
                <a:solidFill>
                  <a:srgbClr val="24292E"/>
                </a:solidFill>
                <a:latin typeface="Consolas" panose="020B0609020204030204" pitchFamily="49" charset="0"/>
              </a:rPr>
              <a:t> model(feats)</a:t>
            </a:r>
            <a:endParaRPr lang="en-US" altLang="zh-CN" dirty="0">
              <a:solidFill>
                <a:srgbClr val="24292E"/>
              </a:solidFill>
              <a:latin typeface="Consolas" panose="020B0609020204030204" pitchFamily="49" charset="0"/>
            </a:endParaRPr>
          </a:p>
          <a:p>
            <a:r>
              <a:rPr lang="en-US" altLang="zh-CN" dirty="0">
                <a:solidFill>
                  <a:srgbClr val="24292E"/>
                </a:solidFill>
                <a:latin typeface="Consolas" panose="020B0609020204030204" pitchFamily="49" charset="0"/>
              </a:rPr>
              <a:t>        preds </a:t>
            </a:r>
            <a:r>
              <a:rPr lang="en-US" altLang="zh-CN" dirty="0">
                <a:solidFill>
                  <a:srgbClr val="D73A49"/>
                </a:solidFill>
                <a:latin typeface="Consolas" panose="020B0609020204030204" pitchFamily="49" charset="0"/>
              </a:rPr>
              <a:t>=</a:t>
            </a:r>
            <a:r>
              <a:rPr lang="en-US" altLang="zh-CN" dirty="0">
                <a:solidFill>
                  <a:srgbClr val="24292E"/>
                </a:solidFill>
                <a:latin typeface="Consolas" panose="020B0609020204030204" pitchFamily="49" charset="0"/>
              </a:rPr>
              <a:t> </a:t>
            </a:r>
            <a:r>
              <a:rPr lang="en-US" altLang="zh-CN" dirty="0">
                <a:solidFill>
                  <a:srgbClr val="6F42C1"/>
                </a:solidFill>
                <a:latin typeface="Consolas" panose="020B0609020204030204" pitchFamily="49" charset="0"/>
              </a:rPr>
              <a:t>torch</a:t>
            </a:r>
            <a:r>
              <a:rPr lang="en-US" altLang="zh-CN" dirty="0">
                <a:solidFill>
                  <a:srgbClr val="24292E"/>
                </a:solidFill>
                <a:latin typeface="Consolas" panose="020B0609020204030204" pitchFamily="49" charset="0"/>
              </a:rPr>
              <a:t>.</a:t>
            </a:r>
            <a:r>
              <a:rPr lang="en-US" altLang="zh-CN" dirty="0">
                <a:solidFill>
                  <a:srgbClr val="6F42C1"/>
                </a:solidFill>
                <a:latin typeface="Consolas" panose="020B0609020204030204" pitchFamily="49" charset="0"/>
              </a:rPr>
              <a:t>cat</a:t>
            </a:r>
            <a:r>
              <a:rPr lang="en-US" altLang="zh-CN" dirty="0">
                <a:solidFill>
                  <a:srgbClr val="24292E"/>
                </a:solidFill>
                <a:latin typeface="Consolas" panose="020B0609020204030204" pitchFamily="49" charset="0"/>
              </a:rPr>
              <a:t>((preds, y), </a:t>
            </a:r>
            <a:r>
              <a:rPr lang="en-US" altLang="zh-CN" dirty="0">
                <a:solidFill>
                  <a:srgbClr val="E36209"/>
                </a:solidFill>
                <a:latin typeface="Consolas" panose="020B0609020204030204" pitchFamily="49" charset="0"/>
              </a:rPr>
              <a:t>dim</a:t>
            </a:r>
            <a:r>
              <a:rPr lang="en-US" altLang="zh-CN" dirty="0">
                <a:solidFill>
                  <a:srgbClr val="D73A49"/>
                </a:solidFill>
                <a:latin typeface="Consolas" panose="020B0609020204030204" pitchFamily="49" charset="0"/>
              </a:rPr>
              <a:t>=</a:t>
            </a:r>
            <a:r>
              <a:rPr lang="en-US" altLang="zh-CN" dirty="0">
                <a:solidFill>
                  <a:srgbClr val="005CC5"/>
                </a:solidFill>
                <a:latin typeface="Consolas" panose="020B0609020204030204" pitchFamily="49" charset="0"/>
              </a:rPr>
              <a:t>0</a:t>
            </a:r>
            <a:r>
              <a:rPr lang="en-US" altLang="zh-CN" dirty="0">
                <a:solidFill>
                  <a:srgbClr val="24292E"/>
                </a:solidFill>
                <a:latin typeface="Consolas" panose="020B0609020204030204" pitchFamily="49" charset="0"/>
              </a:rPr>
              <a:t>)</a:t>
            </a:r>
            <a:endParaRPr lang="en-US" altLang="zh-CN" dirty="0">
              <a:solidFill>
                <a:srgbClr val="24292E"/>
              </a:solidFill>
              <a:latin typeface="Consolas" panose="020B0609020204030204" pitchFamily="49" charset="0"/>
            </a:endParaRPr>
          </a:p>
          <a:p>
            <a:r>
              <a:rPr lang="en-US" altLang="zh-CN" dirty="0">
                <a:solidFill>
                  <a:srgbClr val="24292E"/>
                </a:solidFill>
                <a:latin typeface="Consolas" panose="020B0609020204030204" pitchFamily="49" charset="0"/>
              </a:rPr>
              <a:t>        </a:t>
            </a:r>
            <a:r>
              <a:rPr lang="en-US" altLang="zh-CN" dirty="0" err="1">
                <a:solidFill>
                  <a:srgbClr val="24292E"/>
                </a:solidFill>
                <a:latin typeface="Consolas" panose="020B0609020204030204" pitchFamily="49" charset="0"/>
              </a:rPr>
              <a:t>gts</a:t>
            </a:r>
            <a:r>
              <a:rPr lang="en-US" altLang="zh-CN" dirty="0">
                <a:solidFill>
                  <a:srgbClr val="24292E"/>
                </a:solidFill>
                <a:latin typeface="Consolas" panose="020B0609020204030204" pitchFamily="49" charset="0"/>
              </a:rPr>
              <a:t> </a:t>
            </a:r>
            <a:r>
              <a:rPr lang="en-US" altLang="zh-CN" dirty="0">
                <a:solidFill>
                  <a:srgbClr val="D73A49"/>
                </a:solidFill>
                <a:latin typeface="Consolas" panose="020B0609020204030204" pitchFamily="49" charset="0"/>
              </a:rPr>
              <a:t>=</a:t>
            </a:r>
            <a:r>
              <a:rPr lang="en-US" altLang="zh-CN" dirty="0">
                <a:solidFill>
                  <a:srgbClr val="24292E"/>
                </a:solidFill>
                <a:latin typeface="Consolas" panose="020B0609020204030204" pitchFamily="49" charset="0"/>
              </a:rPr>
              <a:t> </a:t>
            </a:r>
            <a:r>
              <a:rPr lang="en-US" altLang="zh-CN" dirty="0">
                <a:solidFill>
                  <a:srgbClr val="6F42C1"/>
                </a:solidFill>
                <a:latin typeface="Consolas" panose="020B0609020204030204" pitchFamily="49" charset="0"/>
              </a:rPr>
              <a:t>torch</a:t>
            </a:r>
            <a:r>
              <a:rPr lang="en-US" altLang="zh-CN" dirty="0">
                <a:solidFill>
                  <a:srgbClr val="24292E"/>
                </a:solidFill>
                <a:latin typeface="Consolas" panose="020B0609020204030204" pitchFamily="49" charset="0"/>
              </a:rPr>
              <a:t>.</a:t>
            </a:r>
            <a:r>
              <a:rPr lang="en-US" altLang="zh-CN" dirty="0">
                <a:solidFill>
                  <a:srgbClr val="6F42C1"/>
                </a:solidFill>
                <a:latin typeface="Consolas" panose="020B0609020204030204" pitchFamily="49" charset="0"/>
              </a:rPr>
              <a:t>cat</a:t>
            </a:r>
            <a:r>
              <a:rPr lang="en-US" altLang="zh-CN" dirty="0">
                <a:solidFill>
                  <a:srgbClr val="24292E"/>
                </a:solidFill>
                <a:latin typeface="Consolas" panose="020B0609020204030204" pitchFamily="49" charset="0"/>
              </a:rPr>
              <a:t>((</a:t>
            </a:r>
            <a:r>
              <a:rPr lang="en-US" altLang="zh-CN" dirty="0" err="1">
                <a:solidFill>
                  <a:srgbClr val="24292E"/>
                </a:solidFill>
                <a:latin typeface="Consolas" panose="020B0609020204030204" pitchFamily="49" charset="0"/>
              </a:rPr>
              <a:t>gts</a:t>
            </a:r>
            <a:r>
              <a:rPr lang="en-US" altLang="zh-CN" dirty="0">
                <a:solidFill>
                  <a:srgbClr val="24292E"/>
                </a:solidFill>
                <a:latin typeface="Consolas" panose="020B0609020204030204" pitchFamily="49" charset="0"/>
              </a:rPr>
              <a:t>, labels), </a:t>
            </a:r>
            <a:r>
              <a:rPr lang="en-US" altLang="zh-CN" dirty="0">
                <a:solidFill>
                  <a:srgbClr val="E36209"/>
                </a:solidFill>
                <a:latin typeface="Consolas" panose="020B0609020204030204" pitchFamily="49" charset="0"/>
              </a:rPr>
              <a:t>dim</a:t>
            </a:r>
            <a:r>
              <a:rPr lang="en-US" altLang="zh-CN" dirty="0">
                <a:solidFill>
                  <a:srgbClr val="D73A49"/>
                </a:solidFill>
                <a:latin typeface="Consolas" panose="020B0609020204030204" pitchFamily="49" charset="0"/>
              </a:rPr>
              <a:t>=</a:t>
            </a:r>
            <a:r>
              <a:rPr lang="en-US" altLang="zh-CN" dirty="0">
                <a:solidFill>
                  <a:srgbClr val="005CC5"/>
                </a:solidFill>
                <a:latin typeface="Consolas" panose="020B0609020204030204" pitchFamily="49" charset="0"/>
              </a:rPr>
              <a:t>0</a:t>
            </a:r>
            <a:r>
              <a:rPr lang="en-US" altLang="zh-CN" dirty="0">
                <a:solidFill>
                  <a:srgbClr val="24292E"/>
                </a:solidFill>
                <a:latin typeface="Consolas" panose="020B0609020204030204" pitchFamily="49" charset="0"/>
              </a:rPr>
              <a:t>)</a:t>
            </a:r>
            <a:endParaRPr lang="en-US" altLang="zh-CN" dirty="0">
              <a:solidFill>
                <a:srgbClr val="24292E"/>
              </a:solidFill>
              <a:latin typeface="Consolas" panose="020B0609020204030204" pitchFamily="49" charset="0"/>
            </a:endParaRPr>
          </a:p>
          <a:p>
            <a:r>
              <a:rPr lang="en-US" altLang="zh-CN" dirty="0">
                <a:solidFill>
                  <a:srgbClr val="24292E"/>
                </a:solidFill>
                <a:latin typeface="Consolas" panose="020B0609020204030204" pitchFamily="49" charset="0"/>
              </a:rPr>
              <a:t>    err </a:t>
            </a:r>
            <a:r>
              <a:rPr lang="en-US" altLang="zh-CN" dirty="0">
                <a:solidFill>
                  <a:srgbClr val="D73A49"/>
                </a:solidFill>
                <a:latin typeface="Consolas" panose="020B0609020204030204" pitchFamily="49" charset="0"/>
              </a:rPr>
              <a:t>=</a:t>
            </a:r>
            <a:r>
              <a:rPr lang="en-US" altLang="zh-CN" dirty="0">
                <a:solidFill>
                  <a:srgbClr val="24292E"/>
                </a:solidFill>
                <a:latin typeface="Consolas" panose="020B0609020204030204" pitchFamily="49" charset="0"/>
              </a:rPr>
              <a:t> criterion(preds, </a:t>
            </a:r>
            <a:r>
              <a:rPr lang="en-US" altLang="zh-CN" dirty="0" err="1">
                <a:solidFill>
                  <a:srgbClr val="24292E"/>
                </a:solidFill>
                <a:latin typeface="Consolas" panose="020B0609020204030204" pitchFamily="49" charset="0"/>
              </a:rPr>
              <a:t>gts</a:t>
            </a:r>
            <a:r>
              <a:rPr lang="en-US" altLang="zh-CN" dirty="0">
                <a:solidFill>
                  <a:srgbClr val="24292E"/>
                </a:solidFill>
                <a:latin typeface="Consolas" panose="020B0609020204030204" pitchFamily="49" charset="0"/>
              </a:rPr>
              <a:t>)</a:t>
            </a:r>
            <a:endParaRPr lang="en-US" altLang="zh-CN" dirty="0">
              <a:solidFill>
                <a:srgbClr val="24292E"/>
              </a:solidFill>
              <a:latin typeface="Consolas" panose="020B0609020204030204" pitchFamily="49" charset="0"/>
            </a:endParaRPr>
          </a:p>
          <a:p>
            <a:r>
              <a:rPr lang="en-US" altLang="zh-CN" dirty="0">
                <a:solidFill>
                  <a:srgbClr val="24292E"/>
                </a:solidFill>
                <a:latin typeface="Consolas" panose="020B0609020204030204" pitchFamily="49" charset="0"/>
              </a:rPr>
              <a:t>    </a:t>
            </a:r>
            <a:r>
              <a:rPr lang="en-US" altLang="zh-CN" dirty="0">
                <a:solidFill>
                  <a:srgbClr val="6F42C1"/>
                </a:solidFill>
                <a:latin typeface="Consolas" panose="020B0609020204030204" pitchFamily="49" charset="0"/>
              </a:rPr>
              <a:t>print</a:t>
            </a:r>
            <a:r>
              <a:rPr lang="en-US" altLang="zh-CN" dirty="0">
                <a:solidFill>
                  <a:srgbClr val="24292E"/>
                </a:solidFill>
                <a:latin typeface="Consolas" panose="020B0609020204030204" pitchFamily="49" charset="0"/>
              </a:rPr>
              <a:t>(</a:t>
            </a:r>
            <a:r>
              <a:rPr lang="en-US" altLang="zh-CN" dirty="0">
                <a:solidFill>
                  <a:srgbClr val="032F62"/>
                </a:solidFill>
                <a:latin typeface="Consolas" panose="020B0609020204030204" pitchFamily="49" charset="0"/>
              </a:rPr>
              <a:t>'Testing set MSE:  </a:t>
            </a:r>
            <a:r>
              <a:rPr lang="en-US" altLang="zh-CN" dirty="0">
                <a:solidFill>
                  <a:srgbClr val="005CC5"/>
                </a:solidFill>
                <a:latin typeface="Consolas" panose="020B0609020204030204" pitchFamily="49" charset="0"/>
              </a:rPr>
              <a:t>{</a:t>
            </a:r>
            <a:r>
              <a:rPr lang="en-US" altLang="zh-CN" dirty="0">
                <a:solidFill>
                  <a:srgbClr val="D73A49"/>
                </a:solidFill>
                <a:latin typeface="Consolas" panose="020B0609020204030204" pitchFamily="49" charset="0"/>
              </a:rPr>
              <a:t>:5.2f</a:t>
            </a:r>
            <a:r>
              <a:rPr lang="en-US" altLang="zh-CN" dirty="0">
                <a:solidFill>
                  <a:srgbClr val="005CC5"/>
                </a:solidFill>
                <a:latin typeface="Consolas" panose="020B0609020204030204" pitchFamily="49" charset="0"/>
              </a:rPr>
              <a:t>}</a:t>
            </a:r>
            <a:r>
              <a:rPr lang="en-US" altLang="zh-CN" dirty="0">
                <a:solidFill>
                  <a:srgbClr val="032F62"/>
                </a:solidFill>
                <a:latin typeface="Consolas" panose="020B0609020204030204" pitchFamily="49" charset="0"/>
              </a:rPr>
              <a:t> </a:t>
            </a:r>
            <a:r>
              <a:rPr lang="en-US" altLang="zh-CN" dirty="0" err="1">
                <a:solidFill>
                  <a:srgbClr val="032F62"/>
                </a:solidFill>
                <a:latin typeface="Consolas" panose="020B0609020204030204" pitchFamily="49" charset="0"/>
              </a:rPr>
              <a:t>MPG'</a:t>
            </a:r>
            <a:r>
              <a:rPr lang="en-US" altLang="zh-CN" dirty="0" err="1">
                <a:solidFill>
                  <a:srgbClr val="24292E"/>
                </a:solidFill>
                <a:latin typeface="Consolas" panose="020B0609020204030204" pitchFamily="49" charset="0"/>
              </a:rPr>
              <a:t>.</a:t>
            </a:r>
            <a:r>
              <a:rPr lang="en-US" altLang="zh-CN" dirty="0" err="1">
                <a:solidFill>
                  <a:srgbClr val="6F42C1"/>
                </a:solidFill>
                <a:latin typeface="Consolas" panose="020B0609020204030204" pitchFamily="49" charset="0"/>
              </a:rPr>
              <a:t>format</a:t>
            </a:r>
            <a:r>
              <a:rPr lang="en-US" altLang="zh-CN" dirty="0">
                <a:solidFill>
                  <a:srgbClr val="24292E"/>
                </a:solidFill>
                <a:latin typeface="Consolas" panose="020B0609020204030204" pitchFamily="49" charset="0"/>
              </a:rPr>
              <a:t>(</a:t>
            </a:r>
            <a:r>
              <a:rPr lang="en-US" altLang="zh-CN" dirty="0" err="1">
                <a:solidFill>
                  <a:srgbClr val="24292E"/>
                </a:solidFill>
                <a:latin typeface="Consolas" panose="020B0609020204030204" pitchFamily="49" charset="0"/>
              </a:rPr>
              <a:t>err.item</a:t>
            </a:r>
            <a:r>
              <a:rPr lang="en-US" altLang="zh-CN" dirty="0">
                <a:solidFill>
                  <a:srgbClr val="24292E"/>
                </a:solidFill>
                <a:latin typeface="Consolas" panose="020B0609020204030204" pitchFamily="49" charset="0"/>
              </a:rPr>
              <a:t>()))</a:t>
            </a:r>
            <a:endParaRPr lang="en-US" altLang="zh-CN" dirty="0">
              <a:solidFill>
                <a:srgbClr val="24292E"/>
              </a:solidFill>
              <a:latin typeface="Consolas" panose="020B0609020204030204" pitchFamily="49" charset="0"/>
            </a:endParaRPr>
          </a:p>
        </p:txBody>
      </p:sp>
      <p:pic>
        <p:nvPicPr>
          <p:cNvPr id="10" name="图片 9"/>
          <p:cNvPicPr>
            <a:picLocks noChangeAspect="1"/>
          </p:cNvPicPr>
          <p:nvPr/>
        </p:nvPicPr>
        <p:blipFill>
          <a:blip r:embed="rId1"/>
          <a:stretch>
            <a:fillRect/>
          </a:stretch>
        </p:blipFill>
        <p:spPr>
          <a:xfrm>
            <a:off x="1346200" y="5809701"/>
            <a:ext cx="4302236" cy="515237"/>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文本框 11"/>
          <p:cNvSpPr txBox="1"/>
          <p:nvPr/>
        </p:nvSpPr>
        <p:spPr>
          <a:xfrm>
            <a:off x="5902380" y="5809701"/>
            <a:ext cx="6094602" cy="646331"/>
          </a:xfrm>
          <a:prstGeom prst="rect">
            <a:avLst/>
          </a:prstGeom>
          <a:noFill/>
        </p:spPr>
        <p:txBody>
          <a:bodyPr wrap="square">
            <a:spAutoFit/>
          </a:bodyPr>
          <a:lstStyle/>
          <a:p>
            <a:r>
              <a:rPr lang="zh-CN" altLang="en-US" dirty="0"/>
              <a:t>结果给出了与真实值的平均平方误差。 在实际应用中， 一般直接得到 y 便是预测结果。</a:t>
            </a:r>
            <a:endParaRPr lang="zh-CN" altLang="en-US" dirty="0"/>
          </a:p>
        </p:txBody>
      </p:sp>
    </p:spTree>
    <p:custDataLst>
      <p:tags r:id="rId2"/>
    </p:custData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标题 1"/>
          <p:cNvSpPr>
            <a:spLocks noGrp="1"/>
          </p:cNvSpPr>
          <p:nvPr>
            <p:ph type="title"/>
          </p:nvPr>
        </p:nvSpPr>
        <p:spPr>
          <a:xfrm>
            <a:off x="1346200" y="443230"/>
            <a:ext cx="10344785" cy="441960"/>
          </a:xfrm>
        </p:spPr>
        <p:txBody>
          <a:bodyPr/>
          <a:lstStyle/>
          <a:p>
            <a:r>
              <a:rPr lang="en-US" altLang="zh-CN" sz="3200" dirty="0">
                <a:sym typeface="+mn-ea"/>
              </a:rPr>
              <a:t>5.7 </a:t>
            </a:r>
            <a:r>
              <a:rPr lang="zh-CN" altLang="en-US" sz="3200" dirty="0">
                <a:sym typeface="+mn-ea"/>
              </a:rPr>
              <a:t>本章小结</a:t>
            </a:r>
            <a:endParaRPr lang="zh-CN" altLang="en-US" sz="3200" dirty="0">
              <a:solidFill>
                <a:srgbClr val="FF0000"/>
              </a:solidFill>
              <a:sym typeface="+mn-ea"/>
            </a:endParaRPr>
          </a:p>
        </p:txBody>
      </p:sp>
      <p:sp>
        <p:nvSpPr>
          <p:cNvPr id="10" name="文本框 9"/>
          <p:cNvSpPr txBox="1"/>
          <p:nvPr/>
        </p:nvSpPr>
        <p:spPr>
          <a:xfrm>
            <a:off x="687783" y="1236694"/>
            <a:ext cx="10268239" cy="5324535"/>
          </a:xfrm>
          <a:prstGeom prst="rect">
            <a:avLst/>
          </a:prstGeom>
          <a:noFill/>
        </p:spPr>
        <p:txBody>
          <a:bodyPr wrap="square">
            <a:spAutoFit/>
          </a:bodyPr>
          <a:lstStyle/>
          <a:p>
            <a:pPr marL="457200" indent="-457200">
              <a:buFont typeface="Arial" panose="020B0604020202020204" pitchFamily="34" charset="0"/>
              <a:buChar char="•"/>
            </a:pPr>
            <a:r>
              <a:rPr lang="zh-CN" altLang="en-US" sz="2000" b="0" dirty="0">
                <a:solidFill>
                  <a:srgbClr val="577CCE"/>
                </a:solidFill>
                <a:effectLst/>
                <a:latin typeface="Consolas" panose="020B0609020204030204" pitchFamily="49" charset="0"/>
              </a:rPr>
              <a:t>本章首先介绍了</a:t>
            </a:r>
            <a:r>
              <a:rPr lang="en-US" altLang="zh-CN" sz="2000" b="0" dirty="0" err="1">
                <a:solidFill>
                  <a:srgbClr val="577CCE"/>
                </a:solidFill>
                <a:effectLst/>
                <a:latin typeface="Consolas" panose="020B0609020204030204" pitchFamily="49" charset="0"/>
              </a:rPr>
              <a:t>PyTorch</a:t>
            </a:r>
            <a:r>
              <a:rPr lang="zh-CN" altLang="en-US" sz="2000" b="0" dirty="0">
                <a:solidFill>
                  <a:srgbClr val="577CCE"/>
                </a:solidFill>
                <a:effectLst/>
                <a:latin typeface="Consolas" panose="020B0609020204030204" pitchFamily="49" charset="0"/>
              </a:rPr>
              <a:t>的安装方法，以及使用中需要理解的几个比较重要的概念，如张量、自动求导等，并给出了涉及的基本操作示例。</a:t>
            </a:r>
            <a:endParaRPr lang="zh-CN" altLang="en-US" sz="2000" b="0" dirty="0">
              <a:solidFill>
                <a:srgbClr val="577CCE"/>
              </a:solidFill>
              <a:effectLst/>
              <a:latin typeface="Consolas" panose="020B0609020204030204" pitchFamily="49" charset="0"/>
            </a:endParaRPr>
          </a:p>
          <a:p>
            <a:pPr marL="457200" indent="-457200">
              <a:buFont typeface="Arial" panose="020B0604020202020204" pitchFamily="34" charset="0"/>
              <a:buChar char="•"/>
            </a:pPr>
            <a:r>
              <a:rPr lang="zh-CN" altLang="en-US" sz="2000" b="0" dirty="0">
                <a:solidFill>
                  <a:srgbClr val="577CCE"/>
                </a:solidFill>
                <a:effectLst/>
                <a:latin typeface="Consolas" panose="020B0609020204030204" pitchFamily="49" charset="0"/>
              </a:rPr>
              <a:t>其次介绍了</a:t>
            </a:r>
            <a:r>
              <a:rPr lang="en-US" altLang="zh-CN" sz="2000" b="0" dirty="0" err="1">
                <a:solidFill>
                  <a:srgbClr val="577CCE"/>
                </a:solidFill>
                <a:effectLst/>
                <a:latin typeface="Consolas" panose="020B0609020204030204" pitchFamily="49" charset="0"/>
              </a:rPr>
              <a:t>PyTorch</a:t>
            </a:r>
            <a:r>
              <a:rPr lang="zh-CN" altLang="en-US" sz="2000" b="0" dirty="0">
                <a:solidFill>
                  <a:srgbClr val="577CCE"/>
                </a:solidFill>
                <a:effectLst/>
                <a:latin typeface="Consolas" panose="020B0609020204030204" pitchFamily="49" charset="0"/>
              </a:rPr>
              <a:t>提供的各种常见的神经网络工具箱的使用方法，如：</a:t>
            </a:r>
            <a:endParaRPr lang="zh-CN" altLang="en-US" sz="2000" b="0" dirty="0">
              <a:solidFill>
                <a:srgbClr val="577CCE"/>
              </a:solidFill>
              <a:effectLst/>
              <a:latin typeface="Consolas" panose="020B0609020204030204" pitchFamily="49" charset="0"/>
            </a:endParaRPr>
          </a:p>
          <a:p>
            <a:pPr marL="1371600" lvl="2" indent="-457200">
              <a:buFont typeface="+mj-lt"/>
              <a:buAutoNum type="arabicPeriod"/>
            </a:pPr>
            <a:r>
              <a:rPr lang="zh-CN" altLang="en-US" sz="2000" b="0" dirty="0">
                <a:solidFill>
                  <a:srgbClr val="577CCE"/>
                </a:solidFill>
                <a:effectLst/>
                <a:latin typeface="Consolas" panose="020B0609020204030204" pitchFamily="49" charset="0"/>
              </a:rPr>
              <a:t>一维卷积类</a:t>
            </a:r>
            <a:endParaRPr lang="zh-CN" altLang="en-US" sz="2000" b="0" dirty="0">
              <a:solidFill>
                <a:srgbClr val="577CCE"/>
              </a:solidFill>
              <a:effectLst/>
              <a:latin typeface="Consolas" panose="020B0609020204030204" pitchFamily="49" charset="0"/>
            </a:endParaRPr>
          </a:p>
          <a:p>
            <a:pPr marL="1371600" lvl="2" indent="-457200">
              <a:buFont typeface="+mj-lt"/>
              <a:buAutoNum type="arabicPeriod"/>
            </a:pPr>
            <a:r>
              <a:rPr lang="zh-CN" altLang="en-US" sz="2000" b="0" dirty="0">
                <a:solidFill>
                  <a:srgbClr val="577CCE"/>
                </a:solidFill>
                <a:effectLst/>
                <a:latin typeface="Consolas" panose="020B0609020204030204" pitchFamily="49" charset="0"/>
              </a:rPr>
              <a:t>二维卷积类</a:t>
            </a:r>
            <a:endParaRPr lang="zh-CN" altLang="en-US" sz="2000" b="0" dirty="0">
              <a:solidFill>
                <a:srgbClr val="577CCE"/>
              </a:solidFill>
              <a:effectLst/>
              <a:latin typeface="Consolas" panose="020B0609020204030204" pitchFamily="49" charset="0"/>
            </a:endParaRPr>
          </a:p>
          <a:p>
            <a:pPr marL="1371600" lvl="2" indent="-457200">
              <a:buFont typeface="+mj-lt"/>
              <a:buAutoNum type="arabicPeriod"/>
            </a:pPr>
            <a:r>
              <a:rPr lang="zh-CN" altLang="en-US" sz="2000" b="0" dirty="0">
                <a:solidFill>
                  <a:srgbClr val="577CCE"/>
                </a:solidFill>
                <a:effectLst/>
                <a:latin typeface="Consolas" panose="020B0609020204030204" pitchFamily="49" charset="0"/>
              </a:rPr>
              <a:t>全连接类</a:t>
            </a:r>
            <a:endParaRPr lang="zh-CN" altLang="en-US" sz="2000" b="0" dirty="0">
              <a:solidFill>
                <a:srgbClr val="577CCE"/>
              </a:solidFill>
              <a:effectLst/>
              <a:latin typeface="Consolas" panose="020B0609020204030204" pitchFamily="49" charset="0"/>
            </a:endParaRPr>
          </a:p>
          <a:p>
            <a:pPr marL="1371600" lvl="2" indent="-457200">
              <a:buFont typeface="+mj-lt"/>
              <a:buAutoNum type="arabicPeriod"/>
            </a:pPr>
            <a:r>
              <a:rPr lang="zh-CN" altLang="en-US" sz="2000" b="0" dirty="0">
                <a:solidFill>
                  <a:srgbClr val="577CCE"/>
                </a:solidFill>
                <a:effectLst/>
                <a:latin typeface="Consolas" panose="020B0609020204030204" pitchFamily="49" charset="0"/>
              </a:rPr>
              <a:t>平坦化类</a:t>
            </a:r>
            <a:endParaRPr lang="en-US" altLang="zh-CN" sz="2000" b="0" dirty="0">
              <a:solidFill>
                <a:srgbClr val="577CCE"/>
              </a:solidFill>
              <a:effectLst/>
              <a:latin typeface="Consolas" panose="020B0609020204030204" pitchFamily="49" charset="0"/>
            </a:endParaRPr>
          </a:p>
          <a:p>
            <a:pPr marL="1371600" lvl="2" indent="-457200">
              <a:buFont typeface="+mj-lt"/>
              <a:buAutoNum type="arabicPeriod"/>
            </a:pPr>
            <a:r>
              <a:rPr lang="en-US" altLang="zh-CN" sz="2000" dirty="0">
                <a:solidFill>
                  <a:srgbClr val="577CCE"/>
                </a:solidFill>
                <a:latin typeface="Consolas" panose="020B0609020204030204" pitchFamily="49" charset="0"/>
              </a:rPr>
              <a:t>……</a:t>
            </a:r>
            <a:endParaRPr lang="zh-CN" altLang="en-US" sz="2000" b="0" dirty="0">
              <a:solidFill>
                <a:srgbClr val="577CCE"/>
              </a:solidFill>
              <a:effectLst/>
              <a:latin typeface="Consolas" panose="020B0609020204030204" pitchFamily="49" charset="0"/>
            </a:endParaRPr>
          </a:p>
          <a:p>
            <a:pPr marL="457200" indent="-457200">
              <a:buFont typeface="Arial" panose="020B0604020202020204" pitchFamily="34" charset="0"/>
              <a:buChar char="•"/>
            </a:pPr>
            <a:r>
              <a:rPr lang="zh-CN" altLang="en-US" sz="2000" b="0" dirty="0">
                <a:solidFill>
                  <a:srgbClr val="577CCE"/>
                </a:solidFill>
                <a:effectLst/>
                <a:latin typeface="Consolas" panose="020B0609020204030204" pitchFamily="49" charset="0"/>
              </a:rPr>
              <a:t>然后给出了</a:t>
            </a:r>
            <a:r>
              <a:rPr lang="en-US" altLang="zh-CN" sz="2000" b="0" dirty="0" err="1">
                <a:solidFill>
                  <a:srgbClr val="577CCE"/>
                </a:solidFill>
                <a:effectLst/>
                <a:latin typeface="Consolas" panose="020B0609020204030204" pitchFamily="49" charset="0"/>
              </a:rPr>
              <a:t>PyTorch</a:t>
            </a:r>
            <a:r>
              <a:rPr lang="zh-CN" altLang="en-US" sz="2000" b="0" dirty="0">
                <a:solidFill>
                  <a:srgbClr val="577CCE"/>
                </a:solidFill>
                <a:effectLst/>
                <a:latin typeface="Consolas" panose="020B0609020204030204" pitchFamily="49" charset="0"/>
              </a:rPr>
              <a:t>常用的操作工具，包括：</a:t>
            </a:r>
            <a:endParaRPr lang="zh-CN" altLang="en-US" sz="2000" b="0" dirty="0">
              <a:solidFill>
                <a:srgbClr val="577CCE"/>
              </a:solidFill>
              <a:effectLst/>
              <a:latin typeface="Consolas" panose="020B0609020204030204" pitchFamily="49" charset="0"/>
            </a:endParaRPr>
          </a:p>
          <a:p>
            <a:pPr marL="1371600" lvl="2" indent="-457200">
              <a:buFont typeface="+mj-lt"/>
              <a:buAutoNum type="arabicPeriod"/>
            </a:pPr>
            <a:r>
              <a:rPr lang="zh-CN" altLang="en-US" sz="2000" b="0" dirty="0">
                <a:solidFill>
                  <a:srgbClr val="577CCE"/>
                </a:solidFill>
                <a:effectLst/>
                <a:latin typeface="Consolas" panose="020B0609020204030204" pitchFamily="49" charset="0"/>
              </a:rPr>
              <a:t>优化器</a:t>
            </a:r>
            <a:endParaRPr lang="zh-CN" altLang="en-US" sz="2000" b="0" dirty="0">
              <a:solidFill>
                <a:srgbClr val="577CCE"/>
              </a:solidFill>
              <a:effectLst/>
              <a:latin typeface="Consolas" panose="020B0609020204030204" pitchFamily="49" charset="0"/>
            </a:endParaRPr>
          </a:p>
          <a:p>
            <a:pPr marL="1371600" lvl="2" indent="-457200">
              <a:buFont typeface="+mj-lt"/>
              <a:buAutoNum type="arabicPeriod"/>
            </a:pPr>
            <a:r>
              <a:rPr lang="zh-CN" altLang="en-US" sz="2000" b="0" dirty="0">
                <a:solidFill>
                  <a:srgbClr val="577CCE"/>
                </a:solidFill>
                <a:effectLst/>
                <a:latin typeface="Consolas" panose="020B0609020204030204" pitchFamily="49" charset="0"/>
              </a:rPr>
              <a:t>数据集类</a:t>
            </a:r>
            <a:r>
              <a:rPr lang="en-US" altLang="zh-CN" sz="2000" b="0" dirty="0">
                <a:solidFill>
                  <a:srgbClr val="577CCE"/>
                </a:solidFill>
                <a:effectLst/>
                <a:latin typeface="Consolas" panose="020B0609020204030204" pitchFamily="49" charset="0"/>
              </a:rPr>
              <a:t>Dataset</a:t>
            </a:r>
            <a:endParaRPr lang="en-US" altLang="zh-CN" sz="2000" b="0" dirty="0">
              <a:solidFill>
                <a:srgbClr val="577CCE"/>
              </a:solidFill>
              <a:effectLst/>
              <a:latin typeface="Consolas" panose="020B0609020204030204" pitchFamily="49" charset="0"/>
            </a:endParaRPr>
          </a:p>
          <a:p>
            <a:pPr marL="1371600" lvl="2" indent="-457200">
              <a:buFont typeface="+mj-lt"/>
              <a:buAutoNum type="arabicPeriod"/>
            </a:pPr>
            <a:r>
              <a:rPr lang="zh-CN" altLang="en-US" sz="2000" b="0" dirty="0">
                <a:solidFill>
                  <a:srgbClr val="577CCE"/>
                </a:solidFill>
                <a:effectLst/>
                <a:latin typeface="Consolas" panose="020B0609020204030204" pitchFamily="49" charset="0"/>
              </a:rPr>
              <a:t>数据加载器类</a:t>
            </a:r>
            <a:r>
              <a:rPr lang="en-US" altLang="zh-CN" sz="2000" b="0" dirty="0" err="1">
                <a:solidFill>
                  <a:srgbClr val="577CCE"/>
                </a:solidFill>
                <a:effectLst/>
                <a:latin typeface="Consolas" panose="020B0609020204030204" pitchFamily="49" charset="0"/>
              </a:rPr>
              <a:t>DataLoader</a:t>
            </a:r>
            <a:endParaRPr lang="en-US" altLang="zh-CN" sz="2000" b="0" dirty="0">
              <a:solidFill>
                <a:srgbClr val="577CCE"/>
              </a:solidFill>
              <a:effectLst/>
              <a:latin typeface="Consolas" panose="020B0609020204030204" pitchFamily="49" charset="0"/>
            </a:endParaRPr>
          </a:p>
          <a:p>
            <a:pPr marL="1371600" lvl="2" indent="-457200">
              <a:buFont typeface="+mj-lt"/>
              <a:buAutoNum type="arabicPeriod"/>
            </a:pPr>
            <a:r>
              <a:rPr lang="zh-CN" altLang="en-US" sz="2000" b="0" dirty="0">
                <a:solidFill>
                  <a:srgbClr val="577CCE"/>
                </a:solidFill>
                <a:effectLst/>
                <a:latin typeface="Consolas" panose="020B0609020204030204" pitchFamily="49" charset="0"/>
              </a:rPr>
              <a:t>针对图像和音频的工具包</a:t>
            </a:r>
            <a:r>
              <a:rPr lang="en-US" altLang="zh-CN" sz="2000" b="0" dirty="0" err="1">
                <a:solidFill>
                  <a:srgbClr val="577CCE"/>
                </a:solidFill>
                <a:effectLst/>
                <a:latin typeface="Consolas" panose="020B0609020204030204" pitchFamily="49" charset="0"/>
              </a:rPr>
              <a:t>torchvision</a:t>
            </a:r>
            <a:r>
              <a:rPr lang="zh-CN" altLang="en-US" sz="2000" b="0" dirty="0">
                <a:solidFill>
                  <a:srgbClr val="577CCE"/>
                </a:solidFill>
                <a:effectLst/>
                <a:latin typeface="Consolas" panose="020B0609020204030204" pitchFamily="49" charset="0"/>
              </a:rPr>
              <a:t>和</a:t>
            </a:r>
            <a:r>
              <a:rPr lang="en-US" altLang="zh-CN" sz="2000" b="0" dirty="0" err="1">
                <a:solidFill>
                  <a:srgbClr val="577CCE"/>
                </a:solidFill>
                <a:effectLst/>
                <a:latin typeface="Consolas" panose="020B0609020204030204" pitchFamily="49" charset="0"/>
              </a:rPr>
              <a:t>torchaudio</a:t>
            </a:r>
            <a:endParaRPr lang="en-US" altLang="zh-CN" sz="2000" b="0" dirty="0">
              <a:solidFill>
                <a:srgbClr val="577CCE"/>
              </a:solidFill>
              <a:effectLst/>
              <a:latin typeface="Consolas" panose="020B0609020204030204" pitchFamily="49" charset="0"/>
            </a:endParaRPr>
          </a:p>
          <a:p>
            <a:pPr marL="1371600" lvl="2" indent="-457200">
              <a:buFont typeface="+mj-lt"/>
              <a:buAutoNum type="arabicPeriod"/>
            </a:pPr>
            <a:r>
              <a:rPr lang="zh-CN" altLang="en-US" sz="2000" b="0" dirty="0">
                <a:solidFill>
                  <a:srgbClr val="577CCE"/>
                </a:solidFill>
                <a:effectLst/>
                <a:latin typeface="Consolas" panose="020B0609020204030204" pitchFamily="49" charset="0"/>
              </a:rPr>
              <a:t>模型持久化方法</a:t>
            </a:r>
            <a:endParaRPr lang="zh-CN" altLang="en-US" sz="2000" b="0" dirty="0">
              <a:solidFill>
                <a:srgbClr val="577CCE"/>
              </a:solidFill>
              <a:effectLst/>
              <a:latin typeface="Consolas" panose="020B0609020204030204" pitchFamily="49" charset="0"/>
            </a:endParaRPr>
          </a:p>
          <a:p>
            <a:pPr marL="1371600" lvl="2" indent="-457200">
              <a:buFont typeface="+mj-lt"/>
              <a:buAutoNum type="arabicPeriod"/>
            </a:pPr>
            <a:r>
              <a:rPr lang="zh-CN" altLang="en-US" sz="2000" b="0" dirty="0">
                <a:solidFill>
                  <a:srgbClr val="577CCE"/>
                </a:solidFill>
                <a:effectLst/>
                <a:latin typeface="Consolas" panose="020B0609020204030204" pitchFamily="49" charset="0"/>
              </a:rPr>
              <a:t>可视化工具包</a:t>
            </a:r>
            <a:r>
              <a:rPr lang="en-US" altLang="zh-CN" sz="2000" b="0" dirty="0" err="1">
                <a:solidFill>
                  <a:srgbClr val="577CCE"/>
                </a:solidFill>
                <a:effectLst/>
                <a:latin typeface="Consolas" panose="020B0609020204030204" pitchFamily="49" charset="0"/>
              </a:rPr>
              <a:t>Visdom</a:t>
            </a:r>
            <a:endParaRPr lang="en-US" altLang="zh-CN" sz="2000" b="0" dirty="0">
              <a:solidFill>
                <a:srgbClr val="577CCE"/>
              </a:solidFill>
              <a:effectLst/>
              <a:latin typeface="Consolas" panose="020B0609020204030204" pitchFamily="49" charset="0"/>
            </a:endParaRPr>
          </a:p>
          <a:p>
            <a:pPr marL="457200" indent="-457200">
              <a:buFont typeface="Arial" panose="020B0604020202020204" pitchFamily="34" charset="0"/>
              <a:buChar char="•"/>
            </a:pPr>
            <a:r>
              <a:rPr lang="zh-CN" altLang="en-US" sz="2000" b="0" dirty="0">
                <a:solidFill>
                  <a:srgbClr val="577CCE"/>
                </a:solidFill>
                <a:effectLst/>
                <a:latin typeface="Consolas" panose="020B0609020204030204" pitchFamily="49" charset="0"/>
              </a:rPr>
              <a:t>最后，本章给出了一个简单的回归实战示例，通过学习本章内容，</a:t>
            </a:r>
            <a:r>
              <a:rPr lang="zh-CN" altLang="en-US" sz="2000" dirty="0">
                <a:solidFill>
                  <a:srgbClr val="577CCE"/>
                </a:solidFill>
                <a:latin typeface="Consolas" panose="020B0609020204030204" pitchFamily="49" charset="0"/>
              </a:rPr>
              <a:t>同学们</a:t>
            </a:r>
            <a:r>
              <a:rPr lang="zh-CN" altLang="en-US" sz="2000" b="0" dirty="0">
                <a:solidFill>
                  <a:srgbClr val="577CCE"/>
                </a:solidFill>
                <a:effectLst/>
                <a:latin typeface="Consolas" panose="020B0609020204030204" pitchFamily="49" charset="0"/>
              </a:rPr>
              <a:t>可以设计简单的深度网络模型，为解决实际问题打好基础。</a:t>
            </a:r>
            <a:endParaRPr lang="zh-CN" altLang="en-US" sz="2000" b="0" dirty="0">
              <a:solidFill>
                <a:srgbClr val="577CCE"/>
              </a:solidFill>
              <a:effectLst/>
              <a:latin typeface="Consolas" panose="020B0609020204030204" pitchFamily="49" charset="0"/>
            </a:endParaRPr>
          </a:p>
        </p:txBody>
      </p:sp>
    </p:spTree>
    <p:custDataLst>
      <p:tags r:id="rId1"/>
    </p:custDataLst>
  </p:cSld>
  <p:clrMapOvr>
    <a:masterClrMapping/>
  </p:clrMapOvr>
  <p:transition spd="slow">
    <p:push dir="u"/>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7" name="标题 1"/>
          <p:cNvSpPr>
            <a:spLocks noGrp="1"/>
          </p:cNvSpPr>
          <p:nvPr>
            <p:ph type="title"/>
          </p:nvPr>
        </p:nvSpPr>
        <p:spPr>
          <a:xfrm>
            <a:off x="456967" y="485174"/>
            <a:ext cx="9832340" cy="441960"/>
          </a:xfrm>
        </p:spPr>
        <p:txBody>
          <a:bodyPr/>
          <a:lstStyle/>
          <a:p>
            <a:r>
              <a:rPr lang="zh-CN" altLang="en-US" sz="3600" dirty="0"/>
              <a:t>习题</a:t>
            </a:r>
            <a:endParaRPr sz="3600" dirty="0"/>
          </a:p>
        </p:txBody>
      </p:sp>
      <p:sp>
        <p:nvSpPr>
          <p:cNvPr id="1048668" name="文本框 8"/>
          <p:cNvSpPr txBox="1"/>
          <p:nvPr/>
        </p:nvSpPr>
        <p:spPr>
          <a:xfrm>
            <a:off x="456967" y="1191236"/>
            <a:ext cx="10666835" cy="4708981"/>
          </a:xfrm>
          <a:prstGeom prst="rect">
            <a:avLst/>
          </a:prstGeom>
          <a:noFill/>
        </p:spPr>
        <p:txBody>
          <a:bodyPr wrap="square" rtlCol="0">
            <a:spAutoFit/>
          </a:bodyPr>
          <a:lstStyle/>
          <a:p>
            <a:pPr marL="457200" indent="-457200">
              <a:buFont typeface="+mj-lt"/>
              <a:buAutoNum type="arabicPeriod"/>
            </a:pPr>
            <a:r>
              <a:rPr lang="zh-CN" altLang="en-US" sz="2000" b="1" dirty="0">
                <a:solidFill>
                  <a:srgbClr val="577CCE"/>
                </a:solidFill>
                <a:latin typeface="+mj-ea"/>
                <a:ea typeface="+mj-ea"/>
              </a:rPr>
              <a:t>试分析构建数据集类的作用，可否在调用 </a:t>
            </a:r>
            <a:r>
              <a:rPr lang="en-US" altLang="zh-CN" sz="2000" b="1" dirty="0" err="1">
                <a:solidFill>
                  <a:srgbClr val="577CCE"/>
                </a:solidFill>
                <a:latin typeface="+mj-ea"/>
                <a:ea typeface="+mj-ea"/>
              </a:rPr>
              <a:t>DataLoader</a:t>
            </a:r>
            <a:r>
              <a:rPr lang="en-US" altLang="zh-CN" sz="2000" b="1" dirty="0">
                <a:solidFill>
                  <a:srgbClr val="577CCE"/>
                </a:solidFill>
                <a:latin typeface="+mj-ea"/>
                <a:ea typeface="+mj-ea"/>
              </a:rPr>
              <a:t> </a:t>
            </a:r>
            <a:r>
              <a:rPr lang="zh-CN" altLang="en-US" sz="2000" b="1" dirty="0">
                <a:solidFill>
                  <a:srgbClr val="577CCE"/>
                </a:solidFill>
                <a:latin typeface="+mj-ea"/>
                <a:ea typeface="+mj-ea"/>
              </a:rPr>
              <a:t>时不使用 </a:t>
            </a:r>
            <a:r>
              <a:rPr lang="en-US" altLang="zh-CN" sz="2000" b="1" dirty="0">
                <a:solidFill>
                  <a:srgbClr val="577CCE"/>
                </a:solidFill>
                <a:latin typeface="+mj-ea"/>
                <a:ea typeface="+mj-ea"/>
              </a:rPr>
              <a:t>Dataset </a:t>
            </a:r>
            <a:r>
              <a:rPr lang="zh-CN" altLang="en-US" sz="2000" b="1" dirty="0">
                <a:solidFill>
                  <a:srgbClr val="577CCE"/>
                </a:solidFill>
                <a:latin typeface="+mj-ea"/>
                <a:ea typeface="+mj-ea"/>
              </a:rPr>
              <a:t>类的派生类定义的数据集对象？</a:t>
            </a:r>
            <a:endParaRPr lang="en-US" altLang="zh-CN" sz="2000" b="1" dirty="0">
              <a:solidFill>
                <a:srgbClr val="577CCE"/>
              </a:solidFill>
              <a:latin typeface="+mj-ea"/>
              <a:ea typeface="+mj-ea"/>
            </a:endParaRPr>
          </a:p>
          <a:p>
            <a:pPr marL="457200" indent="-457200">
              <a:buFont typeface="+mj-lt"/>
              <a:buAutoNum type="arabicPeriod"/>
            </a:pPr>
            <a:endParaRPr lang="zh-CN" altLang="en-US" sz="2000" b="1" dirty="0">
              <a:solidFill>
                <a:srgbClr val="577CCE"/>
              </a:solidFill>
              <a:latin typeface="+mj-ea"/>
              <a:ea typeface="+mj-ea"/>
            </a:endParaRPr>
          </a:p>
          <a:p>
            <a:pPr marL="457200" indent="-457200">
              <a:buFont typeface="+mj-lt"/>
              <a:buAutoNum type="arabicPeriod"/>
            </a:pPr>
            <a:r>
              <a:rPr lang="zh-CN" altLang="en-US" sz="2000" b="1" dirty="0">
                <a:solidFill>
                  <a:srgbClr val="577CCE"/>
                </a:solidFill>
                <a:latin typeface="+mj-ea"/>
                <a:ea typeface="+mj-ea"/>
              </a:rPr>
              <a:t>试分析 </a:t>
            </a:r>
            <a:r>
              <a:rPr lang="en-US" altLang="zh-CN" sz="2000" b="1" dirty="0" err="1">
                <a:solidFill>
                  <a:srgbClr val="577CCE"/>
                </a:solidFill>
                <a:latin typeface="+mj-ea"/>
                <a:ea typeface="+mj-ea"/>
              </a:rPr>
              <a:t>PyTorch</a:t>
            </a:r>
            <a:r>
              <a:rPr lang="en-US" altLang="zh-CN" sz="2000" b="1" dirty="0">
                <a:solidFill>
                  <a:srgbClr val="577CCE"/>
                </a:solidFill>
                <a:latin typeface="+mj-ea"/>
                <a:ea typeface="+mj-ea"/>
              </a:rPr>
              <a:t> </a:t>
            </a:r>
            <a:r>
              <a:rPr lang="zh-CN" altLang="en-US" sz="2000" b="1" dirty="0">
                <a:solidFill>
                  <a:srgbClr val="577CCE"/>
                </a:solidFill>
                <a:latin typeface="+mj-ea"/>
                <a:ea typeface="+mj-ea"/>
              </a:rPr>
              <a:t>内置的各种优化器的特点。</a:t>
            </a:r>
            <a:endParaRPr lang="en-US" altLang="zh-CN" sz="2000" b="1" dirty="0">
              <a:solidFill>
                <a:srgbClr val="577CCE"/>
              </a:solidFill>
              <a:latin typeface="+mj-ea"/>
              <a:ea typeface="+mj-ea"/>
            </a:endParaRPr>
          </a:p>
          <a:p>
            <a:pPr marL="457200" indent="-457200">
              <a:buFont typeface="+mj-lt"/>
              <a:buAutoNum type="arabicPeriod"/>
            </a:pPr>
            <a:endParaRPr lang="zh-CN" altLang="en-US" sz="2000" b="1" dirty="0">
              <a:solidFill>
                <a:srgbClr val="577CCE"/>
              </a:solidFill>
              <a:latin typeface="+mj-ea"/>
              <a:ea typeface="+mj-ea"/>
            </a:endParaRPr>
          </a:p>
          <a:p>
            <a:pPr marL="457200" indent="-457200">
              <a:buFont typeface="+mj-lt"/>
              <a:buAutoNum type="arabicPeriod"/>
            </a:pPr>
            <a:r>
              <a:rPr lang="en-US" altLang="zh-CN" sz="2000" b="1" dirty="0" err="1">
                <a:solidFill>
                  <a:srgbClr val="577CCE"/>
                </a:solidFill>
                <a:latin typeface="+mj-ea"/>
                <a:ea typeface="+mj-ea"/>
              </a:rPr>
              <a:t>torchvision.datasets</a:t>
            </a:r>
            <a:r>
              <a:rPr lang="en-US" altLang="zh-CN" sz="2000" b="1" dirty="0">
                <a:solidFill>
                  <a:srgbClr val="577CCE"/>
                </a:solidFill>
                <a:latin typeface="+mj-ea"/>
                <a:ea typeface="+mj-ea"/>
              </a:rPr>
              <a:t> </a:t>
            </a:r>
            <a:r>
              <a:rPr lang="zh-CN" altLang="en-US" sz="2000" b="1" dirty="0">
                <a:solidFill>
                  <a:srgbClr val="577CCE"/>
                </a:solidFill>
                <a:latin typeface="+mj-ea"/>
                <a:ea typeface="+mj-ea"/>
              </a:rPr>
              <a:t>提供了哪些数据集？</a:t>
            </a:r>
            <a:endParaRPr lang="en-US" altLang="zh-CN" sz="2000" b="1" dirty="0">
              <a:solidFill>
                <a:srgbClr val="577CCE"/>
              </a:solidFill>
              <a:latin typeface="+mj-ea"/>
              <a:ea typeface="+mj-ea"/>
            </a:endParaRPr>
          </a:p>
          <a:p>
            <a:pPr marL="457200" indent="-457200">
              <a:buFont typeface="+mj-lt"/>
              <a:buAutoNum type="arabicPeriod"/>
            </a:pPr>
            <a:endParaRPr lang="zh-CN" altLang="en-US" sz="2000" b="1" dirty="0">
              <a:solidFill>
                <a:srgbClr val="577CCE"/>
              </a:solidFill>
              <a:latin typeface="+mj-ea"/>
              <a:ea typeface="+mj-ea"/>
            </a:endParaRPr>
          </a:p>
          <a:p>
            <a:pPr marL="457200" indent="-457200">
              <a:buFont typeface="+mj-lt"/>
              <a:buAutoNum type="arabicPeriod"/>
            </a:pPr>
            <a:r>
              <a:rPr lang="en-US" altLang="zh-CN" sz="2000" b="1" dirty="0" err="1">
                <a:solidFill>
                  <a:srgbClr val="577CCE"/>
                </a:solidFill>
                <a:latin typeface="+mj-ea"/>
                <a:ea typeface="+mj-ea"/>
              </a:rPr>
              <a:t>torchvision.models</a:t>
            </a:r>
            <a:r>
              <a:rPr lang="en-US" altLang="zh-CN" sz="2000" b="1" dirty="0">
                <a:solidFill>
                  <a:srgbClr val="577CCE"/>
                </a:solidFill>
                <a:latin typeface="+mj-ea"/>
                <a:ea typeface="+mj-ea"/>
              </a:rPr>
              <a:t> </a:t>
            </a:r>
            <a:r>
              <a:rPr lang="zh-CN" altLang="en-US" sz="2000" b="1" dirty="0">
                <a:solidFill>
                  <a:srgbClr val="577CCE"/>
                </a:solidFill>
                <a:latin typeface="+mj-ea"/>
                <a:ea typeface="+mj-ea"/>
              </a:rPr>
              <a:t>提供了哪些预训练模型？</a:t>
            </a:r>
            <a:endParaRPr lang="en-US" altLang="zh-CN" sz="2000" b="1" dirty="0">
              <a:solidFill>
                <a:srgbClr val="577CCE"/>
              </a:solidFill>
              <a:latin typeface="+mj-ea"/>
              <a:ea typeface="+mj-ea"/>
            </a:endParaRPr>
          </a:p>
          <a:p>
            <a:pPr marL="457200" indent="-457200">
              <a:buFont typeface="+mj-lt"/>
              <a:buAutoNum type="arabicPeriod"/>
            </a:pPr>
            <a:endParaRPr lang="zh-CN" altLang="en-US" sz="2000" b="1" dirty="0">
              <a:solidFill>
                <a:srgbClr val="577CCE"/>
              </a:solidFill>
              <a:latin typeface="+mj-ea"/>
              <a:ea typeface="+mj-ea"/>
            </a:endParaRPr>
          </a:p>
          <a:p>
            <a:pPr marL="457200" indent="-457200">
              <a:buFont typeface="+mj-lt"/>
              <a:buAutoNum type="arabicPeriod"/>
            </a:pPr>
            <a:r>
              <a:rPr lang="zh-CN" altLang="en-US" sz="2000" b="1" dirty="0">
                <a:solidFill>
                  <a:srgbClr val="577CCE"/>
                </a:solidFill>
                <a:latin typeface="+mj-ea"/>
                <a:ea typeface="+mj-ea"/>
              </a:rPr>
              <a:t>试使用 </a:t>
            </a:r>
            <a:r>
              <a:rPr lang="en-US" altLang="zh-CN" sz="2000" b="1" dirty="0" err="1">
                <a:solidFill>
                  <a:srgbClr val="577CCE"/>
                </a:solidFill>
                <a:latin typeface="+mj-ea"/>
                <a:ea typeface="+mj-ea"/>
              </a:rPr>
              <a:t>Visdom</a:t>
            </a:r>
            <a:r>
              <a:rPr lang="en-US" altLang="zh-CN" sz="2000" b="1" dirty="0">
                <a:solidFill>
                  <a:srgbClr val="577CCE"/>
                </a:solidFill>
                <a:latin typeface="+mj-ea"/>
                <a:ea typeface="+mj-ea"/>
              </a:rPr>
              <a:t> </a:t>
            </a:r>
            <a:r>
              <a:rPr lang="zh-CN" altLang="en-US" sz="2000" b="1" dirty="0">
                <a:solidFill>
                  <a:srgbClr val="577CCE"/>
                </a:solidFill>
                <a:latin typeface="+mj-ea"/>
                <a:ea typeface="+mj-ea"/>
              </a:rPr>
              <a:t>可视化 </a:t>
            </a:r>
            <a:r>
              <a:rPr lang="en-US" altLang="zh-CN" sz="2000" b="1" dirty="0">
                <a:solidFill>
                  <a:srgbClr val="577CCE"/>
                </a:solidFill>
                <a:latin typeface="+mj-ea"/>
                <a:ea typeface="+mj-ea"/>
              </a:rPr>
              <a:t>5.5 </a:t>
            </a:r>
            <a:r>
              <a:rPr lang="zh-CN" altLang="en-US" sz="2000" b="1" dirty="0">
                <a:solidFill>
                  <a:srgbClr val="577CCE"/>
                </a:solidFill>
                <a:latin typeface="+mj-ea"/>
                <a:ea typeface="+mj-ea"/>
              </a:rPr>
              <a:t>节实战示例训练过程中的损失变化。</a:t>
            </a:r>
            <a:endParaRPr lang="en-US" altLang="zh-CN" sz="2000" b="1" dirty="0">
              <a:solidFill>
                <a:srgbClr val="577CCE"/>
              </a:solidFill>
              <a:latin typeface="+mj-ea"/>
              <a:ea typeface="+mj-ea"/>
            </a:endParaRPr>
          </a:p>
          <a:p>
            <a:pPr marL="457200" indent="-457200">
              <a:buFont typeface="+mj-lt"/>
              <a:buAutoNum type="arabicPeriod"/>
            </a:pPr>
            <a:endParaRPr lang="en-US" altLang="zh-CN" sz="2000" b="1" dirty="0">
              <a:solidFill>
                <a:srgbClr val="577CCE"/>
              </a:solidFill>
              <a:latin typeface="+mj-ea"/>
              <a:ea typeface="+mj-ea"/>
            </a:endParaRPr>
          </a:p>
          <a:p>
            <a:pPr marL="457200" indent="-457200">
              <a:buFont typeface="+mj-lt"/>
              <a:buAutoNum type="arabicPeriod"/>
            </a:pPr>
            <a:r>
              <a:rPr lang="zh-CN" altLang="en-US" sz="2000" b="1" dirty="0">
                <a:solidFill>
                  <a:srgbClr val="577CCE"/>
                </a:solidFill>
                <a:latin typeface="+mj-ea"/>
                <a:ea typeface="+mj-ea"/>
              </a:rPr>
              <a:t>对于 </a:t>
            </a:r>
            <a:r>
              <a:rPr lang="en-US" altLang="zh-CN" sz="2000" b="1" dirty="0">
                <a:solidFill>
                  <a:srgbClr val="577CCE"/>
                </a:solidFill>
                <a:latin typeface="+mj-ea"/>
                <a:ea typeface="+mj-ea"/>
              </a:rPr>
              <a:t>5.5 </a:t>
            </a:r>
            <a:r>
              <a:rPr lang="zh-CN" altLang="en-US" sz="2000" b="1" dirty="0">
                <a:solidFill>
                  <a:srgbClr val="577CCE"/>
                </a:solidFill>
                <a:latin typeface="+mj-ea"/>
                <a:ea typeface="+mj-ea"/>
              </a:rPr>
              <a:t>节的示例， 请直接使用 </a:t>
            </a:r>
            <a:r>
              <a:rPr lang="en-US" altLang="zh-CN" sz="2000" b="1" dirty="0">
                <a:solidFill>
                  <a:srgbClr val="577CCE"/>
                </a:solidFill>
                <a:latin typeface="+mj-ea"/>
                <a:ea typeface="+mj-ea"/>
              </a:rPr>
              <a:t>Origin </a:t>
            </a:r>
            <a:r>
              <a:rPr lang="zh-CN" altLang="en-US" sz="2000" b="1" dirty="0">
                <a:solidFill>
                  <a:srgbClr val="577CCE"/>
                </a:solidFill>
                <a:latin typeface="+mj-ea"/>
                <a:ea typeface="+mj-ea"/>
              </a:rPr>
              <a:t>特征而不进行 </a:t>
            </a:r>
            <a:r>
              <a:rPr lang="en-US" altLang="zh-CN" sz="2000" b="1" dirty="0">
                <a:solidFill>
                  <a:srgbClr val="577CCE"/>
                </a:solidFill>
                <a:latin typeface="+mj-ea"/>
                <a:ea typeface="+mj-ea"/>
              </a:rPr>
              <a:t>one-hot </a:t>
            </a:r>
            <a:r>
              <a:rPr lang="zh-CN" altLang="en-US" sz="2000" b="1" dirty="0">
                <a:solidFill>
                  <a:srgbClr val="577CCE"/>
                </a:solidFill>
                <a:latin typeface="+mj-ea"/>
                <a:ea typeface="+mj-ea"/>
              </a:rPr>
              <a:t>编码， 重新训练模型，并与示例训练的模型效果进行对比。</a:t>
            </a:r>
            <a:endParaRPr lang="en-US" altLang="zh-CN" sz="2000" b="1" dirty="0">
              <a:solidFill>
                <a:srgbClr val="577CCE"/>
              </a:solidFill>
              <a:latin typeface="+mj-ea"/>
              <a:ea typeface="+mj-ea"/>
            </a:endParaRPr>
          </a:p>
          <a:p>
            <a:pPr marL="457200" indent="-457200">
              <a:buFont typeface="+mj-lt"/>
              <a:buAutoNum type="arabicPeriod"/>
            </a:pPr>
            <a:endParaRPr lang="zh-CN" altLang="en-US" sz="2000" b="1" dirty="0">
              <a:solidFill>
                <a:srgbClr val="577CCE"/>
              </a:solidFill>
              <a:latin typeface="+mj-ea"/>
              <a:ea typeface="+mj-ea"/>
            </a:endParaRPr>
          </a:p>
          <a:p>
            <a:pPr marL="457200" indent="-457200">
              <a:buFont typeface="+mj-lt"/>
              <a:buAutoNum type="arabicPeriod"/>
            </a:pPr>
            <a:r>
              <a:rPr lang="zh-CN" altLang="en-US" sz="2000" b="1" dirty="0">
                <a:solidFill>
                  <a:srgbClr val="577CCE"/>
                </a:solidFill>
                <a:latin typeface="+mj-ea"/>
                <a:ea typeface="+mj-ea"/>
              </a:rPr>
              <a:t>试使用 </a:t>
            </a:r>
            <a:r>
              <a:rPr lang="en-US" altLang="zh-CN" sz="2000" b="1" dirty="0" err="1">
                <a:solidFill>
                  <a:srgbClr val="577CCE"/>
                </a:solidFill>
                <a:latin typeface="+mj-ea"/>
                <a:ea typeface="+mj-ea"/>
              </a:rPr>
              <a:t>torchvision.datasets</a:t>
            </a:r>
            <a:r>
              <a:rPr lang="en-US" altLang="zh-CN" sz="2000" b="1" dirty="0">
                <a:solidFill>
                  <a:srgbClr val="577CCE"/>
                </a:solidFill>
                <a:latin typeface="+mj-ea"/>
                <a:ea typeface="+mj-ea"/>
              </a:rPr>
              <a:t> </a:t>
            </a:r>
            <a:r>
              <a:rPr lang="zh-CN" altLang="en-US" sz="2000" b="1" dirty="0">
                <a:solidFill>
                  <a:srgbClr val="577CCE"/>
                </a:solidFill>
                <a:latin typeface="+mj-ea"/>
                <a:ea typeface="+mj-ea"/>
              </a:rPr>
              <a:t>提供的 </a:t>
            </a:r>
            <a:r>
              <a:rPr lang="en-US" altLang="zh-CN" sz="2000" b="1" dirty="0" err="1">
                <a:solidFill>
                  <a:srgbClr val="577CCE"/>
                </a:solidFill>
                <a:latin typeface="+mj-ea"/>
                <a:ea typeface="+mj-ea"/>
              </a:rPr>
              <a:t>mnist</a:t>
            </a:r>
            <a:r>
              <a:rPr lang="en-US" altLang="zh-CN" sz="2000" b="1" dirty="0">
                <a:solidFill>
                  <a:srgbClr val="577CCE"/>
                </a:solidFill>
                <a:latin typeface="+mj-ea"/>
                <a:ea typeface="+mj-ea"/>
              </a:rPr>
              <a:t> </a:t>
            </a:r>
            <a:r>
              <a:rPr lang="zh-CN" altLang="en-US" sz="2000" b="1" dirty="0">
                <a:solidFill>
                  <a:srgbClr val="577CCE"/>
                </a:solidFill>
                <a:latin typeface="+mj-ea"/>
                <a:ea typeface="+mj-ea"/>
              </a:rPr>
              <a:t>手写数据集进行逻辑回归实战。</a:t>
            </a:r>
            <a:endParaRPr lang="zh-CN" altLang="en-US" sz="2000" b="1" dirty="0">
              <a:solidFill>
                <a:srgbClr val="577CCE"/>
              </a:solidFill>
              <a:latin typeface="+mj-ea"/>
              <a:ea typeface="+mj-ea"/>
            </a:endParaRPr>
          </a:p>
        </p:txBody>
      </p:sp>
    </p:spTree>
    <p:custDataLst>
      <p:tags r:id="rId1"/>
    </p:custDataLst>
  </p:cSld>
  <p:clrMapOvr>
    <a:masterClrMapping/>
  </p:clrMapOvr>
  <p:transition spd="slow">
    <p:push dir="u"/>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14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15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6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6"/>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6"/>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87.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6"/>
  <p:tag name="KSO_WM_TEMPLATE_MASTER_THUMB_INDEX" val="12"/>
  <p:tag name="KSO_WM_TEMPLATE_THUMBS_INDEX" val="1、4、7、8、10、11、12、13、15"/>
</p:tagLst>
</file>

<file path=ppt/tags/tag188.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6_1*a*1"/>
  <p:tag name="KSO_WM_TEMPLATE_CATEGORY" val="custom"/>
  <p:tag name="KSO_WM_TEMPLATE_INDEX" val="20206916"/>
  <p:tag name="KSO_WM_UNIT_LAYERLEVEL" val="1"/>
  <p:tag name="KSO_WM_TAG_VERSION" val="1.0"/>
  <p:tag name="KSO_WM_BEAUTIFY_FLAG" val="#wm#"/>
  <p:tag name="KSO_WM_UNIT_PRESET_TEXT" val="空白演示经典风格"/>
</p:tagLst>
</file>

<file path=ppt/tags/tag189.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6_1*f*1"/>
  <p:tag name="KSO_WM_TEMPLATE_CATEGORY" val="custom"/>
  <p:tag name="KSO_WM_TEMPLATE_INDEX" val="20206916"/>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90.xml><?xml version="1.0" encoding="utf-8"?>
<p:tagLst xmlns:p="http://schemas.openxmlformats.org/presentationml/2006/main">
  <p:tag name="KSO_WM_SLIDE_ID" val="custom20206916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6"/>
  <p:tag name="KSO_WM_SLIDE_LAYOUT" val="a_b_f"/>
  <p:tag name="KSO_WM_SLIDE_LAYOUT_CNT" val="1_1_1"/>
  <p:tag name="KSO_WM_TEMPLATE_MASTER_THUMB_INDEX" val="12"/>
  <p:tag name="KSO_WM_TEMPLATE_THUMBS_INDEX" val="1、4、7、8、10、11、12、13、15"/>
</p:tagLst>
</file>

<file path=ppt/tags/tag191.xml><?xml version="1.0" encoding="utf-8"?>
<p:tagLst xmlns:p="http://schemas.openxmlformats.org/presentationml/2006/main">
  <p:tag name="KSO_WM_BEAUTIFY_FLAG" val="#wm#"/>
  <p:tag name="KSO_WM_TEMPLATE_CATEGORY" val="custom"/>
  <p:tag name="KSO_WM_TEMPLATE_INDEX" val="20206916"/>
</p:tagLst>
</file>

<file path=ppt/tags/tag192.xml><?xml version="1.0" encoding="utf-8"?>
<p:tagLst xmlns:p="http://schemas.openxmlformats.org/presentationml/2006/main">
  <p:tag name="KSO_WM_BEAUTIFY_FLAG" val="#wm#"/>
  <p:tag name="KSO_WM_TEMPLATE_CATEGORY" val="custom"/>
  <p:tag name="KSO_WM_TEMPLATE_INDEX" val="20206916"/>
</p:tagLst>
</file>

<file path=ppt/tags/tag193.xml><?xml version="1.0" encoding="utf-8"?>
<p:tagLst xmlns:p="http://schemas.openxmlformats.org/presentationml/2006/main">
  <p:tag name="KSO_WM_BEAUTIFY_FLAG" val="#wm#"/>
  <p:tag name="KSO_WM_TEMPLATE_CATEGORY" val="custom"/>
  <p:tag name="KSO_WM_TEMPLATE_INDEX" val="20206916"/>
</p:tagLst>
</file>

<file path=ppt/tags/tag194.xml><?xml version="1.0" encoding="utf-8"?>
<p:tagLst xmlns:p="http://schemas.openxmlformats.org/presentationml/2006/main">
  <p:tag name="KSO_WM_BEAUTIFY_FLAG" val="#wm#"/>
  <p:tag name="KSO_WM_TEMPLATE_CATEGORY" val="custom"/>
  <p:tag name="KSO_WM_TEMPLATE_INDEX" val="20206916"/>
</p:tagLst>
</file>

<file path=ppt/tags/tag195.xml><?xml version="1.0" encoding="utf-8"?>
<p:tagLst xmlns:p="http://schemas.openxmlformats.org/presentationml/2006/main">
  <p:tag name="KSO_WM_BEAUTIFY_FLAG" val="#wm#"/>
  <p:tag name="KSO_WM_TEMPLATE_CATEGORY" val="custom"/>
  <p:tag name="KSO_WM_TEMPLATE_INDEX" val="20206916"/>
</p:tagLst>
</file>

<file path=ppt/tags/tag196.xml><?xml version="1.0" encoding="utf-8"?>
<p:tagLst xmlns:p="http://schemas.openxmlformats.org/presentationml/2006/main">
  <p:tag name="KSO_WM_BEAUTIFY_FLAG" val="#wm#"/>
  <p:tag name="KSO_WM_TEMPLATE_CATEGORY" val="custom"/>
  <p:tag name="KSO_WM_TEMPLATE_INDEX" val="20206916"/>
</p:tagLst>
</file>

<file path=ppt/tags/tag197.xml><?xml version="1.0" encoding="utf-8"?>
<p:tagLst xmlns:p="http://schemas.openxmlformats.org/presentationml/2006/main">
  <p:tag name="KSO_WM_BEAUTIFY_FLAG" val="#wm#"/>
  <p:tag name="KSO_WM_TEMPLATE_CATEGORY" val="custom"/>
  <p:tag name="KSO_WM_TEMPLATE_INDEX" val="20206916"/>
</p:tagLst>
</file>

<file path=ppt/tags/tag198.xml><?xml version="1.0" encoding="utf-8"?>
<p:tagLst xmlns:p="http://schemas.openxmlformats.org/presentationml/2006/main">
  <p:tag name="KSO_WM_BEAUTIFY_FLAG" val="#wm#"/>
  <p:tag name="KSO_WM_TEMPLATE_CATEGORY" val="custom"/>
  <p:tag name="KSO_WM_TEMPLATE_INDEX" val="20206916"/>
</p:tagLst>
</file>

<file path=ppt/tags/tag199.xml><?xml version="1.0" encoding="utf-8"?>
<p:tagLst xmlns:p="http://schemas.openxmlformats.org/presentationml/2006/main">
  <p:tag name="KSO_WM_BEAUTIFY_FLAG" val="#wm#"/>
  <p:tag name="KSO_WM_TEMPLATE_CATEGORY" val="custom"/>
  <p:tag name="KSO_WM_TEMPLATE_INDEX" val="20206916"/>
</p:tagLst>
</file>

<file path=ppt/tags/tag200.xml><?xml version="1.0" encoding="utf-8"?>
<p:tagLst xmlns:p="http://schemas.openxmlformats.org/presentationml/2006/main">
  <p:tag name="KSO_WM_BEAUTIFY_FLAG" val="#wm#"/>
  <p:tag name="KSO_WM_TEMPLATE_CATEGORY" val="custom"/>
  <p:tag name="KSO_WM_TEMPLATE_INDEX" val="20206916"/>
</p:tagLst>
</file>

<file path=ppt/tags/tag201.xml><?xml version="1.0" encoding="utf-8"?>
<p:tagLst xmlns:p="http://schemas.openxmlformats.org/presentationml/2006/main">
  <p:tag name="KSO_WM_BEAUTIFY_FLAG" val="#wm#"/>
  <p:tag name="KSO_WM_TEMPLATE_CATEGORY" val="custom"/>
  <p:tag name="KSO_WM_TEMPLATE_INDEX" val="20206916"/>
</p:tagLst>
</file>

<file path=ppt/tags/tag202.xml><?xml version="1.0" encoding="utf-8"?>
<p:tagLst xmlns:p="http://schemas.openxmlformats.org/presentationml/2006/main">
  <p:tag name="KSO_WM_BEAUTIFY_FLAG" val="#wm#"/>
  <p:tag name="KSO_WM_TEMPLATE_CATEGORY" val="custom"/>
  <p:tag name="KSO_WM_TEMPLATE_INDEX" val="20206916"/>
</p:tagLst>
</file>

<file path=ppt/tags/tag203.xml><?xml version="1.0" encoding="utf-8"?>
<p:tagLst xmlns:p="http://schemas.openxmlformats.org/presentationml/2006/main">
  <p:tag name="KSO_WM_BEAUTIFY_FLAG" val="#wm#"/>
  <p:tag name="KSO_WM_TEMPLATE_CATEGORY" val="custom"/>
  <p:tag name="KSO_WM_TEMPLATE_INDEX" val="20206916"/>
</p:tagLst>
</file>

<file path=ppt/tags/tag204.xml><?xml version="1.0" encoding="utf-8"?>
<p:tagLst xmlns:p="http://schemas.openxmlformats.org/presentationml/2006/main">
  <p:tag name="KSO_WM_BEAUTIFY_FLAG" val="#wm#"/>
  <p:tag name="KSO_WM_TEMPLATE_CATEGORY" val="custom"/>
  <p:tag name="KSO_WM_TEMPLATE_INDEX" val="20206916"/>
</p:tagLst>
</file>

<file path=ppt/tags/tag205.xml><?xml version="1.0" encoding="utf-8"?>
<p:tagLst xmlns:p="http://schemas.openxmlformats.org/presentationml/2006/main">
  <p:tag name="KSO_WM_BEAUTIFY_FLAG" val="#wm#"/>
  <p:tag name="KSO_WM_TEMPLATE_CATEGORY" val="custom"/>
  <p:tag name="KSO_WM_TEMPLATE_INDEX" val="20206916"/>
</p:tagLst>
</file>

<file path=ppt/tags/tag206.xml><?xml version="1.0" encoding="utf-8"?>
<p:tagLst xmlns:p="http://schemas.openxmlformats.org/presentationml/2006/main">
  <p:tag name="KSO_WM_BEAUTIFY_FLAG" val="#wm#"/>
  <p:tag name="KSO_WM_TEMPLATE_CATEGORY" val="custom"/>
  <p:tag name="KSO_WM_TEMPLATE_INDEX" val="20206916"/>
</p:tagLst>
</file>

<file path=ppt/tags/tag207.xml><?xml version="1.0" encoding="utf-8"?>
<p:tagLst xmlns:p="http://schemas.openxmlformats.org/presentationml/2006/main">
  <p:tag name="KSO_WM_BEAUTIFY_FLAG" val="#wm#"/>
  <p:tag name="KSO_WM_TEMPLATE_CATEGORY" val="custom"/>
  <p:tag name="KSO_WM_TEMPLATE_INDEX" val="20206916"/>
</p:tagLst>
</file>

<file path=ppt/tags/tag208.xml><?xml version="1.0" encoding="utf-8"?>
<p:tagLst xmlns:p="http://schemas.openxmlformats.org/presentationml/2006/main">
  <p:tag name="KSO_WM_BEAUTIFY_FLAG" val="#wm#"/>
  <p:tag name="KSO_WM_TEMPLATE_CATEGORY" val="custom"/>
  <p:tag name="KSO_WM_TEMPLATE_INDEX" val="20206916"/>
</p:tagLst>
</file>

<file path=ppt/tags/tag209.xml><?xml version="1.0" encoding="utf-8"?>
<p:tagLst xmlns:p="http://schemas.openxmlformats.org/presentationml/2006/main">
  <p:tag name="KSO_WM_BEAUTIFY_FLAG" val="#wm#"/>
  <p:tag name="KSO_WM_TEMPLATE_CATEGORY" val="custom"/>
  <p:tag name="KSO_WM_TEMPLATE_INDEX" val="20206916"/>
</p:tagLst>
</file>

<file path=ppt/tags/tag210.xml><?xml version="1.0" encoding="utf-8"?>
<p:tagLst xmlns:p="http://schemas.openxmlformats.org/presentationml/2006/main">
  <p:tag name="KSO_WM_BEAUTIFY_FLAG" val="#wm#"/>
  <p:tag name="KSO_WM_TEMPLATE_CATEGORY" val="custom"/>
  <p:tag name="KSO_WM_TEMPLATE_INDEX" val="20206916"/>
</p:tagLst>
</file>

<file path=ppt/tags/tag211.xml><?xml version="1.0" encoding="utf-8"?>
<p:tagLst xmlns:p="http://schemas.openxmlformats.org/presentationml/2006/main">
  <p:tag name="KSO_WM_BEAUTIFY_FLAG" val="#wm#"/>
  <p:tag name="KSO_WM_TEMPLATE_CATEGORY" val="custom"/>
  <p:tag name="KSO_WM_TEMPLATE_INDEX" val="20206916"/>
</p:tagLst>
</file>

<file path=ppt/tags/tag212.xml><?xml version="1.0" encoding="utf-8"?>
<p:tagLst xmlns:p="http://schemas.openxmlformats.org/presentationml/2006/main">
  <p:tag name="KSO_WM_BEAUTIFY_FLAG" val="#wm#"/>
  <p:tag name="KSO_WM_TEMPLATE_CATEGORY" val="custom"/>
  <p:tag name="KSO_WM_TEMPLATE_INDEX" val="20206916"/>
</p:tagLst>
</file>

<file path=ppt/tags/tag213.xml><?xml version="1.0" encoding="utf-8"?>
<p:tagLst xmlns:p="http://schemas.openxmlformats.org/presentationml/2006/main">
  <p:tag name="KSO_WM_BEAUTIFY_FLAG" val="#wm#"/>
  <p:tag name="KSO_WM_TEMPLATE_CATEGORY" val="custom"/>
  <p:tag name="KSO_WM_TEMPLATE_INDEX" val="20206916"/>
</p:tagLst>
</file>

<file path=ppt/tags/tag214.xml><?xml version="1.0" encoding="utf-8"?>
<p:tagLst xmlns:p="http://schemas.openxmlformats.org/presentationml/2006/main">
  <p:tag name="KSO_WM_BEAUTIFY_FLAG" val="#wm#"/>
  <p:tag name="KSO_WM_TEMPLATE_CATEGORY" val="custom"/>
  <p:tag name="KSO_WM_TEMPLATE_INDEX" val="20206916"/>
</p:tagLst>
</file>

<file path=ppt/tags/tag215.xml><?xml version="1.0" encoding="utf-8"?>
<p:tagLst xmlns:p="http://schemas.openxmlformats.org/presentationml/2006/main">
  <p:tag name="KSO_WM_BEAUTIFY_FLAG" val="#wm#"/>
  <p:tag name="KSO_WM_TEMPLATE_CATEGORY" val="custom"/>
  <p:tag name="KSO_WM_TEMPLATE_INDEX" val="20206916"/>
</p:tagLst>
</file>

<file path=ppt/tags/tag216.xml><?xml version="1.0" encoding="utf-8"?>
<p:tagLst xmlns:p="http://schemas.openxmlformats.org/presentationml/2006/main">
  <p:tag name="KSO_WM_BEAUTIFY_FLAG" val="#wm#"/>
  <p:tag name="KSO_WM_TEMPLATE_CATEGORY" val="custom"/>
  <p:tag name="KSO_WM_TEMPLATE_INDEX" val="20206916"/>
</p:tagLst>
</file>

<file path=ppt/tags/tag217.xml><?xml version="1.0" encoding="utf-8"?>
<p:tagLst xmlns:p="http://schemas.openxmlformats.org/presentationml/2006/main">
  <p:tag name="KSO_WM_BEAUTIFY_FLAG" val="#wm#"/>
  <p:tag name="KSO_WM_TEMPLATE_CATEGORY" val="custom"/>
  <p:tag name="KSO_WM_TEMPLATE_INDEX" val="20206916"/>
</p:tagLst>
</file>

<file path=ppt/tags/tag218.xml><?xml version="1.0" encoding="utf-8"?>
<p:tagLst xmlns:p="http://schemas.openxmlformats.org/presentationml/2006/main">
  <p:tag name="KSO_WM_BEAUTIFY_FLAG" val="#wm#"/>
  <p:tag name="KSO_WM_TEMPLATE_CATEGORY" val="custom"/>
  <p:tag name="KSO_WM_TEMPLATE_INDEX" val="20206916"/>
</p:tagLst>
</file>

<file path=ppt/tags/tag219.xml><?xml version="1.0" encoding="utf-8"?>
<p:tagLst xmlns:p="http://schemas.openxmlformats.org/presentationml/2006/main">
  <p:tag name="KSO_WM_BEAUTIFY_FLAG" val="#wm#"/>
  <p:tag name="KSO_WM_TEMPLATE_CATEGORY" val="custom"/>
  <p:tag name="KSO_WM_TEMPLATE_INDEX" val="20206916"/>
</p:tagLst>
</file>

<file path=ppt/tags/tag220.xml><?xml version="1.0" encoding="utf-8"?>
<p:tagLst xmlns:p="http://schemas.openxmlformats.org/presentationml/2006/main">
  <p:tag name="KSO_WM_BEAUTIFY_FLAG" val="#wm#"/>
  <p:tag name="KSO_WM_TEMPLATE_CATEGORY" val="custom"/>
  <p:tag name="KSO_WM_TEMPLATE_INDEX" val="20206916"/>
</p:tagLst>
</file>

<file path=ppt/tags/tag221.xml><?xml version="1.0" encoding="utf-8"?>
<p:tagLst xmlns:p="http://schemas.openxmlformats.org/presentationml/2006/main">
  <p:tag name="KSO_WM_BEAUTIFY_FLAG" val="#wm#"/>
  <p:tag name="KSO_WM_TEMPLATE_CATEGORY" val="custom"/>
  <p:tag name="KSO_WM_TEMPLATE_INDEX" val="20206916"/>
</p:tagLst>
</file>

<file path=ppt/tags/tag222.xml><?xml version="1.0" encoding="utf-8"?>
<p:tagLst xmlns:p="http://schemas.openxmlformats.org/presentationml/2006/main">
  <p:tag name="KSO_WM_BEAUTIFY_FLAG" val="#wm#"/>
  <p:tag name="KSO_WM_TEMPLATE_CATEGORY" val="custom"/>
  <p:tag name="KSO_WM_TEMPLATE_INDEX" val="20206916"/>
</p:tagLst>
</file>

<file path=ppt/tags/tag223.xml><?xml version="1.0" encoding="utf-8"?>
<p:tagLst xmlns:p="http://schemas.openxmlformats.org/presentationml/2006/main">
  <p:tag name="KSO_WM_BEAUTIFY_FLAG" val="#wm#"/>
  <p:tag name="KSO_WM_TEMPLATE_CATEGORY" val="custom"/>
  <p:tag name="KSO_WM_TEMPLATE_INDEX" val="20206916"/>
</p:tagLst>
</file>

<file path=ppt/tags/tag224.xml><?xml version="1.0" encoding="utf-8"?>
<p:tagLst xmlns:p="http://schemas.openxmlformats.org/presentationml/2006/main">
  <p:tag name="KSO_WM_BEAUTIFY_FLAG" val="#wm#"/>
  <p:tag name="KSO_WM_TEMPLATE_CATEGORY" val="custom"/>
  <p:tag name="KSO_WM_TEMPLATE_INDEX" val="20206916"/>
</p:tagLst>
</file>

<file path=ppt/tags/tag225.xml><?xml version="1.0" encoding="utf-8"?>
<p:tagLst xmlns:p="http://schemas.openxmlformats.org/presentationml/2006/main">
  <p:tag name="KSO_WM_BEAUTIFY_FLAG" val="#wm#"/>
  <p:tag name="KSO_WM_TEMPLATE_CATEGORY" val="custom"/>
  <p:tag name="KSO_WM_TEMPLATE_INDEX" val="20206916"/>
</p:tagLst>
</file>

<file path=ppt/tags/tag226.xml><?xml version="1.0" encoding="utf-8"?>
<p:tagLst xmlns:p="http://schemas.openxmlformats.org/presentationml/2006/main">
  <p:tag name="KSO_WM_BEAUTIFY_FLAG" val="#wm#"/>
  <p:tag name="KSO_WM_TEMPLATE_CATEGORY" val="custom"/>
  <p:tag name="KSO_WM_TEMPLATE_INDEX" val="20206916"/>
</p:tagLst>
</file>

<file path=ppt/tags/tag227.xml><?xml version="1.0" encoding="utf-8"?>
<p:tagLst xmlns:p="http://schemas.openxmlformats.org/presentationml/2006/main">
  <p:tag name="KSO_WM_BEAUTIFY_FLAG" val="#wm#"/>
  <p:tag name="KSO_WM_TEMPLATE_CATEGORY" val="custom"/>
  <p:tag name="KSO_WM_TEMPLATE_INDEX" val="20206916"/>
</p:tagLst>
</file>

<file path=ppt/tags/tag228.xml><?xml version="1.0" encoding="utf-8"?>
<p:tagLst xmlns:p="http://schemas.openxmlformats.org/presentationml/2006/main">
  <p:tag name="KSO_WM_BEAUTIFY_FLAG" val="#wm#"/>
  <p:tag name="KSO_WM_TEMPLATE_CATEGORY" val="custom"/>
  <p:tag name="KSO_WM_TEMPLATE_INDEX" val="20206916"/>
</p:tagLst>
</file>

<file path=ppt/tags/tag229.xml><?xml version="1.0" encoding="utf-8"?>
<p:tagLst xmlns:p="http://schemas.openxmlformats.org/presentationml/2006/main">
  <p:tag name="KSO_WM_BEAUTIFY_FLAG" val="#wm#"/>
  <p:tag name="KSO_WM_TEMPLATE_CATEGORY" val="custom"/>
  <p:tag name="KSO_WM_TEMPLATE_INDEX" val="20206916"/>
</p:tagLst>
</file>

<file path=ppt/tags/tag230.xml><?xml version="1.0" encoding="utf-8"?>
<p:tagLst xmlns:p="http://schemas.openxmlformats.org/presentationml/2006/main">
  <p:tag name="KSO_WM_BEAUTIFY_FLAG" val="#wm#"/>
  <p:tag name="KSO_WM_TEMPLATE_CATEGORY" val="custom"/>
  <p:tag name="KSO_WM_TEMPLATE_INDEX" val="20206916"/>
</p:tagLst>
</file>

<file path=ppt/tags/tag231.xml><?xml version="1.0" encoding="utf-8"?>
<p:tagLst xmlns:p="http://schemas.openxmlformats.org/presentationml/2006/main">
  <p:tag name="KSO_WM_BEAUTIFY_FLAG" val="#wm#"/>
  <p:tag name="KSO_WM_TEMPLATE_CATEGORY" val="custom"/>
  <p:tag name="KSO_WM_TEMPLATE_INDEX" val="20206916"/>
</p:tagLst>
</file>

<file path=ppt/tags/tag232.xml><?xml version="1.0" encoding="utf-8"?>
<p:tagLst xmlns:p="http://schemas.openxmlformats.org/presentationml/2006/main">
  <p:tag name="KSO_WM_BEAUTIFY_FLAG" val="#wm#"/>
  <p:tag name="KSO_WM_TEMPLATE_CATEGORY" val="custom"/>
  <p:tag name="KSO_WM_TEMPLATE_INDEX" val="20206916"/>
</p:tagLst>
</file>

<file path=ppt/tags/tag233.xml><?xml version="1.0" encoding="utf-8"?>
<p:tagLst xmlns:p="http://schemas.openxmlformats.org/presentationml/2006/main">
  <p:tag name="KSO_WM_BEAUTIFY_FLAG" val="#wm#"/>
  <p:tag name="KSO_WM_TEMPLATE_CATEGORY" val="custom"/>
  <p:tag name="KSO_WM_TEMPLATE_INDEX" val="20206916"/>
</p:tagLst>
</file>

<file path=ppt/tags/tag234.xml><?xml version="1.0" encoding="utf-8"?>
<p:tagLst xmlns:p="http://schemas.openxmlformats.org/presentationml/2006/main">
  <p:tag name="KSO_WM_BEAUTIFY_FLAG" val="#wm#"/>
  <p:tag name="KSO_WM_TEMPLATE_CATEGORY" val="custom"/>
  <p:tag name="KSO_WM_TEMPLATE_INDEX" val="20206916"/>
</p:tagLst>
</file>

<file path=ppt/tags/tag235.xml><?xml version="1.0" encoding="utf-8"?>
<p:tagLst xmlns:p="http://schemas.openxmlformats.org/presentationml/2006/main">
  <p:tag name="KSO_WM_BEAUTIFY_FLAG" val="#wm#"/>
  <p:tag name="KSO_WM_TEMPLATE_CATEGORY" val="custom"/>
  <p:tag name="KSO_WM_TEMPLATE_INDEX" val="20206916"/>
</p:tagLst>
</file>

<file path=ppt/tags/tag236.xml><?xml version="1.0" encoding="utf-8"?>
<p:tagLst xmlns:p="http://schemas.openxmlformats.org/presentationml/2006/main">
  <p:tag name="KSO_WM_BEAUTIFY_FLAG" val="#wm#"/>
  <p:tag name="KSO_WM_TEMPLATE_CATEGORY" val="custom"/>
  <p:tag name="KSO_WM_TEMPLATE_INDEX" val="20206916"/>
</p:tagLst>
</file>

<file path=ppt/tags/tag237.xml><?xml version="1.0" encoding="utf-8"?>
<p:tagLst xmlns:p="http://schemas.openxmlformats.org/presentationml/2006/main">
  <p:tag name="KSO_WM_BEAUTIFY_FLAG" val="#wm#"/>
  <p:tag name="KSO_WM_TEMPLATE_CATEGORY" val="custom"/>
  <p:tag name="KSO_WM_TEMPLATE_INDEX" val="20206916"/>
</p:tagLst>
</file>

<file path=ppt/tags/tag238.xml><?xml version="1.0" encoding="utf-8"?>
<p:tagLst xmlns:p="http://schemas.openxmlformats.org/presentationml/2006/main">
  <p:tag name="KSO_WM_BEAUTIFY_FLAG" val="#wm#"/>
  <p:tag name="KSO_WM_TEMPLATE_CATEGORY" val="custom"/>
  <p:tag name="KSO_WM_TEMPLATE_INDEX" val="20206916"/>
</p:tagLst>
</file>

<file path=ppt/tags/tag239.xml><?xml version="1.0" encoding="utf-8"?>
<p:tagLst xmlns:p="http://schemas.openxmlformats.org/presentationml/2006/main">
  <p:tag name="KSO_WM_BEAUTIFY_FLAG" val="#wm#"/>
  <p:tag name="KSO_WM_TEMPLATE_CATEGORY" val="custom"/>
  <p:tag name="KSO_WM_TEMPLATE_INDEX" val="20206916"/>
</p:tagLst>
</file>

<file path=ppt/tags/tag240.xml><?xml version="1.0" encoding="utf-8"?>
<p:tagLst xmlns:p="http://schemas.openxmlformats.org/presentationml/2006/main">
  <p:tag name="KSO_WM_BEAUTIFY_FLAG" val="#wm#"/>
  <p:tag name="KSO_WM_TEMPLATE_CATEGORY" val="custom"/>
  <p:tag name="KSO_WM_TEMPLATE_INDEX" val="20206916"/>
</p:tagLst>
</file>

<file path=ppt/tags/tag241.xml><?xml version="1.0" encoding="utf-8"?>
<p:tagLst xmlns:p="http://schemas.openxmlformats.org/presentationml/2006/main">
  <p:tag name="KSO_WM_BEAUTIFY_FLAG" val="#wm#"/>
  <p:tag name="KSO_WM_TEMPLATE_CATEGORY" val="custom"/>
  <p:tag name="KSO_WM_TEMPLATE_INDEX" val="20206916"/>
</p:tagLst>
</file>

<file path=ppt/tags/tag242.xml><?xml version="1.0" encoding="utf-8"?>
<p:tagLst xmlns:p="http://schemas.openxmlformats.org/presentationml/2006/main">
  <p:tag name="KSO_WM_BEAUTIFY_FLAG" val="#wm#"/>
  <p:tag name="KSO_WM_TEMPLATE_CATEGORY" val="custom"/>
  <p:tag name="KSO_WM_TEMPLATE_INDEX" val="20206916"/>
</p:tagLst>
</file>

<file path=ppt/tags/tag243.xml><?xml version="1.0" encoding="utf-8"?>
<p:tagLst xmlns:p="http://schemas.openxmlformats.org/presentationml/2006/main">
  <p:tag name="KSO_WM_BEAUTIFY_FLAG" val="#wm#"/>
  <p:tag name="KSO_WM_TEMPLATE_CATEGORY" val="custom"/>
  <p:tag name="KSO_WM_TEMPLATE_INDEX" val="20206916"/>
</p:tagLst>
</file>

<file path=ppt/tags/tag244.xml><?xml version="1.0" encoding="utf-8"?>
<p:tagLst xmlns:p="http://schemas.openxmlformats.org/presentationml/2006/main">
  <p:tag name="KSO_WM_BEAUTIFY_FLAG" val="#wm#"/>
  <p:tag name="KSO_WM_TEMPLATE_CATEGORY" val="custom"/>
  <p:tag name="KSO_WM_TEMPLATE_INDEX" val="20206916"/>
</p:tagLst>
</file>

<file path=ppt/tags/tag245.xml><?xml version="1.0" encoding="utf-8"?>
<p:tagLst xmlns:p="http://schemas.openxmlformats.org/presentationml/2006/main">
  <p:tag name="KSO_WM_BEAUTIFY_FLAG" val="#wm#"/>
  <p:tag name="KSO_WM_TEMPLATE_CATEGORY" val="custom"/>
  <p:tag name="KSO_WM_TEMPLATE_INDEX" val="20206916"/>
</p:tagLst>
</file>

<file path=ppt/tags/tag246.xml><?xml version="1.0" encoding="utf-8"?>
<p:tagLst xmlns:p="http://schemas.openxmlformats.org/presentationml/2006/main">
  <p:tag name="KSO_WM_BEAUTIFY_FLAG" val="#wm#"/>
  <p:tag name="KSO_WM_TEMPLATE_CATEGORY" val="custom"/>
  <p:tag name="KSO_WM_TEMPLATE_INDEX" val="20206916"/>
</p:tagLst>
</file>

<file path=ppt/tags/tag247.xml><?xml version="1.0" encoding="utf-8"?>
<p:tagLst xmlns:p="http://schemas.openxmlformats.org/presentationml/2006/main">
  <p:tag name="KSO_WM_BEAUTIFY_FLAG" val="#wm#"/>
  <p:tag name="KSO_WM_TEMPLATE_CATEGORY" val="custom"/>
  <p:tag name="KSO_WM_TEMPLATE_INDEX" val="20206916"/>
</p:tagLst>
</file>

<file path=ppt/tags/tag248.xml><?xml version="1.0" encoding="utf-8"?>
<p:tagLst xmlns:p="http://schemas.openxmlformats.org/presentationml/2006/main">
  <p:tag name="KSO_WM_BEAUTIFY_FLAG" val="#wm#"/>
  <p:tag name="KSO_WM_TEMPLATE_CATEGORY" val="custom"/>
  <p:tag name="KSO_WM_TEMPLATE_INDEX" val="20206916"/>
</p:tagLst>
</file>

<file path=ppt/tags/tag249.xml><?xml version="1.0" encoding="utf-8"?>
<p:tagLst xmlns:p="http://schemas.openxmlformats.org/presentationml/2006/main">
  <p:tag name="KSO_WM_BEAUTIFY_FLAG" val="#wm#"/>
  <p:tag name="KSO_WM_TEMPLATE_CATEGORY" val="custom"/>
  <p:tag name="KSO_WM_TEMPLATE_INDEX" val="20206916"/>
</p:tagLst>
</file>

<file path=ppt/tags/tag250.xml><?xml version="1.0" encoding="utf-8"?>
<p:tagLst xmlns:p="http://schemas.openxmlformats.org/presentationml/2006/main">
  <p:tag name="KSO_WM_BEAUTIFY_FLAG" val="#wm#"/>
  <p:tag name="KSO_WM_TEMPLATE_CATEGORY" val="custom"/>
  <p:tag name="KSO_WM_TEMPLATE_INDEX" val="20206916"/>
</p:tagLst>
</file>

<file path=ppt/tags/tag251.xml><?xml version="1.0" encoding="utf-8"?>
<p:tagLst xmlns:p="http://schemas.openxmlformats.org/presentationml/2006/main">
  <p:tag name="KSO_WM_BEAUTIFY_FLAG" val="#wm#"/>
  <p:tag name="KSO_WM_TEMPLATE_CATEGORY" val="custom"/>
  <p:tag name="KSO_WM_TEMPLATE_INDEX" val="20206916"/>
</p:tagLst>
</file>

<file path=ppt/tags/tag252.xml><?xml version="1.0" encoding="utf-8"?>
<p:tagLst xmlns:p="http://schemas.openxmlformats.org/presentationml/2006/main">
  <p:tag name="KSO_WM_BEAUTIFY_FLAG" val="#wm#"/>
  <p:tag name="KSO_WM_TEMPLATE_CATEGORY" val="custom"/>
  <p:tag name="KSO_WM_TEMPLATE_INDEX" val="20206916"/>
</p:tagLst>
</file>

<file path=ppt/tags/tag253.xml><?xml version="1.0" encoding="utf-8"?>
<p:tagLst xmlns:p="http://schemas.openxmlformats.org/presentationml/2006/main">
  <p:tag name="KSO_WM_BEAUTIFY_FLAG" val="#wm#"/>
  <p:tag name="KSO_WM_TEMPLATE_CATEGORY" val="custom"/>
  <p:tag name="KSO_WM_TEMPLATE_INDEX" val="20206916"/>
</p:tagLst>
</file>

<file path=ppt/tags/tag254.xml><?xml version="1.0" encoding="utf-8"?>
<p:tagLst xmlns:p="http://schemas.openxmlformats.org/presentationml/2006/main">
  <p:tag name="KSO_WM_BEAUTIFY_FLAG" val="#wm#"/>
  <p:tag name="KSO_WM_TEMPLATE_CATEGORY" val="custom"/>
  <p:tag name="KSO_WM_TEMPLATE_INDEX" val="20206916"/>
</p:tagLst>
</file>

<file path=ppt/tags/tag255.xml><?xml version="1.0" encoding="utf-8"?>
<p:tagLst xmlns:p="http://schemas.openxmlformats.org/presentationml/2006/main">
  <p:tag name="KSO_WM_BEAUTIFY_FLAG" val="#wm#"/>
  <p:tag name="KSO_WM_TEMPLATE_CATEGORY" val="custom"/>
  <p:tag name="KSO_WM_TEMPLATE_INDEX" val="20206916"/>
</p:tagLst>
</file>

<file path=ppt/tags/tag256.xml><?xml version="1.0" encoding="utf-8"?>
<p:tagLst xmlns:p="http://schemas.openxmlformats.org/presentationml/2006/main">
  <p:tag name="KSO_WM_BEAUTIFY_FLAG" val="#wm#"/>
  <p:tag name="KSO_WM_TEMPLATE_CATEGORY" val="custom"/>
  <p:tag name="KSO_WM_TEMPLATE_INDEX" val="20206916"/>
</p:tagLst>
</file>

<file path=ppt/tags/tag257.xml><?xml version="1.0" encoding="utf-8"?>
<p:tagLst xmlns:p="http://schemas.openxmlformats.org/presentationml/2006/main">
  <p:tag name="KSO_WM_BEAUTIFY_FLAG" val="#wm#"/>
  <p:tag name="KSO_WM_TEMPLATE_CATEGORY" val="custom"/>
  <p:tag name="KSO_WM_TEMPLATE_INDEX" val="20206916"/>
</p:tagLst>
</file>

<file path=ppt/tags/tag258.xml><?xml version="1.0" encoding="utf-8"?>
<p:tagLst xmlns:p="http://schemas.openxmlformats.org/presentationml/2006/main">
  <p:tag name="KSO_WM_BEAUTIFY_FLAG" val="#wm#"/>
  <p:tag name="KSO_WM_TEMPLATE_CATEGORY" val="custom"/>
  <p:tag name="KSO_WM_TEMPLATE_INDEX" val="20206916"/>
</p:tagLst>
</file>

<file path=ppt/tags/tag259.xml><?xml version="1.0" encoding="utf-8"?>
<p:tagLst xmlns:p="http://schemas.openxmlformats.org/presentationml/2006/main">
  <p:tag name="KSO_WM_BEAUTIFY_FLAG" val="#wm#"/>
  <p:tag name="KSO_WM_TEMPLATE_CATEGORY" val="custom"/>
  <p:tag name="KSO_WM_TEMPLATE_INDEX" val="20206916"/>
</p:tagLst>
</file>

<file path=ppt/tags/tag260.xml><?xml version="1.0" encoding="utf-8"?>
<p:tagLst xmlns:p="http://schemas.openxmlformats.org/presentationml/2006/main">
  <p:tag name="KSO_WM_BEAUTIFY_FLAG" val="#wm#"/>
  <p:tag name="KSO_WM_TEMPLATE_CATEGORY" val="custom"/>
  <p:tag name="KSO_WM_TEMPLATE_INDEX" val="20206916"/>
</p:tagLst>
</file>

<file path=ppt/tags/tag261.xml><?xml version="1.0" encoding="utf-8"?>
<p:tagLst xmlns:p="http://schemas.openxmlformats.org/presentationml/2006/main">
  <p:tag name="KSO_WM_BEAUTIFY_FLAG" val="#wm#"/>
  <p:tag name="KSO_WM_TEMPLATE_CATEGORY" val="custom"/>
  <p:tag name="KSO_WM_TEMPLATE_INDEX" val="20206916"/>
</p:tagLst>
</file>

<file path=ppt/tags/tag262.xml><?xml version="1.0" encoding="utf-8"?>
<p:tagLst xmlns:p="http://schemas.openxmlformats.org/presentationml/2006/main">
  <p:tag name="KSO_WM_BEAUTIFY_FLAG" val="#wm#"/>
  <p:tag name="KSO_WM_TEMPLATE_CATEGORY" val="custom"/>
  <p:tag name="KSO_WM_TEMPLATE_INDEX" val="20206916"/>
</p:tagLst>
</file>

<file path=ppt/tags/tag263.xml><?xml version="1.0" encoding="utf-8"?>
<p:tagLst xmlns:p="http://schemas.openxmlformats.org/presentationml/2006/main">
  <p:tag name="KSO_WM_BEAUTIFY_FLAG" val="#wm#"/>
  <p:tag name="KSO_WM_TEMPLATE_CATEGORY" val="custom"/>
  <p:tag name="KSO_WM_TEMPLATE_INDEX" val="20206916"/>
</p:tagLst>
</file>

<file path=ppt/tags/tag264.xml><?xml version="1.0" encoding="utf-8"?>
<p:tagLst xmlns:p="http://schemas.openxmlformats.org/presentationml/2006/main">
  <p:tag name="KSO_WM_BEAUTIFY_FLAG" val="#wm#"/>
  <p:tag name="KSO_WM_TEMPLATE_CATEGORY" val="custom"/>
  <p:tag name="KSO_WM_TEMPLATE_INDEX" val="20206916"/>
</p:tagLst>
</file>

<file path=ppt/tags/tag265.xml><?xml version="1.0" encoding="utf-8"?>
<p:tagLst xmlns:p="http://schemas.openxmlformats.org/presentationml/2006/main">
  <p:tag name="KSO_WM_BEAUTIFY_FLAG" val="#wm#"/>
  <p:tag name="KSO_WM_TEMPLATE_CATEGORY" val="custom"/>
  <p:tag name="KSO_WM_TEMPLATE_INDEX" val="20206916"/>
</p:tagLst>
</file>

<file path=ppt/tags/tag266.xml><?xml version="1.0" encoding="utf-8"?>
<p:tagLst xmlns:p="http://schemas.openxmlformats.org/presentationml/2006/main">
  <p:tag name="KSO_WM_BEAUTIFY_FLAG" val="#wm#"/>
  <p:tag name="KSO_WM_TEMPLATE_CATEGORY" val="custom"/>
  <p:tag name="KSO_WM_TEMPLATE_INDEX" val="20206916"/>
</p:tagLst>
</file>

<file path=ppt/tags/tag267.xml><?xml version="1.0" encoding="utf-8"?>
<p:tagLst xmlns:p="http://schemas.openxmlformats.org/presentationml/2006/main">
  <p:tag name="KSO_WM_BEAUTIFY_FLAG" val="#wm#"/>
  <p:tag name="KSO_WM_TEMPLATE_CATEGORY" val="custom"/>
  <p:tag name="KSO_WM_TEMPLATE_INDEX" val="20206916"/>
</p:tagLst>
</file>

<file path=ppt/tags/tag268.xml><?xml version="1.0" encoding="utf-8"?>
<p:tagLst xmlns:p="http://schemas.openxmlformats.org/presentationml/2006/main">
  <p:tag name="KSO_WM_BEAUTIFY_FLAG" val="#wm#"/>
  <p:tag name="KSO_WM_TEMPLATE_CATEGORY" val="custom"/>
  <p:tag name="KSO_WM_TEMPLATE_INDEX" val="20206916"/>
</p:tagLst>
</file>

<file path=ppt/tags/tag269.xml><?xml version="1.0" encoding="utf-8"?>
<p:tagLst xmlns:p="http://schemas.openxmlformats.org/presentationml/2006/main">
  <p:tag name="KSO_WPP_MARK_KEY" val="0b111cf3-be9a-4843-9bb5-2c1690509ab6"/>
  <p:tag name="COMMONDATA" val="eyJoZGlkIjoiZTI0MjI4OTA3Njg4MjI2NWFiNWQ4ZWQyODE5ZDFhZjg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灰色">
      <a:dk1>
        <a:srgbClr val="000000"/>
      </a:dk1>
      <a:lt1>
        <a:srgbClr val="FFFFFF"/>
      </a:lt1>
      <a:dk2>
        <a:srgbClr val="D9D9D9"/>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31859</Words>
  <Application>WPS 演示</Application>
  <PresentationFormat>宽屏</PresentationFormat>
  <Paragraphs>1342</Paragraphs>
  <Slides>79</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79</vt:i4>
      </vt:variant>
    </vt:vector>
  </HeadingPairs>
  <TitlesOfParts>
    <vt:vector size="95" baseType="lpstr">
      <vt:lpstr>Arial</vt:lpstr>
      <vt:lpstr>宋体</vt:lpstr>
      <vt:lpstr>Wingdings</vt:lpstr>
      <vt:lpstr>Wingdings</vt:lpstr>
      <vt:lpstr>微软雅黑</vt:lpstr>
      <vt:lpstr>Consolas</vt:lpstr>
      <vt:lpstr>Arial Unicode MS</vt:lpstr>
      <vt:lpstr>Noto Sans SC</vt:lpstr>
      <vt:lpstr>Segoe Print</vt:lpstr>
      <vt:lpstr>var(--notebook-cell-output-font-family)</vt:lpstr>
      <vt:lpstr>Cambria Math</vt:lpstr>
      <vt:lpstr>Roboto</vt:lpstr>
      <vt:lpstr>Times New Roman</vt:lpstr>
      <vt:lpstr>Calibri</vt:lpstr>
      <vt:lpstr>Office 主题​​</vt:lpstr>
      <vt:lpstr>1_Office 主题​​</vt:lpstr>
      <vt:lpstr>人工智能入门实践 </vt:lpstr>
      <vt:lpstr>第五章 Pytorch基础</vt:lpstr>
      <vt:lpstr>5.1 PyTorch 概述</vt:lpstr>
      <vt:lpstr>5.1 PyTorch 概述</vt:lpstr>
      <vt:lpstr>5.1 PyTorch 概述</vt:lpstr>
      <vt:lpstr>5.2 张量与自动求导</vt:lpstr>
      <vt:lpstr>5.2 张量与自动求导</vt:lpstr>
      <vt:lpstr>5.2 张量与自动求导</vt:lpstr>
      <vt:lpstr>5.2 张量与自动求导</vt:lpstr>
      <vt:lpstr>5.2 张量与自动求导</vt:lpstr>
      <vt:lpstr>5.2 张量与自动求导</vt:lpstr>
      <vt:lpstr>5.2 张量与自动求导</vt:lpstr>
      <vt:lpstr>5.2 张量与自动求导</vt:lpstr>
      <vt:lpstr>5.2 张量与自动求导</vt:lpstr>
      <vt:lpstr>5.2 张量与自动求导</vt:lpstr>
      <vt:lpstr>5.2 张量与自动求导</vt:lpstr>
      <vt:lpstr>5.2 张量与自动求导</vt:lpstr>
      <vt:lpstr>5.2 张量与自动求导</vt:lpstr>
      <vt:lpstr>5.2 张量与自动求导</vt:lpstr>
      <vt:lpstr>5.2 张量与自动求导</vt:lpstr>
      <vt:lpstr>5.2 张量与自动求导</vt:lpstr>
      <vt:lpstr>5.2 张量与自动求导</vt:lpstr>
      <vt:lpstr>5.3 PyTorch神经网络工具箱</vt:lpstr>
      <vt:lpstr>5.3 PyTorch神经网络工具箱</vt:lpstr>
      <vt:lpstr>5.3 PyTorch神经网络工具箱</vt:lpstr>
      <vt:lpstr>5.3 PyTorch神经网络工具箱</vt:lpstr>
      <vt:lpstr>5.3 PyTorch神经网络工具箱</vt:lpstr>
      <vt:lpstr>5.3 PyTorch神经网络工具箱</vt:lpstr>
      <vt:lpstr>5.3 PyTorch神经网络工具箱</vt:lpstr>
      <vt:lpstr>5.3 PyTorch神经网络工具箱</vt:lpstr>
      <vt:lpstr>5.3 PyTorch神经网络工具箱</vt:lpstr>
      <vt:lpstr>5.3 PyTorch神经网络工具箱</vt:lpstr>
      <vt:lpstr>5.3 PyTorch神经网络工具箱</vt:lpstr>
      <vt:lpstr>5.3 PyTorch神经网络工具箱</vt:lpstr>
      <vt:lpstr>5.3 PyTorch神经网络工具箱</vt:lpstr>
      <vt:lpstr>5.3 PyTorch神经网络工具箱</vt:lpstr>
      <vt:lpstr>5.3 PyTorch神经网络工具箱</vt:lpstr>
      <vt:lpstr>5.3 PyTorch神经网络工具箱</vt:lpstr>
      <vt:lpstr>5.3 PyTorch神经网络工具箱</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5.4 PyTorch常用工具介绍</vt:lpstr>
      <vt:lpstr>5.5 PyTorch回归实战</vt:lpstr>
      <vt:lpstr>5.5 PyTorch回归实战</vt:lpstr>
      <vt:lpstr>5.5 PyTorch回归实战</vt:lpstr>
      <vt:lpstr>5.5 PyTorch回归实战</vt:lpstr>
      <vt:lpstr>5.5 PyTorch回归实战</vt:lpstr>
      <vt:lpstr>5.5 PyTorch回归实战</vt:lpstr>
      <vt:lpstr>5.5 PyTorch回归实战</vt:lpstr>
      <vt:lpstr>5.5 PyTorch回归实战</vt:lpstr>
      <vt:lpstr>5.5 PyTorch回归实战</vt:lpstr>
      <vt:lpstr>5.5 PyTorch回归实战</vt:lpstr>
      <vt:lpstr>5.7 本章小结</vt:lpstr>
      <vt:lpstr>习题</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人工智能入门实践 </dc:title>
  <dc:creator>DBY-W09</dc:creator>
  <cp:lastModifiedBy>肖波_flycity</cp:lastModifiedBy>
  <cp:revision>1663</cp:revision>
  <dcterms:created xsi:type="dcterms:W3CDTF">2019-06-18T10:08:00Z</dcterms:created>
  <dcterms:modified xsi:type="dcterms:W3CDTF">2023-10-27T01:02:28Z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519490E61755474BADA5B2563F55450F</vt:lpwstr>
  </property>
</Properties>
</file>