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06"/>
  </p:notesMasterIdLst>
  <p:sldIdLst>
    <p:sldId id="256" r:id="rId4"/>
    <p:sldId id="257" r:id="rId5"/>
    <p:sldId id="258" r:id="rId6"/>
    <p:sldId id="259" r:id="rId7"/>
    <p:sldId id="260" r:id="rId8"/>
    <p:sldId id="285" r:id="rId9"/>
    <p:sldId id="286" r:id="rId10"/>
    <p:sldId id="287" r:id="rId11"/>
    <p:sldId id="288" r:id="rId12"/>
    <p:sldId id="289" r:id="rId13"/>
    <p:sldId id="290" r:id="rId14"/>
    <p:sldId id="291" r:id="rId15"/>
    <p:sldId id="293" r:id="rId16"/>
    <p:sldId id="292"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8" r:id="rId51"/>
    <p:sldId id="327"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342" r:id="rId66"/>
    <p:sldId id="343" r:id="rId67"/>
    <p:sldId id="344" r:id="rId68"/>
    <p:sldId id="345" r:id="rId69"/>
    <p:sldId id="346" r:id="rId70"/>
    <p:sldId id="347" r:id="rId71"/>
    <p:sldId id="349" r:id="rId72"/>
    <p:sldId id="348" r:id="rId73"/>
    <p:sldId id="350" r:id="rId74"/>
    <p:sldId id="352" r:id="rId75"/>
    <p:sldId id="351" r:id="rId76"/>
    <p:sldId id="353" r:id="rId77"/>
    <p:sldId id="354" r:id="rId78"/>
    <p:sldId id="355" r:id="rId79"/>
    <p:sldId id="356" r:id="rId80"/>
    <p:sldId id="357" r:id="rId81"/>
    <p:sldId id="358" r:id="rId82"/>
    <p:sldId id="359" r:id="rId83"/>
    <p:sldId id="360" r:id="rId84"/>
    <p:sldId id="361" r:id="rId85"/>
    <p:sldId id="362" r:id="rId86"/>
    <p:sldId id="363" r:id="rId87"/>
    <p:sldId id="364" r:id="rId88"/>
    <p:sldId id="365" r:id="rId89"/>
    <p:sldId id="366" r:id="rId90"/>
    <p:sldId id="367" r:id="rId91"/>
    <p:sldId id="368" r:id="rId92"/>
    <p:sldId id="369" r:id="rId93"/>
    <p:sldId id="370" r:id="rId94"/>
    <p:sldId id="371" r:id="rId95"/>
    <p:sldId id="372" r:id="rId96"/>
    <p:sldId id="373" r:id="rId97"/>
    <p:sldId id="374" r:id="rId98"/>
    <p:sldId id="375" r:id="rId99"/>
    <p:sldId id="376" r:id="rId100"/>
    <p:sldId id="377" r:id="rId101"/>
    <p:sldId id="378" r:id="rId102"/>
    <p:sldId id="379" r:id="rId103"/>
    <p:sldId id="380" r:id="rId104"/>
    <p:sldId id="283" r:id="rId105"/>
  </p:sldIdLst>
  <p:sldSz cx="12192000" cy="6858000"/>
  <p:notesSz cx="6858000" cy="9144000"/>
  <p:custDataLst>
    <p:tags r:id="rId1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7CCE"/>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93" autoAdjust="0"/>
    <p:restoredTop sz="95519" autoAdjust="0"/>
  </p:normalViewPr>
  <p:slideViewPr>
    <p:cSldViewPr snapToGrid="0" showGuides="1">
      <p:cViewPr varScale="1">
        <p:scale>
          <a:sx n="91" d="100"/>
          <a:sy n="91" d="100"/>
        </p:scale>
        <p:origin x="182" y="53"/>
      </p:cViewPr>
      <p:guideLst>
        <p:guide orient="horz" pos="2160"/>
        <p:guide pos="3840"/>
      </p:guideLst>
    </p:cSldViewPr>
  </p:slideViewPr>
  <p:outlineViewPr>
    <p:cViewPr>
      <p:scale>
        <a:sx n="33" d="100"/>
        <a:sy n="33" d="100"/>
      </p:scale>
      <p:origin x="0" y="-108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1" Type="http://schemas.openxmlformats.org/officeDocument/2006/relationships/tags" Target="tags/tag293.xml"/><Relationship Id="rId110" Type="http://schemas.openxmlformats.org/officeDocument/2006/relationships/commentAuthors" Target="commentAuthors.xml"/><Relationship Id="rId11" Type="http://schemas.openxmlformats.org/officeDocument/2006/relationships/slide" Target="slides/slide8.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notesMaster" Target="notesMasters/notesMaster1.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31"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832"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83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834"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835"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836"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0" Type="http://schemas.openxmlformats.org/officeDocument/2006/relationships/tags" Target="../tags/tag14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0" Type="http://schemas.openxmlformats.org/officeDocument/2006/relationships/tags" Target="../tags/tag158.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0" Type="http://schemas.openxmlformats.org/officeDocument/2006/relationships/tags" Target="../tags/tag175.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75"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1048776"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48777"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78" name="页脚占位符 16"/>
          <p:cNvSpPr>
            <a:spLocks noGrp="1"/>
          </p:cNvSpPr>
          <p:nvPr>
            <p:ph type="ftr" sz="quarter" idx="11"/>
            <p:custDataLst>
              <p:tags r:id="rId5"/>
            </p:custDataLst>
          </p:nvPr>
        </p:nvSpPr>
        <p:spPr/>
        <p:txBody>
          <a:bodyPr/>
          <a:lstStyle/>
          <a:p>
            <a:endParaRPr lang="zh-CN" altLang="en-US" dirty="0"/>
          </a:p>
        </p:txBody>
      </p:sp>
      <p:sp>
        <p:nvSpPr>
          <p:cNvPr id="1048779"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89"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790"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791"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92" name="页脚占位符 4"/>
          <p:cNvSpPr>
            <a:spLocks noGrp="1"/>
          </p:cNvSpPr>
          <p:nvPr>
            <p:ph type="ftr" sz="quarter" idx="11"/>
            <p:custDataLst>
              <p:tags r:id="rId5"/>
            </p:custDataLst>
          </p:nvPr>
        </p:nvSpPr>
        <p:spPr/>
        <p:txBody>
          <a:bodyPr/>
          <a:lstStyle/>
          <a:p>
            <a:endParaRPr lang="zh-CN" altLang="en-US"/>
          </a:p>
        </p:txBody>
      </p:sp>
      <p:sp>
        <p:nvSpPr>
          <p:cNvPr id="1048793"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03"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1048804"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805"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806" name="页脚占位符 4"/>
          <p:cNvSpPr>
            <a:spLocks noGrp="1"/>
          </p:cNvSpPr>
          <p:nvPr>
            <p:ph type="ftr" sz="quarter" idx="11"/>
            <p:custDataLst>
              <p:tags r:id="rId5"/>
            </p:custDataLst>
          </p:nvPr>
        </p:nvSpPr>
        <p:spPr/>
        <p:txBody>
          <a:bodyPr/>
          <a:lstStyle/>
          <a:p>
            <a:endParaRPr lang="zh-CN" altLang="en-US"/>
          </a:p>
        </p:txBody>
      </p:sp>
      <p:sp>
        <p:nvSpPr>
          <p:cNvPr id="1048807"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08"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809"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0"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811"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812" name="页脚占位符 5"/>
          <p:cNvSpPr>
            <a:spLocks noGrp="1"/>
          </p:cNvSpPr>
          <p:nvPr>
            <p:ph type="ftr" sz="quarter" idx="11"/>
            <p:custDataLst>
              <p:tags r:id="rId6"/>
            </p:custDataLst>
          </p:nvPr>
        </p:nvSpPr>
        <p:spPr/>
        <p:txBody>
          <a:bodyPr/>
          <a:lstStyle/>
          <a:p>
            <a:endParaRPr lang="zh-CN" altLang="en-US"/>
          </a:p>
        </p:txBody>
      </p:sp>
      <p:sp>
        <p:nvSpPr>
          <p:cNvPr id="1048813"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14"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815"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816"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7"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1048818"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9"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820" name="页脚占位符 7"/>
          <p:cNvSpPr>
            <a:spLocks noGrp="1"/>
          </p:cNvSpPr>
          <p:nvPr>
            <p:ph type="ftr" sz="quarter" idx="11"/>
            <p:custDataLst>
              <p:tags r:id="rId8"/>
            </p:custDataLst>
          </p:nvPr>
        </p:nvSpPr>
        <p:spPr/>
        <p:txBody>
          <a:bodyPr/>
          <a:lstStyle/>
          <a:p>
            <a:endParaRPr lang="zh-CN" altLang="en-US"/>
          </a:p>
        </p:txBody>
      </p:sp>
      <p:sp>
        <p:nvSpPr>
          <p:cNvPr id="1048821"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80"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781"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82" name="页脚占位符 3"/>
          <p:cNvSpPr>
            <a:spLocks noGrp="1"/>
          </p:cNvSpPr>
          <p:nvPr>
            <p:ph type="ftr" sz="quarter" idx="11"/>
            <p:custDataLst>
              <p:tags r:id="rId4"/>
            </p:custDataLst>
          </p:nvPr>
        </p:nvSpPr>
        <p:spPr/>
        <p:txBody>
          <a:bodyPr/>
          <a:lstStyle/>
          <a:p>
            <a:endParaRPr lang="zh-CN" altLang="en-US"/>
          </a:p>
        </p:txBody>
      </p:sp>
      <p:sp>
        <p:nvSpPr>
          <p:cNvPr id="1048783"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2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823" name="页脚占位符 2"/>
          <p:cNvSpPr>
            <a:spLocks noGrp="1"/>
          </p:cNvSpPr>
          <p:nvPr>
            <p:ph type="ftr" sz="quarter" idx="11"/>
            <p:custDataLst>
              <p:tags r:id="rId3"/>
            </p:custDataLst>
          </p:nvPr>
        </p:nvSpPr>
        <p:spPr/>
        <p:txBody>
          <a:bodyPr/>
          <a:lstStyle/>
          <a:p>
            <a:endParaRPr lang="zh-CN" altLang="en-US"/>
          </a:p>
        </p:txBody>
      </p:sp>
      <p:sp>
        <p:nvSpPr>
          <p:cNvPr id="104882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825"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1048826"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1048827"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1048828" name="页脚占位符 5"/>
          <p:cNvSpPr>
            <a:spLocks noGrp="1"/>
          </p:cNvSpPr>
          <p:nvPr>
            <p:ph type="ftr" sz="quarter" idx="11"/>
            <p:custDataLst>
              <p:tags r:id="rId5"/>
            </p:custDataLst>
          </p:nvPr>
        </p:nvSpPr>
        <p:spPr/>
        <p:txBody>
          <a:bodyPr/>
          <a:lstStyle/>
          <a:p>
            <a:endParaRPr lang="zh-CN" altLang="en-US" dirty="0"/>
          </a:p>
        </p:txBody>
      </p:sp>
      <p:sp>
        <p:nvSpPr>
          <p:cNvPr id="1048829"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1048830"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94"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1048795"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96"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97" name="页脚占位符 4"/>
          <p:cNvSpPr>
            <a:spLocks noGrp="1"/>
          </p:cNvSpPr>
          <p:nvPr>
            <p:ph type="ftr" sz="quarter" idx="11"/>
            <p:custDataLst>
              <p:tags r:id="rId5"/>
            </p:custDataLst>
          </p:nvPr>
        </p:nvSpPr>
        <p:spPr/>
        <p:txBody>
          <a:bodyPr/>
          <a:lstStyle/>
          <a:p>
            <a:endParaRPr lang="zh-CN" altLang="en-US"/>
          </a:p>
        </p:txBody>
      </p:sp>
      <p:sp>
        <p:nvSpPr>
          <p:cNvPr id="1048798"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799"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800" name="页脚占位符 3"/>
          <p:cNvSpPr>
            <a:spLocks noGrp="1"/>
          </p:cNvSpPr>
          <p:nvPr>
            <p:ph type="ftr" sz="quarter" idx="11"/>
            <p:custDataLst>
              <p:tags r:id="rId3"/>
            </p:custDataLst>
          </p:nvPr>
        </p:nvSpPr>
        <p:spPr/>
        <p:txBody>
          <a:bodyPr/>
          <a:lstStyle/>
          <a:p>
            <a:endParaRPr lang="zh-CN" altLang="en-US"/>
          </a:p>
        </p:txBody>
      </p:sp>
      <p:sp>
        <p:nvSpPr>
          <p:cNvPr id="1048801"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802"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784"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785" name="页脚占位符 3"/>
          <p:cNvSpPr>
            <a:spLocks noGrp="1"/>
          </p:cNvSpPr>
          <p:nvPr>
            <p:ph type="ftr" sz="quarter" idx="11"/>
            <p:custDataLst>
              <p:tags r:id="rId3"/>
            </p:custDataLst>
          </p:nvPr>
        </p:nvSpPr>
        <p:spPr/>
        <p:txBody>
          <a:bodyPr/>
          <a:lstStyle/>
          <a:p>
            <a:endParaRPr lang="zh-CN" altLang="en-US"/>
          </a:p>
        </p:txBody>
      </p:sp>
      <p:sp>
        <p:nvSpPr>
          <p:cNvPr id="1048786"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787"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1048788"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48591" name="矩形 6"/>
          <p:cNvSpPr/>
          <p:nvPr userDrawn="1">
            <p:custDataLst>
              <p:tags r:id="rId2"/>
            </p:custDataLst>
          </p:nvPr>
        </p:nvSpPr>
        <p:spPr>
          <a:xfrm>
            <a:off x="274320" y="321260"/>
            <a:ext cx="11683455" cy="393053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1048592"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48593"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48594" name="矩形 9"/>
          <p:cNvSpPr/>
          <p:nvPr userDrawn="1">
            <p:custDataLst>
              <p:tags r:id="rId5"/>
            </p:custDataLst>
          </p:nvPr>
        </p:nvSpPr>
        <p:spPr>
          <a:xfrm>
            <a:off x="9471025" y="6254750"/>
            <a:ext cx="180022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5" name="矩形 10"/>
          <p:cNvSpPr/>
          <p:nvPr userDrawn="1">
            <p:custDataLst>
              <p:tags r:id="rId6"/>
            </p:custDataLst>
          </p:nvPr>
        </p:nvSpPr>
        <p:spPr>
          <a:xfrm flipV="1">
            <a:off x="750570" y="6305550"/>
            <a:ext cx="71564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6" name="矩形 11"/>
          <p:cNvSpPr/>
          <p:nvPr userDrawn="1">
            <p:custDataLst>
              <p:tags r:id="rId7"/>
            </p:custDataLst>
          </p:nvPr>
        </p:nvSpPr>
        <p:spPr>
          <a:xfrm>
            <a:off x="1555115" y="6306820"/>
            <a:ext cx="88900"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7" name="矩形 12"/>
          <p:cNvSpPr/>
          <p:nvPr userDrawn="1">
            <p:custDataLst>
              <p:tags r:id="rId8"/>
            </p:custDataLst>
          </p:nvPr>
        </p:nvSpPr>
        <p:spPr>
          <a:xfrm>
            <a:off x="1731010" y="6306820"/>
            <a:ext cx="25336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8"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048599" name="页脚占位符 16"/>
          <p:cNvSpPr>
            <a:spLocks noGrp="1"/>
          </p:cNvSpPr>
          <p:nvPr>
            <p:ph type="ftr" sz="quarter" idx="11"/>
            <p:custDataLst>
              <p:tags r:id="rId10"/>
            </p:custDataLst>
          </p:nvPr>
        </p:nvSpPr>
        <p:spPr/>
        <p:txBody>
          <a:bodyPr/>
          <a:lstStyle/>
          <a:p>
            <a:endParaRPr lang="zh-CN" altLang="en-US" dirty="0"/>
          </a:p>
        </p:txBody>
      </p:sp>
      <p:sp>
        <p:nvSpPr>
          <p:cNvPr id="1048600"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1048601"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1048602"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85000"/>
                    <a:lumOff val="15000"/>
                  </a:schemeClr>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48603"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58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58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585" name="页脚占位符 4"/>
          <p:cNvSpPr>
            <a:spLocks noGrp="1"/>
          </p:cNvSpPr>
          <p:nvPr>
            <p:ph type="ftr" sz="quarter" idx="11"/>
            <p:custDataLst>
              <p:tags r:id="rId5"/>
            </p:custDataLst>
          </p:nvPr>
        </p:nvSpPr>
        <p:spPr/>
        <p:txBody>
          <a:bodyPr/>
          <a:lstStyle/>
          <a:p>
            <a:endParaRPr lang="zh-CN" altLang="en-US"/>
          </a:p>
        </p:txBody>
      </p:sp>
      <p:sp>
        <p:nvSpPr>
          <p:cNvPr id="104858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50" name="矩形 13"/>
          <p:cNvSpPr/>
          <p:nvPr userDrawn="1">
            <p:custDataLst>
              <p:tags r:id="rId2"/>
            </p:custDataLst>
          </p:nvPr>
        </p:nvSpPr>
        <p:spPr>
          <a:xfrm>
            <a:off x="0" y="6474460"/>
            <a:ext cx="12192000" cy="38354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1048751"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752"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753"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754" name="页脚占位符 4"/>
          <p:cNvSpPr>
            <a:spLocks noGrp="1"/>
          </p:cNvSpPr>
          <p:nvPr>
            <p:ph type="ftr" sz="quarter" idx="11"/>
            <p:custDataLst>
              <p:tags r:id="rId6"/>
            </p:custDataLst>
          </p:nvPr>
        </p:nvSpPr>
        <p:spPr/>
        <p:txBody>
          <a:bodyPr/>
          <a:lstStyle/>
          <a:p>
            <a:endParaRPr lang="zh-CN" altLang="en-US"/>
          </a:p>
        </p:txBody>
      </p:sp>
      <p:sp>
        <p:nvSpPr>
          <p:cNvPr id="1048755"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690"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691" name="内容占位符 2"/>
          <p:cNvSpPr>
            <a:spLocks noGrp="1"/>
          </p:cNvSpPr>
          <p:nvPr>
            <p:ph sz="half" idx="1"/>
            <p:custDataLst>
              <p:tags r:id="rId3"/>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92" name="内容占位符 3"/>
          <p:cNvSpPr>
            <a:spLocks noGrp="1"/>
          </p:cNvSpPr>
          <p:nvPr>
            <p:ph sz="half" idx="2"/>
            <p:custDataLst>
              <p:tags r:id="rId4"/>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93"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694" name="页脚占位符 5"/>
          <p:cNvSpPr>
            <a:spLocks noGrp="1"/>
          </p:cNvSpPr>
          <p:nvPr>
            <p:ph type="ftr" sz="quarter" idx="11"/>
            <p:custDataLst>
              <p:tags r:id="rId6"/>
            </p:custDataLst>
          </p:nvPr>
        </p:nvSpPr>
        <p:spPr/>
        <p:txBody>
          <a:bodyPr/>
          <a:lstStyle/>
          <a:p>
            <a:endParaRPr lang="zh-CN" altLang="en-US"/>
          </a:p>
        </p:txBody>
      </p:sp>
      <p:sp>
        <p:nvSpPr>
          <p:cNvPr id="1048695"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6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76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76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6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104876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6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768" name="页脚占位符 7"/>
          <p:cNvSpPr>
            <a:spLocks noGrp="1"/>
          </p:cNvSpPr>
          <p:nvPr>
            <p:ph type="ftr" sz="quarter" idx="11"/>
            <p:custDataLst>
              <p:tags r:id="rId8"/>
            </p:custDataLst>
          </p:nvPr>
        </p:nvSpPr>
        <p:spPr/>
        <p:txBody>
          <a:bodyPr/>
          <a:lstStyle/>
          <a:p>
            <a:endParaRPr lang="zh-CN" altLang="en-US"/>
          </a:p>
        </p:txBody>
      </p:sp>
      <p:sp>
        <p:nvSpPr>
          <p:cNvPr id="104876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20"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1048721"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22" name="页脚占位符 3"/>
          <p:cNvSpPr>
            <a:spLocks noGrp="1"/>
          </p:cNvSpPr>
          <p:nvPr>
            <p:ph type="ftr" sz="quarter" idx="11"/>
            <p:custDataLst>
              <p:tags r:id="rId4"/>
            </p:custDataLst>
          </p:nvPr>
        </p:nvSpPr>
        <p:spPr/>
        <p:txBody>
          <a:bodyPr/>
          <a:lstStyle/>
          <a:p>
            <a:endParaRPr lang="zh-CN" altLang="en-US"/>
          </a:p>
        </p:txBody>
      </p:sp>
      <p:sp>
        <p:nvSpPr>
          <p:cNvPr id="1048723"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69"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670" name="页脚占位符 2"/>
          <p:cNvSpPr>
            <a:spLocks noGrp="1"/>
          </p:cNvSpPr>
          <p:nvPr>
            <p:ph type="ftr" sz="quarter" idx="11"/>
            <p:custDataLst>
              <p:tags r:id="rId3"/>
            </p:custDataLst>
          </p:nvPr>
        </p:nvSpPr>
        <p:spPr/>
        <p:txBody>
          <a:bodyPr/>
          <a:lstStyle/>
          <a:p>
            <a:endParaRPr lang="zh-CN" altLang="en-US"/>
          </a:p>
        </p:txBody>
      </p:sp>
      <p:sp>
        <p:nvSpPr>
          <p:cNvPr id="1048671"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05"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706"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5pPr>
          </a:lstStyle>
          <a:p>
            <a:pPr lvl="0"/>
            <a:endParaRPr dirty="0">
              <a:sym typeface="+mn-ea"/>
            </a:endParaRPr>
          </a:p>
        </p:txBody>
      </p:sp>
      <p:sp>
        <p:nvSpPr>
          <p:cNvPr id="1048707"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1048708"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1048709" name="页脚占位符 5"/>
          <p:cNvSpPr>
            <a:spLocks noGrp="1"/>
          </p:cNvSpPr>
          <p:nvPr>
            <p:ph type="ftr" sz="quarter" idx="11"/>
            <p:custDataLst>
              <p:tags r:id="rId6"/>
            </p:custDataLst>
          </p:nvPr>
        </p:nvSpPr>
        <p:spPr/>
        <p:txBody>
          <a:bodyPr/>
          <a:lstStyle/>
          <a:p>
            <a:endParaRPr lang="zh-CN" altLang="en-US" dirty="0"/>
          </a:p>
        </p:txBody>
      </p:sp>
      <p:sp>
        <p:nvSpPr>
          <p:cNvPr id="1048710"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37"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1048738"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39"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40" name="页脚占位符 4"/>
          <p:cNvSpPr>
            <a:spLocks noGrp="1"/>
          </p:cNvSpPr>
          <p:nvPr>
            <p:ph type="ftr" sz="quarter" idx="11"/>
            <p:custDataLst>
              <p:tags r:id="rId5"/>
            </p:custDataLst>
          </p:nvPr>
        </p:nvSpPr>
        <p:spPr/>
        <p:txBody>
          <a:bodyPr/>
          <a:lstStyle/>
          <a:p>
            <a:endParaRPr lang="zh-CN" altLang="en-US"/>
          </a:p>
        </p:txBody>
      </p:sp>
      <p:sp>
        <p:nvSpPr>
          <p:cNvPr id="1048741"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678"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679" name="页脚占位符 3"/>
          <p:cNvSpPr>
            <a:spLocks noGrp="1"/>
          </p:cNvSpPr>
          <p:nvPr>
            <p:ph type="ftr" sz="quarter" idx="11"/>
            <p:custDataLst>
              <p:tags r:id="rId3"/>
            </p:custDataLst>
          </p:nvPr>
        </p:nvSpPr>
        <p:spPr/>
        <p:txBody>
          <a:bodyPr/>
          <a:lstStyle/>
          <a:p>
            <a:endParaRPr lang="zh-CN" altLang="en-US"/>
          </a:p>
        </p:txBody>
      </p:sp>
      <p:sp>
        <p:nvSpPr>
          <p:cNvPr id="1048680"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681" name="内容占位符 6"/>
          <p:cNvSpPr>
            <a:spLocks noGrp="1"/>
          </p:cNvSpPr>
          <p:nvPr>
            <p:ph sz="quarter" idx="13"/>
            <p:custDataLst>
              <p:tags r:id="rId5"/>
            </p:custDataLst>
          </p:nvPr>
        </p:nvSpPr>
        <p:spPr>
          <a:xfrm>
            <a:off x="669930" y="952508"/>
            <a:ext cx="10852237" cy="5388907"/>
          </a:xfr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682" name="矩形 5"/>
          <p:cNvSpPr/>
          <p:nvPr userDrawn="1">
            <p:custDataLst>
              <p:tags r:id="rId2"/>
            </p:custDataLst>
          </p:nvPr>
        </p:nvSpPr>
        <p:spPr>
          <a:xfrm>
            <a:off x="262255" y="318135"/>
            <a:ext cx="11683365" cy="5634990"/>
          </a:xfrm>
          <a:prstGeom prst="rect">
            <a:avLst/>
          </a:prstGeom>
          <a:solidFill>
            <a:schemeClr val="tx2">
              <a:lumMod val="10000"/>
              <a:alpha val="8000"/>
            </a:schemeClr>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1048683"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84"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85"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86"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1048687"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688" name="页脚占位符 3"/>
          <p:cNvSpPr>
            <a:spLocks noGrp="1"/>
          </p:cNvSpPr>
          <p:nvPr>
            <p:ph type="ftr" sz="quarter" idx="11"/>
            <p:custDataLst>
              <p:tags r:id="rId8"/>
            </p:custDataLst>
          </p:nvPr>
        </p:nvSpPr>
        <p:spPr/>
        <p:txBody>
          <a:bodyPr/>
          <a:lstStyle/>
          <a:p>
            <a:endParaRPr lang="zh-CN" altLang="en-US"/>
          </a:p>
        </p:txBody>
      </p:sp>
      <p:sp>
        <p:nvSpPr>
          <p:cNvPr id="1048689"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1048733" name="标题 1"/>
          <p:cNvSpPr>
            <a:spLocks noGrp="1"/>
          </p:cNvSpPr>
          <p:nvPr>
            <p:ph type="title"/>
            <p:custDataLst>
              <p:tags r:id="rId2"/>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34"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35" name="页脚占位符 3"/>
          <p:cNvSpPr>
            <a:spLocks noGrp="1"/>
          </p:cNvSpPr>
          <p:nvPr>
            <p:ph type="ftr" sz="quarter" idx="11"/>
            <p:custDataLst>
              <p:tags r:id="rId4"/>
            </p:custDataLst>
          </p:nvPr>
        </p:nvSpPr>
        <p:spPr/>
        <p:txBody>
          <a:bodyPr/>
          <a:lstStyle/>
          <a:p>
            <a:endParaRPr lang="zh-CN" altLang="en-US" dirty="0"/>
          </a:p>
        </p:txBody>
      </p:sp>
      <p:sp>
        <p:nvSpPr>
          <p:cNvPr id="1048736"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tx2"/>
            </a:gs>
            <a:gs pos="100000">
              <a:schemeClr val="tx2"/>
            </a:gs>
          </a:gsLst>
          <a:lin ang="5400000" scaled="0"/>
        </a:gradFill>
        <a:effectLst/>
      </p:bgPr>
    </p:bg>
    <p:spTree>
      <p:nvGrpSpPr>
        <p:cNvPr id="1" name=""/>
        <p:cNvGrpSpPr/>
        <p:nvPr/>
      </p:nvGrpSpPr>
      <p:grpSpPr>
        <a:xfrm>
          <a:off x="0" y="0"/>
          <a:ext cx="0" cy="0"/>
          <a:chOff x="0" y="0"/>
          <a:chExt cx="0" cy="0"/>
        </a:xfrm>
      </p:grpSpPr>
      <p:sp>
        <p:nvSpPr>
          <p:cNvPr id="1048672" name="矩形 7"/>
          <p:cNvSpPr/>
          <p:nvPr userDrawn="1">
            <p:custDataLst>
              <p:tags r:id="rId2"/>
            </p:custDataLst>
          </p:nvPr>
        </p:nvSpPr>
        <p:spPr>
          <a:xfrm>
            <a:off x="292800" y="304200"/>
            <a:ext cx="11606400" cy="62496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3"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674"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75"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676" name="页脚占位符 3"/>
          <p:cNvSpPr>
            <a:spLocks noGrp="1"/>
          </p:cNvSpPr>
          <p:nvPr>
            <p:ph type="ftr" sz="quarter" idx="11"/>
            <p:custDataLst>
              <p:tags r:id="rId6"/>
            </p:custDataLst>
          </p:nvPr>
        </p:nvSpPr>
        <p:spPr/>
        <p:txBody>
          <a:bodyPr/>
          <a:lstStyle/>
          <a:p>
            <a:endParaRPr lang="zh-CN" altLang="en-US" dirty="0"/>
          </a:p>
        </p:txBody>
      </p:sp>
      <p:sp>
        <p:nvSpPr>
          <p:cNvPr id="1048677"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24" name="矩形 7"/>
          <p:cNvSpPr/>
          <p:nvPr userDrawn="1">
            <p:custDataLst>
              <p:tags r:id="rId2"/>
            </p:custDataLst>
          </p:nvPr>
        </p:nvSpPr>
        <p:spPr>
          <a:xfrm>
            <a:off x="0" y="0"/>
            <a:ext cx="4823460" cy="686625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048725" name="任意形状 8"/>
          <p:cNvSpPr/>
          <p:nvPr userDrawn="1">
            <p:custDataLst>
              <p:tags r:id="rId3"/>
            </p:custDataLst>
          </p:nvPr>
        </p:nvSpPr>
        <p:spPr>
          <a:xfrm rot="16200000">
            <a:off x="-21591" y="21328"/>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26" name="任意形状 9"/>
          <p:cNvSpPr/>
          <p:nvPr userDrawn="1">
            <p:custDataLst>
              <p:tags r:id="rId4"/>
            </p:custDataLst>
          </p:nvPr>
        </p:nvSpPr>
        <p:spPr>
          <a:xfrm rot="10800000">
            <a:off x="0" y="5905547"/>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27"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1048728"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048729" name="页脚占位符 3"/>
          <p:cNvSpPr>
            <a:spLocks noGrp="1"/>
          </p:cNvSpPr>
          <p:nvPr>
            <p:ph type="ftr" sz="quarter" idx="11"/>
            <p:custDataLst>
              <p:tags r:id="rId7"/>
            </p:custDataLst>
          </p:nvPr>
        </p:nvSpPr>
        <p:spPr/>
        <p:txBody>
          <a:bodyPr/>
          <a:lstStyle/>
          <a:p>
            <a:endParaRPr lang="zh-CN" altLang="en-US" dirty="0"/>
          </a:p>
        </p:txBody>
      </p:sp>
      <p:sp>
        <p:nvSpPr>
          <p:cNvPr id="1048730"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48731"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32"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696" name="矩形 9"/>
          <p:cNvSpPr/>
          <p:nvPr userDrawn="1">
            <p:custDataLst>
              <p:tags r:id="rId2"/>
            </p:custDataLst>
          </p:nvPr>
        </p:nvSpPr>
        <p:spPr>
          <a:xfrm>
            <a:off x="-635" y="-10160"/>
            <a:ext cx="12192000" cy="266382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697" name="任意形状 9"/>
          <p:cNvSpPr/>
          <p:nvPr userDrawn="1">
            <p:custDataLst>
              <p:tags r:id="rId3"/>
            </p:custDataLst>
          </p:nvPr>
        </p:nvSpPr>
        <p:spPr>
          <a:xfrm rot="16200000">
            <a:off x="-15208" y="508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20000"/>
                </a:schemeClr>
              </a:gs>
              <a:gs pos="100000">
                <a:schemeClr val="bg2">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98" name="任意形状 8"/>
          <p:cNvSpPr/>
          <p:nvPr userDrawn="1">
            <p:custDataLst>
              <p:tags r:id="rId4"/>
            </p:custDataLst>
          </p:nvPr>
        </p:nvSpPr>
        <p:spPr>
          <a:xfrm>
            <a:off x="10349230" y="-9939"/>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99"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00"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048701" name="页脚占位符 3"/>
          <p:cNvSpPr>
            <a:spLocks noGrp="1"/>
          </p:cNvSpPr>
          <p:nvPr>
            <p:ph type="ftr" sz="quarter" idx="11"/>
            <p:custDataLst>
              <p:tags r:id="rId7"/>
            </p:custDataLst>
          </p:nvPr>
        </p:nvSpPr>
        <p:spPr/>
        <p:txBody>
          <a:bodyPr/>
          <a:lstStyle/>
          <a:p>
            <a:endParaRPr lang="zh-CN" altLang="en-US" dirty="0"/>
          </a:p>
        </p:txBody>
      </p:sp>
      <p:sp>
        <p:nvSpPr>
          <p:cNvPr id="1048702"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48703"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048704"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42" name="矩形 7"/>
          <p:cNvSpPr/>
          <p:nvPr userDrawn="1">
            <p:custDataLst>
              <p:tags r:id="rId2"/>
            </p:custDataLst>
          </p:nvPr>
        </p:nvSpPr>
        <p:spPr>
          <a:xfrm>
            <a:off x="3810" y="5026661"/>
            <a:ext cx="12192000" cy="1828799"/>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43" name="任意形状 9"/>
          <p:cNvSpPr/>
          <p:nvPr userDrawn="1">
            <p:custDataLst>
              <p:tags r:id="rId3"/>
            </p:custDataLst>
          </p:nvPr>
        </p:nvSpPr>
        <p:spPr>
          <a:xfrm rot="10800000">
            <a:off x="0" y="590296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5000"/>
                  <a:alpha val="20000"/>
                </a:schemeClr>
              </a:gs>
              <a:gs pos="100000">
                <a:schemeClr val="bg2">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44"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45"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746" name="页脚占位符 3"/>
          <p:cNvSpPr>
            <a:spLocks noGrp="1"/>
          </p:cNvSpPr>
          <p:nvPr>
            <p:ph type="ftr" sz="quarter" idx="11"/>
            <p:custDataLst>
              <p:tags r:id="rId6"/>
            </p:custDataLst>
          </p:nvPr>
        </p:nvSpPr>
        <p:spPr/>
        <p:txBody>
          <a:bodyPr/>
          <a:lstStyle/>
          <a:p>
            <a:endParaRPr lang="zh-CN" altLang="en-US" dirty="0"/>
          </a:p>
        </p:txBody>
      </p:sp>
      <p:sp>
        <p:nvSpPr>
          <p:cNvPr id="1048747"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1048748"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4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11" name="矩形 9"/>
          <p:cNvSpPr/>
          <p:nvPr userDrawn="1">
            <p:custDataLst>
              <p:tags r:id="rId2"/>
            </p:custDataLst>
          </p:nvPr>
        </p:nvSpPr>
        <p:spPr>
          <a:xfrm>
            <a:off x="0" y="0"/>
            <a:ext cx="12192000" cy="914400"/>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12" name="标题 1"/>
          <p:cNvSpPr>
            <a:spLocks noGrp="1"/>
          </p:cNvSpPr>
          <p:nvPr>
            <p:ph type="title"/>
            <p:custDataLst>
              <p:tags r:id="rId3"/>
            </p:custDataLst>
          </p:nvPr>
        </p:nvSpPr>
        <p:spPr>
          <a:xfrm>
            <a:off x="579755" y="237490"/>
            <a:ext cx="11031220" cy="506730"/>
          </a:xfrm>
        </p:spPr>
        <p:txBody>
          <a:bodyPr wrap="none">
            <a:noAutofit/>
          </a:bodyPr>
          <a:lstStyle>
            <a:lvl1pPr algn="l">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1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14" name="页脚占位符 3"/>
          <p:cNvSpPr>
            <a:spLocks noGrp="1"/>
          </p:cNvSpPr>
          <p:nvPr>
            <p:ph type="ftr" sz="quarter" idx="11"/>
            <p:custDataLst>
              <p:tags r:id="rId5"/>
            </p:custDataLst>
          </p:nvPr>
        </p:nvSpPr>
        <p:spPr/>
        <p:txBody>
          <a:bodyPr/>
          <a:lstStyle/>
          <a:p>
            <a:endParaRPr lang="zh-CN" altLang="en-US" dirty="0"/>
          </a:p>
        </p:txBody>
      </p:sp>
      <p:sp>
        <p:nvSpPr>
          <p:cNvPr id="104871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048716"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7"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8"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048719"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56" name="矩形 9"/>
          <p:cNvSpPr/>
          <p:nvPr userDrawn="1">
            <p:custDataLst>
              <p:tags r:id="rId2"/>
            </p:custDataLst>
          </p:nvPr>
        </p:nvSpPr>
        <p:spPr>
          <a:xfrm>
            <a:off x="0" y="959224"/>
            <a:ext cx="12192000" cy="4939553"/>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57"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758"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59" name="页脚占位符 3"/>
          <p:cNvSpPr>
            <a:spLocks noGrp="1"/>
          </p:cNvSpPr>
          <p:nvPr>
            <p:ph type="ftr" sz="quarter" idx="11"/>
            <p:custDataLst>
              <p:tags r:id="rId5"/>
            </p:custDataLst>
          </p:nvPr>
        </p:nvSpPr>
        <p:spPr/>
        <p:txBody>
          <a:bodyPr/>
          <a:lstStyle/>
          <a:p>
            <a:endParaRPr lang="zh-CN" altLang="en-US" dirty="0"/>
          </a:p>
        </p:txBody>
      </p:sp>
      <p:sp>
        <p:nvSpPr>
          <p:cNvPr id="1048760"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048761"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187.xml"/><Relationship Id="rId23" Type="http://schemas.openxmlformats.org/officeDocument/2006/relationships/tags" Target="../tags/tag186.xml"/><Relationship Id="rId22" Type="http://schemas.openxmlformats.org/officeDocument/2006/relationships/tags" Target="../tags/tag185.xml"/><Relationship Id="rId21" Type="http://schemas.openxmlformats.org/officeDocument/2006/relationships/tags" Target="../tags/tag184.xml"/><Relationship Id="rId20" Type="http://schemas.openxmlformats.org/officeDocument/2006/relationships/tags" Target="../tags/tag183.xml"/><Relationship Id="rId2" Type="http://schemas.openxmlformats.org/officeDocument/2006/relationships/slideLayout" Target="../slideLayouts/slideLayout13.xml"/><Relationship Id="rId19" Type="http://schemas.openxmlformats.org/officeDocument/2006/relationships/tags" Target="../tags/tag182.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048770"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1048771"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72"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048773"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774"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5400000" scaled="0"/>
        </a:gradFill>
        <a:effectLst/>
      </p:bgPr>
    </p:bg>
    <p:spTree>
      <p:nvGrpSpPr>
        <p:cNvPr id="1"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669882" y="443230"/>
            <a:ext cx="10852237" cy="441964"/>
          </a:xfrm>
          <a:prstGeom prst="rect">
            <a:avLst/>
          </a:prstGeom>
        </p:spPr>
        <p:txBody>
          <a:bodyPr vert="horz" lIns="91440" tIns="45720" rIns="91440" bIns="45720" rtlCol="0" anchor="t" anchorCtr="0">
            <a:normAutofit/>
          </a:bodyPr>
          <a:lstStyle/>
          <a:p>
            <a:r>
              <a:rPr lang="zh-CN" altLang="en-US" dirty="0"/>
              <a:t>单击此处编辑母版标题样式</a:t>
            </a:r>
            <a:endParaRPr lang="zh-CN" altLang="en-US" dirty="0"/>
          </a:p>
        </p:txBody>
      </p:sp>
      <p:sp>
        <p:nvSpPr>
          <p:cNvPr id="1048577" name="文本占位符 2"/>
          <p:cNvSpPr>
            <a:spLocks noGrp="1"/>
          </p:cNvSpPr>
          <p:nvPr>
            <p:ph type="body" idx="1"/>
            <p:custDataLst>
              <p:tags r:id="rId20"/>
            </p:custDataLst>
          </p:nvPr>
        </p:nvSpPr>
        <p:spPr>
          <a:xfrm>
            <a:off x="669882" y="952508"/>
            <a:ext cx="10852237" cy="5388907"/>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1048579"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1048581"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93.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7.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tags" Target="../tags/tag199.xml"/><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tags" Target="../tags/tag19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6.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8.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0.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1.xml"/><Relationship Id="rId1"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2.xml"/><Relationship Id="rId1"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3.xml"/><Relationship Id="rId1"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4.xml"/><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5.xml"/><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6.xml"/><Relationship Id="rId1" Type="http://schemas.openxmlformats.org/officeDocument/2006/relationships/image" Target="../media/image9.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7.xml"/><Relationship Id="rId1" Type="http://schemas.openxmlformats.org/officeDocument/2006/relationships/image" Target="../media/image10.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9.xml"/><Relationship Id="rId1" Type="http://schemas.openxmlformats.org/officeDocument/2006/relationships/image" Target="../media/image11.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0.xml"/><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1.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2.xml"/><Relationship Id="rId1" Type="http://schemas.openxmlformats.org/officeDocument/2006/relationships/image" Target="../media/image14.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3.xml"/><Relationship Id="rId2" Type="http://schemas.openxmlformats.org/officeDocument/2006/relationships/image" Target="../media/image16.png"/><Relationship Id="rId1" Type="http://schemas.openxmlformats.org/officeDocument/2006/relationships/image" Target="../media/image15.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4.xml"/><Relationship Id="rId2" Type="http://schemas.openxmlformats.org/officeDocument/2006/relationships/image" Target="../media/image18.png"/><Relationship Id="rId1" Type="http://schemas.openxmlformats.org/officeDocument/2006/relationships/image" Target="../media/image17.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5.xml"/><Relationship Id="rId1" Type="http://schemas.openxmlformats.org/officeDocument/2006/relationships/image" Target="../media/image19.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6.xml"/><Relationship Id="rId2" Type="http://schemas.openxmlformats.org/officeDocument/2006/relationships/image" Target="../media/image21.png"/><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7.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58.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9.xml"/><Relationship Id="rId1" Type="http://schemas.openxmlformats.org/officeDocument/2006/relationships/image" Target="../media/image26.png"/></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60.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61.xml"/><Relationship Id="rId2" Type="http://schemas.openxmlformats.org/officeDocument/2006/relationships/image" Target="../media/image31.png"/><Relationship Id="rId1" Type="http://schemas.openxmlformats.org/officeDocument/2006/relationships/image" Target="../media/image30.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2.xml"/><Relationship Id="rId1" Type="http://schemas.openxmlformats.org/officeDocument/2006/relationships/image" Target="../media/image32.png"/></Relationships>
</file>

<file path=ppt/slides/_rels/slide7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63.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4.xml"/><Relationship Id="rId1" Type="http://schemas.openxmlformats.org/officeDocument/2006/relationships/image" Target="../media/image34.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65.xml"/><Relationship Id="rId2" Type="http://schemas.openxmlformats.org/officeDocument/2006/relationships/image" Target="../media/image36.png"/><Relationship Id="rId1" Type="http://schemas.openxmlformats.org/officeDocument/2006/relationships/image" Target="../media/image35.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6.xml"/><Relationship Id="rId1" Type="http://schemas.openxmlformats.org/officeDocument/2006/relationships/image" Target="../media/image37.png"/></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67.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68.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9.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0.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71.xml"/><Relationship Id="rId1" Type="http://schemas.openxmlformats.org/officeDocument/2006/relationships/image" Target="../media/image44.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72.xml"/><Relationship Id="rId1" Type="http://schemas.openxmlformats.org/officeDocument/2006/relationships/image" Target="../media/image4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3.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74.xml"/><Relationship Id="rId1" Type="http://schemas.openxmlformats.org/officeDocument/2006/relationships/image" Target="../media/image46.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75.xml"/><Relationship Id="rId1" Type="http://schemas.openxmlformats.org/officeDocument/2006/relationships/image" Target="../media/image47.png"/></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76.xml"/><Relationship Id="rId2" Type="http://schemas.openxmlformats.org/officeDocument/2006/relationships/image" Target="../media/image49.png"/><Relationship Id="rId1" Type="http://schemas.openxmlformats.org/officeDocument/2006/relationships/image" Target="../media/image48.png"/></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77.xml"/><Relationship Id="rId2" Type="http://schemas.openxmlformats.org/officeDocument/2006/relationships/image" Target="../media/image51.png"/><Relationship Id="rId1" Type="http://schemas.openxmlformats.org/officeDocument/2006/relationships/image" Target="../media/image5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8.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79.xml"/><Relationship Id="rId1" Type="http://schemas.openxmlformats.org/officeDocument/2006/relationships/image" Target="../media/image52.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0.xml"/><Relationship Id="rId1" Type="http://schemas.openxmlformats.org/officeDocument/2006/relationships/image" Target="../media/image53.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1.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2.xml"/><Relationship Id="rId1" Type="http://schemas.openxmlformats.org/officeDocument/2006/relationships/image" Target="../media/image5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3.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4.xml"/><Relationship Id="rId1" Type="http://schemas.openxmlformats.org/officeDocument/2006/relationships/image" Target="../media/image55.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5.xml"/><Relationship Id="rId1" Type="http://schemas.openxmlformats.org/officeDocument/2006/relationships/image" Target="../media/image56.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6.xml"/><Relationship Id="rId1" Type="http://schemas.openxmlformats.org/officeDocument/2006/relationships/image" Target="../media/image57.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7.xml"/><Relationship Id="rId1" Type="http://schemas.openxmlformats.org/officeDocument/2006/relationships/image" Target="../media/image58.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8.xml"/><Relationship Id="rId1" Type="http://schemas.openxmlformats.org/officeDocument/2006/relationships/image" Target="../media/image59.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9.xml"/><Relationship Id="rId1" Type="http://schemas.openxmlformats.org/officeDocument/2006/relationships/image" Target="../media/image60.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90.xml"/><Relationship Id="rId1" Type="http://schemas.openxmlformats.org/officeDocument/2006/relationships/image" Target="../media/image61.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1.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标题 3"/>
          <p:cNvSpPr>
            <a:spLocks noGrp="1"/>
          </p:cNvSpPr>
          <p:nvPr>
            <p:ph type="ctrTitle"/>
            <p:custDataLst>
              <p:tags r:id="rId1"/>
            </p:custDataLst>
          </p:nvPr>
        </p:nvSpPr>
        <p:spPr>
          <a:xfrm>
            <a:off x="1717675" y="1674448"/>
            <a:ext cx="8316595" cy="1896745"/>
          </a:xfrm>
        </p:spPr>
        <p:txBody>
          <a:bodyPr>
            <a:normAutofit fontScale="90000"/>
          </a:bodyPr>
          <a:lstStyle/>
          <a:p>
            <a:r>
              <a:rPr lang="zh-CN" altLang="en-US" dirty="0">
                <a:solidFill>
                  <a:schemeClr val="accent1"/>
                </a:solidFill>
                <a:sym typeface="Arial" panose="020B0604020202020204" pitchFamily="34" charset="0"/>
              </a:rPr>
              <a:t>人工智能入门实践</a:t>
            </a:r>
            <a:br>
              <a:rPr lang="zh-CN" altLang="en-US" dirty="0">
                <a:sym typeface="Arial" panose="020B0604020202020204" pitchFamily="34" charset="0"/>
              </a:rPr>
            </a:br>
            <a:endParaRPr lang="zh-CN" altLang="en-US" dirty="0">
              <a:sym typeface="Arial" panose="020B0604020202020204" pitchFamily="34" charset="0"/>
            </a:endParaRPr>
          </a:p>
        </p:txBody>
      </p:sp>
      <p:sp>
        <p:nvSpPr>
          <p:cNvPr id="1048605" name="文本占位符 4"/>
          <p:cNvSpPr>
            <a:spLocks noGrp="1"/>
          </p:cNvSpPr>
          <p:nvPr>
            <p:ph type="body" sz="quarter" idx="13"/>
            <p:custDataLst>
              <p:tags r:id="rId2"/>
            </p:custDataLst>
          </p:nvPr>
        </p:nvSpPr>
        <p:spPr>
          <a:xfrm>
            <a:off x="1717675" y="4747260"/>
            <a:ext cx="8370570" cy="1427480"/>
          </a:xfrm>
        </p:spPr>
        <p:txBody>
          <a:bodyPr>
            <a:normAutofit/>
          </a:bodyPr>
          <a:lstStyle/>
          <a:p>
            <a:r>
              <a:rPr lang="en-US" altLang="zh-CN" dirty="0">
                <a:solidFill>
                  <a:schemeClr val="accent1">
                    <a:lumMod val="75000"/>
                  </a:schemeClr>
                </a:solidFill>
                <a:sym typeface="Arial" panose="020B0604020202020204" pitchFamily="34" charset="0"/>
              </a:rPr>
              <a:t>演讲者：</a:t>
            </a:r>
            <a:endParaRPr lang="en-US" altLang="zh-CN" dirty="0">
              <a:solidFill>
                <a:schemeClr val="accent1">
                  <a:lumMod val="75000"/>
                </a:schemeClr>
              </a:solidFill>
              <a:sym typeface="Arial" panose="020B0604020202020204" pitchFamily="34" charset="0"/>
            </a:endParaRPr>
          </a:p>
        </p:txBody>
      </p:sp>
    </p:spTree>
    <p:custDataLst>
      <p:tags r:id="rId3"/>
    </p:custData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标题 1"/>
          <p:cNvSpPr>
            <a:spLocks noGrp="1"/>
          </p:cNvSpPr>
          <p:nvPr>
            <p:ph type="title"/>
          </p:nvPr>
        </p:nvSpPr>
        <p:spPr>
          <a:xfrm>
            <a:off x="456967" y="485174"/>
            <a:ext cx="9832340" cy="441960"/>
          </a:xfrm>
        </p:spPr>
        <p:txBody>
          <a:bodyPr/>
          <a:lstStyle/>
          <a:p>
            <a:r>
              <a:rPr lang="zh-CN" altLang="en-US" sz="3600" dirty="0"/>
              <a:t>第二章 数据处理用</a:t>
            </a:r>
            <a:endParaRPr sz="3600" dirty="0"/>
          </a:p>
        </p:txBody>
      </p:sp>
      <p:sp>
        <p:nvSpPr>
          <p:cNvPr id="1048588" name="文本框 8"/>
          <p:cNvSpPr txBox="1"/>
          <p:nvPr/>
        </p:nvSpPr>
        <p:spPr>
          <a:xfrm>
            <a:off x="456967" y="1627463"/>
            <a:ext cx="8355435" cy="386334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b="1" dirty="0">
                <a:solidFill>
                  <a:srgbClr val="577CCE"/>
                </a:solidFill>
                <a:latin typeface="+mj-ea"/>
                <a:ea typeface="+mj-ea"/>
              </a:rPr>
              <a:t>2.1 </a:t>
            </a:r>
            <a:r>
              <a:rPr lang="zh-CN" altLang="en-US" sz="2800" b="1" dirty="0">
                <a:solidFill>
                  <a:srgbClr val="577CCE"/>
                </a:solidFill>
                <a:latin typeface="+mj-ea"/>
                <a:ea typeface="+mj-ea"/>
              </a:rPr>
              <a:t>概述</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en-US" altLang="zh-CN"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2.2 </a:t>
            </a:r>
            <a:r>
              <a:rPr lang="zh-CN" altLang="en-US" sz="2800" b="1" dirty="0">
                <a:solidFill>
                  <a:srgbClr val="577CCE"/>
                </a:solidFill>
                <a:latin typeface="+mj-ea"/>
                <a:ea typeface="+mj-ea"/>
              </a:rPr>
              <a:t>基于</a:t>
            </a:r>
            <a:r>
              <a:rPr lang="en-US" altLang="zh-CN" sz="2800" b="1" dirty="0">
                <a:solidFill>
                  <a:srgbClr val="577CCE"/>
                </a:solidFill>
                <a:latin typeface="+mj-ea"/>
                <a:ea typeface="+mj-ea"/>
              </a:rPr>
              <a:t>Python</a:t>
            </a:r>
            <a:r>
              <a:rPr lang="zh-CN" altLang="en-US" sz="2800" b="1" dirty="0">
                <a:solidFill>
                  <a:srgbClr val="577CCE"/>
                </a:solidFill>
                <a:latin typeface="+mj-ea"/>
                <a:ea typeface="+mj-ea"/>
              </a:rPr>
              <a:t>的常见数据处理</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en-US" altLang="zh-CN"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2.3 </a:t>
            </a:r>
            <a:r>
              <a:rPr lang="en-US" altLang="zh-CN" sz="2800" b="1" dirty="0" err="1">
                <a:solidFill>
                  <a:srgbClr val="577CCE"/>
                </a:solidFill>
                <a:latin typeface="+mj-ea"/>
                <a:ea typeface="+mj-ea"/>
              </a:rPr>
              <a:t>Numpy</a:t>
            </a:r>
            <a:r>
              <a:rPr lang="en-US" altLang="zh-CN" sz="2800" b="1" dirty="0">
                <a:solidFill>
                  <a:srgbClr val="577CCE"/>
                </a:solidFill>
                <a:latin typeface="+mj-ea"/>
                <a:ea typeface="+mj-ea"/>
              </a:rPr>
              <a:t> </a:t>
            </a:r>
            <a:r>
              <a:rPr lang="zh-CN" altLang="en-US" sz="2800" b="1" dirty="0">
                <a:solidFill>
                  <a:srgbClr val="577CCE"/>
                </a:solidFill>
                <a:latin typeface="+mj-ea"/>
                <a:ea typeface="+mj-ea"/>
              </a:rPr>
              <a:t>基础</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en-US" altLang="zh-CN"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2.4 Pandas </a:t>
            </a:r>
            <a:r>
              <a:rPr lang="zh-CN" altLang="en-US" sz="2800" b="1" dirty="0">
                <a:solidFill>
                  <a:srgbClr val="577CCE"/>
                </a:solidFill>
                <a:latin typeface="+mj-ea"/>
                <a:ea typeface="+mj-ea"/>
              </a:rPr>
              <a:t>基础</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en-US" altLang="zh-CN"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2.5 Matplotlib </a:t>
            </a:r>
            <a:r>
              <a:rPr lang="zh-CN" altLang="en-US" sz="2800" b="1" dirty="0">
                <a:solidFill>
                  <a:srgbClr val="577CCE"/>
                </a:solidFill>
                <a:latin typeface="+mj-ea"/>
                <a:ea typeface="+mj-ea"/>
              </a:rPr>
              <a:t>基础</a:t>
            </a:r>
            <a:endParaRPr lang="zh-CN" altLang="en-US" sz="2800" b="1" dirty="0">
              <a:solidFill>
                <a:srgbClr val="577CCE"/>
              </a:solidFill>
              <a:latin typeface="+mj-ea"/>
              <a:ea typeface="+mj-ea"/>
            </a:endParaRPr>
          </a:p>
        </p:txBody>
      </p:sp>
    </p:spTree>
    <p:custDataLst>
      <p:tags r:id="rId1"/>
    </p:custData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标题 1"/>
          <p:cNvSpPr>
            <a:spLocks noGrp="1"/>
          </p:cNvSpPr>
          <p:nvPr>
            <p:ph type="title"/>
          </p:nvPr>
        </p:nvSpPr>
        <p:spPr>
          <a:xfrm>
            <a:off x="1346200" y="443230"/>
            <a:ext cx="10344785" cy="441960"/>
          </a:xfrm>
        </p:spPr>
        <p:txBody>
          <a:bodyPr/>
          <a:lstStyle/>
          <a:p>
            <a:r>
              <a:rPr lang="en-US" sz="3200" dirty="0">
                <a:sym typeface="+mn-ea"/>
              </a:rPr>
              <a:t>2.1 </a:t>
            </a:r>
            <a:r>
              <a:rPr lang="zh-CN" altLang="en-US" sz="3200" dirty="0"/>
              <a:t>概述</a:t>
            </a:r>
            <a:endParaRPr sz="3200" dirty="0">
              <a:solidFill>
                <a:srgbClr val="FF0000"/>
              </a:solidFill>
              <a:sym typeface="+mn-ea"/>
            </a:endParaRPr>
          </a:p>
        </p:txBody>
      </p:sp>
      <p:sp>
        <p:nvSpPr>
          <p:cNvPr id="1048590" name="文本框 8"/>
          <p:cNvSpPr txBox="1"/>
          <p:nvPr/>
        </p:nvSpPr>
        <p:spPr>
          <a:xfrm>
            <a:off x="923607" y="1317844"/>
            <a:ext cx="10344785" cy="4714240"/>
          </a:xfrm>
          <a:prstGeom prst="rect">
            <a:avLst/>
          </a:prstGeom>
          <a:noFill/>
        </p:spPr>
        <p:txBody>
          <a:bodyPr wrap="square">
            <a:spAutoFit/>
          </a:bodyPr>
          <a:lstStyle/>
          <a:p>
            <a:r>
              <a:rPr lang="zh-CN" altLang="en-US" sz="2400" dirty="0">
                <a:solidFill>
                  <a:srgbClr val="577CCE"/>
                </a:solidFill>
                <a:latin typeface="+mn-ea"/>
              </a:rPr>
              <a:t>当前的数据处理过程一般借助于计算机进行，计算机对收集、记录的数据进行加工形成信息形式。数据处理涉及的各种操作往往比一般的算术运算要广泛得多。通常认为，计算机数据处理主要包括以下几个方面的内容：</a:t>
            </a:r>
            <a:endParaRPr lang="en-US" altLang="zh-CN" sz="2400" dirty="0">
              <a:solidFill>
                <a:srgbClr val="577CCE"/>
              </a:solidFill>
              <a:latin typeface="+mn-ea"/>
            </a:endParaRPr>
          </a:p>
          <a:p>
            <a:endParaRPr lang="en-US" altLang="zh-CN"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数据采集</a:t>
            </a:r>
            <a:r>
              <a:rPr lang="zh-CN" altLang="en-US" sz="2400" dirty="0">
                <a:latin typeface="+mn-ea"/>
              </a:rPr>
              <a:t>：采集所需的信息。</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数据转换</a:t>
            </a:r>
            <a:r>
              <a:rPr lang="zh-CN" altLang="en-US" sz="2400" dirty="0">
                <a:latin typeface="+mn-ea"/>
              </a:rPr>
              <a:t>：把信息转换成机器能够接收的形式。</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数据分组</a:t>
            </a:r>
            <a:r>
              <a:rPr lang="zh-CN" altLang="en-US" sz="2400" dirty="0">
                <a:latin typeface="+mn-ea"/>
              </a:rPr>
              <a:t>：指定编码，按有关信息进行有效地分组。</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数据组织整理</a:t>
            </a:r>
            <a:r>
              <a:rPr lang="zh-CN" altLang="en-US" sz="2400" dirty="0">
                <a:latin typeface="+mn-ea"/>
              </a:rPr>
              <a:t>：数据或用某些方法安排数据，以便进行处理。</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数据计算</a:t>
            </a:r>
            <a:r>
              <a:rPr lang="zh-CN" altLang="en-US" sz="2400" dirty="0">
                <a:latin typeface="+mn-ea"/>
              </a:rPr>
              <a:t>：进行各种算术和逻辑运算，以便得到进一步的信息。</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数据存储</a:t>
            </a:r>
            <a:r>
              <a:rPr lang="zh-CN" altLang="en-US" sz="2400" dirty="0">
                <a:latin typeface="+mn-ea"/>
              </a:rPr>
              <a:t>：将原始数据或计算的结果保存起来，供以后使用。</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数据检索</a:t>
            </a:r>
            <a:r>
              <a:rPr lang="zh-CN" altLang="en-US" sz="2400" dirty="0">
                <a:latin typeface="+mn-ea"/>
              </a:rPr>
              <a:t>：按人们的要求找出有用的信息。</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数据排序</a:t>
            </a:r>
            <a:r>
              <a:rPr lang="zh-CN" altLang="en-US" sz="2400" dirty="0">
                <a:latin typeface="+mn-ea"/>
              </a:rPr>
              <a:t>：把数据按一定要求排成次序。</a:t>
            </a:r>
            <a:endParaRPr lang="zh-CN" altLang="en-US" sz="2400" dirty="0">
              <a:latin typeface="+mn-ea"/>
            </a:endParaRPr>
          </a:p>
          <a:p>
            <a:pPr marL="342900" indent="-342900">
              <a:buFont typeface="Arial" panose="020B0604020202020204" pitchFamily="34" charset="0"/>
              <a:buChar char="•"/>
            </a:pPr>
            <a:r>
              <a:rPr lang="zh-CN" altLang="en-US" sz="2400" dirty="0">
                <a:solidFill>
                  <a:srgbClr val="FF0000"/>
                </a:solidFill>
                <a:latin typeface="+mn-ea"/>
              </a:rPr>
              <a:t>数据可视化</a:t>
            </a:r>
            <a:r>
              <a:rPr lang="zh-CN" altLang="en-US" sz="2400" dirty="0">
                <a:latin typeface="+mn-ea"/>
              </a:rPr>
              <a:t>：把数据直观地展示处理，便于人们观察数据的特点和规律。</a:t>
            </a:r>
            <a:endParaRPr lang="zh-CN" altLang="en-US" sz="2400" dirty="0">
              <a:latin typeface="+mn-ea"/>
            </a:endParaRPr>
          </a:p>
        </p:txBody>
      </p:sp>
    </p:spTree>
    <p:custDataLst>
      <p:tags r:id="rId1"/>
    </p:custData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标题 1"/>
          <p:cNvSpPr>
            <a:spLocks noGrp="1"/>
          </p:cNvSpPr>
          <p:nvPr>
            <p:ph type="title"/>
          </p:nvPr>
        </p:nvSpPr>
        <p:spPr>
          <a:xfrm>
            <a:off x="1346200" y="443230"/>
            <a:ext cx="10344785" cy="441960"/>
          </a:xfrm>
        </p:spPr>
        <p:txBody>
          <a:bodyPr/>
          <a:lstStyle/>
          <a:p>
            <a:r>
              <a:rPr lang="en-US" sz="3200" dirty="0">
                <a:sym typeface="+mn-ea"/>
              </a:rPr>
              <a:t>2.1 </a:t>
            </a:r>
            <a:r>
              <a:rPr lang="zh-CN" altLang="en-US" sz="3200" dirty="0"/>
              <a:t>概述</a:t>
            </a:r>
            <a:endParaRPr sz="3200" dirty="0">
              <a:solidFill>
                <a:srgbClr val="FF0000"/>
              </a:solidFill>
              <a:sym typeface="+mn-ea"/>
            </a:endParaRPr>
          </a:p>
        </p:txBody>
      </p:sp>
      <p:sp>
        <p:nvSpPr>
          <p:cNvPr id="1048607" name="文本框 8"/>
          <p:cNvSpPr txBox="1"/>
          <p:nvPr/>
        </p:nvSpPr>
        <p:spPr>
          <a:xfrm>
            <a:off x="923607" y="1317844"/>
            <a:ext cx="10344785" cy="5273040"/>
          </a:xfrm>
          <a:prstGeom prst="rect">
            <a:avLst/>
          </a:prstGeom>
          <a:noFill/>
        </p:spPr>
        <p:txBody>
          <a:bodyPr wrap="square">
            <a:spAutoFit/>
          </a:bodyPr>
          <a:lstStyle/>
          <a:p>
            <a:r>
              <a:rPr lang="zh-CN" altLang="en-US" sz="2000" dirty="0">
                <a:solidFill>
                  <a:srgbClr val="577CCE"/>
                </a:solidFill>
                <a:latin typeface="+mn-ea"/>
              </a:rPr>
              <a:t>对于工具包的安装，建议初学者直接安装</a:t>
            </a:r>
            <a:r>
              <a:rPr lang="en-US" altLang="zh-CN" sz="2000" dirty="0">
                <a:solidFill>
                  <a:srgbClr val="577CCE"/>
                </a:solidFill>
                <a:latin typeface="+mn-ea"/>
              </a:rPr>
              <a:t>Anaconda</a:t>
            </a:r>
            <a:r>
              <a:rPr lang="zh-CN" altLang="en-US" sz="2000" dirty="0">
                <a:solidFill>
                  <a:srgbClr val="577CCE"/>
                </a:solidFill>
                <a:latin typeface="+mn-ea"/>
              </a:rPr>
              <a:t>，其中已包含了这些常用的工具包以及常用的</a:t>
            </a:r>
            <a:r>
              <a:rPr lang="en-US" altLang="zh-CN" sz="2000" dirty="0">
                <a:solidFill>
                  <a:srgbClr val="577CCE"/>
                </a:solidFill>
                <a:latin typeface="+mn-ea"/>
              </a:rPr>
              <a:t>Python</a:t>
            </a:r>
            <a:r>
              <a:rPr lang="zh-CN" altLang="en-US" sz="2000" dirty="0">
                <a:solidFill>
                  <a:srgbClr val="577CCE"/>
                </a:solidFill>
                <a:latin typeface="+mn-ea"/>
              </a:rPr>
              <a:t>开发环境，如</a:t>
            </a:r>
            <a:r>
              <a:rPr lang="en-US" altLang="zh-CN" sz="2000" dirty="0" err="1">
                <a:solidFill>
                  <a:srgbClr val="577CCE"/>
                </a:solidFill>
                <a:latin typeface="+mn-ea"/>
              </a:rPr>
              <a:t>IPython</a:t>
            </a:r>
            <a:r>
              <a:rPr lang="zh-CN" altLang="en-US" sz="2000" dirty="0">
                <a:solidFill>
                  <a:srgbClr val="577CCE"/>
                </a:solidFill>
                <a:latin typeface="+mn-ea"/>
              </a:rPr>
              <a:t>、</a:t>
            </a:r>
            <a:r>
              <a:rPr lang="en-US" altLang="zh-CN" sz="2000" dirty="0" err="1">
                <a:solidFill>
                  <a:srgbClr val="577CCE"/>
                </a:solidFill>
                <a:latin typeface="+mn-ea"/>
              </a:rPr>
              <a:t>Jupyter</a:t>
            </a:r>
            <a:r>
              <a:rPr lang="en-US" altLang="zh-CN" sz="2000" dirty="0">
                <a:solidFill>
                  <a:srgbClr val="577CCE"/>
                </a:solidFill>
                <a:latin typeface="+mn-ea"/>
              </a:rPr>
              <a:t> Notebook</a:t>
            </a:r>
            <a:r>
              <a:rPr lang="zh-CN" altLang="en-US" sz="2000" dirty="0">
                <a:solidFill>
                  <a:srgbClr val="577CCE"/>
                </a:solidFill>
                <a:latin typeface="+mn-ea"/>
              </a:rPr>
              <a:t>等。</a:t>
            </a:r>
            <a:endParaRPr lang="zh-CN" altLang="en-US" sz="2000" dirty="0">
              <a:solidFill>
                <a:srgbClr val="577CCE"/>
              </a:solidFill>
              <a:latin typeface="+mn-ea"/>
            </a:endParaRPr>
          </a:p>
          <a:p>
            <a:endParaRPr lang="zh-CN" altLang="en-US" sz="2000" dirty="0">
              <a:solidFill>
                <a:srgbClr val="577CCE"/>
              </a:solidFill>
              <a:latin typeface="+mn-ea"/>
            </a:endParaRPr>
          </a:p>
          <a:p>
            <a:r>
              <a:rPr lang="zh-CN" altLang="en-US" sz="2000" dirty="0">
                <a:solidFill>
                  <a:srgbClr val="577CCE"/>
                </a:solidFill>
                <a:latin typeface="+mn-ea"/>
              </a:rPr>
              <a:t>可以直接从</a:t>
            </a:r>
            <a:r>
              <a:rPr lang="en-US" altLang="zh-CN" sz="2000" dirty="0">
                <a:solidFill>
                  <a:srgbClr val="577CCE"/>
                </a:solidFill>
                <a:latin typeface="+mn-ea"/>
              </a:rPr>
              <a:t>Anaconda</a:t>
            </a:r>
            <a:r>
              <a:rPr lang="zh-CN" altLang="en-US" sz="2000" dirty="0">
                <a:solidFill>
                  <a:srgbClr val="577CCE"/>
                </a:solidFill>
                <a:latin typeface="+mn-ea"/>
              </a:rPr>
              <a:t>的官方网站（</a:t>
            </a:r>
            <a:r>
              <a:rPr lang="en-US" altLang="zh-CN" sz="2000" dirty="0">
                <a:solidFill>
                  <a:srgbClr val="577CCE"/>
                </a:solidFill>
                <a:latin typeface="+mn-ea"/>
              </a:rPr>
              <a:t>https://www.anaconda.com</a:t>
            </a:r>
            <a:r>
              <a:rPr lang="zh-CN" altLang="en-US" sz="2000" dirty="0">
                <a:solidFill>
                  <a:srgbClr val="577CCE"/>
                </a:solidFill>
                <a:latin typeface="+mn-ea"/>
              </a:rPr>
              <a:t>）下载</a:t>
            </a:r>
            <a:r>
              <a:rPr lang="en-US" altLang="zh-CN" sz="2000" dirty="0">
                <a:solidFill>
                  <a:srgbClr val="577CCE"/>
                </a:solidFill>
                <a:latin typeface="+mn-ea"/>
              </a:rPr>
              <a:t>Anaconda</a:t>
            </a:r>
            <a:r>
              <a:rPr lang="zh-CN" altLang="en-US" sz="2000" dirty="0">
                <a:solidFill>
                  <a:srgbClr val="577CCE"/>
                </a:solidFill>
                <a:latin typeface="+mn-ea"/>
              </a:rPr>
              <a:t>个人版，或者直接从国内的镜像网站下载，如从清华大学开源软件镜像站（</a:t>
            </a:r>
            <a:r>
              <a:rPr lang="en-US" altLang="zh-CN" sz="2000" dirty="0">
                <a:solidFill>
                  <a:srgbClr val="577CCE"/>
                </a:solidFill>
                <a:latin typeface="+mn-ea"/>
              </a:rPr>
              <a:t>https://mirrors.tuna.tsinghua.edu.cn/anaconda/archive/</a:t>
            </a:r>
            <a:r>
              <a:rPr lang="zh-CN" altLang="en-US" sz="2000" dirty="0">
                <a:solidFill>
                  <a:srgbClr val="577CCE"/>
                </a:solidFill>
                <a:latin typeface="+mn-ea"/>
              </a:rPr>
              <a:t>）下载。</a:t>
            </a:r>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en-US" altLang="zh-CN" sz="2000" dirty="0">
              <a:solidFill>
                <a:srgbClr val="577CCE"/>
              </a:solidFill>
              <a:latin typeface="+mn-ea"/>
            </a:endParaRPr>
          </a:p>
          <a:p>
            <a:endParaRPr lang="zh-CN" altLang="en-US" sz="2000" dirty="0">
              <a:solidFill>
                <a:srgbClr val="577CCE"/>
              </a:solidFill>
              <a:latin typeface="+mn-ea"/>
            </a:endParaRPr>
          </a:p>
          <a:p>
            <a:endParaRPr lang="zh-CN" altLang="en-US" sz="2000" dirty="0">
              <a:solidFill>
                <a:srgbClr val="577CCE"/>
              </a:solidFill>
              <a:latin typeface="+mn-ea"/>
            </a:endParaRPr>
          </a:p>
        </p:txBody>
      </p:sp>
      <p:grpSp>
        <p:nvGrpSpPr>
          <p:cNvPr id="55" name="组合 12"/>
          <p:cNvGrpSpPr/>
          <p:nvPr/>
        </p:nvGrpSpPr>
        <p:grpSpPr>
          <a:xfrm>
            <a:off x="1153487" y="3429000"/>
            <a:ext cx="6348914" cy="3126278"/>
            <a:chOff x="1153487" y="3429000"/>
            <a:chExt cx="6348914" cy="3126278"/>
          </a:xfrm>
        </p:grpSpPr>
        <p:pic>
          <p:nvPicPr>
            <p:cNvPr id="2097152" name="图片 3"/>
            <p:cNvPicPr>
              <a:picLocks noChangeAspect="1"/>
            </p:cNvPicPr>
            <p:nvPr/>
          </p:nvPicPr>
          <p:blipFill>
            <a:blip r:embed="rId1"/>
            <a:stretch>
              <a:fillRect/>
            </a:stretch>
          </p:blipFill>
          <p:spPr>
            <a:xfrm>
              <a:off x="1153487" y="3429000"/>
              <a:ext cx="2385267" cy="2370025"/>
            </a:xfrm>
            <a:prstGeom prst="rect">
              <a:avLst/>
            </a:prstGeom>
          </p:spPr>
        </p:pic>
        <p:sp>
          <p:nvSpPr>
            <p:cNvPr id="1048608" name="文本框 7"/>
            <p:cNvSpPr txBox="1"/>
            <p:nvPr/>
          </p:nvSpPr>
          <p:spPr>
            <a:xfrm>
              <a:off x="1219025" y="5930438"/>
              <a:ext cx="2136571" cy="624840"/>
            </a:xfrm>
            <a:prstGeom prst="rect">
              <a:avLst/>
            </a:prstGeom>
            <a:noFill/>
          </p:spPr>
          <p:txBody>
            <a:bodyPr wrap="square">
              <a:spAutoFit/>
            </a:bodyPr>
            <a:lstStyle/>
            <a:p>
              <a:r>
                <a:rPr lang="zh-CN" altLang="en-US" dirty="0"/>
                <a:t>Anaconda官方网站</a:t>
              </a:r>
              <a:endParaRPr lang="zh-CN" altLang="en-US" dirty="0"/>
            </a:p>
          </p:txBody>
        </p:sp>
        <p:grpSp>
          <p:nvGrpSpPr>
            <p:cNvPr id="56" name="组合 11"/>
            <p:cNvGrpSpPr/>
            <p:nvPr/>
          </p:nvGrpSpPr>
          <p:grpSpPr>
            <a:xfrm>
              <a:off x="4769687" y="3429000"/>
              <a:ext cx="2732714" cy="2870770"/>
              <a:chOff x="4769687" y="3429000"/>
              <a:chExt cx="2732714" cy="2870770"/>
            </a:xfrm>
          </p:grpSpPr>
          <p:pic>
            <p:nvPicPr>
              <p:cNvPr id="2097153" name="图片 5"/>
              <p:cNvPicPr>
                <a:picLocks noChangeAspect="1"/>
              </p:cNvPicPr>
              <p:nvPr/>
            </p:nvPicPr>
            <p:blipFill>
              <a:blip r:embed="rId2"/>
              <a:stretch>
                <a:fillRect/>
              </a:stretch>
            </p:blipFill>
            <p:spPr>
              <a:xfrm>
                <a:off x="4958462" y="3429000"/>
                <a:ext cx="2355165" cy="2370025"/>
              </a:xfrm>
              <a:prstGeom prst="rect">
                <a:avLst/>
              </a:prstGeom>
            </p:spPr>
          </p:pic>
          <p:sp>
            <p:nvSpPr>
              <p:cNvPr id="1048609" name="文本框 10"/>
              <p:cNvSpPr txBox="1"/>
              <p:nvPr/>
            </p:nvSpPr>
            <p:spPr>
              <a:xfrm>
                <a:off x="4769687" y="5930438"/>
                <a:ext cx="2732714" cy="369332"/>
              </a:xfrm>
              <a:prstGeom prst="rect">
                <a:avLst/>
              </a:prstGeom>
              <a:noFill/>
            </p:spPr>
            <p:txBody>
              <a:bodyPr wrap="square">
                <a:spAutoFit/>
              </a:bodyPr>
              <a:lstStyle/>
              <a:p>
                <a:r>
                  <a:rPr lang="zh-CN" altLang="en-US" dirty="0"/>
                  <a:t>清华大学开源软件镜像站</a:t>
                </a:r>
                <a:endParaRPr lang="zh-CN" altLang="en-US" dirty="0"/>
              </a:p>
            </p:txBody>
          </p:sp>
        </p:grpSp>
      </p:grpSp>
    </p:spTree>
    <p:custDataLst>
      <p:tags r:id="rId3"/>
    </p:custData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2.2.1 </a:t>
            </a:r>
            <a:r>
              <a:rPr lang="zh-CN" altLang="en-US" sz="1800" dirty="0">
                <a:solidFill>
                  <a:srgbClr val="577CCE"/>
                </a:solidFill>
                <a:latin typeface="+mn-ea"/>
              </a:rPr>
              <a:t>列表索引</a:t>
            </a:r>
            <a:endParaRPr lang="en-US" altLang="zh-CN" sz="1800" dirty="0">
              <a:solidFill>
                <a:srgbClr val="577CCE"/>
              </a:solidFill>
              <a:latin typeface="+mn-ea"/>
            </a:endParaRPr>
          </a:p>
        </p:txBody>
      </p:sp>
      <p:sp>
        <p:nvSpPr>
          <p:cNvPr id="8" name="文本框 7"/>
          <p:cNvSpPr txBox="1"/>
          <p:nvPr/>
        </p:nvSpPr>
        <p:spPr>
          <a:xfrm>
            <a:off x="488658" y="1729583"/>
            <a:ext cx="11465653" cy="646331"/>
          </a:xfrm>
          <a:prstGeom prst="rect">
            <a:avLst/>
          </a:prstGeom>
          <a:noFill/>
        </p:spPr>
        <p:txBody>
          <a:bodyPr wrap="square">
            <a:spAutoFit/>
          </a:bodyPr>
          <a:lstStyle/>
          <a:p>
            <a:r>
              <a:rPr lang="zh-CN" altLang="en-US" dirty="0"/>
              <a:t>列表中的每个元素都有一个位置，或称为索引，第一个索引是 0，第二个索引是 1，依此推，这种索引方法称为</a:t>
            </a:r>
            <a:r>
              <a:rPr lang="zh-CN" altLang="en-US" dirty="0">
                <a:solidFill>
                  <a:srgbClr val="FF0000"/>
                </a:solidFill>
              </a:rPr>
              <a:t>正向索引</a:t>
            </a:r>
            <a:r>
              <a:rPr lang="zh-CN" altLang="en-US" dirty="0"/>
              <a:t>。例如:</a:t>
            </a:r>
            <a:endParaRPr lang="zh-CN" altLang="en-US" dirty="0"/>
          </a:p>
        </p:txBody>
      </p:sp>
      <p:sp>
        <p:nvSpPr>
          <p:cNvPr id="15" name="文本框 14"/>
          <p:cNvSpPr txBox="1"/>
          <p:nvPr/>
        </p:nvSpPr>
        <p:spPr>
          <a:xfrm>
            <a:off x="488657" y="2375914"/>
            <a:ext cx="8797955"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'physics'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'chemistry'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1997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],list1[</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'physics'</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2000</a:t>
            </a:r>
            <a:r>
              <a:rPr lang="en-US" altLang="zh-CN" b="0" dirty="0">
                <a:solidFill>
                  <a:srgbClr val="24292E"/>
                </a:solidFill>
                <a:effectLst/>
                <a:latin typeface="Consolas" panose="020B0609020204030204" pitchFamily="49" charset="0"/>
              </a:rPr>
              <a:t>)</a:t>
            </a:r>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
        <p:nvSpPr>
          <p:cNvPr id="19" name="文本框 18"/>
          <p:cNvSpPr txBox="1"/>
          <p:nvPr/>
        </p:nvSpPr>
        <p:spPr>
          <a:xfrm>
            <a:off x="488658" y="3558757"/>
            <a:ext cx="11202327" cy="646331"/>
          </a:xfrm>
          <a:prstGeom prst="rect">
            <a:avLst/>
          </a:prstGeom>
          <a:noFill/>
        </p:spPr>
        <p:txBody>
          <a:bodyPr wrap="square">
            <a:spAutoFit/>
          </a:bodyPr>
          <a:lstStyle/>
          <a:p>
            <a:r>
              <a:rPr lang="zh-CN" altLang="en-US" b="0" i="0" dirty="0">
                <a:solidFill>
                  <a:srgbClr val="050E17"/>
                </a:solidFill>
                <a:effectLst/>
                <a:latin typeface="-apple-system"/>
              </a:rPr>
              <a:t>除了正向索引外，列表还有</a:t>
            </a:r>
            <a:r>
              <a:rPr lang="zh-CN" altLang="en-US" b="0" i="0" dirty="0">
                <a:solidFill>
                  <a:srgbClr val="FF0000"/>
                </a:solidFill>
                <a:effectLst/>
                <a:latin typeface="-apple-system"/>
              </a:rPr>
              <a:t>负向索引</a:t>
            </a:r>
            <a:r>
              <a:rPr lang="zh-CN" altLang="en-US" b="0" i="0" dirty="0">
                <a:solidFill>
                  <a:srgbClr val="050E17"/>
                </a:solidFill>
                <a:effectLst/>
                <a:latin typeface="-apple-system"/>
              </a:rPr>
              <a:t>（有时称为</a:t>
            </a:r>
            <a:r>
              <a:rPr lang="zh-CN" altLang="en-US" b="0" i="0" dirty="0">
                <a:solidFill>
                  <a:srgbClr val="FF0000"/>
                </a:solidFill>
                <a:effectLst/>
                <a:latin typeface="-apple-system"/>
              </a:rPr>
              <a:t>反向索引</a:t>
            </a:r>
            <a:r>
              <a:rPr lang="zh-CN" altLang="en-US" b="0" i="0" dirty="0">
                <a:solidFill>
                  <a:srgbClr val="050E17"/>
                </a:solidFill>
                <a:effectLst/>
                <a:latin typeface="-apple-system"/>
              </a:rPr>
              <a:t>）。其索引方式为：最后一个元素的索引为 </a:t>
            </a:r>
            <a:r>
              <a:rPr lang="en-US" altLang="zh-CN" b="0" i="0" dirty="0">
                <a:solidFill>
                  <a:srgbClr val="050E17"/>
                </a:solidFill>
                <a:effectLst/>
                <a:latin typeface="-apple-system"/>
              </a:rPr>
              <a:t>-1</a:t>
            </a:r>
            <a:r>
              <a:rPr lang="zh-CN" altLang="en-US" b="0" i="0" dirty="0">
                <a:solidFill>
                  <a:srgbClr val="050E17"/>
                </a:solidFill>
                <a:effectLst/>
                <a:latin typeface="-apple-system"/>
              </a:rPr>
              <a:t>，倒数第二个元素的索引为 </a:t>
            </a:r>
            <a:r>
              <a:rPr lang="en-US" altLang="zh-CN" b="0" i="0" dirty="0">
                <a:solidFill>
                  <a:srgbClr val="050E17"/>
                </a:solidFill>
                <a:effectLst/>
                <a:latin typeface="-apple-system"/>
              </a:rPr>
              <a:t>-2</a:t>
            </a:r>
            <a:r>
              <a:rPr lang="zh-CN" altLang="en-US" b="0" i="0" dirty="0">
                <a:solidFill>
                  <a:srgbClr val="050E17"/>
                </a:solidFill>
                <a:effectLst/>
                <a:latin typeface="-apple-system"/>
              </a:rPr>
              <a:t>，依此类推。例如：</a:t>
            </a:r>
            <a:endParaRPr lang="zh-CN" altLang="en-US" dirty="0"/>
          </a:p>
        </p:txBody>
      </p:sp>
      <p:sp>
        <p:nvSpPr>
          <p:cNvPr id="21" name="文本框 20"/>
          <p:cNvSpPr txBox="1"/>
          <p:nvPr/>
        </p:nvSpPr>
        <p:spPr>
          <a:xfrm>
            <a:off x="488657" y="4416775"/>
            <a:ext cx="8261059"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list1[</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2000</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'chemistry'</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
        <p:nvSpPr>
          <p:cNvPr id="23" name="文本框 22"/>
          <p:cNvSpPr txBox="1"/>
          <p:nvPr/>
        </p:nvSpPr>
        <p:spPr>
          <a:xfrm>
            <a:off x="488657" y="5314554"/>
            <a:ext cx="11202327" cy="369332"/>
          </a:xfrm>
          <a:prstGeom prst="rect">
            <a:avLst/>
          </a:prstGeom>
          <a:noFill/>
        </p:spPr>
        <p:txBody>
          <a:bodyPr wrap="square">
            <a:spAutoFit/>
          </a:bodyPr>
          <a:lstStyle/>
          <a:p>
            <a:r>
              <a:rPr lang="zh-CN" altLang="en-US" dirty="0">
                <a:solidFill>
                  <a:srgbClr val="577CCE"/>
                </a:solidFill>
              </a:rPr>
              <a:t>在实际应用中，两种索引可以混合使用，非常方便地对数据进行截取或切片等操作。</a:t>
            </a:r>
            <a:endParaRPr lang="zh-CN" altLang="en-US" dirty="0">
              <a:solidFill>
                <a:srgbClr val="577CCE"/>
              </a:solidFill>
            </a:endParaRPr>
          </a:p>
        </p:txBody>
      </p:sp>
    </p:spTree>
    <p:custDataLst>
      <p:tags r:id="rId1"/>
    </p:custData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2.2.2 </a:t>
            </a:r>
            <a:r>
              <a:rPr lang="zh-CN" altLang="en-US" sz="1800" dirty="0">
                <a:solidFill>
                  <a:srgbClr val="577CCE"/>
                </a:solidFill>
                <a:latin typeface="+mn-ea"/>
              </a:rPr>
              <a:t>列表切片</a:t>
            </a:r>
            <a:endParaRPr lang="en-US" altLang="zh-CN" sz="1800" dirty="0">
              <a:solidFill>
                <a:srgbClr val="577CCE"/>
              </a:solidFill>
              <a:latin typeface="+mn-ea"/>
            </a:endParaRPr>
          </a:p>
        </p:txBody>
      </p:sp>
      <p:sp>
        <p:nvSpPr>
          <p:cNvPr id="8" name="文本框 7"/>
          <p:cNvSpPr txBox="1"/>
          <p:nvPr/>
        </p:nvSpPr>
        <p:spPr>
          <a:xfrm>
            <a:off x="488658" y="1729583"/>
            <a:ext cx="11465653" cy="923330"/>
          </a:xfrm>
          <a:prstGeom prst="rect">
            <a:avLst/>
          </a:prstGeom>
          <a:noFill/>
        </p:spPr>
        <p:txBody>
          <a:bodyPr wrap="square">
            <a:spAutoFit/>
          </a:bodyPr>
          <a:lstStyle/>
          <a:p>
            <a:r>
              <a:rPr lang="zh-CN" altLang="en-US" b="0" i="0" dirty="0">
                <a:solidFill>
                  <a:srgbClr val="050E17"/>
                </a:solidFill>
                <a:effectLst/>
                <a:latin typeface="-apple-system"/>
              </a:rPr>
              <a:t>列表切片是指选取列表的一部分元素，得到一个</a:t>
            </a:r>
            <a:r>
              <a:rPr lang="zh-CN" altLang="en-US" b="0" i="0" dirty="0">
                <a:solidFill>
                  <a:srgbClr val="FF0000"/>
                </a:solidFill>
                <a:effectLst/>
                <a:latin typeface="-apple-system"/>
              </a:rPr>
              <a:t>新的列表</a:t>
            </a:r>
            <a:r>
              <a:rPr lang="zh-CN" altLang="en-US" b="0" i="0" dirty="0">
                <a:solidFill>
                  <a:srgbClr val="050E17"/>
                </a:solidFill>
                <a:effectLst/>
                <a:latin typeface="-apple-system"/>
              </a:rPr>
              <a:t>。需要注意的是，</a:t>
            </a:r>
            <a:r>
              <a:rPr lang="en-US" altLang="zh-CN" b="0" i="0" dirty="0">
                <a:solidFill>
                  <a:srgbClr val="050E17"/>
                </a:solidFill>
                <a:effectLst/>
                <a:latin typeface="-apple-system"/>
              </a:rPr>
              <a:t>Python </a:t>
            </a:r>
            <a:r>
              <a:rPr lang="zh-CN" altLang="en-US" b="0" i="0" dirty="0">
                <a:solidFill>
                  <a:srgbClr val="050E17"/>
                </a:solidFill>
                <a:effectLst/>
                <a:latin typeface="-apple-system"/>
              </a:rPr>
              <a:t>中的有序序列都支持切片操作，如</a:t>
            </a:r>
            <a:r>
              <a:rPr lang="zh-CN" altLang="en-US" b="0" i="0" dirty="0">
                <a:solidFill>
                  <a:srgbClr val="FF0000"/>
                </a:solidFill>
                <a:effectLst/>
                <a:latin typeface="-apple-system"/>
              </a:rPr>
              <a:t>字符串</a:t>
            </a:r>
            <a:r>
              <a:rPr lang="zh-CN" altLang="en-US" b="0" i="0" dirty="0">
                <a:solidFill>
                  <a:srgbClr val="050E17"/>
                </a:solidFill>
                <a:effectLst/>
                <a:latin typeface="-apple-system"/>
              </a:rPr>
              <a:t>、</a:t>
            </a:r>
            <a:r>
              <a:rPr lang="zh-CN" altLang="en-US" b="0" i="0" dirty="0">
                <a:solidFill>
                  <a:srgbClr val="FF0000"/>
                </a:solidFill>
                <a:effectLst/>
                <a:latin typeface="-apple-system"/>
              </a:rPr>
              <a:t>元组</a:t>
            </a:r>
            <a:r>
              <a:rPr lang="zh-CN" altLang="en-US" b="0" i="0" dirty="0">
                <a:solidFill>
                  <a:srgbClr val="050E17"/>
                </a:solidFill>
                <a:effectLst/>
                <a:latin typeface="-apple-system"/>
              </a:rPr>
              <a:t>。</a:t>
            </a:r>
            <a:endParaRPr lang="en-US" altLang="zh-CN" b="0" i="0" dirty="0">
              <a:solidFill>
                <a:srgbClr val="050E17"/>
              </a:solidFill>
              <a:effectLst/>
              <a:latin typeface="-apple-system"/>
            </a:endParaRPr>
          </a:p>
          <a:p>
            <a:r>
              <a:rPr lang="zh-CN" altLang="en-US" b="0" i="0" dirty="0">
                <a:solidFill>
                  <a:srgbClr val="050E17"/>
                </a:solidFill>
                <a:effectLst/>
                <a:latin typeface="-apple-system"/>
              </a:rPr>
              <a:t>切片操作的完整格式如下：</a:t>
            </a:r>
            <a:endParaRPr lang="zh-CN" altLang="en-US" dirty="0"/>
          </a:p>
        </p:txBody>
      </p:sp>
      <p:sp>
        <p:nvSpPr>
          <p:cNvPr id="15" name="文本框 14"/>
          <p:cNvSpPr txBox="1"/>
          <p:nvPr/>
        </p:nvSpPr>
        <p:spPr>
          <a:xfrm>
            <a:off x="488658" y="2818527"/>
            <a:ext cx="6094602" cy="369332"/>
          </a:xfrm>
          <a:prstGeom prst="rect">
            <a:avLst/>
          </a:prstGeom>
          <a:noFill/>
        </p:spPr>
        <p:txBody>
          <a:bodyPr wrap="square">
            <a:spAutoFit/>
          </a:bodyPr>
          <a:lstStyle/>
          <a:p>
            <a:r>
              <a:rPr lang="en-US" altLang="zh-CN" dirty="0"/>
              <a:t>list[</a:t>
            </a:r>
            <a:r>
              <a:rPr lang="en-US" altLang="zh-CN" dirty="0" err="1"/>
              <a:t>start:end:step</a:t>
            </a:r>
            <a:r>
              <a:rPr lang="en-US" altLang="zh-CN" dirty="0"/>
              <a:t>]</a:t>
            </a:r>
            <a:endParaRPr lang="zh-CN" altLang="en-US" dirty="0"/>
          </a:p>
        </p:txBody>
      </p:sp>
      <p:sp>
        <p:nvSpPr>
          <p:cNvPr id="19" name="文本框 18"/>
          <p:cNvSpPr txBox="1"/>
          <p:nvPr/>
        </p:nvSpPr>
        <p:spPr>
          <a:xfrm>
            <a:off x="488657" y="3300716"/>
            <a:ext cx="11202327" cy="646331"/>
          </a:xfrm>
          <a:prstGeom prst="rect">
            <a:avLst/>
          </a:prstGeom>
          <a:noFill/>
        </p:spPr>
        <p:txBody>
          <a:bodyPr wrap="square">
            <a:spAutoFit/>
          </a:bodyPr>
          <a:lstStyle/>
          <a:p>
            <a:r>
              <a:rPr lang="zh-CN" altLang="en-US" b="0" i="0" dirty="0">
                <a:solidFill>
                  <a:srgbClr val="050E17"/>
                </a:solidFill>
                <a:effectLst/>
                <a:latin typeface="-apple-system"/>
              </a:rPr>
              <a:t>其中，</a:t>
            </a:r>
            <a:r>
              <a:rPr lang="en-US" altLang="zh-CN" b="0" i="0" dirty="0">
                <a:solidFill>
                  <a:srgbClr val="050E17"/>
                </a:solidFill>
                <a:effectLst/>
                <a:latin typeface="-apple-system"/>
              </a:rPr>
              <a:t>list </a:t>
            </a:r>
            <a:r>
              <a:rPr lang="zh-CN" altLang="en-US" b="0" i="0" dirty="0">
                <a:solidFill>
                  <a:srgbClr val="050E17"/>
                </a:solidFill>
                <a:effectLst/>
                <a:latin typeface="-apple-system"/>
              </a:rPr>
              <a:t>为列表对象，</a:t>
            </a:r>
            <a:r>
              <a:rPr lang="en-US" altLang="zh-CN" b="0" i="0" dirty="0">
                <a:solidFill>
                  <a:srgbClr val="050E17"/>
                </a:solidFill>
                <a:effectLst/>
                <a:latin typeface="-apple-system"/>
              </a:rPr>
              <a:t>start </a:t>
            </a:r>
            <a:r>
              <a:rPr lang="zh-CN" altLang="en-US" b="0" i="0" dirty="0">
                <a:solidFill>
                  <a:srgbClr val="050E17"/>
                </a:solidFill>
                <a:effectLst/>
                <a:latin typeface="-apple-system"/>
              </a:rPr>
              <a:t>是切片起点索引，</a:t>
            </a:r>
            <a:r>
              <a:rPr lang="en-US" altLang="zh-CN" b="0" i="0" dirty="0">
                <a:solidFill>
                  <a:srgbClr val="050E17"/>
                </a:solidFill>
                <a:effectLst/>
                <a:latin typeface="-apple-system"/>
              </a:rPr>
              <a:t>end </a:t>
            </a:r>
            <a:r>
              <a:rPr lang="zh-CN" altLang="en-US" b="0" i="0" dirty="0">
                <a:solidFill>
                  <a:srgbClr val="050E17"/>
                </a:solidFill>
                <a:effectLst/>
                <a:latin typeface="-apple-system"/>
              </a:rPr>
              <a:t>是切片终点索引，但</a:t>
            </a:r>
            <a:r>
              <a:rPr lang="zh-CN" altLang="en-US" b="0" i="0" dirty="0">
                <a:solidFill>
                  <a:srgbClr val="FF0000"/>
                </a:solidFill>
                <a:effectLst/>
                <a:latin typeface="-apple-system"/>
              </a:rPr>
              <a:t>切片结果不包括终点索引的值</a:t>
            </a:r>
            <a:r>
              <a:rPr lang="zh-CN" altLang="en-US" b="0" i="0" dirty="0">
                <a:solidFill>
                  <a:srgbClr val="050E17"/>
                </a:solidFill>
                <a:effectLst/>
                <a:latin typeface="-apple-system"/>
              </a:rPr>
              <a:t>，</a:t>
            </a:r>
            <a:r>
              <a:rPr lang="en-US" altLang="zh-CN" b="0" i="0" dirty="0">
                <a:solidFill>
                  <a:srgbClr val="050E17"/>
                </a:solidFill>
                <a:effectLst/>
                <a:latin typeface="-apple-system"/>
              </a:rPr>
              <a:t>step </a:t>
            </a:r>
            <a:r>
              <a:rPr lang="zh-CN" altLang="en-US" b="0" i="0" dirty="0">
                <a:solidFill>
                  <a:srgbClr val="050E17"/>
                </a:solidFill>
                <a:effectLst/>
                <a:latin typeface="-apple-system"/>
              </a:rPr>
              <a:t>是步长。</a:t>
            </a:r>
            <a:endParaRPr lang="zh-CN" altLang="en-US" dirty="0"/>
          </a:p>
        </p:txBody>
      </p:sp>
      <p:sp>
        <p:nvSpPr>
          <p:cNvPr id="21" name="文本框 20"/>
          <p:cNvSpPr txBox="1"/>
          <p:nvPr/>
        </p:nvSpPr>
        <p:spPr>
          <a:xfrm>
            <a:off x="488658" y="4158828"/>
            <a:ext cx="11202326" cy="2585323"/>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'physics'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'chemistry'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1997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'physics'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'chemistry'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1997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'physics'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切片终点索引的值超出索引最大值，则按索引最大值</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处理</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'physics'</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1997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2.2.2 </a:t>
            </a:r>
            <a:r>
              <a:rPr lang="zh-CN" altLang="en-US" sz="1800" dirty="0">
                <a:solidFill>
                  <a:srgbClr val="577CCE"/>
                </a:solidFill>
                <a:latin typeface="+mn-ea"/>
              </a:rPr>
              <a:t>列表切片</a:t>
            </a:r>
            <a:endParaRPr lang="en-US" altLang="zh-CN" sz="1800" dirty="0">
              <a:solidFill>
                <a:srgbClr val="577CCE"/>
              </a:solidFill>
              <a:latin typeface="+mn-ea"/>
            </a:endParaRPr>
          </a:p>
        </p:txBody>
      </p:sp>
      <p:sp>
        <p:nvSpPr>
          <p:cNvPr id="8" name="文本框 7"/>
          <p:cNvSpPr txBox="1"/>
          <p:nvPr/>
        </p:nvSpPr>
        <p:spPr>
          <a:xfrm>
            <a:off x="488658" y="1729583"/>
            <a:ext cx="11465653" cy="646331"/>
          </a:xfrm>
          <a:prstGeom prst="rect">
            <a:avLst/>
          </a:prstGeom>
          <a:noFill/>
        </p:spPr>
        <p:txBody>
          <a:bodyPr wrap="square">
            <a:spAutoFit/>
          </a:bodyPr>
          <a:lstStyle/>
          <a:p>
            <a:r>
              <a:rPr lang="zh-CN" altLang="en-US" b="0" i="0" dirty="0">
                <a:solidFill>
                  <a:srgbClr val="050E17"/>
                </a:solidFill>
                <a:effectLst/>
                <a:latin typeface="-apple-system"/>
              </a:rPr>
              <a:t>若 </a:t>
            </a:r>
            <a:r>
              <a:rPr lang="en-US" altLang="zh-CN" b="0" i="0" dirty="0">
                <a:solidFill>
                  <a:srgbClr val="050E17"/>
                </a:solidFill>
                <a:effectLst/>
                <a:latin typeface="-apple-system"/>
              </a:rPr>
              <a:t>step </a:t>
            </a:r>
            <a:r>
              <a:rPr lang="zh-CN" altLang="en-US" b="0" i="0" dirty="0">
                <a:solidFill>
                  <a:srgbClr val="050E17"/>
                </a:solidFill>
                <a:effectLst/>
                <a:latin typeface="-apple-system"/>
              </a:rPr>
              <a:t>为负数，表示从后往前选取元素生成新列表对象，此时起始索引应在终点索引之后，否则返回空列表。例如：</a:t>
            </a:r>
            <a:endParaRPr lang="zh-CN" altLang="en-US" b="0" i="0" dirty="0">
              <a:solidFill>
                <a:srgbClr val="050E17"/>
              </a:solidFill>
              <a:effectLst/>
              <a:latin typeface="-apple-system"/>
            </a:endParaRPr>
          </a:p>
        </p:txBody>
      </p:sp>
      <p:sp>
        <p:nvSpPr>
          <p:cNvPr id="15" name="文本框 14"/>
          <p:cNvSpPr txBox="1"/>
          <p:nvPr/>
        </p:nvSpPr>
        <p:spPr>
          <a:xfrm>
            <a:off x="501015" y="2515885"/>
            <a:ext cx="11453295" cy="1323439"/>
          </a:xfrm>
          <a:prstGeom prst="rect">
            <a:avLst/>
          </a:prstGeom>
          <a:noFill/>
        </p:spPr>
        <p:txBody>
          <a:bodyPr wrap="square">
            <a:spAutoFit/>
          </a:bodyPr>
          <a:lstStyle/>
          <a:p>
            <a:r>
              <a:rPr lang="en-US" altLang="zh-CN" sz="1600" b="0" dirty="0">
                <a:solidFill>
                  <a:srgbClr val="D73A49"/>
                </a:solidFill>
                <a:effectLst/>
                <a:latin typeface="Consolas" panose="020B0609020204030204" pitchFamily="49" charset="0"/>
              </a:rPr>
              <a:t>&gt;&gt;&gt;</a:t>
            </a:r>
            <a:r>
              <a:rPr lang="en-US" altLang="zh-CN" sz="1600" b="0" dirty="0">
                <a:solidFill>
                  <a:srgbClr val="24292E"/>
                </a:solidFill>
                <a:effectLst/>
                <a:latin typeface="Consolas" panose="020B0609020204030204" pitchFamily="49" charset="0"/>
              </a:rPr>
              <a:t> list1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'physics'</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'chemistry'</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1997</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2000</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&gt;&gt;&gt;</a:t>
            </a:r>
            <a:r>
              <a:rPr lang="en-US" altLang="zh-CN" sz="1600" b="0" dirty="0">
                <a:solidFill>
                  <a:srgbClr val="24292E"/>
                </a:solidFill>
                <a:effectLst/>
                <a:latin typeface="Consolas" panose="020B0609020204030204" pitchFamily="49" charset="0"/>
              </a:rPr>
              <a:t> list1[</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从最后 </a:t>
            </a:r>
            <a:r>
              <a:rPr lang="en-US" altLang="zh-CN" sz="1600" b="0" dirty="0">
                <a:solidFill>
                  <a:srgbClr val="6A737D"/>
                </a:solidFill>
                <a:effectLst/>
                <a:latin typeface="Consolas" panose="020B0609020204030204" pitchFamily="49" charset="0"/>
              </a:rPr>
              <a:t>1 </a:t>
            </a:r>
            <a:r>
              <a:rPr lang="zh-CN" altLang="en-US" sz="1600" b="0" dirty="0">
                <a:solidFill>
                  <a:srgbClr val="6A737D"/>
                </a:solidFill>
                <a:effectLst/>
                <a:latin typeface="Consolas" panose="020B0609020204030204" pitchFamily="49" charset="0"/>
              </a:rPr>
              <a:t>个元素到第二个元素</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2000</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1997</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'chemistry'</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&gt;&gt;&gt;</a:t>
            </a:r>
            <a:r>
              <a:rPr lang="en-US" altLang="zh-CN" sz="1600" b="0" dirty="0">
                <a:solidFill>
                  <a:srgbClr val="24292E"/>
                </a:solidFill>
                <a:effectLst/>
                <a:latin typeface="Consolas" panose="020B0609020204030204" pitchFamily="49" charset="0"/>
              </a:rPr>
              <a:t> list1[</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step </a:t>
            </a:r>
            <a:r>
              <a:rPr lang="zh-CN" altLang="en-US" sz="1600" b="0" dirty="0">
                <a:solidFill>
                  <a:srgbClr val="6A737D"/>
                </a:solidFill>
                <a:effectLst/>
                <a:latin typeface="Consolas" panose="020B0609020204030204" pitchFamily="49" charset="0"/>
              </a:rPr>
              <a:t>为 </a:t>
            </a:r>
            <a:r>
              <a:rPr lang="en-US" altLang="zh-CN" sz="1600" b="0" dirty="0">
                <a:solidFill>
                  <a:srgbClr val="6A737D"/>
                </a:solidFill>
                <a:effectLst/>
                <a:latin typeface="Consolas" panose="020B0609020204030204" pitchFamily="49" charset="0"/>
              </a:rPr>
              <a:t>-1</a:t>
            </a:r>
            <a:r>
              <a:rPr lang="zh-CN" altLang="en-US" sz="1600" b="0" dirty="0">
                <a:solidFill>
                  <a:srgbClr val="6A737D"/>
                </a:solidFill>
                <a:effectLst/>
                <a:latin typeface="Consolas" panose="020B0609020204030204" pitchFamily="49" charset="0"/>
              </a:rPr>
              <a:t>，但起始索引在终点索引前</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p:txBody>
      </p:sp>
      <p:sp>
        <p:nvSpPr>
          <p:cNvPr id="19" name="文本框 18"/>
          <p:cNvSpPr txBox="1"/>
          <p:nvPr/>
        </p:nvSpPr>
        <p:spPr>
          <a:xfrm>
            <a:off x="488658" y="4154916"/>
            <a:ext cx="11202327" cy="923330"/>
          </a:xfrm>
          <a:prstGeom prst="rect">
            <a:avLst/>
          </a:prstGeom>
          <a:noFill/>
        </p:spPr>
        <p:txBody>
          <a:bodyPr wrap="square">
            <a:spAutoFit/>
          </a:bodyPr>
          <a:lstStyle/>
          <a:p>
            <a:r>
              <a:rPr lang="zh-CN" altLang="en-US" b="0" i="0" dirty="0">
                <a:solidFill>
                  <a:srgbClr val="050E17"/>
                </a:solidFill>
                <a:effectLst/>
                <a:latin typeface="-apple-system"/>
              </a:rPr>
              <a:t>切片中的三个参数 </a:t>
            </a:r>
            <a:r>
              <a:rPr lang="en-US" altLang="zh-CN" b="0" i="0" dirty="0">
                <a:solidFill>
                  <a:srgbClr val="050E17"/>
                </a:solidFill>
                <a:effectLst/>
                <a:latin typeface="-apple-system"/>
              </a:rPr>
              <a:t>start</a:t>
            </a:r>
            <a:r>
              <a:rPr lang="zh-CN" altLang="en-US" b="0" i="0" dirty="0">
                <a:solidFill>
                  <a:srgbClr val="050E17"/>
                </a:solidFill>
                <a:effectLst/>
                <a:latin typeface="-apple-system"/>
              </a:rPr>
              <a:t>、</a:t>
            </a:r>
            <a:r>
              <a:rPr lang="en-US" altLang="zh-CN" b="0" i="0" dirty="0">
                <a:solidFill>
                  <a:srgbClr val="050E17"/>
                </a:solidFill>
                <a:effectLst/>
                <a:latin typeface="-apple-system"/>
              </a:rPr>
              <a:t>end </a:t>
            </a:r>
            <a:r>
              <a:rPr lang="zh-CN" altLang="en-US" b="0" i="0" dirty="0">
                <a:solidFill>
                  <a:srgbClr val="050E17"/>
                </a:solidFill>
                <a:effectLst/>
                <a:latin typeface="-apple-system"/>
              </a:rPr>
              <a:t>和 </a:t>
            </a:r>
            <a:r>
              <a:rPr lang="en-US" altLang="zh-CN" b="0" i="0" dirty="0">
                <a:solidFill>
                  <a:srgbClr val="050E17"/>
                </a:solidFill>
                <a:effectLst/>
                <a:latin typeface="-apple-system"/>
              </a:rPr>
              <a:t>step </a:t>
            </a:r>
            <a:r>
              <a:rPr lang="zh-CN" altLang="en-US" b="0" i="0" dirty="0">
                <a:solidFill>
                  <a:srgbClr val="050E17"/>
                </a:solidFill>
                <a:effectLst/>
                <a:latin typeface="-apple-system"/>
              </a:rPr>
              <a:t>均可省略。若 </a:t>
            </a:r>
            <a:r>
              <a:rPr lang="en-US" altLang="zh-CN" b="0" i="0" dirty="0">
                <a:solidFill>
                  <a:srgbClr val="050E17"/>
                </a:solidFill>
                <a:effectLst/>
                <a:latin typeface="-apple-system"/>
              </a:rPr>
              <a:t>step </a:t>
            </a:r>
            <a:r>
              <a:rPr lang="zh-CN" altLang="en-US" b="0" i="0" dirty="0">
                <a:solidFill>
                  <a:srgbClr val="050E17"/>
                </a:solidFill>
                <a:effectLst/>
                <a:latin typeface="-apple-system"/>
              </a:rPr>
              <a:t>省略，默认是 </a:t>
            </a:r>
            <a:r>
              <a:rPr lang="en-US" altLang="zh-CN" b="0" i="0" dirty="0">
                <a:solidFill>
                  <a:srgbClr val="050E17"/>
                </a:solidFill>
                <a:effectLst/>
                <a:latin typeface="-apple-system"/>
              </a:rPr>
              <a:t>1</a:t>
            </a:r>
            <a:r>
              <a:rPr lang="zh-CN" altLang="en-US" b="0" i="0" dirty="0">
                <a:solidFill>
                  <a:srgbClr val="050E17"/>
                </a:solidFill>
                <a:effectLst/>
                <a:latin typeface="-apple-system"/>
              </a:rPr>
              <a:t>，则前面的冒号也可以省略。当 </a:t>
            </a:r>
            <a:r>
              <a:rPr lang="en-US" altLang="zh-CN" b="0" i="0" dirty="0">
                <a:solidFill>
                  <a:srgbClr val="050E17"/>
                </a:solidFill>
                <a:effectLst/>
                <a:latin typeface="-apple-system"/>
              </a:rPr>
              <a:t>step </a:t>
            </a:r>
            <a:r>
              <a:rPr lang="zh-CN" altLang="en-US" b="0" i="0" dirty="0">
                <a:solidFill>
                  <a:srgbClr val="050E17"/>
                </a:solidFill>
                <a:effectLst/>
                <a:latin typeface="-apple-system"/>
              </a:rPr>
              <a:t>为正数时，若 </a:t>
            </a:r>
            <a:r>
              <a:rPr lang="en-US" altLang="zh-CN" b="0" i="0" dirty="0">
                <a:solidFill>
                  <a:srgbClr val="050E17"/>
                </a:solidFill>
                <a:effectLst/>
                <a:latin typeface="-apple-system"/>
              </a:rPr>
              <a:t>start </a:t>
            </a:r>
            <a:r>
              <a:rPr lang="zh-CN" altLang="en-US" b="0" i="0" dirty="0">
                <a:solidFill>
                  <a:srgbClr val="050E17"/>
                </a:solidFill>
                <a:effectLst/>
                <a:latin typeface="-apple-system"/>
              </a:rPr>
              <a:t>省略，默认为 </a:t>
            </a:r>
            <a:r>
              <a:rPr lang="en-US" altLang="zh-CN" b="0" i="0" dirty="0">
                <a:solidFill>
                  <a:srgbClr val="050E17"/>
                </a:solidFill>
                <a:effectLst/>
                <a:latin typeface="-apple-system"/>
              </a:rPr>
              <a:t>0</a:t>
            </a:r>
            <a:r>
              <a:rPr lang="zh-CN" altLang="en-US" b="0" i="0" dirty="0">
                <a:solidFill>
                  <a:srgbClr val="050E17"/>
                </a:solidFill>
                <a:effectLst/>
                <a:latin typeface="-apple-system"/>
              </a:rPr>
              <a:t>；若 </a:t>
            </a:r>
            <a:r>
              <a:rPr lang="en-US" altLang="zh-CN" b="0" i="0" dirty="0">
                <a:solidFill>
                  <a:srgbClr val="050E17"/>
                </a:solidFill>
                <a:effectLst/>
                <a:latin typeface="-apple-system"/>
              </a:rPr>
              <a:t>end </a:t>
            </a:r>
            <a:r>
              <a:rPr lang="zh-CN" altLang="en-US" b="0" i="0" dirty="0">
                <a:solidFill>
                  <a:srgbClr val="050E17"/>
                </a:solidFill>
                <a:effectLst/>
                <a:latin typeface="-apple-system"/>
              </a:rPr>
              <a:t>省略，默认为索引最大值加 </a:t>
            </a:r>
            <a:r>
              <a:rPr lang="en-US" altLang="zh-CN" b="0" i="0" dirty="0">
                <a:solidFill>
                  <a:srgbClr val="050E17"/>
                </a:solidFill>
                <a:effectLst/>
                <a:latin typeface="-apple-system"/>
              </a:rPr>
              <a:t>1</a:t>
            </a:r>
            <a:r>
              <a:rPr lang="zh-CN" altLang="en-US" b="0" i="0" dirty="0">
                <a:solidFill>
                  <a:srgbClr val="050E17"/>
                </a:solidFill>
                <a:effectLst/>
                <a:latin typeface="-apple-system"/>
              </a:rPr>
              <a:t>。当 </a:t>
            </a:r>
            <a:r>
              <a:rPr lang="en-US" altLang="zh-CN" b="0" i="0" dirty="0">
                <a:solidFill>
                  <a:srgbClr val="050E17"/>
                </a:solidFill>
                <a:effectLst/>
                <a:latin typeface="-apple-system"/>
              </a:rPr>
              <a:t>step </a:t>
            </a:r>
            <a:r>
              <a:rPr lang="zh-CN" altLang="en-US" b="0" i="0" dirty="0">
                <a:solidFill>
                  <a:srgbClr val="050E17"/>
                </a:solidFill>
                <a:effectLst/>
                <a:latin typeface="-apple-system"/>
              </a:rPr>
              <a:t>为负数时，若 </a:t>
            </a:r>
            <a:r>
              <a:rPr lang="en-US" altLang="zh-CN" b="0" i="0" dirty="0">
                <a:solidFill>
                  <a:srgbClr val="050E17"/>
                </a:solidFill>
                <a:effectLst/>
                <a:latin typeface="-apple-system"/>
              </a:rPr>
              <a:t>start </a:t>
            </a:r>
            <a:r>
              <a:rPr lang="zh-CN" altLang="en-US" b="0" i="0" dirty="0">
                <a:solidFill>
                  <a:srgbClr val="050E17"/>
                </a:solidFill>
                <a:effectLst/>
                <a:latin typeface="-apple-system"/>
              </a:rPr>
              <a:t>省略，默认为 </a:t>
            </a:r>
            <a:r>
              <a:rPr lang="en-US" altLang="zh-CN" b="0" i="0" dirty="0">
                <a:solidFill>
                  <a:srgbClr val="050E17"/>
                </a:solidFill>
                <a:effectLst/>
                <a:latin typeface="-apple-system"/>
              </a:rPr>
              <a:t>-1</a:t>
            </a:r>
            <a:r>
              <a:rPr lang="zh-CN" altLang="en-US" b="0" i="0" dirty="0">
                <a:solidFill>
                  <a:srgbClr val="050E17"/>
                </a:solidFill>
                <a:effectLst/>
                <a:latin typeface="-apple-system"/>
              </a:rPr>
              <a:t>；若 </a:t>
            </a:r>
            <a:r>
              <a:rPr lang="en-US" altLang="zh-CN" b="0" i="0" dirty="0">
                <a:solidFill>
                  <a:srgbClr val="050E17"/>
                </a:solidFill>
                <a:effectLst/>
                <a:latin typeface="-apple-system"/>
              </a:rPr>
              <a:t>end </a:t>
            </a:r>
            <a:r>
              <a:rPr lang="zh-CN" altLang="en-US" b="0" i="0" dirty="0">
                <a:solidFill>
                  <a:srgbClr val="050E17"/>
                </a:solidFill>
                <a:effectLst/>
                <a:latin typeface="-apple-system"/>
              </a:rPr>
              <a:t>省略，默认为初始元素的前一个位置。</a:t>
            </a:r>
            <a:r>
              <a:rPr lang="zh-CN" altLang="en-US" b="0" i="0" dirty="0">
                <a:solidFill>
                  <a:srgbClr val="577CCE"/>
                </a:solidFill>
                <a:effectLst/>
                <a:latin typeface="-apple-system"/>
              </a:rPr>
              <a:t>以下给出一些操作举例：</a:t>
            </a:r>
            <a:endParaRPr lang="zh-CN" altLang="en-US" dirty="0">
              <a:solidFill>
                <a:srgbClr val="577CCE"/>
              </a:solidFill>
            </a:endParaRPr>
          </a:p>
        </p:txBody>
      </p:sp>
    </p:spTree>
    <p:custDataLst>
      <p:tags r:id="rId1"/>
    </p:custData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2.2.2 </a:t>
            </a:r>
            <a:r>
              <a:rPr lang="zh-CN" altLang="en-US" sz="1800" dirty="0">
                <a:solidFill>
                  <a:srgbClr val="577CCE"/>
                </a:solidFill>
                <a:latin typeface="+mn-ea"/>
              </a:rPr>
              <a:t>列表切片</a:t>
            </a:r>
            <a:endParaRPr lang="en-US" altLang="zh-CN" sz="1800" dirty="0">
              <a:solidFill>
                <a:srgbClr val="577CCE"/>
              </a:solidFill>
              <a:latin typeface="+mn-ea"/>
            </a:endParaRPr>
          </a:p>
        </p:txBody>
      </p:sp>
      <p:sp>
        <p:nvSpPr>
          <p:cNvPr id="7" name="文本框 6"/>
          <p:cNvSpPr txBox="1"/>
          <p:nvPr/>
        </p:nvSpPr>
        <p:spPr>
          <a:xfrm>
            <a:off x="616939" y="1796056"/>
            <a:ext cx="9441462" cy="369331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就是原来的列表</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从第二个元素到最后元素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从第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个元素到倒数第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个元素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从第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个元素到倒数第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个元素，隔一个取一个元素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从第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个元素到最后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个元素，隔一个取一个元素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所有元素反序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2.2.3 </a:t>
            </a:r>
            <a:r>
              <a:rPr lang="zh-CN" altLang="en-US" sz="1800" dirty="0">
                <a:solidFill>
                  <a:srgbClr val="577CCE"/>
                </a:solidFill>
                <a:latin typeface="+mn-ea"/>
              </a:rPr>
              <a:t>列表推导式</a:t>
            </a:r>
            <a:endParaRPr lang="en-US" altLang="zh-CN" sz="1800" dirty="0">
              <a:solidFill>
                <a:srgbClr val="577CCE"/>
              </a:solidFill>
              <a:latin typeface="+mn-ea"/>
            </a:endParaRPr>
          </a:p>
        </p:txBody>
      </p:sp>
      <p:sp>
        <p:nvSpPr>
          <p:cNvPr id="4" name="文本框 3"/>
          <p:cNvSpPr txBox="1"/>
          <p:nvPr/>
        </p:nvSpPr>
        <p:spPr>
          <a:xfrm>
            <a:off x="616937" y="1748915"/>
            <a:ext cx="10344784" cy="369332"/>
          </a:xfrm>
          <a:prstGeom prst="rect">
            <a:avLst/>
          </a:prstGeom>
          <a:noFill/>
        </p:spPr>
        <p:txBody>
          <a:bodyPr wrap="square">
            <a:spAutoFit/>
          </a:bodyPr>
          <a:lstStyle/>
          <a:p>
            <a:r>
              <a:rPr lang="zh-CN" altLang="en-US" b="0" i="0" dirty="0">
                <a:solidFill>
                  <a:srgbClr val="050E17"/>
                </a:solidFill>
                <a:effectLst/>
                <a:latin typeface="-apple-system"/>
              </a:rPr>
              <a:t>列表推导式是 </a:t>
            </a:r>
            <a:r>
              <a:rPr lang="en-US" altLang="zh-CN" b="0" i="0" dirty="0">
                <a:solidFill>
                  <a:srgbClr val="050E17"/>
                </a:solidFill>
                <a:effectLst/>
                <a:latin typeface="-apple-system"/>
              </a:rPr>
              <a:t>Python </a:t>
            </a:r>
            <a:r>
              <a:rPr lang="zh-CN" altLang="en-US" b="0" i="0" dirty="0">
                <a:solidFill>
                  <a:srgbClr val="050E17"/>
                </a:solidFill>
                <a:effectLst/>
                <a:latin typeface="-apple-system"/>
              </a:rPr>
              <a:t>构建列表的一种快捷方式，可以使用简洁的代码创建出一个列表。例如：</a:t>
            </a:r>
            <a:endParaRPr lang="zh-CN" altLang="en-US" dirty="0"/>
          </a:p>
        </p:txBody>
      </p:sp>
      <p:graphicFrame>
        <p:nvGraphicFramePr>
          <p:cNvPr id="2" name="对象 1"/>
          <p:cNvGraphicFramePr/>
          <p:nvPr>
            <p:custDataLst>
              <p:tags r:id="rId1"/>
            </p:custDataLst>
          </p:nvPr>
        </p:nvGraphicFramePr>
        <p:xfrm>
          <a:off x="483235" y="2768600"/>
          <a:ext cx="11386185" cy="2869565"/>
        </p:xfrm>
        <a:graphic>
          <a:graphicData uri="http://schemas.openxmlformats.org/presentationml/2006/ole">
            <mc:AlternateContent xmlns:mc="http://schemas.openxmlformats.org/markup-compatibility/2006">
              <mc:Choice xmlns:v="urn:schemas-microsoft-com:vml" Requires="v">
                <p:oleObj spid="_x0000_s5" name="" r:id="rId2" imgW="11377295" imgH="2867025" progId="Paint.Picture">
                  <p:embed/>
                </p:oleObj>
              </mc:Choice>
              <mc:Fallback>
                <p:oleObj name="" r:id="rId2" imgW="11377295" imgH="2867025" progId="Paint.Picture">
                  <p:embed/>
                  <p:pic>
                    <p:nvPicPr>
                      <p:cNvPr id="0" name="图片 4"/>
                      <p:cNvPicPr/>
                      <p:nvPr/>
                    </p:nvPicPr>
                    <p:blipFill>
                      <a:blip r:embed="rId3"/>
                      <a:stretch>
                        <a:fillRect/>
                      </a:stretch>
                    </p:blipFill>
                    <p:spPr>
                      <a:xfrm>
                        <a:off x="483235" y="2768600"/>
                        <a:ext cx="11386185" cy="2869565"/>
                      </a:xfrm>
                      <a:prstGeom prst="rect">
                        <a:avLst/>
                      </a:prstGeom>
                    </p:spPr>
                  </p:pic>
                </p:oleObj>
              </mc:Fallback>
            </mc:AlternateContent>
          </a:graphicData>
        </a:graphic>
      </p:graphicFrame>
    </p:spTree>
    <p:custDataLst>
      <p:tags r:id="rId4"/>
    </p:custData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2.2.4 </a:t>
            </a:r>
            <a:r>
              <a:rPr lang="zh-CN" altLang="en-US" sz="1800" dirty="0">
                <a:solidFill>
                  <a:srgbClr val="577CCE"/>
                </a:solidFill>
                <a:latin typeface="+mn-ea"/>
              </a:rPr>
              <a:t>列表与字典字符串的转换</a:t>
            </a:r>
            <a:endParaRPr lang="en-US" altLang="zh-CN" sz="1800" dirty="0">
              <a:solidFill>
                <a:srgbClr val="577CCE"/>
              </a:solidFill>
              <a:latin typeface="+mn-ea"/>
            </a:endParaRPr>
          </a:p>
        </p:txBody>
      </p:sp>
      <p:sp>
        <p:nvSpPr>
          <p:cNvPr id="4" name="文本框 3"/>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(1) </a:t>
            </a:r>
            <a:r>
              <a:rPr lang="zh-CN" altLang="en-US" b="0" i="0" dirty="0">
                <a:solidFill>
                  <a:srgbClr val="050E17"/>
                </a:solidFill>
                <a:effectLst/>
                <a:latin typeface="-apple-system"/>
              </a:rPr>
              <a:t>列表与字典的转换</a:t>
            </a:r>
            <a:endParaRPr lang="zh-CN" altLang="en-US" dirty="0"/>
          </a:p>
        </p:txBody>
      </p:sp>
      <p:sp>
        <p:nvSpPr>
          <p:cNvPr id="9" name="文本框 8"/>
          <p:cNvSpPr txBox="1"/>
          <p:nvPr/>
        </p:nvSpPr>
        <p:spPr>
          <a:xfrm>
            <a:off x="816528" y="2177852"/>
            <a:ext cx="11375472"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dict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zip</a:t>
            </a:r>
            <a:r>
              <a:rPr lang="en-US" altLang="zh-CN" b="0" dirty="0">
                <a:solidFill>
                  <a:srgbClr val="24292E"/>
                </a:solidFill>
                <a:effectLst/>
                <a:latin typeface="Consolas" panose="020B0609020204030204" pitchFamily="49" charset="0"/>
              </a:rPr>
              <a:t>(list1, list2))</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816528" y="3905302"/>
            <a:ext cx="6094602" cy="369332"/>
          </a:xfrm>
          <a:prstGeom prst="rect">
            <a:avLst/>
          </a:prstGeom>
          <a:noFill/>
        </p:spPr>
        <p:txBody>
          <a:bodyPr wrap="square">
            <a:spAutoFit/>
          </a:bodyPr>
          <a:lstStyle/>
          <a:p>
            <a:r>
              <a:rPr lang="zh-CN" altLang="en-US" dirty="0"/>
              <a:t>字典的所有键集合和值集合也可以分别转换为列表。例如：</a:t>
            </a:r>
            <a:endParaRPr lang="zh-CN" altLang="en-US" dirty="0"/>
          </a:p>
        </p:txBody>
      </p:sp>
      <p:sp>
        <p:nvSpPr>
          <p:cNvPr id="7" name="文本框 6"/>
          <p:cNvSpPr txBox="1"/>
          <p:nvPr/>
        </p:nvSpPr>
        <p:spPr>
          <a:xfrm>
            <a:off x="816528" y="4274634"/>
            <a:ext cx="8527762"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(d))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得到键集合列表</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d.keys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查看键集合，注意返回的不是 </a:t>
            </a:r>
            <a:r>
              <a:rPr lang="en-US" altLang="zh-CN" b="0" dirty="0">
                <a:solidFill>
                  <a:srgbClr val="6A737D"/>
                </a:solidFill>
                <a:effectLst/>
                <a:latin typeface="Consolas" panose="020B0609020204030204" pitchFamily="49" charset="0"/>
              </a:rPr>
              <a:t>list </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dict_keys</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d.keys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得到键集合列表，与 </a:t>
            </a:r>
            <a:r>
              <a:rPr lang="en-US" altLang="zh-CN" b="0" dirty="0">
                <a:solidFill>
                  <a:srgbClr val="6A737D"/>
                </a:solidFill>
                <a:effectLst/>
                <a:latin typeface="Consolas" panose="020B0609020204030204" pitchFamily="49" charset="0"/>
              </a:rPr>
              <a:t>list(d) </a:t>
            </a:r>
            <a:r>
              <a:rPr lang="zh-CN" altLang="en-US" b="0" dirty="0">
                <a:solidFill>
                  <a:srgbClr val="6A737D"/>
                </a:solidFill>
                <a:effectLst/>
                <a:latin typeface="Consolas" panose="020B0609020204030204" pitchFamily="49" charset="0"/>
              </a:rPr>
              <a:t>等价</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d.values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得到值集合列表</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2.2.4 </a:t>
            </a:r>
            <a:r>
              <a:rPr lang="zh-CN" altLang="en-US" sz="1800" dirty="0">
                <a:solidFill>
                  <a:srgbClr val="577CCE"/>
                </a:solidFill>
                <a:latin typeface="+mn-ea"/>
              </a:rPr>
              <a:t>列表与字典字符串的转换</a:t>
            </a:r>
            <a:endParaRPr lang="en-US" altLang="zh-CN" sz="1800" dirty="0">
              <a:solidFill>
                <a:srgbClr val="577CCE"/>
              </a:solidFill>
              <a:latin typeface="+mn-ea"/>
            </a:endParaRPr>
          </a:p>
        </p:txBody>
      </p:sp>
      <p:sp>
        <p:nvSpPr>
          <p:cNvPr id="4" name="文本框 3"/>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(2) </a:t>
            </a:r>
            <a:r>
              <a:rPr lang="zh-CN" altLang="en-US" b="0" i="0" dirty="0">
                <a:solidFill>
                  <a:srgbClr val="050E17"/>
                </a:solidFill>
                <a:effectLst/>
                <a:latin typeface="-apple-system"/>
              </a:rPr>
              <a:t>列表与字符串的转换</a:t>
            </a:r>
            <a:endParaRPr lang="zh-CN" altLang="en-US" dirty="0"/>
          </a:p>
        </p:txBody>
      </p:sp>
      <p:sp>
        <p:nvSpPr>
          <p:cNvPr id="6" name="文本框 5"/>
          <p:cNvSpPr txBox="1"/>
          <p:nvPr/>
        </p:nvSpPr>
        <p:spPr>
          <a:xfrm>
            <a:off x="816527" y="2209165"/>
            <a:ext cx="10874457" cy="369332"/>
          </a:xfrm>
          <a:prstGeom prst="rect">
            <a:avLst/>
          </a:prstGeom>
          <a:noFill/>
        </p:spPr>
        <p:txBody>
          <a:bodyPr wrap="square">
            <a:spAutoFit/>
          </a:bodyPr>
          <a:lstStyle/>
          <a:p>
            <a:r>
              <a:rPr lang="zh-CN" altLang="en-US" b="0" i="0" dirty="0">
                <a:solidFill>
                  <a:srgbClr val="050E17"/>
                </a:solidFill>
                <a:effectLst/>
                <a:latin typeface="-apple-system"/>
              </a:rPr>
              <a:t>若列表中的每个元素都是字符串，有时需要将这些字符串连起来构成一个字符串。具体操作示例如下：</a:t>
            </a:r>
            <a:endParaRPr lang="zh-CN" altLang="en-US" dirty="0"/>
          </a:p>
        </p:txBody>
      </p:sp>
      <p:sp>
        <p:nvSpPr>
          <p:cNvPr id="10" name="文本框 9"/>
          <p:cNvSpPr txBox="1"/>
          <p:nvPr/>
        </p:nvSpPr>
        <p:spPr>
          <a:xfrm>
            <a:off x="816526" y="2669415"/>
            <a:ext cx="10344783" cy="397031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join_list1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.join(list1)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引号内的字符串为连接各个元素时用的符号</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(join_list1)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key1,key2,key3</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'key1,key2,key3'</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split_d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d.split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使用 </a:t>
            </a:r>
            <a:r>
              <a:rPr lang="en-US" altLang="zh-CN" b="0" dirty="0">
                <a:solidFill>
                  <a:srgbClr val="6A737D"/>
                </a:solidFill>
                <a:effectLst/>
                <a:latin typeface="Consolas" panose="020B0609020204030204" pitchFamily="49" charset="0"/>
              </a:rPr>
              <a:t>split() </a:t>
            </a:r>
            <a:r>
              <a:rPr lang="zh-CN" altLang="en-US" b="0" dirty="0">
                <a:solidFill>
                  <a:srgbClr val="6A737D"/>
                </a:solidFill>
                <a:effectLst/>
                <a:latin typeface="Consolas" panose="020B0609020204030204" pitchFamily="49" charset="0"/>
              </a:rPr>
              <a:t>对 </a:t>
            </a:r>
            <a:r>
              <a:rPr lang="en-US" altLang="zh-CN" b="0" dirty="0">
                <a:solidFill>
                  <a:srgbClr val="6A737D"/>
                </a:solidFill>
                <a:effectLst/>
                <a:latin typeface="Consolas" panose="020B0609020204030204" pitchFamily="49" charset="0"/>
              </a:rPr>
              <a:t>d </a:t>
            </a:r>
            <a:r>
              <a:rPr lang="zh-CN" altLang="en-US" b="0" dirty="0">
                <a:solidFill>
                  <a:srgbClr val="6A737D"/>
                </a:solidFill>
                <a:effectLst/>
                <a:latin typeface="Consolas" panose="020B0609020204030204" pitchFamily="49" charset="0"/>
              </a:rPr>
              <a:t>进行分割，将逗号作为分隔符，返回列表</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split_d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'key1'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'key3'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'ABCD'</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list_a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将字符串每个字符进行分割，返回列表</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list_a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2.2.5 </a:t>
            </a:r>
            <a:r>
              <a:rPr lang="zh-CN" altLang="en-US" sz="1800" dirty="0">
                <a:solidFill>
                  <a:srgbClr val="577CCE"/>
                </a:solidFill>
                <a:latin typeface="+mn-ea"/>
              </a:rPr>
              <a:t>列表的其他常见操作</a:t>
            </a:r>
            <a:endParaRPr lang="zh-CN" altLang="en-US" sz="1800" dirty="0">
              <a:solidFill>
                <a:srgbClr val="577CCE"/>
              </a:solidFill>
              <a:latin typeface="+mn-ea"/>
            </a:endParaRPr>
          </a:p>
        </p:txBody>
      </p:sp>
      <p:sp>
        <p:nvSpPr>
          <p:cNvPr id="4" name="文本框 3"/>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(1) </a:t>
            </a:r>
            <a:r>
              <a:rPr lang="zh-CN" altLang="en-US" b="0" i="0" dirty="0">
                <a:solidFill>
                  <a:srgbClr val="050E17"/>
                </a:solidFill>
                <a:effectLst/>
                <a:latin typeface="-apple-system"/>
              </a:rPr>
              <a:t>获取列表长度：使用 </a:t>
            </a:r>
            <a:r>
              <a:rPr lang="en-US" altLang="zh-CN" b="0" i="0" dirty="0" err="1">
                <a:solidFill>
                  <a:srgbClr val="050E17"/>
                </a:solidFill>
                <a:effectLst/>
                <a:latin typeface="-apple-system"/>
              </a:rPr>
              <a:t>len</a:t>
            </a:r>
            <a:r>
              <a:rPr lang="en-US" altLang="zh-CN" b="0" i="0" dirty="0">
                <a:solidFill>
                  <a:srgbClr val="050E17"/>
                </a:solidFill>
                <a:effectLst/>
                <a:latin typeface="-apple-system"/>
              </a:rPr>
              <a:t>() </a:t>
            </a:r>
            <a:r>
              <a:rPr lang="zh-CN" altLang="en-US" b="0" i="0" dirty="0">
                <a:solidFill>
                  <a:srgbClr val="050E17"/>
                </a:solidFill>
                <a:effectLst/>
                <a:latin typeface="-apple-system"/>
              </a:rPr>
              <a:t>函数来获取列表中元素的个数。</a:t>
            </a:r>
            <a:endParaRPr lang="zh-CN" altLang="en-US" dirty="0"/>
          </a:p>
        </p:txBody>
      </p:sp>
      <p:sp>
        <p:nvSpPr>
          <p:cNvPr id="17" name="文本框 16"/>
          <p:cNvSpPr txBox="1"/>
          <p:nvPr/>
        </p:nvSpPr>
        <p:spPr>
          <a:xfrm>
            <a:off x="1000387" y="2277550"/>
            <a:ext cx="9099958"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len</a:t>
            </a:r>
            <a:r>
              <a:rPr lang="en-US" altLang="zh-CN" b="0" dirty="0">
                <a:solidFill>
                  <a:srgbClr val="24292E"/>
                </a:solidFill>
                <a:effectLst/>
                <a:latin typeface="Consolas" panose="020B0609020204030204" pitchFamily="49" charset="0"/>
              </a:rPr>
              <a:t>(list1))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5</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5</a:t>
            </a:r>
            <a:endParaRPr lang="zh-CN" altLang="en-US" b="0" dirty="0">
              <a:solidFill>
                <a:srgbClr val="24292E"/>
              </a:solidFill>
              <a:effectLst/>
              <a:latin typeface="Consolas" panose="020B0609020204030204" pitchFamily="49" charset="0"/>
            </a:endParaRPr>
          </a:p>
        </p:txBody>
      </p:sp>
      <p:sp>
        <p:nvSpPr>
          <p:cNvPr id="18" name="文本框 17"/>
          <p:cNvSpPr txBox="1"/>
          <p:nvPr/>
        </p:nvSpPr>
        <p:spPr>
          <a:xfrm>
            <a:off x="616937" y="3244334"/>
            <a:ext cx="10344784" cy="369332"/>
          </a:xfrm>
          <a:prstGeom prst="rect">
            <a:avLst/>
          </a:prstGeom>
          <a:noFill/>
        </p:spPr>
        <p:txBody>
          <a:bodyPr wrap="square">
            <a:spAutoFit/>
          </a:bodyPr>
          <a:lstStyle/>
          <a:p>
            <a:r>
              <a:rPr lang="en-US" altLang="zh-CN" b="0" i="0" dirty="0">
                <a:solidFill>
                  <a:srgbClr val="050E17"/>
                </a:solidFill>
                <a:effectLst/>
                <a:latin typeface="-apple-system"/>
              </a:rPr>
              <a:t>(</a:t>
            </a:r>
            <a:r>
              <a:rPr lang="en-US" altLang="zh-CN" dirty="0">
                <a:solidFill>
                  <a:srgbClr val="050E17"/>
                </a:solidFill>
                <a:latin typeface="-apple-system"/>
              </a:rPr>
              <a:t>2</a:t>
            </a:r>
            <a:r>
              <a:rPr lang="en-US" altLang="zh-CN" b="0" i="0" dirty="0">
                <a:solidFill>
                  <a:srgbClr val="050E17"/>
                </a:solidFill>
                <a:effectLst/>
                <a:latin typeface="-apple-system"/>
              </a:rPr>
              <a:t>) </a:t>
            </a:r>
            <a:r>
              <a:rPr lang="zh-CN" altLang="en-US" b="0" i="0" dirty="0">
                <a:solidFill>
                  <a:srgbClr val="050E17"/>
                </a:solidFill>
                <a:effectLst/>
                <a:latin typeface="-apple-system"/>
              </a:rPr>
              <a:t>列表连接：使用加号运算符 </a:t>
            </a:r>
            <a:r>
              <a:rPr lang="en-US" altLang="zh-CN" b="0" i="0" dirty="0">
                <a:solidFill>
                  <a:srgbClr val="050E17"/>
                </a:solidFill>
                <a:effectLst/>
                <a:latin typeface="-apple-system"/>
              </a:rPr>
              <a:t>+ </a:t>
            </a:r>
            <a:r>
              <a:rPr lang="zh-CN" altLang="en-US" b="0" i="0" dirty="0">
                <a:solidFill>
                  <a:srgbClr val="050E17"/>
                </a:solidFill>
                <a:effectLst/>
                <a:latin typeface="-apple-system"/>
              </a:rPr>
              <a:t>来连接两个列表。</a:t>
            </a:r>
            <a:endParaRPr lang="zh-CN" altLang="en-US" dirty="0"/>
          </a:p>
        </p:txBody>
      </p:sp>
      <p:sp>
        <p:nvSpPr>
          <p:cNvPr id="20" name="文本框 19"/>
          <p:cNvSpPr txBox="1"/>
          <p:nvPr/>
        </p:nvSpPr>
        <p:spPr>
          <a:xfrm>
            <a:off x="1000387" y="3657120"/>
            <a:ext cx="9846578"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list2)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[1, 2, 3, 4, 7, 8, 9]</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 </a:t>
            </a:r>
            <a:r>
              <a:rPr lang="en-US" altLang="zh-CN" b="0" dirty="0">
                <a:solidFill>
                  <a:srgbClr val="6A737D"/>
                </a:solidFill>
                <a:effectLst/>
                <a:latin typeface="Consolas" panose="020B0609020204030204" pitchFamily="49" charset="0"/>
              </a:rPr>
              <a:t>[5, 6] </a:t>
            </a:r>
            <a:r>
              <a:rPr lang="zh-CN" altLang="en-US" b="0" dirty="0">
                <a:solidFill>
                  <a:srgbClr val="6A737D"/>
                </a:solidFill>
                <a:effectLst/>
                <a:latin typeface="Consolas" panose="020B0609020204030204" pitchFamily="49" charset="0"/>
              </a:rPr>
              <a:t>追加到 </a:t>
            </a:r>
            <a:r>
              <a:rPr lang="en-US" altLang="zh-CN" b="0" dirty="0">
                <a:solidFill>
                  <a:srgbClr val="6A737D"/>
                </a:solidFill>
                <a:effectLst/>
                <a:latin typeface="Consolas" panose="020B0609020204030204" pitchFamily="49" charset="0"/>
              </a:rPr>
              <a:t>list1 </a:t>
            </a:r>
            <a:r>
              <a:rPr lang="zh-CN" altLang="en-US" b="0" dirty="0">
                <a:solidFill>
                  <a:srgbClr val="6A737D"/>
                </a:solidFill>
                <a:effectLst/>
                <a:latin typeface="Consolas" panose="020B0609020204030204" pitchFamily="49" charset="0"/>
              </a:rPr>
              <a:t>的末尾</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[1, 2, 3, 4, 5, 6]</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2.2.5 </a:t>
            </a:r>
            <a:r>
              <a:rPr lang="zh-CN" altLang="en-US" sz="1800" dirty="0">
                <a:solidFill>
                  <a:srgbClr val="577CCE"/>
                </a:solidFill>
                <a:latin typeface="+mn-ea"/>
              </a:rPr>
              <a:t>列表的其他常见操作</a:t>
            </a:r>
            <a:endParaRPr lang="zh-CN" altLang="en-US" sz="1800" dirty="0">
              <a:solidFill>
                <a:srgbClr val="577CCE"/>
              </a:solidFill>
              <a:latin typeface="+mn-ea"/>
            </a:endParaRPr>
          </a:p>
        </p:txBody>
      </p:sp>
      <p:sp>
        <p:nvSpPr>
          <p:cNvPr id="4" name="文本框 3"/>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(3) </a:t>
            </a:r>
            <a:r>
              <a:rPr lang="zh-CN" altLang="en-US" b="0" i="0" dirty="0">
                <a:solidFill>
                  <a:srgbClr val="050E17"/>
                </a:solidFill>
                <a:effectLst/>
                <a:latin typeface="-apple-system"/>
              </a:rPr>
              <a:t>列表重复：使用乘号运算符 * 来重复列表中的元素。</a:t>
            </a:r>
            <a:endParaRPr lang="zh-CN" altLang="en-US" dirty="0"/>
          </a:p>
        </p:txBody>
      </p:sp>
      <p:sp>
        <p:nvSpPr>
          <p:cNvPr id="6" name="文本框 5"/>
          <p:cNvSpPr txBox="1"/>
          <p:nvPr/>
        </p:nvSpPr>
        <p:spPr>
          <a:xfrm>
            <a:off x="975220" y="2176913"/>
            <a:ext cx="8521118"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[1, 'hi', 1, 'hi', 1, 'hi']</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[1, 'hi', 1, 'hi', 1, 'hi']</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'hi'</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616937" y="3712907"/>
            <a:ext cx="10344784" cy="369332"/>
          </a:xfrm>
          <a:prstGeom prst="rect">
            <a:avLst/>
          </a:prstGeom>
          <a:noFill/>
        </p:spPr>
        <p:txBody>
          <a:bodyPr wrap="square">
            <a:spAutoFit/>
          </a:bodyPr>
          <a:lstStyle/>
          <a:p>
            <a:r>
              <a:rPr lang="en-US" altLang="zh-CN" b="0" i="0" dirty="0">
                <a:solidFill>
                  <a:srgbClr val="050E17"/>
                </a:solidFill>
                <a:effectLst/>
                <a:latin typeface="-apple-system"/>
              </a:rPr>
              <a:t>(</a:t>
            </a:r>
            <a:r>
              <a:rPr lang="en-US" altLang="zh-CN" dirty="0">
                <a:solidFill>
                  <a:srgbClr val="050E17"/>
                </a:solidFill>
                <a:latin typeface="-apple-system"/>
              </a:rPr>
              <a:t>4</a:t>
            </a:r>
            <a:r>
              <a:rPr lang="en-US" altLang="zh-CN" b="0" i="0" dirty="0">
                <a:solidFill>
                  <a:srgbClr val="050E17"/>
                </a:solidFill>
                <a:effectLst/>
                <a:latin typeface="-apple-system"/>
              </a:rPr>
              <a:t>) </a:t>
            </a:r>
            <a:r>
              <a:rPr lang="zh-CN" altLang="en-US" b="0" i="0" dirty="0">
                <a:solidFill>
                  <a:srgbClr val="050E17"/>
                </a:solidFill>
                <a:effectLst/>
                <a:latin typeface="-apple-system"/>
              </a:rPr>
              <a:t>判断元素是否在列表中：使用成员运算符 </a:t>
            </a:r>
            <a:r>
              <a:rPr lang="en-US" altLang="zh-CN" b="0" i="0" dirty="0">
                <a:solidFill>
                  <a:srgbClr val="050E17"/>
                </a:solidFill>
                <a:effectLst/>
                <a:latin typeface="-apple-system"/>
              </a:rPr>
              <a:t>in </a:t>
            </a:r>
            <a:r>
              <a:rPr lang="zh-CN" altLang="en-US" b="0" i="0" dirty="0">
                <a:solidFill>
                  <a:srgbClr val="050E17"/>
                </a:solidFill>
                <a:effectLst/>
                <a:latin typeface="-apple-system"/>
              </a:rPr>
              <a:t>和 </a:t>
            </a:r>
            <a:r>
              <a:rPr lang="en-US" altLang="zh-CN" b="0" i="0" dirty="0">
                <a:solidFill>
                  <a:srgbClr val="050E17"/>
                </a:solidFill>
                <a:effectLst/>
                <a:latin typeface="-apple-system"/>
              </a:rPr>
              <a:t>not in </a:t>
            </a:r>
            <a:r>
              <a:rPr lang="zh-CN" altLang="en-US" b="0" i="0" dirty="0">
                <a:solidFill>
                  <a:srgbClr val="050E17"/>
                </a:solidFill>
                <a:effectLst/>
                <a:latin typeface="-apple-system"/>
              </a:rPr>
              <a:t>来判断元素是否在列表中。</a:t>
            </a:r>
            <a:endParaRPr lang="zh-CN" altLang="en-US" dirty="0"/>
          </a:p>
        </p:txBody>
      </p:sp>
      <p:sp>
        <p:nvSpPr>
          <p:cNvPr id="9" name="文本框 8"/>
          <p:cNvSpPr txBox="1"/>
          <p:nvPr/>
        </p:nvSpPr>
        <p:spPr>
          <a:xfrm>
            <a:off x="975220" y="4140905"/>
            <a:ext cx="9905301" cy="2585323"/>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False</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False</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not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False</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False</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not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list1)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sz="3200" dirty="0">
                <a:sym typeface="+mn-ea"/>
              </a:rPr>
              <a:t>2.2 </a:t>
            </a:r>
            <a:r>
              <a:rPr lang="zh-CN" altLang="en-US" sz="3200" dirty="0">
                <a:sym typeface="+mn-ea"/>
              </a:rPr>
              <a:t>基于</a:t>
            </a:r>
            <a:r>
              <a:rPr lang="en-US" altLang="zh-CN" sz="3200" dirty="0">
                <a:sym typeface="+mn-ea"/>
              </a:rPr>
              <a:t>Python</a:t>
            </a:r>
            <a:r>
              <a:rPr lang="zh-CN" altLang="en-US" sz="3200" dirty="0">
                <a:sym typeface="+mn-ea"/>
              </a:rPr>
              <a:t>的常见数据处理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2.2.5 </a:t>
            </a:r>
            <a:r>
              <a:rPr lang="zh-CN" altLang="en-US" sz="1800" dirty="0">
                <a:solidFill>
                  <a:srgbClr val="577CCE"/>
                </a:solidFill>
                <a:latin typeface="+mn-ea"/>
              </a:rPr>
              <a:t>列表的其他常见操作</a:t>
            </a:r>
            <a:endParaRPr lang="zh-CN" altLang="en-US" sz="1800" dirty="0">
              <a:solidFill>
                <a:srgbClr val="577CCE"/>
              </a:solidFill>
              <a:latin typeface="+mn-ea"/>
            </a:endParaRPr>
          </a:p>
        </p:txBody>
      </p:sp>
      <p:sp>
        <p:nvSpPr>
          <p:cNvPr id="4" name="文本框 3"/>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(5) </a:t>
            </a:r>
            <a:r>
              <a:rPr lang="zh-CN" altLang="en-US" b="0" i="0" dirty="0">
                <a:solidFill>
                  <a:srgbClr val="050E17"/>
                </a:solidFill>
                <a:effectLst/>
                <a:latin typeface="-apple-system"/>
              </a:rPr>
              <a:t>用作可迭代对象：列表可以作为可迭代对象，用于循环遍历其中的元素。</a:t>
            </a:r>
            <a:endParaRPr lang="zh-CN" altLang="en-US" b="0" i="0" dirty="0">
              <a:solidFill>
                <a:srgbClr val="050E17"/>
              </a:solidFill>
              <a:effectLst/>
              <a:latin typeface="-apple-system"/>
            </a:endParaRPr>
          </a:p>
        </p:txBody>
      </p:sp>
      <p:sp>
        <p:nvSpPr>
          <p:cNvPr id="5" name="文本框 4"/>
          <p:cNvSpPr txBox="1"/>
          <p:nvPr/>
        </p:nvSpPr>
        <p:spPr>
          <a:xfrm>
            <a:off x="1025554" y="2277550"/>
            <a:ext cx="6094602" cy="1477328"/>
          </a:xfrm>
          <a:prstGeom prst="rect">
            <a:avLst/>
          </a:prstGeom>
          <a:noFill/>
        </p:spPr>
        <p:txBody>
          <a:bodyPr wrap="square">
            <a:spAutoFit/>
          </a:bodyPr>
          <a:lstStyle/>
          <a:p>
            <a:r>
              <a:rPr lang="da-DK" altLang="zh-CN" b="0" dirty="0">
                <a:solidFill>
                  <a:srgbClr val="D73A49"/>
                </a:solidFill>
                <a:effectLst/>
                <a:latin typeface="Consolas" panose="020B0609020204030204" pitchFamily="49" charset="0"/>
              </a:rPr>
              <a:t>&gt;&gt;&gt;</a:t>
            </a:r>
            <a:r>
              <a:rPr lang="da-DK" altLang="zh-CN" b="0" dirty="0">
                <a:solidFill>
                  <a:srgbClr val="24292E"/>
                </a:solidFill>
                <a:effectLst/>
                <a:latin typeface="Consolas" panose="020B0609020204030204" pitchFamily="49" charset="0"/>
              </a:rPr>
              <a:t> list1 </a:t>
            </a:r>
            <a:r>
              <a:rPr lang="da-DK" altLang="zh-CN" b="0" dirty="0">
                <a:solidFill>
                  <a:srgbClr val="D73A49"/>
                </a:solidFill>
                <a:effectLst/>
                <a:latin typeface="Consolas" panose="020B0609020204030204" pitchFamily="49" charset="0"/>
              </a:rPr>
              <a:t>=</a:t>
            </a:r>
            <a:r>
              <a:rPr lang="da-DK" altLang="zh-CN" b="0" dirty="0">
                <a:solidFill>
                  <a:srgbClr val="24292E"/>
                </a:solidFill>
                <a:effectLst/>
                <a:latin typeface="Consolas" panose="020B0609020204030204" pitchFamily="49" charset="0"/>
              </a:rPr>
              <a:t> [</a:t>
            </a:r>
            <a:r>
              <a:rPr lang="da-DK" altLang="zh-CN" b="0" dirty="0">
                <a:solidFill>
                  <a:srgbClr val="005CC5"/>
                </a:solidFill>
                <a:effectLst/>
                <a:latin typeface="Consolas" panose="020B0609020204030204" pitchFamily="49" charset="0"/>
              </a:rPr>
              <a:t>1</a:t>
            </a:r>
            <a:r>
              <a:rPr lang="da-DK" altLang="zh-CN" b="0" dirty="0">
                <a:solidFill>
                  <a:srgbClr val="24292E"/>
                </a:solidFill>
                <a:effectLst/>
                <a:latin typeface="Consolas" panose="020B0609020204030204" pitchFamily="49" charset="0"/>
              </a:rPr>
              <a:t>, </a:t>
            </a:r>
            <a:r>
              <a:rPr lang="da-DK" altLang="zh-CN" b="0" dirty="0">
                <a:solidFill>
                  <a:srgbClr val="032F62"/>
                </a:solidFill>
                <a:effectLst/>
                <a:latin typeface="Consolas" panose="020B0609020204030204" pitchFamily="49" charset="0"/>
              </a:rPr>
              <a:t>"hi"</a:t>
            </a:r>
            <a:r>
              <a:rPr lang="da-DK" altLang="zh-CN" b="0" dirty="0">
                <a:solidFill>
                  <a:srgbClr val="24292E"/>
                </a:solidFill>
                <a:effectLst/>
                <a:latin typeface="Consolas" panose="020B0609020204030204" pitchFamily="49" charset="0"/>
              </a:rPr>
              <a:t>]</a:t>
            </a:r>
            <a:endParaRPr lang="da-DK" altLang="zh-CN" b="0" dirty="0">
              <a:solidFill>
                <a:srgbClr val="24292E"/>
              </a:solidFill>
              <a:effectLst/>
              <a:latin typeface="Consolas" panose="020B0609020204030204" pitchFamily="49" charset="0"/>
            </a:endParaRPr>
          </a:p>
          <a:p>
            <a:r>
              <a:rPr lang="da-DK" altLang="zh-CN" b="0" dirty="0">
                <a:solidFill>
                  <a:srgbClr val="D73A49"/>
                </a:solidFill>
                <a:effectLst/>
                <a:latin typeface="Consolas" panose="020B0609020204030204" pitchFamily="49" charset="0"/>
              </a:rPr>
              <a:t>&gt;&gt;&gt;</a:t>
            </a:r>
            <a:r>
              <a:rPr lang="da-DK" altLang="zh-CN" b="0" dirty="0">
                <a:solidFill>
                  <a:srgbClr val="24292E"/>
                </a:solidFill>
                <a:effectLst/>
                <a:latin typeface="Consolas" panose="020B0609020204030204" pitchFamily="49" charset="0"/>
              </a:rPr>
              <a:t> </a:t>
            </a:r>
            <a:r>
              <a:rPr lang="da-DK" altLang="zh-CN" b="0" dirty="0">
                <a:solidFill>
                  <a:srgbClr val="D73A49"/>
                </a:solidFill>
                <a:effectLst/>
                <a:latin typeface="Consolas" panose="020B0609020204030204" pitchFamily="49" charset="0"/>
              </a:rPr>
              <a:t>for</a:t>
            </a:r>
            <a:r>
              <a:rPr lang="da-DK" altLang="zh-CN" b="0" dirty="0">
                <a:solidFill>
                  <a:srgbClr val="24292E"/>
                </a:solidFill>
                <a:effectLst/>
                <a:latin typeface="Consolas" panose="020B0609020204030204" pitchFamily="49" charset="0"/>
              </a:rPr>
              <a:t> i </a:t>
            </a:r>
            <a:r>
              <a:rPr lang="da-DK" altLang="zh-CN" b="0" dirty="0">
                <a:solidFill>
                  <a:srgbClr val="D73A49"/>
                </a:solidFill>
                <a:effectLst/>
                <a:latin typeface="Consolas" panose="020B0609020204030204" pitchFamily="49" charset="0"/>
              </a:rPr>
              <a:t>in</a:t>
            </a:r>
            <a:r>
              <a:rPr lang="da-DK" altLang="zh-CN" b="0" dirty="0">
                <a:solidFill>
                  <a:srgbClr val="24292E"/>
                </a:solidFill>
                <a:effectLst/>
                <a:latin typeface="Consolas" panose="020B0609020204030204" pitchFamily="49" charset="0"/>
              </a:rPr>
              <a:t> list1:</a:t>
            </a:r>
            <a:endParaRPr lang="da-DK" altLang="zh-CN" b="0" dirty="0">
              <a:solidFill>
                <a:srgbClr val="24292E"/>
              </a:solidFill>
              <a:effectLst/>
              <a:latin typeface="Consolas" panose="020B0609020204030204" pitchFamily="49" charset="0"/>
            </a:endParaRPr>
          </a:p>
          <a:p>
            <a:r>
              <a:rPr lang="da-DK" altLang="zh-CN" b="0" dirty="0">
                <a:solidFill>
                  <a:srgbClr val="005CC5"/>
                </a:solidFill>
                <a:effectLst/>
                <a:latin typeface="Consolas" panose="020B0609020204030204" pitchFamily="49" charset="0"/>
              </a:rPr>
              <a:t>...</a:t>
            </a:r>
            <a:r>
              <a:rPr lang="da-DK" altLang="zh-CN" b="0" dirty="0">
                <a:solidFill>
                  <a:srgbClr val="24292E"/>
                </a:solidFill>
                <a:effectLst/>
                <a:latin typeface="Consolas" panose="020B0609020204030204" pitchFamily="49" charset="0"/>
              </a:rPr>
              <a:t>     </a:t>
            </a:r>
            <a:r>
              <a:rPr lang="da-DK" altLang="zh-CN" b="0" dirty="0">
                <a:solidFill>
                  <a:srgbClr val="6F42C1"/>
                </a:solidFill>
                <a:effectLst/>
                <a:latin typeface="Consolas" panose="020B0609020204030204" pitchFamily="49" charset="0"/>
              </a:rPr>
              <a:t>print</a:t>
            </a:r>
            <a:r>
              <a:rPr lang="da-DK" altLang="zh-CN" b="0" dirty="0">
                <a:solidFill>
                  <a:srgbClr val="24292E"/>
                </a:solidFill>
                <a:effectLst/>
                <a:latin typeface="Consolas" panose="020B0609020204030204" pitchFamily="49" charset="0"/>
              </a:rPr>
              <a:t>(i, </a:t>
            </a:r>
            <a:r>
              <a:rPr lang="da-DK" altLang="zh-CN" b="0" dirty="0">
                <a:solidFill>
                  <a:srgbClr val="E36209"/>
                </a:solidFill>
                <a:effectLst/>
                <a:latin typeface="Consolas" panose="020B0609020204030204" pitchFamily="49" charset="0"/>
              </a:rPr>
              <a:t>end</a:t>
            </a:r>
            <a:r>
              <a:rPr lang="da-DK" altLang="zh-CN" b="0" dirty="0">
                <a:solidFill>
                  <a:srgbClr val="D73A49"/>
                </a:solidFill>
                <a:effectLst/>
                <a:latin typeface="Consolas" panose="020B0609020204030204" pitchFamily="49" charset="0"/>
              </a:rPr>
              <a:t>=</a:t>
            </a:r>
            <a:r>
              <a:rPr lang="da-DK" altLang="zh-CN" b="0" dirty="0">
                <a:solidFill>
                  <a:srgbClr val="032F62"/>
                </a:solidFill>
                <a:effectLst/>
                <a:latin typeface="Consolas" panose="020B0609020204030204" pitchFamily="49" charset="0"/>
              </a:rPr>
              <a:t>' '</a:t>
            </a:r>
            <a:r>
              <a:rPr lang="da-DK" altLang="zh-CN" b="0" dirty="0">
                <a:solidFill>
                  <a:srgbClr val="24292E"/>
                </a:solidFill>
                <a:effectLst/>
                <a:latin typeface="Consolas" panose="020B0609020204030204" pitchFamily="49" charset="0"/>
              </a:rPr>
              <a:t>)</a:t>
            </a:r>
            <a:endParaRPr lang="da-DK" altLang="zh-CN" b="0" dirty="0">
              <a:solidFill>
                <a:srgbClr val="24292E"/>
              </a:solidFill>
              <a:effectLst/>
              <a:latin typeface="Consolas" panose="020B0609020204030204" pitchFamily="49" charset="0"/>
            </a:endParaRPr>
          </a:p>
          <a:p>
            <a:r>
              <a:rPr lang="da-DK" altLang="zh-CN" b="0" dirty="0">
                <a:solidFill>
                  <a:srgbClr val="005CC5"/>
                </a:solidFill>
                <a:effectLst/>
                <a:latin typeface="Consolas" panose="020B0609020204030204" pitchFamily="49" charset="0"/>
              </a:rPr>
              <a:t>...</a:t>
            </a:r>
            <a:endParaRPr lang="da-DK" altLang="zh-CN" b="0" dirty="0">
              <a:solidFill>
                <a:srgbClr val="24292E"/>
              </a:solidFill>
              <a:effectLst/>
              <a:latin typeface="Consolas" panose="020B0609020204030204" pitchFamily="49" charset="0"/>
            </a:endParaRPr>
          </a:p>
          <a:p>
            <a:r>
              <a:rPr lang="da-DK" altLang="zh-CN" b="0" dirty="0">
                <a:solidFill>
                  <a:srgbClr val="005CC5"/>
                </a:solidFill>
                <a:effectLst/>
                <a:latin typeface="Consolas" panose="020B0609020204030204" pitchFamily="49" charset="0"/>
              </a:rPr>
              <a:t>1</a:t>
            </a:r>
            <a:r>
              <a:rPr lang="da-DK" altLang="zh-CN" b="0" dirty="0">
                <a:solidFill>
                  <a:srgbClr val="24292E"/>
                </a:solidFill>
                <a:effectLst/>
                <a:latin typeface="Consolas" panose="020B0609020204030204" pitchFamily="49" charset="0"/>
              </a:rPr>
              <a:t> hi </a:t>
            </a:r>
            <a:r>
              <a:rPr lang="da-DK" altLang="zh-CN" b="0" dirty="0">
                <a:solidFill>
                  <a:srgbClr val="D73A49"/>
                </a:solidFill>
                <a:effectLst/>
                <a:latin typeface="Consolas" panose="020B0609020204030204" pitchFamily="49" charset="0"/>
              </a:rPr>
              <a:t>&gt;&gt;&gt;</a:t>
            </a:r>
            <a:endParaRPr lang="da-DK"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2.3.1 </a:t>
            </a:r>
            <a:r>
              <a:rPr lang="zh-CN" altLang="en-US" sz="1800" dirty="0">
                <a:solidFill>
                  <a:srgbClr val="577CCE"/>
                </a:solidFill>
                <a:latin typeface="+mn-ea"/>
              </a:rPr>
              <a:t>基础概念</a:t>
            </a:r>
            <a:endParaRPr lang="en-US" altLang="zh-CN" sz="1800" dirty="0">
              <a:solidFill>
                <a:srgbClr val="577CCE"/>
              </a:solidFill>
              <a:latin typeface="+mn-ea"/>
            </a:endParaRPr>
          </a:p>
        </p:txBody>
      </p:sp>
      <p:sp>
        <p:nvSpPr>
          <p:cNvPr id="4" name="文本框 3"/>
          <p:cNvSpPr txBox="1"/>
          <p:nvPr/>
        </p:nvSpPr>
        <p:spPr>
          <a:xfrm>
            <a:off x="423990" y="1681945"/>
            <a:ext cx="11439524" cy="4555093"/>
          </a:xfrm>
          <a:prstGeom prst="rect">
            <a:avLst/>
          </a:prstGeom>
          <a:noFill/>
        </p:spPr>
        <p:txBody>
          <a:bodyPr wrap="square">
            <a:spAutoFit/>
          </a:bodyPr>
          <a:lstStyle/>
          <a:p>
            <a:r>
              <a:rPr lang="en-US" altLang="zh-CN" b="0" i="0" dirty="0" err="1">
                <a:solidFill>
                  <a:srgbClr val="050E17"/>
                </a:solidFill>
                <a:effectLst/>
                <a:latin typeface="-apple-system"/>
              </a:rPr>
              <a:t>Numpy</a:t>
            </a:r>
            <a:r>
              <a:rPr lang="zh-CN" altLang="en-US" b="0" i="0" dirty="0">
                <a:solidFill>
                  <a:srgbClr val="050E17"/>
                </a:solidFill>
                <a:effectLst/>
                <a:latin typeface="-apple-system"/>
              </a:rPr>
              <a:t>的核心对象是</a:t>
            </a:r>
            <a:r>
              <a:rPr lang="en-US" altLang="zh-CN" b="0" i="0" dirty="0" err="1">
                <a:solidFill>
                  <a:srgbClr val="050E17"/>
                </a:solidFill>
                <a:effectLst/>
                <a:latin typeface="-apple-system"/>
              </a:rPr>
              <a:t>ndarray</a:t>
            </a:r>
            <a:r>
              <a:rPr lang="zh-CN" altLang="en-US" b="0" i="0" dirty="0">
                <a:solidFill>
                  <a:srgbClr val="050E17"/>
                </a:solidFill>
                <a:effectLst/>
                <a:latin typeface="-apple-system"/>
              </a:rPr>
              <a:t>对象，它本质上是一个多维数组，数组的维度（</a:t>
            </a:r>
            <a:r>
              <a:rPr lang="en-US" altLang="zh-CN" b="0" i="0" dirty="0">
                <a:solidFill>
                  <a:srgbClr val="050E17"/>
                </a:solidFill>
                <a:effectLst/>
                <a:latin typeface="-apple-system"/>
              </a:rPr>
              <a:t>dimension</a:t>
            </a:r>
            <a:r>
              <a:rPr lang="zh-CN" altLang="en-US" b="0" i="0" dirty="0">
                <a:solidFill>
                  <a:srgbClr val="050E17"/>
                </a:solidFill>
                <a:effectLst/>
                <a:latin typeface="-apple-system"/>
              </a:rPr>
              <a:t>）又称为轴（</a:t>
            </a:r>
            <a:r>
              <a:rPr lang="en-US" altLang="zh-CN" b="0" i="0" dirty="0">
                <a:solidFill>
                  <a:srgbClr val="050E17"/>
                </a:solidFill>
                <a:effectLst/>
                <a:latin typeface="-apple-system"/>
              </a:rPr>
              <a:t>axis</a:t>
            </a:r>
            <a:r>
              <a:rPr lang="zh-CN" altLang="en-US" b="0" i="0" dirty="0">
                <a:solidFill>
                  <a:srgbClr val="050E17"/>
                </a:solidFill>
                <a:effectLst/>
                <a:latin typeface="-apple-system"/>
              </a:rPr>
              <a:t>）。</a:t>
            </a:r>
            <a:endParaRPr lang="zh-CN" altLang="en-US" b="0" i="0" dirty="0">
              <a:solidFill>
                <a:srgbClr val="050E17"/>
              </a:solidFill>
              <a:effectLst/>
              <a:latin typeface="-apple-system"/>
            </a:endParaRPr>
          </a:p>
          <a:p>
            <a:endParaRPr lang="zh-CN" altLang="en-US" b="0" i="0" dirty="0">
              <a:solidFill>
                <a:srgbClr val="050E17"/>
              </a:solidFill>
              <a:effectLst/>
              <a:latin typeface="-apple-system"/>
            </a:endParaRPr>
          </a:p>
          <a:p>
            <a:r>
              <a:rPr lang="zh-CN" altLang="en-US" b="0" i="0" dirty="0">
                <a:solidFill>
                  <a:srgbClr val="050E17"/>
                </a:solidFill>
                <a:effectLst/>
                <a:latin typeface="-apple-system"/>
              </a:rPr>
              <a:t>例如，在三维空间中的点</a:t>
            </a:r>
            <a:r>
              <a:rPr lang="en-US" altLang="zh-CN" b="0" i="0" dirty="0">
                <a:solidFill>
                  <a:srgbClr val="050E17"/>
                </a:solidFill>
                <a:effectLst/>
                <a:latin typeface="-apple-system"/>
              </a:rPr>
              <a:t>[1,2,1]</a:t>
            </a:r>
            <a:r>
              <a:rPr lang="zh-CN" altLang="en-US" b="0" i="0" dirty="0">
                <a:solidFill>
                  <a:srgbClr val="050E17"/>
                </a:solidFill>
                <a:effectLst/>
                <a:latin typeface="-apple-system"/>
              </a:rPr>
              <a:t>有一个轴，该轴具有三个元素，长度为</a:t>
            </a:r>
            <a:r>
              <a:rPr lang="en-US" altLang="zh-CN" b="0" i="0" dirty="0">
                <a:solidFill>
                  <a:srgbClr val="050E17"/>
                </a:solidFill>
                <a:effectLst/>
                <a:latin typeface="-apple-system"/>
              </a:rPr>
              <a:t>3</a:t>
            </a:r>
            <a:r>
              <a:rPr lang="zh-CN" altLang="en-US" b="0" i="0" dirty="0">
                <a:solidFill>
                  <a:srgbClr val="050E17"/>
                </a:solidFill>
                <a:effectLst/>
                <a:latin typeface="-apple-system"/>
              </a:rPr>
              <a:t>。又如数组</a:t>
            </a:r>
            <a:r>
              <a:rPr lang="en-US" altLang="zh-CN" b="0" i="0" dirty="0">
                <a:solidFill>
                  <a:srgbClr val="050E17"/>
                </a:solidFill>
                <a:effectLst/>
                <a:latin typeface="-apple-system"/>
              </a:rPr>
              <a:t>[[1.,0.,0.],[0.,1.,2.]]</a:t>
            </a:r>
            <a:r>
              <a:rPr lang="zh-CN" altLang="en-US" b="0" i="0" dirty="0">
                <a:solidFill>
                  <a:srgbClr val="050E17"/>
                </a:solidFill>
                <a:effectLst/>
                <a:latin typeface="-apple-system"/>
              </a:rPr>
              <a:t>为</a:t>
            </a:r>
            <a:r>
              <a:rPr lang="en-US" altLang="zh-CN" b="0" i="0" dirty="0">
                <a:solidFill>
                  <a:srgbClr val="050E17"/>
                </a:solidFill>
                <a:effectLst/>
                <a:latin typeface="-apple-system"/>
              </a:rPr>
              <a:t>2</a:t>
            </a:r>
            <a:r>
              <a:rPr lang="zh-CN" altLang="en-US" b="0" i="0" dirty="0">
                <a:solidFill>
                  <a:srgbClr val="050E17"/>
                </a:solidFill>
                <a:effectLst/>
                <a:latin typeface="-apple-system"/>
              </a:rPr>
              <a:t>行</a:t>
            </a:r>
            <a:r>
              <a:rPr lang="en-US" altLang="zh-CN" b="0" i="0" dirty="0">
                <a:solidFill>
                  <a:srgbClr val="050E17"/>
                </a:solidFill>
                <a:effectLst/>
                <a:latin typeface="-apple-system"/>
              </a:rPr>
              <a:t>3</a:t>
            </a:r>
            <a:r>
              <a:rPr lang="zh-CN" altLang="en-US" b="0" i="0" dirty="0">
                <a:solidFill>
                  <a:srgbClr val="050E17"/>
                </a:solidFill>
                <a:effectLst/>
                <a:latin typeface="-apple-system"/>
              </a:rPr>
              <a:t>列，则该数组有两个轴，第一个轴的长度为</a:t>
            </a:r>
            <a:r>
              <a:rPr lang="en-US" altLang="zh-CN" b="0" i="0" dirty="0">
                <a:solidFill>
                  <a:srgbClr val="050E17"/>
                </a:solidFill>
                <a:effectLst/>
                <a:latin typeface="-apple-system"/>
              </a:rPr>
              <a:t>2</a:t>
            </a:r>
            <a:r>
              <a:rPr lang="zh-CN" altLang="en-US" b="0" i="0" dirty="0">
                <a:solidFill>
                  <a:srgbClr val="050E17"/>
                </a:solidFill>
                <a:effectLst/>
                <a:latin typeface="-apple-system"/>
              </a:rPr>
              <a:t>，第二个轴的长度为</a:t>
            </a:r>
            <a:r>
              <a:rPr lang="en-US" altLang="zh-CN" b="0" i="0" dirty="0">
                <a:solidFill>
                  <a:srgbClr val="050E17"/>
                </a:solidFill>
                <a:effectLst/>
                <a:latin typeface="-apple-system"/>
              </a:rPr>
              <a:t>3</a:t>
            </a:r>
            <a:r>
              <a:rPr lang="zh-CN" altLang="en-US" b="0" i="0" dirty="0">
                <a:solidFill>
                  <a:srgbClr val="050E17"/>
                </a:solidFill>
                <a:effectLst/>
                <a:latin typeface="-apple-system"/>
              </a:rPr>
              <a:t>。</a:t>
            </a:r>
            <a:endParaRPr lang="zh-CN" altLang="en-US" b="0" i="0" dirty="0">
              <a:solidFill>
                <a:srgbClr val="050E17"/>
              </a:solidFill>
              <a:effectLst/>
              <a:latin typeface="-apple-system"/>
            </a:endParaRPr>
          </a:p>
          <a:p>
            <a:r>
              <a:rPr lang="en-US" altLang="zh-CN" b="0" i="0" dirty="0" err="1">
                <a:solidFill>
                  <a:srgbClr val="050E17"/>
                </a:solidFill>
                <a:effectLst/>
                <a:latin typeface="-apple-system"/>
              </a:rPr>
              <a:t>ndarray</a:t>
            </a:r>
            <a:r>
              <a:rPr lang="zh-CN" altLang="en-US" b="0" i="0" dirty="0">
                <a:solidFill>
                  <a:srgbClr val="050E17"/>
                </a:solidFill>
                <a:effectLst/>
                <a:latin typeface="-apple-system"/>
              </a:rPr>
              <a:t>对象具有如下属性，在编写代码时可直接使用：</a:t>
            </a:r>
            <a:endParaRPr lang="zh-CN" altLang="en-US"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ndarray.ndim</a:t>
            </a:r>
            <a:r>
              <a:rPr lang="zh-CN" altLang="en-US" sz="2000" b="0" i="0" dirty="0">
                <a:solidFill>
                  <a:srgbClr val="050E17"/>
                </a:solidFill>
                <a:effectLst/>
                <a:latin typeface="-apple-system"/>
              </a:rPr>
              <a:t>：数组的轴（维度）数。</a:t>
            </a:r>
            <a:endParaRPr lang="zh-CN" altLang="en-US" sz="2000"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ndarray.shape</a:t>
            </a:r>
            <a:r>
              <a:rPr lang="zh-CN" altLang="en-US" sz="2000" b="0" i="0" dirty="0">
                <a:solidFill>
                  <a:srgbClr val="050E17"/>
                </a:solidFill>
                <a:effectLst/>
                <a:latin typeface="-apple-system"/>
              </a:rPr>
              <a:t>：数组的维度，是一个整数元组指示每个维度中数组的大小。对于具有</a:t>
            </a:r>
            <a:r>
              <a:rPr lang="en-US" altLang="zh-CN" sz="2000" b="0" i="0" dirty="0">
                <a:solidFill>
                  <a:srgbClr val="050E17"/>
                </a:solidFill>
                <a:effectLst/>
                <a:latin typeface="-apple-system"/>
              </a:rPr>
              <a:t>n</a:t>
            </a:r>
            <a:r>
              <a:rPr lang="zh-CN" altLang="en-US" sz="2000" b="0" i="0" dirty="0">
                <a:solidFill>
                  <a:srgbClr val="050E17"/>
                </a:solidFill>
                <a:effectLst/>
                <a:latin typeface="-apple-system"/>
              </a:rPr>
              <a:t>行</a:t>
            </a:r>
            <a:r>
              <a:rPr lang="en-US" altLang="zh-CN" sz="2000" b="0" i="0" dirty="0">
                <a:solidFill>
                  <a:srgbClr val="050E17"/>
                </a:solidFill>
                <a:effectLst/>
                <a:latin typeface="-apple-system"/>
              </a:rPr>
              <a:t>m</a:t>
            </a:r>
            <a:r>
              <a:rPr lang="zh-CN" altLang="en-US" sz="2000" b="0" i="0" dirty="0">
                <a:solidFill>
                  <a:srgbClr val="050E17"/>
                </a:solidFill>
                <a:effectLst/>
                <a:latin typeface="-apple-system"/>
              </a:rPr>
              <a:t>列的矩阵，</a:t>
            </a:r>
            <a:r>
              <a:rPr lang="en-US" altLang="zh-CN" sz="2000" b="0" i="0" dirty="0">
                <a:solidFill>
                  <a:srgbClr val="050E17"/>
                </a:solidFill>
                <a:effectLst/>
                <a:latin typeface="-apple-system"/>
              </a:rPr>
              <a:t>shape</a:t>
            </a:r>
            <a:r>
              <a:rPr lang="zh-CN" altLang="en-US" sz="2000" b="0" i="0" dirty="0">
                <a:solidFill>
                  <a:srgbClr val="050E17"/>
                </a:solidFill>
                <a:effectLst/>
                <a:latin typeface="-apple-system"/>
              </a:rPr>
              <a:t>为</a:t>
            </a:r>
            <a:r>
              <a:rPr lang="en-US" altLang="zh-CN" sz="2000" b="0" i="0" dirty="0">
                <a:solidFill>
                  <a:srgbClr val="050E17"/>
                </a:solidFill>
                <a:effectLst/>
                <a:latin typeface="-apple-system"/>
              </a:rPr>
              <a:t>(</a:t>
            </a:r>
            <a:r>
              <a:rPr lang="en-US" altLang="zh-CN" sz="2000" b="0" i="0" dirty="0" err="1">
                <a:solidFill>
                  <a:srgbClr val="050E17"/>
                </a:solidFill>
                <a:effectLst/>
                <a:latin typeface="-apple-system"/>
              </a:rPr>
              <a:t>n,m</a:t>
            </a:r>
            <a:r>
              <a:rPr lang="en-US" altLang="zh-CN" sz="2000" b="0" i="0" dirty="0">
                <a:solidFill>
                  <a:srgbClr val="050E17"/>
                </a:solidFill>
                <a:effectLst/>
                <a:latin typeface="-apple-system"/>
              </a:rPr>
              <a:t>)</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shape</a:t>
            </a:r>
            <a:r>
              <a:rPr lang="zh-CN" altLang="en-US" sz="2000" b="0" i="0" dirty="0">
                <a:solidFill>
                  <a:srgbClr val="050E17"/>
                </a:solidFill>
                <a:effectLst/>
                <a:latin typeface="-apple-system"/>
              </a:rPr>
              <a:t>元组的长度即为数组的轴数。</a:t>
            </a:r>
            <a:endParaRPr lang="zh-CN" altLang="en-US" sz="2000"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ndarray.size</a:t>
            </a:r>
            <a:r>
              <a:rPr lang="zh-CN" altLang="en-US" sz="2000" b="0" i="0" dirty="0">
                <a:solidFill>
                  <a:srgbClr val="050E17"/>
                </a:solidFill>
                <a:effectLst/>
                <a:latin typeface="-apple-system"/>
              </a:rPr>
              <a:t>：数组的元素总数，等于</a:t>
            </a:r>
            <a:r>
              <a:rPr lang="en-US" altLang="zh-CN" sz="2000" b="0" i="0" dirty="0">
                <a:solidFill>
                  <a:srgbClr val="050E17"/>
                </a:solidFill>
                <a:effectLst/>
                <a:latin typeface="-apple-system"/>
              </a:rPr>
              <a:t>shape</a:t>
            </a:r>
            <a:r>
              <a:rPr lang="zh-CN" altLang="en-US" sz="2000" b="0" i="0" dirty="0">
                <a:solidFill>
                  <a:srgbClr val="050E17"/>
                </a:solidFill>
                <a:effectLst/>
                <a:latin typeface="-apple-system"/>
              </a:rPr>
              <a:t>元组的元素乘积。</a:t>
            </a:r>
            <a:endParaRPr lang="zh-CN" altLang="en-US" sz="2000"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ndarray.dtype</a:t>
            </a:r>
            <a:r>
              <a:rPr lang="zh-CN" altLang="en-US" sz="2000" b="0" i="0" dirty="0">
                <a:solidFill>
                  <a:srgbClr val="050E17"/>
                </a:solidFill>
                <a:effectLst/>
                <a:latin typeface="-apple-system"/>
              </a:rPr>
              <a:t>：描述数组中元素类型的对象，可以使用标准</a:t>
            </a:r>
            <a:r>
              <a:rPr lang="en-US" altLang="zh-CN" sz="2000" b="0" i="0" dirty="0">
                <a:solidFill>
                  <a:srgbClr val="050E17"/>
                </a:solidFill>
                <a:effectLst/>
                <a:latin typeface="-apple-system"/>
              </a:rPr>
              <a:t>Python</a:t>
            </a:r>
            <a:r>
              <a:rPr lang="zh-CN" altLang="en-US" sz="2000" b="0" i="0" dirty="0">
                <a:solidFill>
                  <a:srgbClr val="050E17"/>
                </a:solidFill>
                <a:effectLst/>
                <a:latin typeface="-apple-system"/>
              </a:rPr>
              <a:t>类型创建或指定数据类型。此外，</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还提供自己的类型，如</a:t>
            </a:r>
            <a:r>
              <a:rPr lang="en-US" altLang="zh-CN" sz="2000" b="0" i="0" dirty="0">
                <a:solidFill>
                  <a:srgbClr val="050E17"/>
                </a:solidFill>
                <a:effectLst/>
                <a:latin typeface="-apple-system"/>
              </a:rPr>
              <a:t>Numpy.int32</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Numpy.int16</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Numpy.float64</a:t>
            </a:r>
            <a:r>
              <a:rPr lang="zh-CN" altLang="en-US" sz="2000" b="0" i="0" dirty="0">
                <a:solidFill>
                  <a:srgbClr val="050E17"/>
                </a:solidFill>
                <a:effectLst/>
                <a:latin typeface="-apple-system"/>
              </a:rPr>
              <a:t>等。</a:t>
            </a:r>
            <a:endParaRPr lang="zh-CN" altLang="en-US" sz="2000"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ndarray.itemsize</a:t>
            </a:r>
            <a:r>
              <a:rPr lang="zh-CN" altLang="en-US" sz="2000" b="0" i="0" dirty="0">
                <a:solidFill>
                  <a:srgbClr val="050E17"/>
                </a:solidFill>
                <a:effectLst/>
                <a:latin typeface="-apple-system"/>
              </a:rPr>
              <a:t>：数组中每个元素的大小（以字节为单位）。</a:t>
            </a:r>
            <a:endParaRPr lang="zh-CN" altLang="en-US" sz="2000"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ndarray.data</a:t>
            </a:r>
            <a:r>
              <a:rPr lang="zh-CN" altLang="en-US" sz="2000" b="0" i="0" dirty="0">
                <a:solidFill>
                  <a:srgbClr val="050E17"/>
                </a:solidFill>
                <a:effectLst/>
                <a:latin typeface="-apple-system"/>
              </a:rPr>
              <a:t>：包含数组实际元素的缓冲区。通常不需要使用此属性，直接使用索引访问数组中的元素。</a:t>
            </a:r>
            <a:endParaRPr lang="zh-CN" altLang="en-US" sz="2000" b="0" i="0" dirty="0">
              <a:solidFill>
                <a:srgbClr val="050E17"/>
              </a:solidFill>
              <a:effectLst/>
              <a:latin typeface="-apple-system"/>
            </a:endParaRPr>
          </a:p>
          <a:p>
            <a:pPr marL="285750" indent="-285750">
              <a:buFont typeface="Arial" panose="020B0604020202020204" pitchFamily="34" charset="0"/>
              <a:buChar char="•"/>
            </a:pPr>
            <a:r>
              <a:rPr lang="en-US" altLang="zh-CN" sz="2000" b="0" i="0" dirty="0" err="1">
                <a:solidFill>
                  <a:srgbClr val="577CCE"/>
                </a:solidFill>
                <a:effectLst/>
                <a:latin typeface="-apple-system"/>
              </a:rPr>
              <a:t>ndarray.T</a:t>
            </a:r>
            <a:r>
              <a:rPr lang="zh-CN" altLang="en-US" sz="2000" b="0" i="0" dirty="0">
                <a:solidFill>
                  <a:srgbClr val="050E17"/>
                </a:solidFill>
                <a:effectLst/>
                <a:latin typeface="-apple-system"/>
              </a:rPr>
              <a:t>：直接对数组进行转置操作。</a:t>
            </a:r>
            <a:endParaRPr lang="zh-CN" altLang="en-US" sz="2000" b="0" i="0" dirty="0">
              <a:solidFill>
                <a:srgbClr val="050E17"/>
              </a:solidFill>
              <a:effectLst/>
              <a:latin typeface="-apple-system"/>
            </a:endParaRPr>
          </a:p>
        </p:txBody>
      </p:sp>
      <p:sp>
        <p:nvSpPr>
          <p:cNvPr id="6" name="文本框 5"/>
          <p:cNvSpPr txBox="1"/>
          <p:nvPr/>
        </p:nvSpPr>
        <p:spPr>
          <a:xfrm>
            <a:off x="6998515" y="285025"/>
            <a:ext cx="4692470" cy="1200329"/>
          </a:xfrm>
          <a:prstGeom prst="rect">
            <a:avLst/>
          </a:prstGeom>
          <a:noFill/>
        </p:spPr>
        <p:txBody>
          <a:bodyPr wrap="square">
            <a:spAutoFit/>
          </a:bodyPr>
          <a:lstStyle/>
          <a:p>
            <a:r>
              <a:rPr lang="zh-CN" altLang="en-US" dirty="0">
                <a:solidFill>
                  <a:srgbClr val="577CCE"/>
                </a:solidFill>
                <a:latin typeface="Consolas" panose="020B0609020204030204" pitchFamily="49" charset="0"/>
              </a:rPr>
              <a:t>导入</a:t>
            </a:r>
            <a:r>
              <a:rPr lang="en-US" altLang="zh-CN" dirty="0" err="1">
                <a:solidFill>
                  <a:srgbClr val="577CCE"/>
                </a:solidFill>
                <a:latin typeface="Consolas" panose="020B0609020204030204" pitchFamily="49" charset="0"/>
              </a:rPr>
              <a:t>Numpy</a:t>
            </a:r>
            <a:r>
              <a:rPr lang="zh-CN" altLang="en-US" dirty="0">
                <a:solidFill>
                  <a:srgbClr val="577CCE"/>
                </a:solidFill>
                <a:latin typeface="Consolas" panose="020B0609020204030204" pitchFamily="49" charset="0"/>
              </a:rPr>
              <a:t>包：</a:t>
            </a:r>
            <a:endParaRPr lang="en-US" altLang="zh-CN" b="0" dirty="0">
              <a:solidFill>
                <a:srgbClr val="577CC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np</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t>
            </a:r>
            <a:r>
              <a:rPr lang="en-US" altLang="zh-CN" b="0" dirty="0" err="1">
                <a:solidFill>
                  <a:srgbClr val="005CC5"/>
                </a:solidFill>
                <a:effectLst/>
                <a:latin typeface="Consolas" panose="020B0609020204030204" pitchFamily="49" charset="0"/>
              </a:rPr>
              <a:t>__version</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a:t>
            </a:r>
            <a:r>
              <a:rPr lang="en-US" altLang="zh-CN" b="0" dirty="0" err="1">
                <a:solidFill>
                  <a:srgbClr val="6A737D"/>
                </a:solidFill>
                <a:effectLst/>
                <a:latin typeface="Consolas" panose="020B0609020204030204" pitchFamily="49" charset="0"/>
              </a:rPr>
              <a:t>Numpy</a:t>
            </a:r>
            <a:r>
              <a:rPr lang="zh-CN" altLang="en-US" b="0" dirty="0">
                <a:solidFill>
                  <a:srgbClr val="6A737D"/>
                </a:solidFill>
                <a:effectLst/>
                <a:latin typeface="Consolas" panose="020B0609020204030204" pitchFamily="49" charset="0"/>
              </a:rPr>
              <a:t>版本号</a:t>
            </a:r>
            <a:endParaRPr lang="zh-CN" altLang="en-US" b="0" dirty="0">
              <a:solidFill>
                <a:srgbClr val="24292E"/>
              </a:solidFill>
              <a:effectLst/>
              <a:latin typeface="Consolas" panose="020B0609020204030204" pitchFamily="49" charset="0"/>
            </a:endParaRPr>
          </a:p>
          <a:p>
            <a:r>
              <a:rPr lang="en-US" altLang="zh-CN" b="0" dirty="0">
                <a:solidFill>
                  <a:srgbClr val="032F62"/>
                </a:solidFill>
                <a:effectLst/>
                <a:latin typeface="Consolas" panose="020B0609020204030204" pitchFamily="49" charset="0"/>
              </a:rPr>
              <a:t>'1.24.3'</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(1) </a:t>
            </a:r>
            <a:r>
              <a:rPr lang="en-US" altLang="zh-CN" b="0" i="0" dirty="0" err="1">
                <a:solidFill>
                  <a:srgbClr val="141718"/>
                </a:solidFill>
                <a:effectLst/>
                <a:latin typeface="__Karla_fd2630"/>
              </a:rPr>
              <a:t>np.array</a:t>
            </a:r>
            <a:r>
              <a:rPr lang="en-US" altLang="zh-CN" b="0" i="0" dirty="0">
                <a:solidFill>
                  <a:srgbClr val="141718"/>
                </a:solidFill>
                <a:effectLst/>
                <a:latin typeface="__Karla_fd2630"/>
              </a:rPr>
              <a:t>()</a:t>
            </a:r>
            <a:endParaRPr lang="en-US" altLang="zh-CN" b="0" i="0" dirty="0">
              <a:solidFill>
                <a:srgbClr val="141718"/>
              </a:solidFill>
              <a:effectLst/>
              <a:latin typeface="__Karla_fd2630"/>
            </a:endParaRPr>
          </a:p>
        </p:txBody>
      </p:sp>
      <p:sp>
        <p:nvSpPr>
          <p:cNvPr id="7" name="文本框 6"/>
          <p:cNvSpPr txBox="1"/>
          <p:nvPr/>
        </p:nvSpPr>
        <p:spPr>
          <a:xfrm>
            <a:off x="975220" y="2176913"/>
            <a:ext cx="8521118" cy="646331"/>
          </a:xfrm>
          <a:prstGeom prst="rect">
            <a:avLst/>
          </a:prstGeom>
          <a:noFill/>
        </p:spPr>
        <p:txBody>
          <a:bodyPr wrap="square">
            <a:spAutoFit/>
          </a:bodyPr>
          <a:lstStyle/>
          <a:p>
            <a:r>
              <a:rPr lang="en-US" altLang="zh-CN" b="0" i="0" dirty="0">
                <a:solidFill>
                  <a:srgbClr val="141718"/>
                </a:solidFill>
                <a:effectLst/>
                <a:latin typeface="__Karla_fd2630"/>
              </a:rPr>
              <a:t>array</a:t>
            </a:r>
            <a:r>
              <a:rPr lang="zh-CN" altLang="en-US" b="0" i="0" dirty="0">
                <a:solidFill>
                  <a:srgbClr val="141718"/>
                </a:solidFill>
                <a:effectLst/>
                <a:latin typeface="__Karla_fd2630"/>
              </a:rPr>
              <a:t>函数通过常规</a:t>
            </a:r>
            <a:r>
              <a:rPr lang="en-US" altLang="zh-CN" b="0" i="0" dirty="0">
                <a:solidFill>
                  <a:srgbClr val="141718"/>
                </a:solidFill>
                <a:effectLst/>
                <a:latin typeface="__Karla_fd2630"/>
              </a:rPr>
              <a:t>Python</a:t>
            </a:r>
            <a:r>
              <a:rPr lang="zh-CN" altLang="en-US" b="0" i="0" dirty="0">
                <a:solidFill>
                  <a:srgbClr val="141718"/>
                </a:solidFill>
                <a:effectLst/>
                <a:latin typeface="__Karla_fd2630"/>
              </a:rPr>
              <a:t>列表或元组创建</a:t>
            </a:r>
            <a:r>
              <a:rPr lang="en-US" altLang="zh-CN" b="0" i="0" dirty="0" err="1">
                <a:solidFill>
                  <a:srgbClr val="141718"/>
                </a:solidFill>
                <a:effectLst/>
                <a:latin typeface="__Karla_fd2630"/>
              </a:rPr>
              <a:t>ndarray</a:t>
            </a:r>
            <a:r>
              <a:rPr lang="zh-CN" altLang="en-US" b="0" i="0" dirty="0">
                <a:solidFill>
                  <a:srgbClr val="141718"/>
                </a:solidFill>
                <a:effectLst/>
                <a:latin typeface="__Karla_fd2630"/>
              </a:rPr>
              <a:t>对象数组。数据类型默认是根据序列中的元素类型推导得到的，也可以通过参数</a:t>
            </a:r>
            <a:r>
              <a:rPr lang="en-US" altLang="zh-CN" b="0" i="0" dirty="0" err="1">
                <a:solidFill>
                  <a:srgbClr val="141718"/>
                </a:solidFill>
                <a:effectLst/>
                <a:latin typeface="__Karla_fd2630"/>
              </a:rPr>
              <a:t>dtype</a:t>
            </a:r>
            <a:r>
              <a:rPr lang="zh-CN" altLang="en-US" b="0" i="0" dirty="0">
                <a:solidFill>
                  <a:srgbClr val="141718"/>
                </a:solidFill>
                <a:effectLst/>
                <a:latin typeface="__Karla_fd2630"/>
              </a:rPr>
              <a:t>指定数据类型。例如</a:t>
            </a:r>
            <a:r>
              <a:rPr lang="en-US" altLang="zh-CN" b="0" i="0" dirty="0">
                <a:solidFill>
                  <a:srgbClr val="141718"/>
                </a:solidFill>
                <a:effectLst/>
                <a:latin typeface="__Karla_fd2630"/>
              </a:rPr>
              <a:t>:</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975220" y="2977588"/>
            <a:ext cx="6094602" cy="341632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从</a:t>
            </a:r>
            <a:r>
              <a:rPr lang="en-US" altLang="zh-CN" b="0" dirty="0">
                <a:solidFill>
                  <a:srgbClr val="6A737D"/>
                </a:solidFill>
                <a:effectLst/>
                <a:latin typeface="Consolas" panose="020B0609020204030204" pitchFamily="49" charset="0"/>
              </a:rPr>
              <a:t>Python</a:t>
            </a:r>
            <a:r>
              <a:rPr lang="zh-CN" altLang="en-US" b="0" dirty="0">
                <a:solidFill>
                  <a:srgbClr val="6A737D"/>
                </a:solidFill>
                <a:effectLst/>
                <a:latin typeface="Consolas" panose="020B0609020204030204" pitchFamily="49" charset="0"/>
              </a:rPr>
              <a:t>列表创建一维矩阵</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np.int32)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指定数据类型为</a:t>
            </a:r>
            <a:r>
              <a:rPr lang="en-US" altLang="zh-CN" b="0" dirty="0">
                <a:solidFill>
                  <a:srgbClr val="6A737D"/>
                </a:solidFill>
                <a:effectLst/>
                <a:latin typeface="Consolas" panose="020B0609020204030204" pitchFamily="49" charset="0"/>
              </a:rPr>
              <a:t>np.int32</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int32)</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从</a:t>
            </a:r>
            <a:r>
              <a:rPr lang="en-US" altLang="zh-CN" b="0" dirty="0">
                <a:solidFill>
                  <a:srgbClr val="6A737D"/>
                </a:solidFill>
                <a:effectLst/>
                <a:latin typeface="Consolas" panose="020B0609020204030204" pitchFamily="49" charset="0"/>
              </a:rPr>
              <a:t>Python</a:t>
            </a:r>
            <a:r>
              <a:rPr lang="zh-CN" altLang="en-US" b="0" dirty="0">
                <a:solidFill>
                  <a:srgbClr val="6A737D"/>
                </a:solidFill>
                <a:effectLst/>
                <a:latin typeface="Consolas" panose="020B0609020204030204" pitchFamily="49" charset="0"/>
              </a:rPr>
              <a:t>列表创建二维矩阵，</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d.shape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(2) </a:t>
            </a:r>
            <a:r>
              <a:rPr lang="en-US" altLang="zh-CN" b="0" i="0" dirty="0" err="1">
                <a:solidFill>
                  <a:srgbClr val="141718"/>
                </a:solidFill>
                <a:effectLst/>
                <a:latin typeface="__Karla_fd2630"/>
              </a:rPr>
              <a:t>np.zeros</a:t>
            </a:r>
            <a:r>
              <a:rPr lang="en-US" altLang="zh-CN" b="0" i="0" dirty="0">
                <a:solidFill>
                  <a:srgbClr val="141718"/>
                </a:solidFill>
                <a:effectLst/>
                <a:latin typeface="__Karla_fd2630"/>
              </a:rPr>
              <a:t>()</a:t>
            </a:r>
            <a:endParaRPr lang="en-US" altLang="zh-CN" b="0" i="0" dirty="0">
              <a:solidFill>
                <a:srgbClr val="141718"/>
              </a:solidFill>
              <a:effectLst/>
              <a:latin typeface="__Karla_fd2630"/>
            </a:endParaRPr>
          </a:p>
        </p:txBody>
      </p:sp>
      <p:sp>
        <p:nvSpPr>
          <p:cNvPr id="7" name="文本框 6"/>
          <p:cNvSpPr txBox="1"/>
          <p:nvPr/>
        </p:nvSpPr>
        <p:spPr>
          <a:xfrm>
            <a:off x="975219" y="2176913"/>
            <a:ext cx="10715765" cy="646331"/>
          </a:xfrm>
          <a:prstGeom prst="rect">
            <a:avLst/>
          </a:prstGeom>
          <a:noFill/>
        </p:spPr>
        <p:txBody>
          <a:bodyPr wrap="square">
            <a:spAutoFit/>
          </a:bodyPr>
          <a:lstStyle/>
          <a:p>
            <a:r>
              <a:rPr lang="en-US" altLang="zh-CN" b="0" i="0" dirty="0">
                <a:solidFill>
                  <a:srgbClr val="141718"/>
                </a:solidFill>
                <a:effectLst/>
                <a:latin typeface="__Karla_fd2630"/>
              </a:rPr>
              <a:t>zeros</a:t>
            </a:r>
            <a:r>
              <a:rPr lang="zh-CN" altLang="en-US" b="0" i="0" dirty="0">
                <a:solidFill>
                  <a:srgbClr val="141718"/>
                </a:solidFill>
                <a:effectLst/>
                <a:latin typeface="__Karla_fd2630"/>
              </a:rPr>
              <a:t>函数用于创建一个全</a:t>
            </a:r>
            <a:r>
              <a:rPr lang="en-US" altLang="zh-CN" b="0" i="0" dirty="0">
                <a:solidFill>
                  <a:srgbClr val="141718"/>
                </a:solidFill>
                <a:effectLst/>
                <a:latin typeface="__Karla_fd2630"/>
              </a:rPr>
              <a:t>0</a:t>
            </a:r>
            <a:r>
              <a:rPr lang="zh-CN" altLang="en-US" b="0" i="0" dirty="0">
                <a:solidFill>
                  <a:srgbClr val="141718"/>
                </a:solidFill>
                <a:effectLst/>
                <a:latin typeface="__Karla_fd2630"/>
              </a:rPr>
              <a:t>的数组。在默认情况下，所创建的数组元素类型为</a:t>
            </a:r>
            <a:r>
              <a:rPr lang="en-US" altLang="zh-CN" b="0" i="0" dirty="0">
                <a:solidFill>
                  <a:srgbClr val="141718"/>
                </a:solidFill>
                <a:effectLst/>
                <a:latin typeface="__Karla_fd2630"/>
              </a:rPr>
              <a:t>float64</a:t>
            </a:r>
            <a:r>
              <a:rPr lang="zh-CN" altLang="en-US" b="0" i="0" dirty="0">
                <a:solidFill>
                  <a:srgbClr val="141718"/>
                </a:solidFill>
                <a:effectLst/>
                <a:latin typeface="__Karla_fd2630"/>
              </a:rPr>
              <a:t>，也可以通过参数</a:t>
            </a:r>
            <a:r>
              <a:rPr lang="en-US" altLang="zh-CN" b="0" i="0" dirty="0" err="1">
                <a:solidFill>
                  <a:srgbClr val="141718"/>
                </a:solidFill>
                <a:effectLst/>
                <a:latin typeface="__Karla_fd2630"/>
              </a:rPr>
              <a:t>dtype</a:t>
            </a:r>
            <a:r>
              <a:rPr lang="zh-CN" altLang="en-US" b="0" i="0" dirty="0">
                <a:solidFill>
                  <a:srgbClr val="141718"/>
                </a:solidFill>
                <a:effectLst/>
                <a:latin typeface="__Karla_fd2630"/>
              </a:rPr>
              <a:t>指定数据类型。例如</a:t>
            </a:r>
            <a:r>
              <a:rPr lang="en-US" altLang="zh-CN" b="0" i="0" dirty="0">
                <a:solidFill>
                  <a:srgbClr val="141718"/>
                </a:solidFill>
                <a:effectLst/>
                <a:latin typeface="__Karla_fd2630"/>
              </a:rPr>
              <a:t>:</a:t>
            </a:r>
            <a:endParaRPr lang="en-US" altLang="zh-CN" b="0" dirty="0">
              <a:solidFill>
                <a:srgbClr val="24292E"/>
              </a:solidFill>
              <a:effectLst/>
              <a:latin typeface="Consolas" panose="020B0609020204030204" pitchFamily="49" charset="0"/>
            </a:endParaRPr>
          </a:p>
        </p:txBody>
      </p:sp>
      <p:sp>
        <p:nvSpPr>
          <p:cNvPr id="6" name="文本框 5"/>
          <p:cNvSpPr txBox="1"/>
          <p:nvPr/>
        </p:nvSpPr>
        <p:spPr>
          <a:xfrm>
            <a:off x="975219" y="2889453"/>
            <a:ext cx="9343239"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np.zeros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数据全为</a:t>
            </a:r>
            <a:r>
              <a:rPr lang="en-US" altLang="zh-CN" b="0" dirty="0">
                <a:solidFill>
                  <a:srgbClr val="6A737D"/>
                </a:solidFill>
                <a:effectLst/>
                <a:latin typeface="Consolas" panose="020B0609020204030204" pitchFamily="49" charset="0"/>
              </a:rPr>
              <a:t>0</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4</a:t>
            </a:r>
            <a:r>
              <a:rPr lang="zh-CN" altLang="en-US" b="0" dirty="0">
                <a:solidFill>
                  <a:srgbClr val="6A737D"/>
                </a:solidFill>
                <a:effectLst/>
                <a:latin typeface="Consolas" panose="020B0609020204030204" pitchFamily="49" charset="0"/>
              </a:rPr>
              <a:t>列</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616937" y="4155991"/>
            <a:ext cx="10344784" cy="369332"/>
          </a:xfrm>
          <a:prstGeom prst="rect">
            <a:avLst/>
          </a:prstGeom>
          <a:noFill/>
        </p:spPr>
        <p:txBody>
          <a:bodyPr wrap="square">
            <a:spAutoFit/>
          </a:bodyPr>
          <a:lstStyle/>
          <a:p>
            <a:r>
              <a:rPr lang="en-US" altLang="zh-CN" b="0" i="0" dirty="0">
                <a:solidFill>
                  <a:srgbClr val="050E17"/>
                </a:solidFill>
                <a:effectLst/>
                <a:latin typeface="-apple-system"/>
              </a:rPr>
              <a:t>(3) </a:t>
            </a:r>
            <a:r>
              <a:rPr lang="en-US" altLang="zh-CN" b="0" i="0" dirty="0" err="1">
                <a:solidFill>
                  <a:srgbClr val="141718"/>
                </a:solidFill>
                <a:effectLst/>
                <a:latin typeface="__Karla_fd2630"/>
              </a:rPr>
              <a:t>np.ones</a:t>
            </a:r>
            <a:r>
              <a:rPr lang="en-US" altLang="zh-CN" b="0" i="0" dirty="0">
                <a:solidFill>
                  <a:srgbClr val="141718"/>
                </a:solidFill>
                <a:effectLst/>
                <a:latin typeface="__Karla_fd2630"/>
              </a:rPr>
              <a:t>()</a:t>
            </a:r>
            <a:endParaRPr lang="en-US" altLang="zh-CN" b="0" i="0" dirty="0">
              <a:solidFill>
                <a:srgbClr val="141718"/>
              </a:solidFill>
              <a:effectLst/>
              <a:latin typeface="__Karla_fd2630"/>
            </a:endParaRPr>
          </a:p>
        </p:txBody>
      </p:sp>
      <p:sp>
        <p:nvSpPr>
          <p:cNvPr id="11" name="文本框 10"/>
          <p:cNvSpPr txBox="1"/>
          <p:nvPr/>
        </p:nvSpPr>
        <p:spPr>
          <a:xfrm>
            <a:off x="975217" y="5247816"/>
            <a:ext cx="9986503"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np.ones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np.int)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数据为</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4</a:t>
            </a:r>
            <a:r>
              <a:rPr lang="zh-CN" altLang="en-US" b="0" dirty="0">
                <a:solidFill>
                  <a:srgbClr val="6A737D"/>
                </a:solidFill>
                <a:effectLst/>
                <a:latin typeface="Consolas" panose="020B0609020204030204" pitchFamily="49" charset="0"/>
              </a:rPr>
              <a:t>列</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3" name="文本框 12"/>
          <p:cNvSpPr txBox="1"/>
          <p:nvPr/>
        </p:nvSpPr>
        <p:spPr>
          <a:xfrm>
            <a:off x="975218" y="4563404"/>
            <a:ext cx="10344783" cy="646331"/>
          </a:xfrm>
          <a:prstGeom prst="rect">
            <a:avLst/>
          </a:prstGeom>
          <a:noFill/>
        </p:spPr>
        <p:txBody>
          <a:bodyPr wrap="square">
            <a:spAutoFit/>
          </a:bodyPr>
          <a:lstStyle/>
          <a:p>
            <a:r>
              <a:rPr lang="en-US" altLang="zh-CN" b="0" i="0" dirty="0">
                <a:solidFill>
                  <a:srgbClr val="141718"/>
                </a:solidFill>
                <a:effectLst/>
                <a:latin typeface="__Karla_fd2630"/>
              </a:rPr>
              <a:t>ones</a:t>
            </a:r>
            <a:r>
              <a:rPr lang="zh-CN" altLang="en-US" b="0" i="0" dirty="0">
                <a:solidFill>
                  <a:srgbClr val="141718"/>
                </a:solidFill>
                <a:effectLst/>
                <a:latin typeface="__Karla_fd2630"/>
              </a:rPr>
              <a:t>函数用于创建一个全</a:t>
            </a:r>
            <a:r>
              <a:rPr lang="en-US" altLang="zh-CN" b="0" i="0" dirty="0">
                <a:solidFill>
                  <a:srgbClr val="141718"/>
                </a:solidFill>
                <a:effectLst/>
                <a:latin typeface="__Karla_fd2630"/>
              </a:rPr>
              <a:t>1</a:t>
            </a:r>
            <a:r>
              <a:rPr lang="zh-CN" altLang="en-US" b="0" i="0" dirty="0">
                <a:solidFill>
                  <a:srgbClr val="141718"/>
                </a:solidFill>
                <a:effectLst/>
                <a:latin typeface="__Karla_fd2630"/>
              </a:rPr>
              <a:t>的数组。在默认情况下，所创建的数组元素类型为</a:t>
            </a:r>
            <a:r>
              <a:rPr lang="en-US" altLang="zh-CN" b="0" i="0" dirty="0">
                <a:solidFill>
                  <a:srgbClr val="141718"/>
                </a:solidFill>
                <a:effectLst/>
                <a:latin typeface="__Karla_fd2630"/>
              </a:rPr>
              <a:t>float64</a:t>
            </a:r>
            <a:r>
              <a:rPr lang="zh-CN" altLang="en-US" b="0" i="0" dirty="0">
                <a:solidFill>
                  <a:srgbClr val="141718"/>
                </a:solidFill>
                <a:effectLst/>
                <a:latin typeface="__Karla_fd2630"/>
              </a:rPr>
              <a:t>，也可以通过参数</a:t>
            </a:r>
            <a:r>
              <a:rPr lang="en-US" altLang="zh-CN" b="0" i="0" dirty="0" err="1">
                <a:solidFill>
                  <a:srgbClr val="141718"/>
                </a:solidFill>
                <a:effectLst/>
                <a:latin typeface="__Karla_fd2630"/>
              </a:rPr>
              <a:t>dtype</a:t>
            </a:r>
            <a:r>
              <a:rPr lang="zh-CN" altLang="en-US" b="0" i="0" dirty="0">
                <a:solidFill>
                  <a:srgbClr val="141718"/>
                </a:solidFill>
                <a:effectLst/>
                <a:latin typeface="__Karla_fd2630"/>
              </a:rPr>
              <a:t>指定数据类型。例如</a:t>
            </a:r>
            <a:r>
              <a:rPr lang="en-US" altLang="zh-CN" b="0" i="0" dirty="0">
                <a:solidFill>
                  <a:srgbClr val="141718"/>
                </a:solidFill>
                <a:effectLst/>
                <a:latin typeface="__Karla_fd2630"/>
              </a:rPr>
              <a:t>:</a:t>
            </a:r>
            <a:endParaRPr lang="zh-CN" altLang="en-US" dirty="0"/>
          </a:p>
        </p:txBody>
      </p:sp>
    </p:spTree>
    <p:custDataLst>
      <p:tags r:id="rId1"/>
    </p:custData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(4) </a:t>
            </a:r>
            <a:r>
              <a:rPr lang="en-US" altLang="zh-CN" b="0" i="0" dirty="0" err="1">
                <a:solidFill>
                  <a:srgbClr val="141718"/>
                </a:solidFill>
                <a:effectLst/>
                <a:latin typeface="__Karla_fd2630"/>
              </a:rPr>
              <a:t>np.arange</a:t>
            </a:r>
            <a:r>
              <a:rPr lang="en-US" altLang="zh-CN" b="0" i="0" dirty="0">
                <a:solidFill>
                  <a:srgbClr val="141718"/>
                </a:solidFill>
                <a:effectLst/>
                <a:latin typeface="__Karla_fd2630"/>
              </a:rPr>
              <a:t>()</a:t>
            </a:r>
            <a:endParaRPr lang="en-US" altLang="zh-CN" b="0" i="0" dirty="0">
              <a:solidFill>
                <a:srgbClr val="141718"/>
              </a:solidFill>
              <a:effectLst/>
              <a:latin typeface="__Karla_fd2630"/>
            </a:endParaRPr>
          </a:p>
        </p:txBody>
      </p:sp>
      <p:sp>
        <p:nvSpPr>
          <p:cNvPr id="7" name="文本框 6"/>
          <p:cNvSpPr txBox="1"/>
          <p:nvPr/>
        </p:nvSpPr>
        <p:spPr>
          <a:xfrm>
            <a:off x="975219" y="2176913"/>
            <a:ext cx="10715765" cy="369332"/>
          </a:xfrm>
          <a:prstGeom prst="rect">
            <a:avLst/>
          </a:prstGeom>
          <a:noFill/>
        </p:spPr>
        <p:txBody>
          <a:bodyPr wrap="square">
            <a:spAutoFit/>
          </a:bodyPr>
          <a:lstStyle/>
          <a:p>
            <a:r>
              <a:rPr lang="en-US" altLang="zh-CN" b="0" i="0" dirty="0" err="1">
                <a:solidFill>
                  <a:srgbClr val="141718"/>
                </a:solidFill>
                <a:effectLst/>
                <a:latin typeface="__Karla_fd2630"/>
              </a:rPr>
              <a:t>arange</a:t>
            </a:r>
            <a:r>
              <a:rPr lang="zh-CN" altLang="en-US" b="0" i="0" dirty="0">
                <a:solidFill>
                  <a:srgbClr val="141718"/>
                </a:solidFill>
                <a:effectLst/>
                <a:latin typeface="__Karla_fd2630"/>
              </a:rPr>
              <a:t>函数用于创建元素值为连续整数的数组。例如</a:t>
            </a:r>
            <a:r>
              <a:rPr lang="en-US" altLang="zh-CN" b="0" i="0" dirty="0">
                <a:solidFill>
                  <a:srgbClr val="141718"/>
                </a:solidFill>
                <a:effectLst/>
                <a:latin typeface="__Karla_fd2630"/>
              </a:rPr>
              <a:t>:</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616937" y="4155991"/>
            <a:ext cx="10344784" cy="369332"/>
          </a:xfrm>
          <a:prstGeom prst="rect">
            <a:avLst/>
          </a:prstGeom>
          <a:noFill/>
        </p:spPr>
        <p:txBody>
          <a:bodyPr wrap="square">
            <a:spAutoFit/>
          </a:bodyPr>
          <a:lstStyle/>
          <a:p>
            <a:r>
              <a:rPr lang="en-US" altLang="zh-CN" b="0" i="0" dirty="0">
                <a:solidFill>
                  <a:srgbClr val="050E17"/>
                </a:solidFill>
                <a:effectLst/>
                <a:latin typeface="-apple-system"/>
              </a:rPr>
              <a:t>(5) </a:t>
            </a:r>
            <a:r>
              <a:rPr lang="en-US" altLang="zh-CN" b="0" i="0" dirty="0" err="1">
                <a:solidFill>
                  <a:srgbClr val="141718"/>
                </a:solidFill>
                <a:effectLst/>
                <a:latin typeface="__Karla_fd2630"/>
              </a:rPr>
              <a:t>np.linspace</a:t>
            </a:r>
            <a:r>
              <a:rPr lang="en-US" altLang="zh-CN" b="0" i="0" dirty="0">
                <a:solidFill>
                  <a:srgbClr val="141718"/>
                </a:solidFill>
                <a:effectLst/>
                <a:latin typeface="__Karla_fd2630"/>
              </a:rPr>
              <a:t>()</a:t>
            </a:r>
            <a:endParaRPr lang="en-US" altLang="zh-CN" b="0" i="0" dirty="0">
              <a:solidFill>
                <a:srgbClr val="141718"/>
              </a:solidFill>
              <a:effectLst/>
              <a:latin typeface="__Karla_fd2630"/>
            </a:endParaRPr>
          </a:p>
        </p:txBody>
      </p:sp>
      <p:sp>
        <p:nvSpPr>
          <p:cNvPr id="13" name="文本框 12"/>
          <p:cNvSpPr txBox="1"/>
          <p:nvPr/>
        </p:nvSpPr>
        <p:spPr>
          <a:xfrm>
            <a:off x="975217" y="4525323"/>
            <a:ext cx="10344783" cy="646331"/>
          </a:xfrm>
          <a:prstGeom prst="rect">
            <a:avLst/>
          </a:prstGeom>
          <a:noFill/>
        </p:spPr>
        <p:txBody>
          <a:bodyPr wrap="square">
            <a:spAutoFit/>
          </a:bodyPr>
          <a:lstStyle/>
          <a:p>
            <a:r>
              <a:rPr lang="en-US" altLang="zh-CN" b="0" i="0" dirty="0" err="1">
                <a:solidFill>
                  <a:srgbClr val="141718"/>
                </a:solidFill>
                <a:effectLst/>
                <a:latin typeface="__Karla_fd2630"/>
              </a:rPr>
              <a:t>linspace</a:t>
            </a:r>
            <a:r>
              <a:rPr lang="zh-CN" altLang="en-US" b="0" i="0" dirty="0">
                <a:solidFill>
                  <a:srgbClr val="141718"/>
                </a:solidFill>
                <a:effectLst/>
                <a:latin typeface="__Karla_fd2630"/>
              </a:rPr>
              <a:t>函数用于创建一个等间距的数组。它通过指定起始值、终止值和要生成的元素个数来确定数组的间距。例如</a:t>
            </a:r>
            <a:r>
              <a:rPr lang="en-US" altLang="zh-CN" b="0" i="0" dirty="0">
                <a:solidFill>
                  <a:srgbClr val="141718"/>
                </a:solidFill>
                <a:effectLst/>
                <a:latin typeface="__Karla_fd2630"/>
              </a:rPr>
              <a:t>:</a:t>
            </a:r>
            <a:endParaRPr lang="zh-CN" altLang="en-US" dirty="0"/>
          </a:p>
        </p:txBody>
      </p:sp>
      <p:sp>
        <p:nvSpPr>
          <p:cNvPr id="4" name="文本框 3"/>
          <p:cNvSpPr txBox="1"/>
          <p:nvPr/>
        </p:nvSpPr>
        <p:spPr>
          <a:xfrm>
            <a:off x="975217" y="2640582"/>
            <a:ext cx="6094602"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10-19</a:t>
            </a:r>
            <a:r>
              <a:rPr lang="zh-CN" altLang="en-US" b="0" dirty="0">
                <a:solidFill>
                  <a:srgbClr val="6A737D"/>
                </a:solidFill>
                <a:effectLst/>
                <a:latin typeface="Consolas" panose="020B0609020204030204" pitchFamily="49" charset="0"/>
              </a:rPr>
              <a:t>的数据，</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步长</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975217" y="5103674"/>
            <a:ext cx="6094602"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np.linspace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区间为</a:t>
            </a:r>
            <a:r>
              <a:rPr lang="en-US" altLang="zh-CN" b="0" dirty="0">
                <a:solidFill>
                  <a:srgbClr val="6A737D"/>
                </a:solidFill>
                <a:effectLst/>
                <a:latin typeface="Consolas" panose="020B0609020204030204" pitchFamily="49" charset="0"/>
              </a:rPr>
              <a:t>[1,10]</a:t>
            </a:r>
            <a:r>
              <a:rPr lang="zh-CN" altLang="en-US" b="0" dirty="0">
                <a:solidFill>
                  <a:srgbClr val="6A737D"/>
                </a:solidFill>
                <a:effectLst/>
                <a:latin typeface="Consolas" panose="020B0609020204030204" pitchFamily="49" charset="0"/>
              </a:rPr>
              <a:t>，取</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个点</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3.25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5.5</a:t>
            </a: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7.75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d.dtype</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dtype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'float64'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(6) </a:t>
            </a:r>
            <a:r>
              <a:rPr lang="zh-CN" altLang="en-US" b="0" i="0" dirty="0">
                <a:solidFill>
                  <a:srgbClr val="050E17"/>
                </a:solidFill>
                <a:effectLst/>
                <a:latin typeface="-apple-system"/>
              </a:rPr>
              <a:t>生成随机数据</a:t>
            </a:r>
            <a:endParaRPr lang="en-US" altLang="zh-CN" b="0" i="0" dirty="0">
              <a:solidFill>
                <a:srgbClr val="141718"/>
              </a:solidFill>
              <a:effectLst/>
              <a:latin typeface="__Karla_fd2630"/>
            </a:endParaRPr>
          </a:p>
        </p:txBody>
      </p:sp>
      <p:sp>
        <p:nvSpPr>
          <p:cNvPr id="9" name="文本框 8"/>
          <p:cNvSpPr txBox="1"/>
          <p:nvPr/>
        </p:nvSpPr>
        <p:spPr>
          <a:xfrm>
            <a:off x="975219" y="2176913"/>
            <a:ext cx="10715765" cy="646331"/>
          </a:xfrm>
          <a:prstGeom prst="rect">
            <a:avLst/>
          </a:prstGeom>
          <a:noFill/>
        </p:spPr>
        <p:txBody>
          <a:bodyPr wrap="square">
            <a:spAutoFit/>
          </a:bodyPr>
          <a:lstStyle/>
          <a:p>
            <a:r>
              <a:rPr lang="en-US" altLang="zh-CN" b="0" i="0" dirty="0" err="1">
                <a:solidFill>
                  <a:srgbClr val="050E17"/>
                </a:solidFill>
                <a:effectLst/>
                <a:latin typeface="-apple-system"/>
              </a:rPr>
              <a:t>Numpy</a:t>
            </a:r>
            <a:r>
              <a:rPr lang="zh-CN" altLang="en-US" b="0" i="0" dirty="0">
                <a:solidFill>
                  <a:srgbClr val="050E17"/>
                </a:solidFill>
                <a:effectLst/>
                <a:latin typeface="-apple-system"/>
              </a:rPr>
              <a:t>中的</a:t>
            </a:r>
            <a:r>
              <a:rPr lang="en-US" altLang="zh-CN" b="0" i="0" dirty="0">
                <a:solidFill>
                  <a:srgbClr val="050E17"/>
                </a:solidFill>
                <a:effectLst/>
                <a:latin typeface="-apple-system"/>
              </a:rPr>
              <a:t>random</a:t>
            </a:r>
            <a:r>
              <a:rPr lang="zh-CN" altLang="en-US" b="0" i="0" dirty="0">
                <a:solidFill>
                  <a:srgbClr val="050E17"/>
                </a:solidFill>
                <a:effectLst/>
                <a:latin typeface="-apple-system"/>
              </a:rPr>
              <a:t>模块提供多种函数，可以生成各种随机数据。</a:t>
            </a:r>
            <a:r>
              <a:rPr lang="zh-CN" altLang="en-US" dirty="0">
                <a:solidFill>
                  <a:srgbClr val="050E17"/>
                </a:solidFill>
                <a:latin typeface="-apple-system"/>
              </a:rPr>
              <a:t>下表</a:t>
            </a:r>
            <a:r>
              <a:rPr lang="zh-CN" altLang="en-US" b="0" i="0" dirty="0">
                <a:solidFill>
                  <a:srgbClr val="050E17"/>
                </a:solidFill>
                <a:effectLst/>
                <a:latin typeface="-apple-system"/>
              </a:rPr>
              <a:t>给出了几个常用函数的功能对比，使用时需要注意它们的不同。</a:t>
            </a:r>
            <a:endParaRPr lang="zh-CN" altLang="en-US" dirty="0"/>
          </a:p>
        </p:txBody>
      </p:sp>
    </p:spTree>
    <p:custDataLst>
      <p:tags r:id="rId1"/>
    </p:custData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graphicFrame>
        <p:nvGraphicFramePr>
          <p:cNvPr id="14" name="表格 13"/>
          <p:cNvGraphicFramePr>
            <a:graphicFrameLocks noGrp="1"/>
          </p:cNvGraphicFramePr>
          <p:nvPr/>
        </p:nvGraphicFramePr>
        <p:xfrm>
          <a:off x="364133" y="1589612"/>
          <a:ext cx="11326852" cy="5071247"/>
        </p:xfrm>
        <a:graphic>
          <a:graphicData uri="http://schemas.openxmlformats.org/drawingml/2006/table">
            <a:tbl>
              <a:tblPr>
                <a:tableStyleId>{5C22544A-7EE6-4342-B048-85BDC9FD1C3A}</a:tableStyleId>
              </a:tblPr>
              <a:tblGrid>
                <a:gridCol w="793548"/>
                <a:gridCol w="1538626"/>
                <a:gridCol w="2739759"/>
                <a:gridCol w="2837784"/>
                <a:gridCol w="3417135"/>
              </a:tblGrid>
              <a:tr h="280030">
                <a:tc>
                  <a:txBody>
                    <a:bodyPr/>
                    <a:lstStyle/>
                    <a:p>
                      <a:pPr algn="ctr" fontAlgn="ctr"/>
                      <a:r>
                        <a:rPr lang="zh-CN" altLang="en-US" sz="1400" u="none" strike="noStrike" dirty="0">
                          <a:effectLst/>
                        </a:rPr>
                        <a:t>函数名</a:t>
                      </a:r>
                      <a:endParaRPr lang="zh-CN" altLang="en-US" sz="1400" b="1"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参数形式</a:t>
                      </a:r>
                      <a:endParaRPr lang="zh-CN" altLang="en-US" sz="1400" b="1"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a:effectLst/>
                        </a:rPr>
                        <a:t>功能</a:t>
                      </a:r>
                      <a:endParaRPr lang="zh-CN" altLang="en-US" sz="1400" b="1" i="0" u="none" strike="noStrike">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a:effectLst/>
                        </a:rPr>
                        <a:t>参数说明</a:t>
                      </a:r>
                      <a:endParaRPr lang="zh-CN" altLang="en-US" sz="1400" b="1" i="0" u="none" strike="noStrike">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a:effectLst/>
                        </a:rPr>
                        <a:t>举例</a:t>
                      </a:r>
                      <a:endParaRPr lang="zh-CN" altLang="en-US" sz="1400" b="1" i="0" u="none" strike="noStrike">
                        <a:solidFill>
                          <a:srgbClr val="050E17"/>
                        </a:solidFill>
                        <a:effectLst/>
                        <a:latin typeface="Segoe UI" panose="020B0502040204020203" pitchFamily="34" charset="0"/>
                        <a:ea typeface="等线" panose="02010600030101010101" pitchFamily="2" charset="-122"/>
                      </a:endParaRPr>
                    </a:p>
                  </a:txBody>
                  <a:tcPr marL="2808" marR="2808" marT="2808" marB="0" anchor="ctr"/>
                </a:tc>
              </a:tr>
              <a:tr h="556422">
                <a:tc>
                  <a:txBody>
                    <a:bodyPr/>
                    <a:lstStyle/>
                    <a:p>
                      <a:pPr algn="ctr" fontAlgn="ctr"/>
                      <a:r>
                        <a:rPr lang="en-US" sz="1400" u="none" strike="noStrike" dirty="0">
                          <a:solidFill>
                            <a:srgbClr val="577CCE"/>
                          </a:solidFill>
                          <a:effectLst/>
                        </a:rPr>
                        <a:t>rand()</a:t>
                      </a:r>
                      <a:endParaRPr lang="en-US" sz="1400" b="0" i="0" u="none" strike="noStrike" dirty="0">
                        <a:solidFill>
                          <a:srgbClr val="577CCE"/>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dirty="0">
                          <a:effectLst/>
                        </a:rPr>
                        <a:t>d0, d1, ..., </a:t>
                      </a:r>
                      <a:r>
                        <a:rPr lang="en-US" sz="1400" u="none" strike="noStrike" dirty="0" err="1">
                          <a:effectLst/>
                        </a:rPr>
                        <a:t>dn</a:t>
                      </a:r>
                      <a:endParaRPr 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生成随机浮点数或随机浮点数组</a:t>
                      </a:r>
                      <a:r>
                        <a:rPr lang="en-US" altLang="zh-CN" sz="1400" u="none" strike="noStrike" dirty="0">
                          <a:effectLst/>
                        </a:rPr>
                        <a:t>,</a:t>
                      </a:r>
                      <a:r>
                        <a:rPr lang="zh-CN" altLang="en-US" sz="1400" u="none" strike="noStrike" dirty="0">
                          <a:effectLst/>
                        </a:rPr>
                        <a:t>生成的数据均是</a:t>
                      </a:r>
                      <a:r>
                        <a:rPr lang="en-US" altLang="zh-CN" sz="1400" u="none" strike="noStrike" dirty="0">
                          <a:effectLst/>
                        </a:rPr>
                        <a:t>[0,1)</a:t>
                      </a:r>
                      <a:r>
                        <a:rPr lang="zh-CN" altLang="en-US" sz="1400" u="none" strike="noStrike" dirty="0">
                          <a:effectLst/>
                        </a:rPr>
                        <a:t>区间的</a:t>
                      </a:r>
                      <a:r>
                        <a:rPr lang="en-US" altLang="zh-CN" sz="1400" u="none" strike="noStrike" dirty="0">
                          <a:effectLst/>
                        </a:rPr>
                        <a:t>float</a:t>
                      </a:r>
                      <a:r>
                        <a:rPr lang="zh-CN" altLang="en-US" sz="1400" u="none" strike="noStrike" dirty="0">
                          <a:effectLst/>
                        </a:rPr>
                        <a:t>类型</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无参数时得到一个随机数</a:t>
                      </a:r>
                      <a:r>
                        <a:rPr lang="en-US" altLang="zh-CN" sz="1400" u="none" strike="noStrike" dirty="0">
                          <a:effectLst/>
                        </a:rPr>
                        <a:t>,</a:t>
                      </a:r>
                      <a:r>
                        <a:rPr lang="zh-CN" altLang="en-US" sz="1400" u="none" strike="noStrike" dirty="0">
                          <a:effectLst/>
                        </a:rPr>
                        <a:t>多个参数时得到随机数组</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altLang="zh-CN" sz="1400" u="none" strike="noStrike" dirty="0" err="1">
                          <a:effectLst/>
                        </a:rPr>
                        <a:t>np.random.rand</a:t>
                      </a:r>
                      <a:r>
                        <a:rPr lang="en-US" altLang="zh-CN" sz="1400" u="none" strike="noStrike" dirty="0">
                          <a:effectLst/>
                        </a:rPr>
                        <a:t>(2, 3, 4)</a:t>
                      </a:r>
                      <a:r>
                        <a:rPr lang="zh-CN" altLang="en-US" sz="1400" u="none" strike="noStrike" dirty="0">
                          <a:effectLst/>
                        </a:rPr>
                        <a:t>，得到</a:t>
                      </a:r>
                      <a:r>
                        <a:rPr lang="en-US" altLang="zh-CN" sz="1400" u="none" strike="noStrike" dirty="0">
                          <a:effectLst/>
                        </a:rPr>
                        <a:t>shape</a:t>
                      </a:r>
                      <a:r>
                        <a:rPr lang="zh-CN" altLang="en-US" sz="1400" u="none" strike="noStrike" dirty="0">
                          <a:effectLst/>
                        </a:rPr>
                        <a:t>为</a:t>
                      </a:r>
                      <a:r>
                        <a:rPr lang="en-US" altLang="zh-CN" sz="1400" u="none" strike="noStrike" dirty="0">
                          <a:effectLst/>
                        </a:rPr>
                        <a:t>(2, 3, 4)</a:t>
                      </a:r>
                      <a:r>
                        <a:rPr lang="zh-CN" altLang="en-US" sz="1400" u="none" strike="noStrike" dirty="0">
                          <a:effectLst/>
                        </a:rPr>
                        <a:t>的三维数组</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r>
              <a:tr h="832814">
                <a:tc>
                  <a:txBody>
                    <a:bodyPr/>
                    <a:lstStyle/>
                    <a:p>
                      <a:pPr algn="ctr" fontAlgn="ctr"/>
                      <a:r>
                        <a:rPr lang="en-US" sz="1400" u="none" strike="noStrike" dirty="0">
                          <a:solidFill>
                            <a:srgbClr val="577CCE"/>
                          </a:solidFill>
                          <a:effectLst/>
                        </a:rPr>
                        <a:t>random()</a:t>
                      </a:r>
                      <a:endParaRPr lang="en-US" sz="1400" b="0" i="0" u="none" strike="noStrike" dirty="0">
                        <a:solidFill>
                          <a:srgbClr val="577CCE"/>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dirty="0">
                          <a:effectLst/>
                        </a:rPr>
                        <a:t>size=None</a:t>
                      </a:r>
                      <a:endParaRPr 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同</a:t>
                      </a:r>
                      <a:r>
                        <a:rPr lang="en-US" altLang="zh-CN" sz="1400" u="none" strike="noStrike" dirty="0">
                          <a:effectLst/>
                        </a:rPr>
                        <a:t>rand()</a:t>
                      </a:r>
                      <a:r>
                        <a:rPr lang="zh-CN" altLang="en-US" sz="1400" u="none" strike="noStrike" dirty="0">
                          <a:effectLst/>
                        </a:rPr>
                        <a:t>函数，只是参数形式不同</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无参数时只生成一个随机数，有参数时指定要生成数组的</a:t>
                      </a:r>
                      <a:r>
                        <a:rPr lang="en-US" altLang="zh-CN" sz="1400" u="none" strike="noStrike" dirty="0">
                          <a:effectLst/>
                        </a:rPr>
                        <a:t>shape</a:t>
                      </a:r>
                      <a:endParaRPr lang="en-US" altLang="zh-CN"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dirty="0" err="1">
                          <a:effectLst/>
                        </a:rPr>
                        <a:t>np.random.random</a:t>
                      </a:r>
                      <a:r>
                        <a:rPr lang="en-US" sz="1400" u="none" strike="noStrike" dirty="0">
                          <a:effectLst/>
                        </a:rPr>
                        <a:t>(size=(2, 3, 4))</a:t>
                      </a:r>
                      <a:r>
                        <a:rPr lang="zh-CN" altLang="en-US" sz="1400" u="none" strike="noStrike" dirty="0">
                          <a:effectLst/>
                        </a:rPr>
                        <a:t>表示生成</a:t>
                      </a:r>
                      <a:r>
                        <a:rPr lang="en-US" sz="1400" u="none" strike="noStrike" dirty="0">
                          <a:effectLst/>
                        </a:rPr>
                        <a:t>shape</a:t>
                      </a:r>
                      <a:r>
                        <a:rPr lang="zh-CN" altLang="en-US" sz="1400" u="none" strike="noStrike" dirty="0">
                          <a:effectLst/>
                        </a:rPr>
                        <a:t>为</a:t>
                      </a:r>
                      <a:r>
                        <a:rPr lang="en-US" altLang="zh-CN" sz="1400" u="none" strike="noStrike" dirty="0">
                          <a:effectLst/>
                        </a:rPr>
                        <a:t>(2, 3, 4)</a:t>
                      </a:r>
                      <a:r>
                        <a:rPr lang="zh-CN" altLang="en-US" sz="1400" u="none" strike="noStrike" dirty="0">
                          <a:effectLst/>
                        </a:rPr>
                        <a:t>的三维数组</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r>
              <a:tr h="832814">
                <a:tc>
                  <a:txBody>
                    <a:bodyPr/>
                    <a:lstStyle/>
                    <a:p>
                      <a:pPr algn="ctr" fontAlgn="ctr"/>
                      <a:r>
                        <a:rPr lang="en-US" sz="1400" u="none" strike="noStrike" dirty="0" err="1">
                          <a:solidFill>
                            <a:srgbClr val="577CCE"/>
                          </a:solidFill>
                          <a:effectLst/>
                        </a:rPr>
                        <a:t>randn</a:t>
                      </a:r>
                      <a:r>
                        <a:rPr lang="en-US" sz="1400" u="none" strike="noStrike" dirty="0">
                          <a:solidFill>
                            <a:srgbClr val="577CCE"/>
                          </a:solidFill>
                          <a:effectLst/>
                        </a:rPr>
                        <a:t>()</a:t>
                      </a:r>
                      <a:endParaRPr lang="en-US" sz="1400" b="0" i="0" u="none" strike="noStrike" dirty="0">
                        <a:solidFill>
                          <a:srgbClr val="577CCE"/>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dirty="0">
                          <a:effectLst/>
                        </a:rPr>
                        <a:t>d0, d1, ..., </a:t>
                      </a:r>
                      <a:r>
                        <a:rPr lang="en-US" sz="1400" u="none" strike="noStrike" dirty="0" err="1">
                          <a:effectLst/>
                        </a:rPr>
                        <a:t>dn</a:t>
                      </a:r>
                      <a:endParaRPr 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生成随机浮点数或随机浮点数组，生成的数据满足均值为</a:t>
                      </a:r>
                      <a:r>
                        <a:rPr lang="en-US" altLang="zh-CN" sz="1400" u="none" strike="noStrike" dirty="0">
                          <a:effectLst/>
                        </a:rPr>
                        <a:t>1</a:t>
                      </a:r>
                      <a:r>
                        <a:rPr lang="zh-CN" altLang="en-US" sz="1400" u="none" strike="noStrike" dirty="0">
                          <a:effectLst/>
                        </a:rPr>
                        <a:t>，方差为</a:t>
                      </a:r>
                      <a:r>
                        <a:rPr lang="en-US" altLang="zh-CN" sz="1400" u="none" strike="noStrike" dirty="0">
                          <a:effectLst/>
                        </a:rPr>
                        <a:t>1</a:t>
                      </a:r>
                      <a:r>
                        <a:rPr lang="zh-CN" altLang="en-US" sz="1400" u="none" strike="noStrike" dirty="0">
                          <a:effectLst/>
                        </a:rPr>
                        <a:t>的正态分布</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a:effectLst/>
                        </a:rPr>
                        <a:t>参数同</a:t>
                      </a:r>
                      <a:r>
                        <a:rPr lang="en-US" sz="1400" u="none" strike="noStrike">
                          <a:effectLst/>
                        </a:rPr>
                        <a:t>rand()</a:t>
                      </a:r>
                      <a:r>
                        <a:rPr lang="zh-CN" altLang="en-US" sz="1400" u="none" strike="noStrike">
                          <a:effectLst/>
                        </a:rPr>
                        <a:t>函数</a:t>
                      </a:r>
                      <a:endParaRPr lang="zh-CN" altLang="en-US" sz="1400" b="0" i="0" u="none" strike="noStrike">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altLang="zh-CN" sz="1400" u="none" strike="noStrike" dirty="0" err="1">
                          <a:effectLst/>
                        </a:rPr>
                        <a:t>np.random.randn</a:t>
                      </a:r>
                      <a:r>
                        <a:rPr lang="en-US" altLang="zh-CN" sz="1400" u="none" strike="noStrike" dirty="0">
                          <a:effectLst/>
                        </a:rPr>
                        <a:t>(2, 3, 4)</a:t>
                      </a:r>
                      <a:r>
                        <a:rPr lang="zh-CN" altLang="en-US" sz="1400" u="none" strike="noStrike" dirty="0">
                          <a:effectLst/>
                        </a:rPr>
                        <a:t>，得到</a:t>
                      </a:r>
                      <a:r>
                        <a:rPr lang="en-US" altLang="zh-CN" sz="1400" u="none" strike="noStrike" dirty="0">
                          <a:effectLst/>
                        </a:rPr>
                        <a:t>shape</a:t>
                      </a:r>
                      <a:r>
                        <a:rPr lang="zh-CN" altLang="en-US" sz="1400" u="none" strike="noStrike" dirty="0">
                          <a:effectLst/>
                        </a:rPr>
                        <a:t>为</a:t>
                      </a:r>
                      <a:r>
                        <a:rPr lang="en-US" altLang="zh-CN" sz="1400" u="none" strike="noStrike" dirty="0">
                          <a:effectLst/>
                        </a:rPr>
                        <a:t>(2, 3, 4)</a:t>
                      </a:r>
                      <a:r>
                        <a:rPr lang="zh-CN" altLang="en-US" sz="1400" u="none" strike="noStrike" dirty="0">
                          <a:effectLst/>
                        </a:rPr>
                        <a:t>的三维数组。注意元素值有正有负，服从正态分布</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r>
              <a:tr h="907176">
                <a:tc>
                  <a:txBody>
                    <a:bodyPr/>
                    <a:lstStyle/>
                    <a:p>
                      <a:pPr algn="ctr" fontAlgn="ctr"/>
                      <a:r>
                        <a:rPr lang="en-US" sz="1400" u="none" strike="noStrike" dirty="0">
                          <a:solidFill>
                            <a:srgbClr val="577CCE"/>
                          </a:solidFill>
                          <a:effectLst/>
                        </a:rPr>
                        <a:t>normal()</a:t>
                      </a:r>
                      <a:endParaRPr lang="en-US" sz="1400" b="0" i="0" u="none" strike="noStrike" dirty="0">
                        <a:solidFill>
                          <a:srgbClr val="577CCE"/>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dirty="0">
                          <a:effectLst/>
                        </a:rPr>
                        <a:t>loc=0.0, scale=1.0, size=None</a:t>
                      </a:r>
                      <a:endParaRPr 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生成随机浮点数或随机浮点数组，生成的数据满足均值为</a:t>
                      </a:r>
                      <a:r>
                        <a:rPr lang="en-US" altLang="zh-CN" sz="1400" u="none" strike="noStrike" dirty="0">
                          <a:effectLst/>
                        </a:rPr>
                        <a:t>loc</a:t>
                      </a:r>
                      <a:r>
                        <a:rPr lang="zh-CN" altLang="en-US" sz="1400" u="none" strike="noStrike" dirty="0">
                          <a:effectLst/>
                        </a:rPr>
                        <a:t>，方差为</a:t>
                      </a:r>
                      <a:r>
                        <a:rPr lang="en-US" altLang="zh-CN" sz="1400" u="none" strike="noStrike" dirty="0">
                          <a:effectLst/>
                        </a:rPr>
                        <a:t>scale</a:t>
                      </a:r>
                      <a:r>
                        <a:rPr lang="zh-CN" altLang="en-US" sz="1400" u="none" strike="noStrike" dirty="0">
                          <a:effectLst/>
                        </a:rPr>
                        <a:t>的正态分布</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altLang="zh-CN" sz="1400" u="none" strike="noStrike" dirty="0">
                          <a:effectLst/>
                        </a:rPr>
                        <a:t>loc</a:t>
                      </a:r>
                      <a:r>
                        <a:rPr lang="zh-CN" altLang="en-US" sz="1400" u="none" strike="noStrike" dirty="0">
                          <a:effectLst/>
                        </a:rPr>
                        <a:t>和</a:t>
                      </a:r>
                      <a:r>
                        <a:rPr lang="en-US" altLang="zh-CN" sz="1400" u="none" strike="noStrike" dirty="0">
                          <a:effectLst/>
                        </a:rPr>
                        <a:t>scale</a:t>
                      </a:r>
                      <a:r>
                        <a:rPr lang="zh-CN" altLang="en-US" sz="1400" u="none" strike="noStrike" dirty="0">
                          <a:effectLst/>
                        </a:rPr>
                        <a:t>分别指定均值和方差，</a:t>
                      </a:r>
                      <a:r>
                        <a:rPr lang="en-US" altLang="zh-CN" sz="1400" u="none" strike="noStrike" dirty="0">
                          <a:effectLst/>
                        </a:rPr>
                        <a:t>size</a:t>
                      </a:r>
                      <a:r>
                        <a:rPr lang="zh-CN" altLang="en-US" sz="1400" u="none" strike="noStrike" dirty="0">
                          <a:effectLst/>
                        </a:rPr>
                        <a:t>参数指定数组的</a:t>
                      </a:r>
                      <a:r>
                        <a:rPr lang="en-US" altLang="zh-CN" sz="1400" u="none" strike="noStrike" dirty="0">
                          <a:effectLst/>
                        </a:rPr>
                        <a:t>shape</a:t>
                      </a:r>
                      <a:r>
                        <a:rPr lang="zh-CN" altLang="en-US" sz="1400" u="none" strike="noStrike" dirty="0">
                          <a:effectLst/>
                        </a:rPr>
                        <a:t>，为</a:t>
                      </a:r>
                      <a:r>
                        <a:rPr lang="en-US" altLang="zh-CN" sz="1400" u="none" strike="noStrike" dirty="0">
                          <a:effectLst/>
                        </a:rPr>
                        <a:t>None</a:t>
                      </a:r>
                      <a:r>
                        <a:rPr lang="zh-CN" altLang="en-US" sz="1400" u="none" strike="noStrike" dirty="0">
                          <a:effectLst/>
                        </a:rPr>
                        <a:t>时返回一个浮点数</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altLang="zh-CN" sz="1400" u="none" strike="noStrike">
                          <a:effectLst/>
                        </a:rPr>
                        <a:t>np.random.normal(3, 2, size=(2, 4))</a:t>
                      </a:r>
                      <a:r>
                        <a:rPr lang="zh-CN" altLang="en-US" sz="1400" u="none" strike="noStrike">
                          <a:effectLst/>
                        </a:rPr>
                        <a:t>，得到</a:t>
                      </a:r>
                      <a:r>
                        <a:rPr lang="en-US" altLang="zh-CN" sz="1400" u="none" strike="noStrike">
                          <a:effectLst/>
                        </a:rPr>
                        <a:t>shape</a:t>
                      </a:r>
                      <a:r>
                        <a:rPr lang="zh-CN" altLang="en-US" sz="1400" u="none" strike="noStrike">
                          <a:effectLst/>
                        </a:rPr>
                        <a:t>为</a:t>
                      </a:r>
                      <a:r>
                        <a:rPr lang="en-US" altLang="zh-CN" sz="1400" u="none" strike="noStrike">
                          <a:effectLst/>
                        </a:rPr>
                        <a:t>(2, 4)</a:t>
                      </a:r>
                      <a:r>
                        <a:rPr lang="zh-CN" altLang="en-US" sz="1400" u="none" strike="noStrike">
                          <a:effectLst/>
                        </a:rPr>
                        <a:t>的二维数组。所有元素满足均值为</a:t>
                      </a:r>
                      <a:r>
                        <a:rPr lang="en-US" altLang="zh-CN" sz="1400" u="none" strike="noStrike">
                          <a:effectLst/>
                        </a:rPr>
                        <a:t>3</a:t>
                      </a:r>
                      <a:r>
                        <a:rPr lang="zh-CN" altLang="en-US" sz="1400" u="none" strike="noStrike">
                          <a:effectLst/>
                        </a:rPr>
                        <a:t>，方差为</a:t>
                      </a:r>
                      <a:r>
                        <a:rPr lang="en-US" altLang="zh-CN" sz="1400" u="none" strike="noStrike">
                          <a:effectLst/>
                        </a:rPr>
                        <a:t>2.5</a:t>
                      </a:r>
                      <a:r>
                        <a:rPr lang="zh-CN" altLang="en-US" sz="1400" u="none" strike="noStrike">
                          <a:effectLst/>
                        </a:rPr>
                        <a:t>的正态分布</a:t>
                      </a:r>
                      <a:endParaRPr lang="zh-CN" altLang="en-US" sz="1400" b="0" i="0" u="none" strike="noStrike">
                        <a:solidFill>
                          <a:srgbClr val="050E17"/>
                        </a:solidFill>
                        <a:effectLst/>
                        <a:latin typeface="Segoe UI" panose="020B0502040204020203" pitchFamily="34" charset="0"/>
                        <a:ea typeface="等线" panose="02010600030101010101" pitchFamily="2" charset="-122"/>
                      </a:endParaRPr>
                    </a:p>
                  </a:txBody>
                  <a:tcPr marL="2808" marR="2808" marT="2808" marB="0" anchor="ctr"/>
                </a:tc>
              </a:tr>
              <a:tr h="1661991">
                <a:tc>
                  <a:txBody>
                    <a:bodyPr/>
                    <a:lstStyle/>
                    <a:p>
                      <a:pPr algn="ctr" fontAlgn="ctr"/>
                      <a:r>
                        <a:rPr lang="en-US" sz="1400" u="none" strike="noStrike" dirty="0" err="1">
                          <a:solidFill>
                            <a:srgbClr val="577CCE"/>
                          </a:solidFill>
                          <a:effectLst/>
                        </a:rPr>
                        <a:t>randint</a:t>
                      </a:r>
                      <a:r>
                        <a:rPr lang="en-US" sz="1400" u="none" strike="noStrike" dirty="0">
                          <a:solidFill>
                            <a:srgbClr val="577CCE"/>
                          </a:solidFill>
                          <a:effectLst/>
                        </a:rPr>
                        <a:t>()</a:t>
                      </a:r>
                      <a:endParaRPr lang="en-US" sz="1400" b="0" i="0" u="none" strike="noStrike" dirty="0">
                        <a:solidFill>
                          <a:srgbClr val="577CCE"/>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a:effectLst/>
                        </a:rPr>
                        <a:t>low, high=None, size=None, dtype=int</a:t>
                      </a:r>
                      <a:endParaRPr lang="en-US" sz="1400" b="0" i="0" u="none" strike="noStrike">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zh-CN" altLang="en-US" sz="1400" u="none" strike="noStrike" dirty="0">
                          <a:effectLst/>
                        </a:rPr>
                        <a:t>生成随机整数或随机整数数组，生成数据的区间由参数指定</a:t>
                      </a:r>
                      <a:endParaRPr lang="zh-CN" altLang="en-US" sz="1400" b="0" i="0" u="none" strike="noStrike" dirty="0">
                        <a:solidFill>
                          <a:srgbClr val="050E17"/>
                        </a:solidFill>
                        <a:effectLst/>
                        <a:latin typeface="微软雅黑" panose="020B0503020204020204" charset="-122"/>
                        <a:ea typeface="微软雅黑" panose="020B0503020204020204" charset="-122"/>
                      </a:endParaRPr>
                    </a:p>
                  </a:txBody>
                  <a:tcPr marL="2808" marR="2808" marT="2808" marB="0" anchor="ctr"/>
                </a:tc>
                <a:tc>
                  <a:txBody>
                    <a:bodyPr/>
                    <a:lstStyle/>
                    <a:p>
                      <a:pPr algn="ctr" fontAlgn="ctr"/>
                      <a:r>
                        <a:rPr lang="zh-CN" altLang="en-US" sz="1400" u="none" strike="noStrike" dirty="0">
                          <a:effectLst/>
                        </a:rPr>
                        <a:t>只有</a:t>
                      </a:r>
                      <a:r>
                        <a:rPr lang="en-US" altLang="zh-CN" sz="1400" u="none" strike="noStrike" dirty="0">
                          <a:effectLst/>
                        </a:rPr>
                        <a:t>low</a:t>
                      </a:r>
                      <a:r>
                        <a:rPr lang="zh-CN" altLang="en-US" sz="1400" u="none" strike="noStrike" dirty="0">
                          <a:effectLst/>
                        </a:rPr>
                        <a:t>参数表示得到的随机整数区间为</a:t>
                      </a:r>
                      <a:r>
                        <a:rPr lang="en-US" altLang="zh-CN" sz="1400" u="none" strike="noStrike" dirty="0">
                          <a:effectLst/>
                        </a:rPr>
                        <a:t>[0, low)</a:t>
                      </a:r>
                      <a:r>
                        <a:rPr lang="zh-CN" altLang="en-US" sz="1400" u="none" strike="noStrike" dirty="0">
                          <a:effectLst/>
                        </a:rPr>
                        <a:t>。同时指定</a:t>
                      </a:r>
                      <a:r>
                        <a:rPr lang="en-US" altLang="zh-CN" sz="1400" u="none" strike="noStrike" dirty="0">
                          <a:effectLst/>
                        </a:rPr>
                        <a:t>low</a:t>
                      </a:r>
                      <a:r>
                        <a:rPr lang="zh-CN" altLang="en-US" sz="1400" u="none" strike="noStrike" dirty="0">
                          <a:effectLst/>
                        </a:rPr>
                        <a:t>和</a:t>
                      </a:r>
                      <a:r>
                        <a:rPr lang="en-US" altLang="zh-CN" sz="1400" u="none" strike="noStrike" dirty="0">
                          <a:effectLst/>
                        </a:rPr>
                        <a:t>high</a:t>
                      </a:r>
                      <a:r>
                        <a:rPr lang="zh-CN" altLang="en-US" sz="1400" u="none" strike="noStrike" dirty="0">
                          <a:effectLst/>
                        </a:rPr>
                        <a:t>参数时，随机整数区间为</a:t>
                      </a:r>
                      <a:r>
                        <a:rPr lang="en-US" altLang="zh-CN" sz="1400" u="none" strike="noStrike" dirty="0">
                          <a:effectLst/>
                        </a:rPr>
                        <a:t>[low, high)</a:t>
                      </a:r>
                      <a:r>
                        <a:rPr lang="zh-CN" altLang="en-US" sz="1400" u="none" strike="noStrike" dirty="0">
                          <a:effectLst/>
                        </a:rPr>
                        <a:t>。不指定</a:t>
                      </a:r>
                      <a:r>
                        <a:rPr lang="en-US" altLang="zh-CN" sz="1400" u="none" strike="noStrike" dirty="0">
                          <a:effectLst/>
                        </a:rPr>
                        <a:t>size</a:t>
                      </a:r>
                      <a:r>
                        <a:rPr lang="zh-CN" altLang="en-US" sz="1400" u="none" strike="noStrike" dirty="0">
                          <a:effectLst/>
                        </a:rPr>
                        <a:t>时得到一个随机数，指定</a:t>
                      </a:r>
                      <a:r>
                        <a:rPr lang="en-US" altLang="zh-CN" sz="1400" u="none" strike="noStrike" dirty="0">
                          <a:effectLst/>
                        </a:rPr>
                        <a:t>size</a:t>
                      </a:r>
                      <a:r>
                        <a:rPr lang="zh-CN" altLang="en-US" sz="1400" u="none" strike="noStrike" dirty="0">
                          <a:effectLst/>
                        </a:rPr>
                        <a:t>时得到对应</a:t>
                      </a:r>
                      <a:r>
                        <a:rPr lang="en-US" altLang="zh-CN" sz="1400" u="none" strike="noStrike" dirty="0">
                          <a:effectLst/>
                        </a:rPr>
                        <a:t>shape</a:t>
                      </a:r>
                      <a:r>
                        <a:rPr lang="zh-CN" altLang="en-US" sz="1400" u="none" strike="noStrike" dirty="0">
                          <a:effectLst/>
                        </a:rPr>
                        <a:t>的数组</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c>
                  <a:txBody>
                    <a:bodyPr/>
                    <a:lstStyle/>
                    <a:p>
                      <a:pPr algn="ctr" fontAlgn="ctr"/>
                      <a:r>
                        <a:rPr lang="en-US" sz="1400" u="none" strike="noStrike" dirty="0" err="1">
                          <a:effectLst/>
                        </a:rPr>
                        <a:t>np.random.randint</a:t>
                      </a:r>
                      <a:r>
                        <a:rPr lang="en-US" sz="1400" u="none" strike="noStrike" dirty="0">
                          <a:effectLst/>
                        </a:rPr>
                        <a:t>(10)，</a:t>
                      </a:r>
                      <a:r>
                        <a:rPr lang="zh-CN" altLang="en-US" sz="1400" u="none" strike="noStrike" dirty="0">
                          <a:effectLst/>
                        </a:rPr>
                        <a:t>得到</a:t>
                      </a:r>
                      <a:r>
                        <a:rPr lang="en-US" altLang="zh-CN" sz="1400" u="none" strike="noStrike" dirty="0">
                          <a:effectLst/>
                        </a:rPr>
                        <a:t>[0, 10)</a:t>
                      </a:r>
                      <a:r>
                        <a:rPr lang="zh-CN" altLang="en-US" sz="1400" u="none" strike="noStrike" dirty="0">
                          <a:effectLst/>
                        </a:rPr>
                        <a:t>之间的随机整数值。</a:t>
                      </a:r>
                      <a:r>
                        <a:rPr lang="en-US" sz="1400" u="none" strike="noStrike" dirty="0" err="1">
                          <a:effectLst/>
                        </a:rPr>
                        <a:t>np.random.randint</a:t>
                      </a:r>
                      <a:r>
                        <a:rPr lang="en-US" sz="1400" u="none" strike="noStrike" dirty="0">
                          <a:effectLst/>
                        </a:rPr>
                        <a:t>(10, 100)，</a:t>
                      </a:r>
                      <a:r>
                        <a:rPr lang="zh-CN" altLang="en-US" sz="1400" u="none" strike="noStrike" dirty="0">
                          <a:effectLst/>
                        </a:rPr>
                        <a:t>得到</a:t>
                      </a:r>
                      <a:r>
                        <a:rPr lang="en-US" altLang="zh-CN" sz="1400" u="none" strike="noStrike" dirty="0">
                          <a:effectLst/>
                        </a:rPr>
                        <a:t>[10, 100)</a:t>
                      </a:r>
                      <a:r>
                        <a:rPr lang="zh-CN" altLang="en-US" sz="1400" u="none" strike="noStrike" dirty="0">
                          <a:effectLst/>
                        </a:rPr>
                        <a:t>之间的随机整数值。</a:t>
                      </a:r>
                      <a:r>
                        <a:rPr lang="en-US" sz="1400" u="none" strike="noStrike" dirty="0" err="1">
                          <a:effectLst/>
                        </a:rPr>
                        <a:t>np.random.randint</a:t>
                      </a:r>
                      <a:r>
                        <a:rPr lang="en-US" sz="1400" u="none" strike="noStrike" dirty="0">
                          <a:effectLst/>
                        </a:rPr>
                        <a:t>(101, 1000, (3, 2), </a:t>
                      </a:r>
                      <a:r>
                        <a:rPr lang="en-US" sz="1400" u="none" strike="noStrike" dirty="0" err="1">
                          <a:effectLst/>
                        </a:rPr>
                        <a:t>dtype</a:t>
                      </a:r>
                      <a:r>
                        <a:rPr lang="en-US" sz="1400" u="none" strike="noStrike" dirty="0">
                          <a:effectLst/>
                        </a:rPr>
                        <a:t>=np.int32)，</a:t>
                      </a:r>
                      <a:r>
                        <a:rPr lang="zh-CN" altLang="en-US" sz="1400" u="none" strike="noStrike" dirty="0">
                          <a:effectLst/>
                        </a:rPr>
                        <a:t>得到</a:t>
                      </a:r>
                      <a:r>
                        <a:rPr lang="en-US" altLang="zh-CN" sz="1400" u="none" strike="noStrike" dirty="0">
                          <a:effectLst/>
                        </a:rPr>
                        <a:t>2</a:t>
                      </a:r>
                      <a:r>
                        <a:rPr lang="zh-CN" altLang="en-US" sz="1400" u="none" strike="noStrike" dirty="0">
                          <a:effectLst/>
                        </a:rPr>
                        <a:t>行</a:t>
                      </a:r>
                      <a:r>
                        <a:rPr lang="en-US" altLang="zh-CN" sz="1400" u="none" strike="noStrike" dirty="0">
                          <a:effectLst/>
                        </a:rPr>
                        <a:t>3</a:t>
                      </a:r>
                      <a:r>
                        <a:rPr lang="zh-CN" altLang="en-US" sz="1400" u="none" strike="noStrike" dirty="0">
                          <a:effectLst/>
                        </a:rPr>
                        <a:t>列的二维数组，所有元素为</a:t>
                      </a:r>
                      <a:r>
                        <a:rPr lang="en-US" altLang="zh-CN" sz="1400" u="none" strike="noStrike" dirty="0">
                          <a:effectLst/>
                        </a:rPr>
                        <a:t>101~999</a:t>
                      </a:r>
                      <a:r>
                        <a:rPr lang="zh-CN" altLang="en-US" sz="1400" u="none" strike="noStrike" dirty="0">
                          <a:effectLst/>
                        </a:rPr>
                        <a:t>的随机整数。</a:t>
                      </a:r>
                      <a:endParaRPr lang="zh-CN" altLang="en-US" sz="1400" b="0" i="0" u="none" strike="noStrike" dirty="0">
                        <a:solidFill>
                          <a:srgbClr val="050E17"/>
                        </a:solidFill>
                        <a:effectLst/>
                        <a:latin typeface="Segoe UI" panose="020B0502040204020203" pitchFamily="34" charset="0"/>
                        <a:ea typeface="等线" panose="02010600030101010101" pitchFamily="2" charset="-122"/>
                      </a:endParaRPr>
                    </a:p>
                  </a:txBody>
                  <a:tcPr marL="2808" marR="2808" marT="2808" marB="0" anchor="ctr"/>
                </a:tc>
              </a:tr>
            </a:tbl>
          </a:graphicData>
        </a:graphic>
      </p:graphicFrame>
      <p:sp>
        <p:nvSpPr>
          <p:cNvPr id="2" name="文本框 1"/>
          <p:cNvSpPr txBox="1"/>
          <p:nvPr/>
        </p:nvSpPr>
        <p:spPr>
          <a:xfrm>
            <a:off x="10251347" y="1257300"/>
            <a:ext cx="1728132" cy="338554"/>
          </a:xfrm>
          <a:prstGeom prst="rect">
            <a:avLst/>
          </a:prstGeom>
          <a:noFill/>
        </p:spPr>
        <p:txBody>
          <a:bodyPr wrap="square" rtlCol="0">
            <a:spAutoFit/>
          </a:bodyPr>
          <a:lstStyle/>
          <a:p>
            <a:r>
              <a:rPr lang="zh-CN" altLang="en-US" sz="1600" dirty="0"/>
              <a:t>教材</a:t>
            </a:r>
            <a:r>
              <a:rPr lang="en-US" altLang="zh-CN" sz="1600" dirty="0"/>
              <a:t>p18 </a:t>
            </a:r>
            <a:r>
              <a:rPr lang="zh-CN" altLang="en-US" sz="1600" dirty="0"/>
              <a:t>表</a:t>
            </a:r>
            <a:r>
              <a:rPr lang="en-US" altLang="zh-CN" sz="1600" dirty="0"/>
              <a:t>2-1</a:t>
            </a:r>
            <a:endParaRPr lang="zh-CN" altLang="en-US" sz="1600" dirty="0"/>
          </a:p>
        </p:txBody>
      </p:sp>
    </p:spTree>
    <p:custDataLst>
      <p:tags r:id="rId1"/>
    </p:custData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2" name="文本框 1"/>
          <p:cNvSpPr txBox="1"/>
          <p:nvPr/>
        </p:nvSpPr>
        <p:spPr>
          <a:xfrm>
            <a:off x="616937" y="1748915"/>
            <a:ext cx="10344784" cy="369332"/>
          </a:xfrm>
          <a:prstGeom prst="rect">
            <a:avLst/>
          </a:prstGeom>
          <a:noFill/>
        </p:spPr>
        <p:txBody>
          <a:bodyPr wrap="square">
            <a:spAutoFit/>
          </a:bodyPr>
          <a:lstStyle/>
          <a:p>
            <a:r>
              <a:rPr lang="zh-CN" altLang="en-US" b="0" i="0" dirty="0">
                <a:solidFill>
                  <a:srgbClr val="050E17"/>
                </a:solidFill>
                <a:effectLst/>
                <a:latin typeface="-apple-system"/>
              </a:rPr>
              <a:t>下面给出以上函数的一些示例：</a:t>
            </a:r>
            <a:endParaRPr lang="en-US" altLang="zh-CN" b="0" i="0" dirty="0">
              <a:solidFill>
                <a:srgbClr val="141718"/>
              </a:solidFill>
              <a:effectLst/>
              <a:latin typeface="__Karla_fd2630"/>
            </a:endParaRPr>
          </a:p>
        </p:txBody>
      </p:sp>
      <p:sp>
        <p:nvSpPr>
          <p:cNvPr id="5" name="文本框 4"/>
          <p:cNvSpPr txBox="1"/>
          <p:nvPr/>
        </p:nvSpPr>
        <p:spPr>
          <a:xfrm>
            <a:off x="608548" y="2118247"/>
            <a:ext cx="11820088" cy="4247317"/>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random</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[0,1)</a:t>
            </a:r>
            <a:r>
              <a:rPr lang="zh-CN" altLang="en-US" b="0" dirty="0">
                <a:solidFill>
                  <a:srgbClr val="6A737D"/>
                </a:solidFill>
                <a:effectLst/>
                <a:latin typeface="Consolas" panose="020B0609020204030204" pitchFamily="49" charset="0"/>
              </a:rPr>
              <a:t>区间的 </a:t>
            </a:r>
            <a:r>
              <a:rPr lang="en-US" altLang="zh-CN" b="0" dirty="0">
                <a:solidFill>
                  <a:srgbClr val="6A737D"/>
                </a:solidFill>
                <a:effectLst/>
                <a:latin typeface="Consolas" panose="020B0609020204030204" pitchFamily="49" charset="0"/>
              </a:rPr>
              <a:t>float </a:t>
            </a:r>
            <a:r>
              <a:rPr lang="zh-CN" altLang="en-US" b="0" dirty="0">
                <a:solidFill>
                  <a:srgbClr val="6A737D"/>
                </a:solidFill>
                <a:effectLst/>
                <a:latin typeface="Consolas" panose="020B0609020204030204" pitchFamily="49" charset="0"/>
              </a:rPr>
              <a:t>类型随机数</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0.7649613284988475</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列的随机浮点数二维数组，注意参数的写法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0.21869375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0.15448782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0.98756561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0.27233177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0.81299766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0.6891897</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random.random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列的随机浮点数二维数组，注意参数的写法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0.22885443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0.30357973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0.88637888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0.15283113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0.29558017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0.38475294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列的随机浮点数二维数组，注意元素值的分布</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1.18475155</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0.40440237</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0.77900335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0.23840455</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0.56050589</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0.28982014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random.normal</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3.5</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列的二维数组，注意元素值的分布</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11.65963006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12.9882036</a:t>
            </a: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11.65333199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11.47559376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10.89147097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5.25113201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7" name="文本框 6"/>
          <p:cNvSpPr txBox="1"/>
          <p:nvPr/>
        </p:nvSpPr>
        <p:spPr>
          <a:xfrm>
            <a:off x="658535" y="1593705"/>
            <a:ext cx="10851159" cy="2585323"/>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生成一个值在</a:t>
            </a:r>
            <a:r>
              <a:rPr lang="en-US" altLang="zh-CN" b="0" dirty="0">
                <a:solidFill>
                  <a:srgbClr val="6A737D"/>
                </a:solidFill>
                <a:effectLst/>
                <a:latin typeface="Consolas" panose="020B0609020204030204" pitchFamily="49" charset="0"/>
              </a:rPr>
              <a:t>[0,13)</a:t>
            </a:r>
            <a:r>
              <a:rPr lang="zh-CN" altLang="en-US" b="0" dirty="0">
                <a:solidFill>
                  <a:srgbClr val="6A737D"/>
                </a:solidFill>
                <a:effectLst/>
                <a:latin typeface="Consolas" panose="020B0609020204030204" pitchFamily="49" charset="0"/>
              </a:rPr>
              <a:t>区间的随机整数</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10</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生成一个值在</a:t>
            </a:r>
            <a:r>
              <a:rPr lang="en-US" altLang="zh-CN" b="0" dirty="0">
                <a:solidFill>
                  <a:srgbClr val="6A737D"/>
                </a:solidFill>
                <a:effectLst/>
                <a:latin typeface="Consolas" panose="020B0609020204030204" pitchFamily="49" charset="0"/>
              </a:rPr>
              <a:t>[2,13)</a:t>
            </a:r>
            <a:r>
              <a:rPr lang="zh-CN" altLang="en-US" b="0" dirty="0">
                <a:solidFill>
                  <a:srgbClr val="6A737D"/>
                </a:solidFill>
                <a:effectLst/>
                <a:latin typeface="Consolas" panose="020B0609020204030204" pitchFamily="49" charset="0"/>
              </a:rPr>
              <a:t>区间的随机整数</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9</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生成一个含有</a:t>
            </a:r>
            <a:r>
              <a:rPr lang="en-US" altLang="zh-CN" b="0" dirty="0">
                <a:solidFill>
                  <a:srgbClr val="6A737D"/>
                </a:solidFill>
                <a:effectLst/>
                <a:latin typeface="Consolas" panose="020B0609020204030204" pitchFamily="49" charset="0"/>
              </a:rPr>
              <a:t>10</a:t>
            </a:r>
            <a:r>
              <a:rPr lang="zh-CN" altLang="en-US" b="0" dirty="0">
                <a:solidFill>
                  <a:srgbClr val="6A737D"/>
                </a:solidFill>
                <a:effectLst/>
                <a:latin typeface="Consolas" panose="020B0609020204030204" pitchFamily="49" charset="0"/>
              </a:rPr>
              <a:t>个元素值在</a:t>
            </a:r>
            <a:r>
              <a:rPr lang="en-US" altLang="zh-CN" b="0" dirty="0">
                <a:solidFill>
                  <a:srgbClr val="6A737D"/>
                </a:solidFill>
                <a:effectLst/>
                <a:latin typeface="Consolas" panose="020B0609020204030204" pitchFamily="49" charset="0"/>
              </a:rPr>
              <a:t>[0,10)</a:t>
            </a:r>
            <a:r>
              <a:rPr lang="zh-CN" altLang="en-US" b="0" dirty="0">
                <a:solidFill>
                  <a:srgbClr val="6A737D"/>
                </a:solidFill>
                <a:effectLst/>
                <a:latin typeface="Consolas" panose="020B0609020204030204" pitchFamily="49" charset="0"/>
              </a:rPr>
              <a:t>区间的一维数组</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列的随机整数二维数组</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2" name="文本框 1"/>
          <p:cNvSpPr txBox="1"/>
          <p:nvPr/>
        </p:nvSpPr>
        <p:spPr>
          <a:xfrm>
            <a:off x="616937" y="1748915"/>
            <a:ext cx="10344784" cy="369332"/>
          </a:xfrm>
          <a:prstGeom prst="rect">
            <a:avLst/>
          </a:prstGeom>
          <a:noFill/>
        </p:spPr>
        <p:txBody>
          <a:bodyPr wrap="square">
            <a:spAutoFit/>
          </a:bodyPr>
          <a:lstStyle/>
          <a:p>
            <a:r>
              <a:rPr lang="zh-CN" altLang="en-US" b="0" i="0" dirty="0">
                <a:solidFill>
                  <a:srgbClr val="050E17"/>
                </a:solidFill>
                <a:effectLst/>
                <a:latin typeface="-apple-system"/>
              </a:rPr>
              <a:t>下面给出以上函数的一些示例：</a:t>
            </a:r>
            <a:endParaRPr lang="en-US" altLang="zh-CN" b="0" i="0" dirty="0">
              <a:solidFill>
                <a:srgbClr val="141718"/>
              </a:solidFill>
              <a:effectLst/>
              <a:latin typeface="__Karla_fd2630"/>
            </a:endParaRPr>
          </a:p>
        </p:txBody>
      </p:sp>
      <p:sp>
        <p:nvSpPr>
          <p:cNvPr id="5" name="文本框 4"/>
          <p:cNvSpPr txBox="1"/>
          <p:nvPr/>
        </p:nvSpPr>
        <p:spPr>
          <a:xfrm>
            <a:off x="608548" y="2118247"/>
            <a:ext cx="11820088" cy="4247317"/>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random</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[0,1)</a:t>
            </a:r>
            <a:r>
              <a:rPr lang="zh-CN" altLang="en-US" b="0" dirty="0">
                <a:solidFill>
                  <a:srgbClr val="6A737D"/>
                </a:solidFill>
                <a:effectLst/>
                <a:latin typeface="Consolas" panose="020B0609020204030204" pitchFamily="49" charset="0"/>
              </a:rPr>
              <a:t>区间的 </a:t>
            </a:r>
            <a:r>
              <a:rPr lang="en-US" altLang="zh-CN" b="0" dirty="0">
                <a:solidFill>
                  <a:srgbClr val="6A737D"/>
                </a:solidFill>
                <a:effectLst/>
                <a:latin typeface="Consolas" panose="020B0609020204030204" pitchFamily="49" charset="0"/>
              </a:rPr>
              <a:t>float </a:t>
            </a:r>
            <a:r>
              <a:rPr lang="zh-CN" altLang="en-US" b="0" dirty="0">
                <a:solidFill>
                  <a:srgbClr val="6A737D"/>
                </a:solidFill>
                <a:effectLst/>
                <a:latin typeface="Consolas" panose="020B0609020204030204" pitchFamily="49" charset="0"/>
              </a:rPr>
              <a:t>类型随机数</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0.7649613284988475</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列的随机浮点数二维数组，注意参数的写法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0.21869375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0.15448782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0.98756561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0.27233177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0.81299766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0.6891897</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random.random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列的随机浮点数二维数组，注意参数的写法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0.22885443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0.30357973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0.88637888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0.15283113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0.29558017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0.38475294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列的随机浮点数二维数组，注意元素值的分布</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1.18475155</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0.40440237</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0.77900335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0.23840455</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0.56050589</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0.28982014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random.normal</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3.5</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列的二维数组，注意元素值的分布</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11.65963006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12.9882036</a:t>
            </a: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11.65333199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11.47559376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10.89147097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5.25113201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(6) </a:t>
            </a:r>
            <a:r>
              <a:rPr lang="zh-CN" altLang="en-US" b="0" i="0" dirty="0">
                <a:solidFill>
                  <a:srgbClr val="050E17"/>
                </a:solidFill>
                <a:effectLst/>
                <a:latin typeface="-apple-system"/>
              </a:rPr>
              <a:t>生成随机数据</a:t>
            </a:r>
            <a:endParaRPr lang="en-US" altLang="zh-CN" b="0" i="0" dirty="0">
              <a:solidFill>
                <a:srgbClr val="141718"/>
              </a:solidFill>
              <a:effectLst/>
              <a:latin typeface="__Karla_fd2630"/>
            </a:endParaRPr>
          </a:p>
        </p:txBody>
      </p:sp>
      <p:sp>
        <p:nvSpPr>
          <p:cNvPr id="9" name="文本框 8"/>
          <p:cNvSpPr txBox="1"/>
          <p:nvPr/>
        </p:nvSpPr>
        <p:spPr>
          <a:xfrm>
            <a:off x="975219" y="2176913"/>
            <a:ext cx="10715765" cy="646331"/>
          </a:xfrm>
          <a:prstGeom prst="rect">
            <a:avLst/>
          </a:prstGeom>
          <a:noFill/>
        </p:spPr>
        <p:txBody>
          <a:bodyPr wrap="square">
            <a:spAutoFit/>
          </a:bodyPr>
          <a:lstStyle/>
          <a:p>
            <a:r>
              <a:rPr lang="zh-CN" altLang="en-US" b="0" i="0" dirty="0">
                <a:solidFill>
                  <a:srgbClr val="050E17"/>
                </a:solidFill>
                <a:effectLst/>
                <a:latin typeface="-apple-system"/>
              </a:rPr>
              <a:t>随机数是通过伪随机序列来生成的，通常使用随机数种子控制伪随机序列的值。对于同一代码，若设置随机数种子相同，则无论在什么环境下何时执行，得到的随机序列都是相同的。</a:t>
            </a:r>
            <a:endParaRPr lang="zh-CN" altLang="en-US" dirty="0"/>
          </a:p>
        </p:txBody>
      </p:sp>
      <p:sp>
        <p:nvSpPr>
          <p:cNvPr id="4" name="文本框 3"/>
          <p:cNvSpPr txBox="1"/>
          <p:nvPr/>
        </p:nvSpPr>
        <p:spPr>
          <a:xfrm>
            <a:off x="975219" y="2981972"/>
            <a:ext cx="6094602" cy="369332"/>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np.random.seed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设置随机数种子为</a:t>
            </a:r>
            <a:r>
              <a:rPr lang="en-US" altLang="zh-CN" b="0" dirty="0">
                <a:solidFill>
                  <a:srgbClr val="6A737D"/>
                </a:solidFill>
                <a:effectLst/>
                <a:latin typeface="Consolas" panose="020B0609020204030204" pitchFamily="49" charset="0"/>
              </a:rPr>
              <a:t>0</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975218" y="3621218"/>
            <a:ext cx="10715765" cy="369332"/>
          </a:xfrm>
          <a:prstGeom prst="rect">
            <a:avLst/>
          </a:prstGeom>
          <a:noFill/>
        </p:spPr>
        <p:txBody>
          <a:bodyPr wrap="square">
            <a:spAutoFit/>
          </a:bodyPr>
          <a:lstStyle/>
          <a:p>
            <a:r>
              <a:rPr lang="zh-CN" altLang="en-US" dirty="0"/>
              <a:t>对于更详细的信息，可以使用</a:t>
            </a:r>
            <a:r>
              <a:rPr lang="en-US" altLang="zh-CN" dirty="0" err="1"/>
              <a:t>dir</a:t>
            </a:r>
            <a:r>
              <a:rPr lang="en-US" altLang="zh-CN" dirty="0"/>
              <a:t> </a:t>
            </a:r>
            <a:r>
              <a:rPr lang="zh-CN" altLang="en-US" dirty="0"/>
              <a:t>和 </a:t>
            </a:r>
            <a:r>
              <a:rPr lang="en-US" altLang="zh-CN" dirty="0"/>
              <a:t>help </a:t>
            </a:r>
            <a:r>
              <a:rPr lang="zh-CN" altLang="en-US" dirty="0"/>
              <a:t>函数查看 </a:t>
            </a:r>
            <a:r>
              <a:rPr lang="en-US" altLang="zh-CN" dirty="0"/>
              <a:t>Python</a:t>
            </a:r>
            <a:r>
              <a:rPr lang="zh-CN" altLang="en-US" dirty="0"/>
              <a:t>包、模块或类中所有的成员属性和函数。</a:t>
            </a:r>
            <a:endParaRPr lang="zh-CN" altLang="en-US" dirty="0"/>
          </a:p>
        </p:txBody>
      </p:sp>
      <p:sp>
        <p:nvSpPr>
          <p:cNvPr id="8" name="文本框 7"/>
          <p:cNvSpPr txBox="1"/>
          <p:nvPr/>
        </p:nvSpPr>
        <p:spPr>
          <a:xfrm>
            <a:off x="975218" y="4149278"/>
            <a:ext cx="10559644"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dir</a:t>
            </a:r>
            <a:r>
              <a:rPr lang="en-US" altLang="zh-CN" b="0" dirty="0">
                <a:solidFill>
                  <a:srgbClr val="24292E"/>
                </a:solidFill>
                <a:effectLst/>
                <a:latin typeface="Consolas" panose="020B0609020204030204" pitchFamily="49" charset="0"/>
              </a:rPr>
              <a:t>(random)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查看 </a:t>
            </a:r>
            <a:r>
              <a:rPr lang="en-US" altLang="zh-CN" b="0" dirty="0">
                <a:solidFill>
                  <a:srgbClr val="6A737D"/>
                </a:solidFill>
                <a:effectLst/>
                <a:latin typeface="Consolas" panose="020B0609020204030204" pitchFamily="49" charset="0"/>
              </a:rPr>
              <a:t>random </a:t>
            </a:r>
            <a:r>
              <a:rPr lang="zh-CN" altLang="en-US" b="0" dirty="0">
                <a:solidFill>
                  <a:srgbClr val="6A737D"/>
                </a:solidFill>
                <a:effectLst/>
                <a:latin typeface="Consolas" panose="020B0609020204030204" pitchFamily="49" charset="0"/>
              </a:rPr>
              <a:t>提供的所有属性和函数</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help</a:t>
            </a:r>
            <a:r>
              <a:rPr lang="en-US" altLang="zh-CN" b="0" dirty="0">
                <a:solidFill>
                  <a:srgbClr val="24292E"/>
                </a:solidFill>
                <a:effectLst/>
                <a:latin typeface="Consolas" panose="020B0609020204030204" pitchFamily="49" charset="0"/>
              </a:rPr>
              <a:t>(random)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查看 </a:t>
            </a:r>
            <a:r>
              <a:rPr lang="en-US" altLang="zh-CN" b="0" dirty="0">
                <a:solidFill>
                  <a:srgbClr val="6A737D"/>
                </a:solidFill>
                <a:effectLst/>
                <a:latin typeface="Consolas" panose="020B0609020204030204" pitchFamily="49" charset="0"/>
              </a:rPr>
              <a:t>random </a:t>
            </a:r>
            <a:r>
              <a:rPr lang="zh-CN" altLang="en-US" b="0" dirty="0">
                <a:solidFill>
                  <a:srgbClr val="6A737D"/>
                </a:solidFill>
                <a:effectLst/>
                <a:latin typeface="Consolas" panose="020B0609020204030204" pitchFamily="49" charset="0"/>
              </a:rPr>
              <a:t>包的帮助说明</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help</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random.random_integers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 </a:t>
            </a:r>
            <a:r>
              <a:rPr lang="en-US" altLang="zh-CN" b="0" dirty="0" err="1">
                <a:solidFill>
                  <a:srgbClr val="6A737D"/>
                </a:solidFill>
                <a:effectLst/>
                <a:latin typeface="Consolas" panose="020B0609020204030204" pitchFamily="49" charset="0"/>
              </a:rPr>
              <a:t>random.random_integers</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函数的帮助说明</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(7) </a:t>
            </a:r>
            <a:r>
              <a:rPr lang="en-US" altLang="zh-CN" b="0" i="0" dirty="0" err="1">
                <a:solidFill>
                  <a:srgbClr val="050E17"/>
                </a:solidFill>
                <a:effectLst/>
                <a:latin typeface="-apple-system"/>
              </a:rPr>
              <a:t>np.reshape</a:t>
            </a:r>
            <a:r>
              <a:rPr lang="en-US" altLang="zh-CN" b="0" i="0" dirty="0">
                <a:solidFill>
                  <a:srgbClr val="050E17"/>
                </a:solidFill>
                <a:effectLst/>
                <a:latin typeface="-apple-system"/>
              </a:rPr>
              <a:t>()</a:t>
            </a:r>
            <a:endParaRPr lang="en-US" altLang="zh-CN" b="0" i="0" dirty="0">
              <a:solidFill>
                <a:srgbClr val="141718"/>
              </a:solidFill>
              <a:effectLst/>
              <a:latin typeface="__Karla_fd2630"/>
            </a:endParaRPr>
          </a:p>
        </p:txBody>
      </p:sp>
      <p:sp>
        <p:nvSpPr>
          <p:cNvPr id="9" name="文本框 8"/>
          <p:cNvSpPr txBox="1"/>
          <p:nvPr/>
        </p:nvSpPr>
        <p:spPr>
          <a:xfrm>
            <a:off x="975219" y="2176913"/>
            <a:ext cx="10715765" cy="646331"/>
          </a:xfrm>
          <a:prstGeom prst="rect">
            <a:avLst/>
          </a:prstGeom>
          <a:noFill/>
        </p:spPr>
        <p:txBody>
          <a:bodyPr wrap="square">
            <a:spAutoFit/>
          </a:bodyPr>
          <a:lstStyle/>
          <a:p>
            <a:r>
              <a:rPr lang="en-US" altLang="zh-CN" b="0" i="0" dirty="0" err="1">
                <a:solidFill>
                  <a:srgbClr val="050E17"/>
                </a:solidFill>
                <a:effectLst/>
                <a:latin typeface="-apple-system"/>
              </a:rPr>
              <a:t>np.reshape</a:t>
            </a:r>
            <a:r>
              <a:rPr lang="en-US" altLang="zh-CN" b="0" i="0" dirty="0">
                <a:solidFill>
                  <a:srgbClr val="050E17"/>
                </a:solidFill>
                <a:effectLst/>
                <a:latin typeface="-apple-system"/>
              </a:rPr>
              <a:t>() </a:t>
            </a:r>
            <a:r>
              <a:rPr lang="zh-CN" altLang="en-US" b="0" i="0" dirty="0">
                <a:solidFill>
                  <a:srgbClr val="050E17"/>
                </a:solidFill>
                <a:effectLst/>
                <a:latin typeface="-apple-system"/>
              </a:rPr>
              <a:t>函数可以将原数组的</a:t>
            </a:r>
            <a:r>
              <a:rPr lang="en-US" altLang="zh-CN" b="0" i="0" dirty="0">
                <a:solidFill>
                  <a:srgbClr val="050E17"/>
                </a:solidFill>
                <a:effectLst/>
                <a:latin typeface="-apple-system"/>
              </a:rPr>
              <a:t>shape</a:t>
            </a:r>
            <a:r>
              <a:rPr lang="zh-CN" altLang="en-US" b="0" i="0" dirty="0">
                <a:solidFill>
                  <a:srgbClr val="050E17"/>
                </a:solidFill>
                <a:effectLst/>
                <a:latin typeface="-apple-system"/>
              </a:rPr>
              <a:t>进行调整生成新的数组，但元素总数和各元素先后顺序保持不变。例如：</a:t>
            </a:r>
            <a:endParaRPr lang="zh-CN" altLang="en-US" dirty="0"/>
          </a:p>
        </p:txBody>
      </p:sp>
      <p:sp>
        <p:nvSpPr>
          <p:cNvPr id="10" name="文本框 9"/>
          <p:cNvSpPr txBox="1"/>
          <p:nvPr/>
        </p:nvSpPr>
        <p:spPr>
          <a:xfrm>
            <a:off x="258039" y="2981972"/>
            <a:ext cx="7031282" cy="2862322"/>
          </a:xfrm>
          <a:prstGeom prst="rect">
            <a:avLst/>
          </a:prstGeom>
          <a:noFill/>
          <a:ln>
            <a:solidFill>
              <a:srgbClr val="577CCE"/>
            </a:solidFill>
          </a:ln>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A.shape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np.reshape</a:t>
            </a:r>
            <a:r>
              <a:rPr lang="en-US" altLang="zh-CN" b="0" dirty="0">
                <a:solidFill>
                  <a:srgbClr val="24292E"/>
                </a:solidFill>
                <a:effectLst/>
                <a:latin typeface="Consolas" panose="020B0609020204030204" pitchFamily="49" charset="0"/>
              </a:rPr>
              <a:t>(A,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7420873" y="2823244"/>
            <a:ext cx="4513088" cy="3693319"/>
          </a:xfrm>
          <a:prstGeom prst="rect">
            <a:avLst/>
          </a:prstGeom>
          <a:noFill/>
          <a:ln>
            <a:solidFill>
              <a:srgbClr val="577CCE"/>
            </a:solidFill>
          </a:ln>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C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B.reshape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C</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B.reshape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(8) </a:t>
            </a:r>
            <a:r>
              <a:rPr lang="en-US" altLang="zh-CN" b="0" i="0" dirty="0" err="1">
                <a:solidFill>
                  <a:srgbClr val="050E17"/>
                </a:solidFill>
                <a:effectLst/>
                <a:latin typeface="-apple-system"/>
              </a:rPr>
              <a:t>np.tile</a:t>
            </a:r>
            <a:r>
              <a:rPr lang="en-US" altLang="zh-CN" b="0" i="0" dirty="0">
                <a:solidFill>
                  <a:srgbClr val="050E17"/>
                </a:solidFill>
                <a:effectLst/>
                <a:latin typeface="-apple-system"/>
              </a:rPr>
              <a:t>()</a:t>
            </a:r>
            <a:endParaRPr lang="en-US" altLang="zh-CN" b="0" i="0" dirty="0">
              <a:solidFill>
                <a:srgbClr val="141718"/>
              </a:solidFill>
              <a:effectLst/>
              <a:latin typeface="__Karla_fd2630"/>
            </a:endParaRPr>
          </a:p>
        </p:txBody>
      </p:sp>
      <p:sp>
        <p:nvSpPr>
          <p:cNvPr id="9" name="文本框 8"/>
          <p:cNvSpPr txBox="1"/>
          <p:nvPr/>
        </p:nvSpPr>
        <p:spPr>
          <a:xfrm>
            <a:off x="975219" y="2176913"/>
            <a:ext cx="10715765" cy="369332"/>
          </a:xfrm>
          <a:prstGeom prst="rect">
            <a:avLst/>
          </a:prstGeom>
          <a:noFill/>
        </p:spPr>
        <p:txBody>
          <a:bodyPr wrap="square">
            <a:spAutoFit/>
          </a:bodyPr>
          <a:lstStyle/>
          <a:p>
            <a:r>
              <a:rPr lang="en-US" altLang="zh-CN" b="0" i="0" dirty="0" err="1">
                <a:solidFill>
                  <a:srgbClr val="050E17"/>
                </a:solidFill>
                <a:effectLst/>
                <a:latin typeface="-apple-system"/>
              </a:rPr>
              <a:t>np.tile</a:t>
            </a:r>
            <a:r>
              <a:rPr lang="en-US" altLang="zh-CN" b="0" i="0" dirty="0">
                <a:solidFill>
                  <a:srgbClr val="050E17"/>
                </a:solidFill>
                <a:effectLst/>
                <a:latin typeface="-apple-system"/>
              </a:rPr>
              <a:t>() </a:t>
            </a:r>
            <a:r>
              <a:rPr lang="zh-CN" altLang="en-US" b="0" i="0" dirty="0">
                <a:solidFill>
                  <a:srgbClr val="050E17"/>
                </a:solidFill>
                <a:effectLst/>
                <a:latin typeface="-apple-system"/>
              </a:rPr>
              <a:t>函数可以将原数组在各个维度上进行重复，对数组进行扩展得到改变 </a:t>
            </a:r>
            <a:r>
              <a:rPr lang="en-US" altLang="zh-CN" b="0" i="0" dirty="0">
                <a:solidFill>
                  <a:srgbClr val="050E17"/>
                </a:solidFill>
                <a:effectLst/>
                <a:latin typeface="-apple-system"/>
              </a:rPr>
              <a:t>shape </a:t>
            </a:r>
            <a:r>
              <a:rPr lang="zh-CN" altLang="en-US" b="0" i="0" dirty="0">
                <a:solidFill>
                  <a:srgbClr val="050E17"/>
                </a:solidFill>
                <a:effectLst/>
                <a:latin typeface="-apple-system"/>
              </a:rPr>
              <a:t>的新数组。</a:t>
            </a:r>
            <a:endParaRPr lang="zh-CN" altLang="en-US" dirty="0"/>
          </a:p>
        </p:txBody>
      </p:sp>
      <p:sp>
        <p:nvSpPr>
          <p:cNvPr id="7" name="文本框 6"/>
          <p:cNvSpPr txBox="1"/>
          <p:nvPr/>
        </p:nvSpPr>
        <p:spPr>
          <a:xfrm>
            <a:off x="975219" y="2546245"/>
            <a:ext cx="11021038" cy="341632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 </a:t>
            </a:r>
            <a:r>
              <a:rPr lang="zh-CN" altLang="en-US" b="0" dirty="0">
                <a:solidFill>
                  <a:srgbClr val="6A737D"/>
                </a:solidFill>
                <a:effectLst/>
                <a:latin typeface="Consolas" panose="020B0609020204030204" pitchFamily="49" charset="0"/>
              </a:rPr>
              <a:t>是 </a:t>
            </a:r>
            <a:r>
              <a:rPr lang="en-US" altLang="zh-CN" b="0" dirty="0">
                <a:solidFill>
                  <a:srgbClr val="6A737D"/>
                </a:solidFill>
                <a:effectLst/>
                <a:latin typeface="Consolas" panose="020B0609020204030204" pitchFamily="49" charset="0"/>
              </a:rPr>
              <a:t>shape </a:t>
            </a:r>
            <a:r>
              <a:rPr lang="zh-CN" altLang="en-US" b="0" dirty="0">
                <a:solidFill>
                  <a:srgbClr val="6A737D"/>
                </a:solidFill>
                <a:effectLst/>
                <a:latin typeface="Consolas" panose="020B0609020204030204" pitchFamily="49" charset="0"/>
              </a:rPr>
              <a:t>为 </a:t>
            </a:r>
            <a:r>
              <a:rPr lang="en-US" altLang="zh-CN" b="0" dirty="0">
                <a:solidFill>
                  <a:srgbClr val="6A737D"/>
                </a:solidFill>
                <a:effectLst/>
                <a:latin typeface="Consolas" panose="020B0609020204030204" pitchFamily="49" charset="0"/>
              </a:rPr>
              <a:t>(3,) </a:t>
            </a:r>
            <a:r>
              <a:rPr lang="zh-CN" altLang="en-US" b="0" dirty="0">
                <a:solidFill>
                  <a:srgbClr val="6A737D"/>
                </a:solidFill>
                <a:effectLst/>
                <a:latin typeface="Consolas" panose="020B0609020204030204" pitchFamily="49" charset="0"/>
              </a:rPr>
              <a:t>的一维数组</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np.tile</a:t>
            </a:r>
            <a:r>
              <a:rPr lang="en-US" altLang="zh-CN" b="0" dirty="0">
                <a:solidFill>
                  <a:srgbClr val="24292E"/>
                </a:solidFill>
                <a:effectLst/>
                <a:latin typeface="Consolas" panose="020B0609020204030204" pitchFamily="49" charset="0"/>
              </a:rPr>
              <a:t>(a,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所有元素重复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次，得到 </a:t>
            </a:r>
            <a:r>
              <a:rPr lang="en-US" altLang="zh-CN" b="0" dirty="0">
                <a:solidFill>
                  <a:srgbClr val="6A737D"/>
                </a:solidFill>
                <a:effectLst/>
                <a:latin typeface="Consolas" panose="020B0609020204030204" pitchFamily="49" charset="0"/>
              </a:rPr>
              <a:t>shape </a:t>
            </a:r>
            <a:r>
              <a:rPr lang="zh-CN" altLang="en-US" b="0" dirty="0">
                <a:solidFill>
                  <a:srgbClr val="6A737D"/>
                </a:solidFill>
                <a:effectLst/>
                <a:latin typeface="Consolas" panose="020B0609020204030204" pitchFamily="49" charset="0"/>
              </a:rPr>
              <a:t>为 </a:t>
            </a:r>
            <a:r>
              <a:rPr lang="en-US" altLang="zh-CN" b="0" dirty="0">
                <a:solidFill>
                  <a:srgbClr val="6A737D"/>
                </a:solidFill>
                <a:effectLst/>
                <a:latin typeface="Consolas" panose="020B0609020204030204" pitchFamily="49" charset="0"/>
              </a:rPr>
              <a:t>(12,) </a:t>
            </a:r>
            <a:r>
              <a:rPr lang="zh-CN" altLang="en-US" b="0" dirty="0">
                <a:solidFill>
                  <a:srgbClr val="6A737D"/>
                </a:solidFill>
                <a:effectLst/>
                <a:latin typeface="Consolas" panose="020B0609020204030204" pitchFamily="49" charset="0"/>
              </a:rPr>
              <a:t>的一维数组</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c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np.tile</a:t>
            </a:r>
            <a:r>
              <a:rPr lang="en-US" altLang="zh-CN" b="0" dirty="0">
                <a:solidFill>
                  <a:srgbClr val="24292E"/>
                </a:solidFill>
                <a:effectLst/>
                <a:latin typeface="Consolas" panose="020B0609020204030204" pitchFamily="49" charset="0"/>
              </a:rPr>
              <a:t>(a,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每行重复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次得到 </a:t>
            </a:r>
            <a:r>
              <a:rPr lang="en-US" altLang="zh-CN" b="0" dirty="0">
                <a:solidFill>
                  <a:srgbClr val="6A737D"/>
                </a:solidFill>
                <a:effectLst/>
                <a:latin typeface="Consolas" panose="020B0609020204030204" pitchFamily="49" charset="0"/>
              </a:rPr>
              <a:t>shape </a:t>
            </a:r>
            <a:r>
              <a:rPr lang="zh-CN" altLang="en-US" b="0" dirty="0">
                <a:solidFill>
                  <a:srgbClr val="6A737D"/>
                </a:solidFill>
                <a:effectLst/>
                <a:latin typeface="Consolas" panose="020B0609020204030204" pitchFamily="49" charset="0"/>
              </a:rPr>
              <a:t>为 </a:t>
            </a:r>
            <a:r>
              <a:rPr lang="en-US" altLang="zh-CN" b="0" dirty="0">
                <a:solidFill>
                  <a:srgbClr val="6A737D"/>
                </a:solidFill>
                <a:effectLst/>
                <a:latin typeface="Consolas" panose="020B0609020204030204" pitchFamily="49" charset="0"/>
              </a:rPr>
              <a:t>(4, 3) </a:t>
            </a:r>
            <a:r>
              <a:rPr lang="zh-CN" altLang="en-US" b="0" dirty="0">
                <a:solidFill>
                  <a:srgbClr val="6A737D"/>
                </a:solidFill>
                <a:effectLst/>
                <a:latin typeface="Consolas" panose="020B0609020204030204" pitchFamily="49" charset="0"/>
              </a:rPr>
              <a:t>的二维数组</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c</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2.3.2 </a:t>
            </a:r>
            <a:r>
              <a:rPr lang="zh-CN" altLang="en-US" sz="1800" dirty="0">
                <a:solidFill>
                  <a:srgbClr val="577CCE"/>
                </a:solidFill>
                <a:latin typeface="+mn-ea"/>
              </a:rPr>
              <a:t>创建数组</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a:solidFill>
                  <a:srgbClr val="050E17"/>
                </a:solidFill>
                <a:effectLst/>
                <a:latin typeface="-apple-system"/>
              </a:rPr>
              <a:t>(8) </a:t>
            </a:r>
            <a:r>
              <a:rPr lang="en-US" altLang="zh-CN" b="0" i="0" dirty="0" err="1">
                <a:solidFill>
                  <a:srgbClr val="050E17"/>
                </a:solidFill>
                <a:effectLst/>
                <a:latin typeface="-apple-system"/>
              </a:rPr>
              <a:t>np.tile</a:t>
            </a:r>
            <a:r>
              <a:rPr lang="en-US" altLang="zh-CN" b="0" i="0" dirty="0">
                <a:solidFill>
                  <a:srgbClr val="050E17"/>
                </a:solidFill>
                <a:effectLst/>
                <a:latin typeface="-apple-system"/>
              </a:rPr>
              <a:t>()</a:t>
            </a:r>
            <a:endParaRPr lang="en-US" altLang="zh-CN" b="0" i="0" dirty="0">
              <a:solidFill>
                <a:srgbClr val="141718"/>
              </a:solidFill>
              <a:effectLst/>
              <a:latin typeface="__Karla_fd2630"/>
            </a:endParaRPr>
          </a:p>
        </p:txBody>
      </p:sp>
      <p:sp>
        <p:nvSpPr>
          <p:cNvPr id="9" name="文本框 8"/>
          <p:cNvSpPr txBox="1"/>
          <p:nvPr/>
        </p:nvSpPr>
        <p:spPr>
          <a:xfrm>
            <a:off x="975219" y="2176913"/>
            <a:ext cx="10715765" cy="369332"/>
          </a:xfrm>
          <a:prstGeom prst="rect">
            <a:avLst/>
          </a:prstGeom>
          <a:noFill/>
        </p:spPr>
        <p:txBody>
          <a:bodyPr wrap="square">
            <a:spAutoFit/>
          </a:bodyPr>
          <a:lstStyle/>
          <a:p>
            <a:r>
              <a:rPr lang="en-US" altLang="zh-CN" b="0" i="0" dirty="0" err="1">
                <a:solidFill>
                  <a:srgbClr val="050E17"/>
                </a:solidFill>
                <a:effectLst/>
                <a:latin typeface="-apple-system"/>
              </a:rPr>
              <a:t>np.tile</a:t>
            </a:r>
            <a:r>
              <a:rPr lang="en-US" altLang="zh-CN" b="0" i="0" dirty="0">
                <a:solidFill>
                  <a:srgbClr val="050E17"/>
                </a:solidFill>
                <a:effectLst/>
                <a:latin typeface="-apple-system"/>
              </a:rPr>
              <a:t>() </a:t>
            </a:r>
            <a:r>
              <a:rPr lang="zh-CN" altLang="en-US" b="0" i="0" dirty="0">
                <a:solidFill>
                  <a:srgbClr val="050E17"/>
                </a:solidFill>
                <a:effectLst/>
                <a:latin typeface="-apple-system"/>
              </a:rPr>
              <a:t>函数可以将原数组在各个维度上进行重复，对数组进行扩展得到改变 </a:t>
            </a:r>
            <a:r>
              <a:rPr lang="en-US" altLang="zh-CN" b="0" i="0" dirty="0">
                <a:solidFill>
                  <a:srgbClr val="050E17"/>
                </a:solidFill>
                <a:effectLst/>
                <a:latin typeface="-apple-system"/>
              </a:rPr>
              <a:t>shape </a:t>
            </a:r>
            <a:r>
              <a:rPr lang="zh-CN" altLang="en-US" b="0" i="0" dirty="0">
                <a:solidFill>
                  <a:srgbClr val="050E17"/>
                </a:solidFill>
                <a:effectLst/>
                <a:latin typeface="-apple-system"/>
              </a:rPr>
              <a:t>的新数组。</a:t>
            </a:r>
            <a:endParaRPr lang="zh-CN" altLang="en-US" dirty="0"/>
          </a:p>
        </p:txBody>
      </p:sp>
      <p:sp>
        <p:nvSpPr>
          <p:cNvPr id="11" name="文本框 10"/>
          <p:cNvSpPr txBox="1"/>
          <p:nvPr/>
        </p:nvSpPr>
        <p:spPr>
          <a:xfrm>
            <a:off x="975219" y="2546245"/>
            <a:ext cx="11457265" cy="4124206"/>
          </a:xfrm>
          <a:prstGeom prst="rect">
            <a:avLst/>
          </a:prstGeom>
          <a:noFill/>
        </p:spPr>
        <p:txBody>
          <a:bodyPr wrap="square">
            <a:spAutoFit/>
          </a:bodyPr>
          <a:lstStyle/>
          <a:p>
            <a:r>
              <a:rPr lang="en-US" altLang="zh-CN" sz="1600" b="0" dirty="0">
                <a:solidFill>
                  <a:srgbClr val="D73A49"/>
                </a:solidFill>
                <a:effectLst/>
                <a:latin typeface="Consolas" panose="020B0609020204030204" pitchFamily="49" charset="0"/>
              </a:rPr>
              <a:t>&gt;&gt;&gt;</a:t>
            </a:r>
            <a:r>
              <a:rPr lang="en-US" altLang="zh-CN" sz="1600" b="0" dirty="0">
                <a:solidFill>
                  <a:srgbClr val="24292E"/>
                </a:solidFill>
                <a:effectLst/>
                <a:latin typeface="Consolas" panose="020B0609020204030204" pitchFamily="49" charset="0"/>
              </a:rPr>
              <a:t> d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np.tile</a:t>
            </a:r>
            <a:r>
              <a:rPr lang="en-US" altLang="zh-CN" sz="1600" b="0" dirty="0">
                <a:solidFill>
                  <a:srgbClr val="24292E"/>
                </a:solidFill>
                <a:effectLst/>
                <a:latin typeface="Consolas" panose="020B0609020204030204" pitchFamily="49" charset="0"/>
              </a:rPr>
              <a:t>(a,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每行重复 </a:t>
            </a:r>
            <a:r>
              <a:rPr lang="en-US" altLang="zh-CN" sz="1600" b="0" dirty="0">
                <a:solidFill>
                  <a:srgbClr val="6A737D"/>
                </a:solidFill>
                <a:effectLst/>
                <a:latin typeface="Consolas" panose="020B0609020204030204" pitchFamily="49" charset="0"/>
              </a:rPr>
              <a:t>4 </a:t>
            </a:r>
            <a:r>
              <a:rPr lang="zh-CN" altLang="en-US" sz="1600" b="0" dirty="0">
                <a:solidFill>
                  <a:srgbClr val="6A737D"/>
                </a:solidFill>
                <a:effectLst/>
                <a:latin typeface="Consolas" panose="020B0609020204030204" pitchFamily="49" charset="0"/>
              </a:rPr>
              <a:t>次，每列重复 </a:t>
            </a:r>
            <a:r>
              <a:rPr lang="en-US" altLang="zh-CN" sz="1600" b="0" dirty="0">
                <a:solidFill>
                  <a:srgbClr val="6A737D"/>
                </a:solidFill>
                <a:effectLst/>
                <a:latin typeface="Consolas" panose="020B0609020204030204" pitchFamily="49" charset="0"/>
              </a:rPr>
              <a:t>2 </a:t>
            </a:r>
            <a:r>
              <a:rPr lang="zh-CN" altLang="en-US" sz="1600" b="0" dirty="0">
                <a:solidFill>
                  <a:srgbClr val="6A737D"/>
                </a:solidFill>
                <a:effectLst/>
                <a:latin typeface="Consolas" panose="020B0609020204030204" pitchFamily="49" charset="0"/>
              </a:rPr>
              <a:t>次，得到 </a:t>
            </a:r>
            <a:r>
              <a:rPr lang="en-US" altLang="zh-CN" sz="1600" b="0" dirty="0">
                <a:solidFill>
                  <a:srgbClr val="6A737D"/>
                </a:solidFill>
                <a:effectLst/>
                <a:latin typeface="Consolas" panose="020B0609020204030204" pitchFamily="49" charset="0"/>
              </a:rPr>
              <a:t>shape </a:t>
            </a:r>
            <a:r>
              <a:rPr lang="zh-CN" altLang="en-US" sz="1600" b="0" dirty="0">
                <a:solidFill>
                  <a:srgbClr val="6A737D"/>
                </a:solidFill>
                <a:effectLst/>
                <a:latin typeface="Consolas" panose="020B0609020204030204" pitchFamily="49" charset="0"/>
              </a:rPr>
              <a:t>为 </a:t>
            </a:r>
            <a:r>
              <a:rPr lang="en-US" altLang="zh-CN" sz="1600" b="0" dirty="0">
                <a:solidFill>
                  <a:srgbClr val="6A737D"/>
                </a:solidFill>
                <a:effectLst/>
                <a:latin typeface="Consolas" panose="020B0609020204030204" pitchFamily="49" charset="0"/>
              </a:rPr>
              <a:t>(4, 6) </a:t>
            </a:r>
            <a:r>
              <a:rPr lang="zh-CN" altLang="en-US" sz="1600" b="0" dirty="0">
                <a:solidFill>
                  <a:srgbClr val="6A737D"/>
                </a:solidFill>
                <a:effectLst/>
                <a:latin typeface="Consolas" panose="020B0609020204030204" pitchFamily="49" charset="0"/>
              </a:rPr>
              <a:t>的二维新数组</a:t>
            </a:r>
            <a:endParaRPr lang="zh-CN" altLang="en-US"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&gt;&gt;&gt;</a:t>
            </a:r>
            <a:r>
              <a:rPr lang="zh-CN" altLang="en-US" sz="1600" b="0" dirty="0">
                <a:solidFill>
                  <a:srgbClr val="24292E"/>
                </a:solidFill>
                <a:effectLst/>
                <a:latin typeface="Consolas" panose="020B0609020204030204" pitchFamily="49" charset="0"/>
              </a:rPr>
              <a:t> </a:t>
            </a:r>
            <a:r>
              <a:rPr lang="en-US" altLang="zh-CN" sz="1600" b="0" dirty="0">
                <a:solidFill>
                  <a:srgbClr val="24292E"/>
                </a:solidFill>
                <a:effectLst/>
                <a:latin typeface="Consolas" panose="020B0609020204030204" pitchFamily="49" charset="0"/>
              </a:rPr>
              <a:t>d</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array([[</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&gt;&gt;&gt;</a:t>
            </a:r>
            <a:r>
              <a:rPr lang="en-US" altLang="zh-CN" sz="1600" b="0" dirty="0">
                <a:solidFill>
                  <a:srgbClr val="24292E"/>
                </a:solidFill>
                <a:effectLst/>
                <a:latin typeface="Consolas" panose="020B0609020204030204" pitchFamily="49" charset="0"/>
              </a:rPr>
              <a:t> e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np.tile</a:t>
            </a:r>
            <a:r>
              <a:rPr lang="en-US" altLang="zh-CN" sz="1600" b="0" dirty="0">
                <a:solidFill>
                  <a:srgbClr val="24292E"/>
                </a:solidFill>
                <a:effectLst/>
                <a:latin typeface="Consolas" panose="020B0609020204030204" pitchFamily="49" charset="0"/>
              </a:rPr>
              <a:t>(a,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在三个维度上重复 </a:t>
            </a:r>
            <a:r>
              <a:rPr lang="en-US" altLang="zh-CN" sz="1600" b="0" dirty="0">
                <a:solidFill>
                  <a:srgbClr val="6A737D"/>
                </a:solidFill>
                <a:effectLst/>
                <a:latin typeface="Consolas" panose="020B0609020204030204" pitchFamily="49" charset="0"/>
              </a:rPr>
              <a:t>4</a:t>
            </a:r>
            <a:r>
              <a:rPr lang="zh-CN" altLang="en-US" sz="1600" b="0" dirty="0">
                <a:solidFill>
                  <a:srgbClr val="6A737D"/>
                </a:solidFill>
                <a:effectLst/>
                <a:latin typeface="Consolas" panose="020B0609020204030204" pitchFamily="49" charset="0"/>
              </a:rPr>
              <a:t>、</a:t>
            </a:r>
            <a:r>
              <a:rPr lang="en-US" altLang="zh-CN" sz="1600" b="0" dirty="0">
                <a:solidFill>
                  <a:srgbClr val="6A737D"/>
                </a:solidFill>
                <a:effectLst/>
                <a:latin typeface="Consolas" panose="020B0609020204030204" pitchFamily="49" charset="0"/>
              </a:rPr>
              <a:t>2</a:t>
            </a:r>
            <a:r>
              <a:rPr lang="zh-CN" altLang="en-US" sz="1600" b="0" dirty="0">
                <a:solidFill>
                  <a:srgbClr val="6A737D"/>
                </a:solidFill>
                <a:effectLst/>
                <a:latin typeface="Consolas" panose="020B0609020204030204" pitchFamily="49" charset="0"/>
              </a:rPr>
              <a:t>、</a:t>
            </a:r>
            <a:r>
              <a:rPr lang="en-US" altLang="zh-CN" sz="1600" b="0" dirty="0">
                <a:solidFill>
                  <a:srgbClr val="6A737D"/>
                </a:solidFill>
                <a:effectLst/>
                <a:latin typeface="Consolas" panose="020B0609020204030204" pitchFamily="49" charset="0"/>
              </a:rPr>
              <a:t>1</a:t>
            </a:r>
            <a:r>
              <a:rPr lang="zh-CN" altLang="en-US" sz="1600" b="0" dirty="0">
                <a:solidFill>
                  <a:srgbClr val="6A737D"/>
                </a:solidFill>
                <a:effectLst/>
                <a:latin typeface="Consolas" panose="020B0609020204030204" pitchFamily="49" charset="0"/>
              </a:rPr>
              <a:t>，新数组 </a:t>
            </a:r>
            <a:r>
              <a:rPr lang="en-US" altLang="zh-CN" sz="1600" b="0" dirty="0">
                <a:solidFill>
                  <a:srgbClr val="6A737D"/>
                </a:solidFill>
                <a:effectLst/>
                <a:latin typeface="Consolas" panose="020B0609020204030204" pitchFamily="49" charset="0"/>
              </a:rPr>
              <a:t>shape </a:t>
            </a:r>
            <a:r>
              <a:rPr lang="zh-CN" altLang="en-US" sz="1600" b="0" dirty="0">
                <a:solidFill>
                  <a:srgbClr val="6A737D"/>
                </a:solidFill>
                <a:effectLst/>
                <a:latin typeface="Consolas" panose="020B0609020204030204" pitchFamily="49" charset="0"/>
              </a:rPr>
              <a:t>为 </a:t>
            </a:r>
            <a:r>
              <a:rPr lang="en-US" altLang="zh-CN" sz="1600" b="0" dirty="0">
                <a:solidFill>
                  <a:srgbClr val="6A737D"/>
                </a:solidFill>
                <a:effectLst/>
                <a:latin typeface="Consolas" panose="020B0609020204030204" pitchFamily="49" charset="0"/>
              </a:rPr>
              <a:t>(4, 2, 3)</a:t>
            </a:r>
            <a:endParaRPr lang="zh-CN" altLang="en-US"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&gt;&gt;&gt;</a:t>
            </a:r>
            <a:r>
              <a:rPr lang="zh-CN" altLang="en-US" sz="1600" b="0" dirty="0">
                <a:solidFill>
                  <a:srgbClr val="24292E"/>
                </a:solidFill>
                <a:effectLst/>
                <a:latin typeface="Consolas" panose="020B0609020204030204" pitchFamily="49" charset="0"/>
              </a:rPr>
              <a:t> </a:t>
            </a:r>
            <a:r>
              <a:rPr lang="en-US" altLang="zh-CN" sz="1600" b="0" dirty="0">
                <a:solidFill>
                  <a:srgbClr val="24292E"/>
                </a:solidFill>
                <a:effectLst/>
                <a:latin typeface="Consolas" panose="020B0609020204030204" pitchFamily="49" charset="0"/>
              </a:rPr>
              <a:t>e</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array([[[</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br>
              <a:rPr lang="en-US" altLang="zh-CN" sz="1600" b="0" dirty="0">
                <a:solidFill>
                  <a:srgbClr val="24292E"/>
                </a:solidFill>
                <a:effectLst/>
                <a:latin typeface="Consolas" panose="020B0609020204030204" pitchFamily="49" charset="0"/>
              </a:rPr>
            </a:b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br>
              <a:rPr lang="en-US" altLang="zh-CN" sz="1600" b="0" dirty="0">
                <a:solidFill>
                  <a:srgbClr val="24292E"/>
                </a:solidFill>
                <a:effectLst/>
                <a:latin typeface="Consolas" panose="020B0609020204030204" pitchFamily="49" charset="0"/>
              </a:rPr>
            </a:b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br>
              <a:rPr lang="en-US" altLang="zh-CN" sz="1600" b="0" dirty="0">
                <a:solidFill>
                  <a:srgbClr val="24292E"/>
                </a:solidFill>
                <a:effectLst/>
                <a:latin typeface="Consolas" panose="020B0609020204030204" pitchFamily="49" charset="0"/>
              </a:rPr>
            </a:b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7" y="1748915"/>
            <a:ext cx="10344784" cy="369332"/>
          </a:xfrm>
          <a:prstGeom prst="rect">
            <a:avLst/>
          </a:prstGeom>
          <a:noFill/>
        </p:spPr>
        <p:txBody>
          <a:bodyPr wrap="square">
            <a:spAutoFit/>
          </a:bodyPr>
          <a:lstStyle/>
          <a:p>
            <a:r>
              <a:rPr lang="en-US" altLang="zh-CN" b="0" i="0" dirty="0" err="1">
                <a:solidFill>
                  <a:srgbClr val="050E17"/>
                </a:solidFill>
                <a:effectLst/>
                <a:latin typeface="-apple-system"/>
              </a:rPr>
              <a:t>ndarray</a:t>
            </a:r>
            <a:r>
              <a:rPr lang="en-US" altLang="zh-CN" b="0" i="0" dirty="0">
                <a:solidFill>
                  <a:srgbClr val="050E17"/>
                </a:solidFill>
                <a:effectLst/>
                <a:latin typeface="-apple-system"/>
              </a:rPr>
              <a:t> </a:t>
            </a:r>
            <a:r>
              <a:rPr lang="zh-CN" altLang="en-US" b="0" i="0" dirty="0">
                <a:solidFill>
                  <a:srgbClr val="050E17"/>
                </a:solidFill>
                <a:effectLst/>
                <a:latin typeface="-apple-system"/>
              </a:rPr>
              <a:t>对象常见的算术运算符包括 </a:t>
            </a:r>
            <a:r>
              <a:rPr lang="en-US" altLang="zh-CN" b="0" i="0" dirty="0">
                <a:solidFill>
                  <a:srgbClr val="050E17"/>
                </a:solidFill>
                <a:effectLst/>
                <a:latin typeface="-apple-system"/>
              </a:rPr>
              <a:t>+</a:t>
            </a:r>
            <a:r>
              <a:rPr lang="zh-CN" altLang="en-US" b="0" i="0" dirty="0">
                <a:solidFill>
                  <a:srgbClr val="050E17"/>
                </a:solidFill>
                <a:effectLst/>
                <a:latin typeface="-apple-system"/>
              </a:rPr>
              <a:t>、</a:t>
            </a:r>
            <a:r>
              <a:rPr lang="en-US" altLang="zh-CN" b="0" i="0" dirty="0">
                <a:solidFill>
                  <a:srgbClr val="050E17"/>
                </a:solidFill>
                <a:effectLst/>
                <a:latin typeface="-apple-system"/>
              </a:rPr>
              <a:t>-</a:t>
            </a:r>
            <a:r>
              <a:rPr lang="zh-CN" altLang="en-US" b="0" i="0" dirty="0">
                <a:solidFill>
                  <a:srgbClr val="050E17"/>
                </a:solidFill>
                <a:effectLst/>
                <a:latin typeface="-apple-system"/>
              </a:rPr>
              <a:t>、*、</a:t>
            </a:r>
            <a:r>
              <a:rPr lang="en-US" altLang="zh-CN" b="0" i="0" dirty="0">
                <a:solidFill>
                  <a:srgbClr val="050E17"/>
                </a:solidFill>
                <a:effectLst/>
                <a:latin typeface="-apple-system"/>
              </a:rPr>
              <a:t>/</a:t>
            </a:r>
            <a:r>
              <a:rPr lang="zh-CN" altLang="en-US" b="0" i="0" dirty="0">
                <a:solidFill>
                  <a:srgbClr val="050E17"/>
                </a:solidFill>
                <a:effectLst/>
                <a:latin typeface="-apple-system"/>
              </a:rPr>
              <a:t>、** 等。下面给出一些基本运算实例：</a:t>
            </a:r>
            <a:endParaRPr lang="en-US" altLang="zh-CN" b="0" i="0" dirty="0">
              <a:solidFill>
                <a:srgbClr val="141718"/>
              </a:solidFill>
              <a:effectLst/>
              <a:latin typeface="__Karla_fd2630"/>
            </a:endParaRPr>
          </a:p>
        </p:txBody>
      </p:sp>
      <p:sp>
        <p:nvSpPr>
          <p:cNvPr id="4" name="文本框 3"/>
          <p:cNvSpPr txBox="1"/>
          <p:nvPr/>
        </p:nvSpPr>
        <p:spPr>
          <a:xfrm>
            <a:off x="616937" y="2118247"/>
            <a:ext cx="8848288" cy="452431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b_array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c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b_array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对应元素相减，生成新对象</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c</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每个元素平方，生成新对象</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np.sin</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每个元素取正弦后乘以</a:t>
            </a:r>
            <a:r>
              <a:rPr lang="en-US" altLang="zh-CN" b="0" dirty="0">
                <a:solidFill>
                  <a:srgbClr val="6A737D"/>
                </a:solidFill>
                <a:effectLst/>
                <a:latin typeface="Consolas" panose="020B0609020204030204" pitchFamily="49" charset="0"/>
              </a:rPr>
              <a:t>10</a:t>
            </a:r>
            <a:r>
              <a:rPr lang="zh-CN" altLang="en-US" b="0" dirty="0">
                <a:solidFill>
                  <a:srgbClr val="6A737D"/>
                </a:solidFill>
                <a:effectLst/>
                <a:latin typeface="Consolas" panose="020B0609020204030204" pitchFamily="49" charset="0"/>
              </a:rPr>
              <a:t>，生成新对象</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9.12945251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9.88031624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7.4511316</a:t>
            </a:r>
            <a:r>
              <a:rPr lang="en-US" altLang="zh-CN" b="0" dirty="0">
                <a:solidFill>
                  <a:srgbClr val="24292E"/>
                </a:solidFill>
                <a:effectLst/>
                <a:latin typeface="Consolas" panose="020B0609020204030204" pitchFamily="49" charset="0"/>
              </a:rPr>
              <a:t> ,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2.62374854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f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&lt;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每个元素与</a:t>
            </a:r>
            <a:r>
              <a:rPr lang="en-US" altLang="zh-CN" b="0" dirty="0">
                <a:solidFill>
                  <a:srgbClr val="6A737D"/>
                </a:solidFill>
                <a:effectLst/>
                <a:latin typeface="Consolas" panose="020B0609020204030204" pitchFamily="49" charset="0"/>
              </a:rPr>
              <a:t>35</a:t>
            </a:r>
            <a:r>
              <a:rPr lang="zh-CN" altLang="en-US" b="0" dirty="0">
                <a:solidFill>
                  <a:srgbClr val="6A737D"/>
                </a:solidFill>
                <a:effectLst/>
                <a:latin typeface="Consolas" panose="020B0609020204030204" pitchFamily="49" charset="0"/>
              </a:rPr>
              <a:t>比较大小，生成新的布尔值对象</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f</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False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False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646331"/>
          </a:xfrm>
          <a:prstGeom prst="rect">
            <a:avLst/>
          </a:prstGeom>
          <a:noFill/>
        </p:spPr>
        <p:txBody>
          <a:bodyPr wrap="square">
            <a:spAutoFit/>
          </a:bodyPr>
          <a:lstStyle/>
          <a:p>
            <a:r>
              <a:rPr lang="zh-CN" altLang="en-US" b="0" i="0" dirty="0">
                <a:solidFill>
                  <a:srgbClr val="050E17"/>
                </a:solidFill>
                <a:effectLst/>
                <a:latin typeface="-apple-system"/>
              </a:rPr>
              <a:t>在 </a:t>
            </a:r>
            <a:r>
              <a:rPr lang="en-US" altLang="zh-CN" b="0" i="0" dirty="0" err="1">
                <a:solidFill>
                  <a:srgbClr val="050E17"/>
                </a:solidFill>
                <a:effectLst/>
                <a:latin typeface="-apple-system"/>
              </a:rPr>
              <a:t>Numpy</a:t>
            </a:r>
            <a:r>
              <a:rPr lang="en-US" altLang="zh-CN" b="0" i="0" dirty="0">
                <a:solidFill>
                  <a:srgbClr val="050E17"/>
                </a:solidFill>
                <a:effectLst/>
                <a:latin typeface="-apple-system"/>
              </a:rPr>
              <a:t> </a:t>
            </a:r>
            <a:r>
              <a:rPr lang="zh-CN" altLang="en-US" b="0" i="0" dirty="0">
                <a:solidFill>
                  <a:srgbClr val="050E17"/>
                </a:solidFill>
                <a:effectLst/>
                <a:latin typeface="-apple-system"/>
              </a:rPr>
              <a:t>中，乘积运算符 </a:t>
            </a:r>
            <a:r>
              <a:rPr lang="zh-CN" altLang="en-US" b="0" i="0" dirty="0">
                <a:solidFill>
                  <a:srgbClr val="FF0000"/>
                </a:solidFill>
                <a:effectLst/>
                <a:latin typeface="-apple-system"/>
              </a:rPr>
              <a:t>* 是对同位置元素进行乘积运算即点乘</a:t>
            </a:r>
            <a:r>
              <a:rPr lang="zh-CN" altLang="en-US" b="0" i="0" dirty="0">
                <a:solidFill>
                  <a:srgbClr val="050E17"/>
                </a:solidFill>
                <a:effectLst/>
                <a:latin typeface="-apple-system"/>
              </a:rPr>
              <a:t>。如果需要进行矩阵运算，可以使用 </a:t>
            </a:r>
            <a:r>
              <a:rPr lang="en-US" altLang="zh-CN" b="0" i="0" dirty="0">
                <a:solidFill>
                  <a:srgbClr val="FF0000"/>
                </a:solidFill>
                <a:effectLst/>
                <a:latin typeface="-apple-system"/>
              </a:rPr>
              <a:t>@</a:t>
            </a:r>
            <a:r>
              <a:rPr lang="en-US" altLang="zh-CN" b="0" i="0" dirty="0">
                <a:solidFill>
                  <a:srgbClr val="050E17"/>
                </a:solidFill>
                <a:effectLst/>
                <a:latin typeface="-apple-system"/>
              </a:rPr>
              <a:t> </a:t>
            </a:r>
            <a:r>
              <a:rPr lang="zh-CN" altLang="en-US" b="0" i="0" dirty="0">
                <a:solidFill>
                  <a:srgbClr val="050E17"/>
                </a:solidFill>
                <a:effectLst/>
                <a:latin typeface="-apple-system"/>
              </a:rPr>
              <a:t>运算符，或者使用 </a:t>
            </a:r>
            <a:r>
              <a:rPr lang="en-US" altLang="zh-CN" b="0" i="0" dirty="0">
                <a:solidFill>
                  <a:srgbClr val="FF0000"/>
                </a:solidFill>
                <a:effectLst/>
                <a:latin typeface="-apple-system"/>
              </a:rPr>
              <a:t>dot</a:t>
            </a:r>
            <a:r>
              <a:rPr lang="en-US" altLang="zh-CN" b="0" i="0" dirty="0">
                <a:solidFill>
                  <a:srgbClr val="050E17"/>
                </a:solidFill>
                <a:effectLst/>
                <a:latin typeface="-apple-system"/>
              </a:rPr>
              <a:t> </a:t>
            </a:r>
            <a:r>
              <a:rPr lang="zh-CN" altLang="en-US" b="0" i="0" dirty="0">
                <a:solidFill>
                  <a:srgbClr val="050E17"/>
                </a:solidFill>
                <a:effectLst/>
                <a:latin typeface="-apple-system"/>
              </a:rPr>
              <a:t>函数进行操作：</a:t>
            </a:r>
            <a:endParaRPr lang="en-US" altLang="zh-CN" b="0" i="0" dirty="0">
              <a:solidFill>
                <a:srgbClr val="141718"/>
              </a:solidFill>
              <a:effectLst/>
              <a:latin typeface="__Karla_fd2630"/>
            </a:endParaRPr>
          </a:p>
        </p:txBody>
      </p:sp>
      <p:sp>
        <p:nvSpPr>
          <p:cNvPr id="7" name="文本框 6"/>
          <p:cNvSpPr txBox="1"/>
          <p:nvPr/>
        </p:nvSpPr>
        <p:spPr>
          <a:xfrm>
            <a:off x="606805" y="2363236"/>
            <a:ext cx="8294615" cy="452431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B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矩阵点乘</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AB_matmul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B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矩阵相乘</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AB_matmul</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5412997" y="2392787"/>
            <a:ext cx="6094602"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AB_dot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A.dot(B)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矩阵相乘的另一种形式</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AB_dot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zh-CN" altLang="en-US" dirty="0"/>
          </a:p>
        </p:txBody>
      </p:sp>
    </p:spTree>
    <p:custDataLst>
      <p:tags r:id="rId1"/>
    </p:custData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646331"/>
          </a:xfrm>
          <a:prstGeom prst="rect">
            <a:avLst/>
          </a:prstGeom>
          <a:noFill/>
        </p:spPr>
        <p:txBody>
          <a:bodyPr wrap="square">
            <a:spAutoFit/>
          </a:bodyPr>
          <a:lstStyle/>
          <a:p>
            <a:r>
              <a:rPr lang="zh-CN" altLang="en-US" b="0" i="0" dirty="0">
                <a:solidFill>
                  <a:srgbClr val="050E17"/>
                </a:solidFill>
                <a:effectLst/>
                <a:latin typeface="-apple-system"/>
              </a:rPr>
              <a:t>对不同形状（</a:t>
            </a:r>
            <a:r>
              <a:rPr lang="en-US" altLang="zh-CN" b="0" i="0" dirty="0">
                <a:solidFill>
                  <a:srgbClr val="050E17"/>
                </a:solidFill>
                <a:effectLst/>
                <a:latin typeface="-apple-system"/>
              </a:rPr>
              <a:t>shape</a:t>
            </a:r>
            <a:r>
              <a:rPr lang="zh-CN" altLang="en-US" b="0" i="0" dirty="0">
                <a:solidFill>
                  <a:srgbClr val="050E17"/>
                </a:solidFill>
                <a:effectLst/>
                <a:latin typeface="-apple-system"/>
              </a:rPr>
              <a:t>）的数组进行数值计算时，</a:t>
            </a:r>
            <a:r>
              <a:rPr lang="en-US" altLang="zh-CN" b="0" i="0" dirty="0" err="1">
                <a:solidFill>
                  <a:srgbClr val="FF0000"/>
                </a:solidFill>
                <a:effectLst/>
                <a:latin typeface="-apple-system"/>
              </a:rPr>
              <a:t>Numpy</a:t>
            </a:r>
            <a:r>
              <a:rPr lang="en-US" altLang="zh-CN" b="0" i="0" dirty="0">
                <a:solidFill>
                  <a:srgbClr val="FF0000"/>
                </a:solidFill>
                <a:effectLst/>
                <a:latin typeface="-apple-system"/>
              </a:rPr>
              <a:t> </a:t>
            </a:r>
            <a:r>
              <a:rPr lang="zh-CN" altLang="en-US" b="0" i="0" dirty="0">
                <a:solidFill>
                  <a:srgbClr val="FF0000"/>
                </a:solidFill>
                <a:effectLst/>
                <a:latin typeface="-apple-system"/>
              </a:rPr>
              <a:t>会采用广播（</a:t>
            </a:r>
            <a:r>
              <a:rPr lang="en-US" altLang="zh-CN" b="0" i="0" dirty="0">
                <a:solidFill>
                  <a:srgbClr val="FF0000"/>
                </a:solidFill>
                <a:effectLst/>
                <a:latin typeface="-apple-system"/>
              </a:rPr>
              <a:t>Broadcast</a:t>
            </a:r>
            <a:r>
              <a:rPr lang="zh-CN" altLang="en-US" b="0" i="0" dirty="0">
                <a:solidFill>
                  <a:srgbClr val="FF0000"/>
                </a:solidFill>
                <a:effectLst/>
                <a:latin typeface="-apple-system"/>
              </a:rPr>
              <a:t>）方式，尽可能自动调整相应的数组，以满足计算的条件</a:t>
            </a:r>
            <a:r>
              <a:rPr lang="zh-CN" altLang="en-US" b="0" i="0" dirty="0">
                <a:solidFill>
                  <a:srgbClr val="050E17"/>
                </a:solidFill>
                <a:effectLst/>
                <a:latin typeface="-apple-system"/>
              </a:rPr>
              <a:t>。例如：</a:t>
            </a:r>
            <a:endParaRPr lang="en-US" altLang="zh-CN" b="0" i="0" dirty="0">
              <a:solidFill>
                <a:srgbClr val="141718"/>
              </a:solidFill>
              <a:effectLst/>
              <a:latin typeface="__Karla_fd2630"/>
            </a:endParaRPr>
          </a:p>
        </p:txBody>
      </p:sp>
      <p:sp>
        <p:nvSpPr>
          <p:cNvPr id="6" name="文本框 5"/>
          <p:cNvSpPr txBox="1"/>
          <p:nvPr/>
        </p:nvSpPr>
        <p:spPr>
          <a:xfrm>
            <a:off x="616935" y="2453337"/>
            <a:ext cx="10892759"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broadcast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b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自动触发广播机制，相当于 </a:t>
            </a:r>
            <a:r>
              <a:rPr lang="en-US" altLang="zh-CN" b="0" dirty="0">
                <a:solidFill>
                  <a:srgbClr val="6A737D"/>
                </a:solidFill>
                <a:effectLst/>
                <a:latin typeface="Consolas" panose="020B0609020204030204" pitchFamily="49" charset="0"/>
              </a:rPr>
              <a:t>b </a:t>
            </a:r>
            <a:r>
              <a:rPr lang="zh-CN" altLang="en-US" b="0" dirty="0">
                <a:solidFill>
                  <a:srgbClr val="6A737D"/>
                </a:solidFill>
                <a:effectLst/>
                <a:latin typeface="Consolas" panose="020B0609020204030204" pitchFamily="49" charset="0"/>
              </a:rPr>
              <a:t>变为含有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行相同元素的二维数组</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broadcast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923330"/>
          </a:xfrm>
          <a:prstGeom prst="rect">
            <a:avLst/>
          </a:prstGeom>
          <a:noFill/>
        </p:spPr>
        <p:txBody>
          <a:bodyPr wrap="square">
            <a:spAutoFit/>
          </a:bodyPr>
          <a:lstStyle/>
          <a:p>
            <a:r>
              <a:rPr lang="en-US" altLang="zh-CN" b="0" i="0" dirty="0" err="1">
                <a:solidFill>
                  <a:srgbClr val="050E17"/>
                </a:solidFill>
                <a:effectLst/>
                <a:latin typeface="-apple-system"/>
              </a:rPr>
              <a:t>ndarray</a:t>
            </a:r>
            <a:r>
              <a:rPr lang="en-US" altLang="zh-CN" b="0" i="0" dirty="0">
                <a:solidFill>
                  <a:srgbClr val="050E17"/>
                </a:solidFill>
                <a:effectLst/>
                <a:latin typeface="-apple-system"/>
              </a:rPr>
              <a:t> </a:t>
            </a:r>
            <a:r>
              <a:rPr lang="zh-CN" altLang="en-US" b="0" i="0" dirty="0">
                <a:solidFill>
                  <a:srgbClr val="050E17"/>
                </a:solidFill>
                <a:effectLst/>
                <a:latin typeface="-apple-system"/>
              </a:rPr>
              <a:t>类的</a:t>
            </a:r>
            <a:r>
              <a:rPr lang="zh-CN" altLang="en-US" b="0" i="0" dirty="0">
                <a:solidFill>
                  <a:srgbClr val="FF0000"/>
                </a:solidFill>
                <a:effectLst/>
                <a:latin typeface="-apple-system"/>
              </a:rPr>
              <a:t>一元运算</a:t>
            </a:r>
            <a:r>
              <a:rPr lang="zh-CN" altLang="en-US" b="0" i="0" dirty="0">
                <a:solidFill>
                  <a:srgbClr val="050E17"/>
                </a:solidFill>
                <a:effectLst/>
                <a:latin typeface="-apple-system"/>
              </a:rPr>
              <a:t>默认是对整个数组进行操作。此外，还可以通过指定轴参数 </a:t>
            </a:r>
            <a:r>
              <a:rPr lang="en-US" altLang="zh-CN" b="0" i="0" dirty="0">
                <a:solidFill>
                  <a:srgbClr val="050E17"/>
                </a:solidFill>
                <a:effectLst/>
                <a:latin typeface="-apple-system"/>
              </a:rPr>
              <a:t>axis </a:t>
            </a:r>
            <a:r>
              <a:rPr lang="zh-CN" altLang="en-US" b="0" i="0" dirty="0">
                <a:solidFill>
                  <a:srgbClr val="050E17"/>
                </a:solidFill>
                <a:effectLst/>
                <a:latin typeface="-apple-system"/>
              </a:rPr>
              <a:t>沿着指定轴进行操作。当 </a:t>
            </a:r>
            <a:r>
              <a:rPr lang="en-US" altLang="zh-CN" b="0" i="0" dirty="0">
                <a:solidFill>
                  <a:srgbClr val="050E17"/>
                </a:solidFill>
                <a:effectLst/>
                <a:latin typeface="-apple-system"/>
              </a:rPr>
              <a:t>axis </a:t>
            </a:r>
            <a:r>
              <a:rPr lang="zh-CN" altLang="en-US" b="0" i="0" dirty="0">
                <a:solidFill>
                  <a:srgbClr val="050E17"/>
                </a:solidFill>
                <a:effectLst/>
                <a:latin typeface="-apple-system"/>
              </a:rPr>
              <a:t>值为 </a:t>
            </a:r>
            <a:r>
              <a:rPr lang="en-US" altLang="zh-CN" b="0" i="0" dirty="0">
                <a:solidFill>
                  <a:srgbClr val="050E17"/>
                </a:solidFill>
                <a:effectLst/>
                <a:latin typeface="-apple-system"/>
              </a:rPr>
              <a:t>1 </a:t>
            </a:r>
            <a:r>
              <a:rPr lang="zh-CN" altLang="en-US" b="0" i="0" dirty="0">
                <a:solidFill>
                  <a:srgbClr val="050E17"/>
                </a:solidFill>
                <a:effectLst/>
                <a:latin typeface="-apple-system"/>
              </a:rPr>
              <a:t>时，将会以行作为查单元；当 </a:t>
            </a:r>
            <a:r>
              <a:rPr lang="en-US" altLang="zh-CN" b="0" i="0" dirty="0">
                <a:solidFill>
                  <a:srgbClr val="050E17"/>
                </a:solidFill>
                <a:effectLst/>
                <a:latin typeface="-apple-system"/>
              </a:rPr>
              <a:t>axis </a:t>
            </a:r>
            <a:r>
              <a:rPr lang="zh-CN" altLang="en-US" b="0" i="0" dirty="0">
                <a:solidFill>
                  <a:srgbClr val="050E17"/>
                </a:solidFill>
                <a:effectLst/>
                <a:latin typeface="-apple-system"/>
              </a:rPr>
              <a:t>值为 </a:t>
            </a:r>
            <a:r>
              <a:rPr lang="en-US" altLang="zh-CN" b="0" i="0" dirty="0">
                <a:solidFill>
                  <a:srgbClr val="050E17"/>
                </a:solidFill>
                <a:effectLst/>
                <a:latin typeface="-apple-system"/>
              </a:rPr>
              <a:t>0 </a:t>
            </a:r>
            <a:r>
              <a:rPr lang="zh-CN" altLang="en-US" b="0" i="0" dirty="0">
                <a:solidFill>
                  <a:srgbClr val="050E17"/>
                </a:solidFill>
                <a:effectLst/>
                <a:latin typeface="-apple-system"/>
              </a:rPr>
              <a:t>时将会列作为查找单元。对于更高维数组，仍然可以通过设置 </a:t>
            </a:r>
            <a:r>
              <a:rPr lang="en-US" altLang="zh-CN" b="0" i="0" dirty="0">
                <a:solidFill>
                  <a:srgbClr val="050E17"/>
                </a:solidFill>
                <a:effectLst/>
                <a:latin typeface="-apple-system"/>
              </a:rPr>
              <a:t>axis </a:t>
            </a:r>
            <a:r>
              <a:rPr lang="zh-CN" altLang="en-US" b="0" i="0" dirty="0">
                <a:solidFill>
                  <a:srgbClr val="050E17"/>
                </a:solidFill>
                <a:effectLst/>
                <a:latin typeface="-apple-system"/>
              </a:rPr>
              <a:t>进行不同维度上的计算。</a:t>
            </a:r>
            <a:endParaRPr lang="en-US" altLang="zh-CN" b="0" i="0" dirty="0">
              <a:solidFill>
                <a:srgbClr val="141718"/>
              </a:solidFill>
              <a:effectLst/>
              <a:latin typeface="__Karla_fd2630"/>
            </a:endParaRPr>
          </a:p>
        </p:txBody>
      </p:sp>
      <p:sp>
        <p:nvSpPr>
          <p:cNvPr id="8" name="文本框 7"/>
          <p:cNvSpPr txBox="1"/>
          <p:nvPr/>
        </p:nvSpPr>
        <p:spPr>
          <a:xfrm>
            <a:off x="616936" y="2831548"/>
            <a:ext cx="4978521" cy="369331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b.sum</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得到每列的求和</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b.min</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得到每行的最小值</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b.cumsum</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每行进行累加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array([[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5310232" y="2672245"/>
            <a:ext cx="6881768" cy="397031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24</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构建三维数组</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b.sum</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按第</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个维度求和，该维度上有</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个元素进行求和，结果对象</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(3,4)</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14</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16</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24</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28</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369332"/>
          </a:xfrm>
          <a:prstGeom prst="rect">
            <a:avLst/>
          </a:prstGeom>
          <a:noFill/>
        </p:spPr>
        <p:txBody>
          <a:bodyPr wrap="square">
            <a:spAutoFit/>
          </a:bodyPr>
          <a:lstStyle/>
          <a:p>
            <a:r>
              <a:rPr lang="en-US" altLang="zh-CN" b="0" i="0" dirty="0" err="1">
                <a:solidFill>
                  <a:srgbClr val="050E17"/>
                </a:solidFill>
                <a:effectLst/>
                <a:latin typeface="-apple-system"/>
              </a:rPr>
              <a:t>ndarray</a:t>
            </a:r>
            <a:r>
              <a:rPr lang="zh-CN" altLang="en-US" b="0" i="0" dirty="0">
                <a:solidFill>
                  <a:srgbClr val="050E17"/>
                </a:solidFill>
                <a:effectLst/>
                <a:latin typeface="-apple-system"/>
              </a:rPr>
              <a:t>类的</a:t>
            </a:r>
            <a:r>
              <a:rPr lang="en-US" altLang="zh-CN" b="0" i="0" dirty="0" err="1">
                <a:solidFill>
                  <a:srgbClr val="050E17"/>
                </a:solidFill>
                <a:effectLst/>
                <a:latin typeface="-apple-system"/>
              </a:rPr>
              <a:t>argmin</a:t>
            </a:r>
            <a:r>
              <a:rPr lang="en-US" altLang="zh-CN" b="0" i="0" dirty="0">
                <a:solidFill>
                  <a:srgbClr val="050E17"/>
                </a:solidFill>
                <a:effectLst/>
                <a:latin typeface="-apple-system"/>
              </a:rPr>
              <a:t>()</a:t>
            </a:r>
            <a:r>
              <a:rPr lang="zh-CN" altLang="en-US" b="0" i="0" dirty="0">
                <a:solidFill>
                  <a:srgbClr val="050E17"/>
                </a:solidFill>
                <a:effectLst/>
                <a:latin typeface="-apple-system"/>
              </a:rPr>
              <a:t>和</a:t>
            </a:r>
            <a:r>
              <a:rPr lang="en-US" altLang="zh-CN" b="0" i="0" dirty="0">
                <a:solidFill>
                  <a:srgbClr val="050E17"/>
                </a:solidFill>
                <a:effectLst/>
                <a:latin typeface="-apple-system"/>
              </a:rPr>
              <a:t>argmax()</a:t>
            </a:r>
            <a:r>
              <a:rPr lang="zh-CN" altLang="en-US" b="0" i="0" dirty="0">
                <a:solidFill>
                  <a:srgbClr val="050E17"/>
                </a:solidFill>
                <a:effectLst/>
                <a:latin typeface="-apple-system"/>
              </a:rPr>
              <a:t>函数表示返回最大值或最小值的索引。例如：</a:t>
            </a:r>
            <a:endParaRPr lang="en-US" altLang="zh-CN" b="0" i="0" dirty="0">
              <a:solidFill>
                <a:srgbClr val="141718"/>
              </a:solidFill>
              <a:effectLst/>
              <a:latin typeface="__Karla_fd2630"/>
            </a:endParaRPr>
          </a:p>
        </p:txBody>
      </p:sp>
      <p:sp>
        <p:nvSpPr>
          <p:cNvPr id="4" name="文本框 3"/>
          <p:cNvSpPr txBox="1"/>
          <p:nvPr/>
        </p:nvSpPr>
        <p:spPr>
          <a:xfrm>
            <a:off x="706772" y="2267566"/>
            <a:ext cx="8990901" cy="4247317"/>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array([[ 0,  1,  2,  3],</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[ 4,  5,  6,  7],</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[ 8,  9, 10, 11]])</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np.argmin</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最小值的全局索引为</a:t>
            </a:r>
            <a:r>
              <a:rPr lang="en-US" altLang="zh-CN" b="0" dirty="0">
                <a:solidFill>
                  <a:srgbClr val="6A737D"/>
                </a:solidFill>
                <a:effectLst/>
                <a:latin typeface="Consolas" panose="020B0609020204030204" pitchFamily="49" charset="0"/>
              </a:rPr>
              <a:t>0</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0</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np.argmax</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最大值的全局索引为</a:t>
            </a:r>
            <a:r>
              <a:rPr lang="en-US" altLang="zh-CN" b="0" dirty="0">
                <a:solidFill>
                  <a:srgbClr val="6A737D"/>
                </a:solidFill>
                <a:effectLst/>
                <a:latin typeface="Consolas" panose="020B0609020204030204" pitchFamily="49" charset="0"/>
              </a:rPr>
              <a:t>11</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11</a:t>
            </a:r>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5863905" y="2267566"/>
            <a:ext cx="6247701" cy="2031325"/>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np.argmin</a:t>
            </a:r>
            <a:r>
              <a:rPr lang="en-US" altLang="zh-CN" b="0" dirty="0">
                <a:solidFill>
                  <a:srgbClr val="24292E"/>
                </a:solidFill>
                <a:effectLst/>
                <a:latin typeface="Consolas" panose="020B0609020204030204" pitchFamily="49" charset="0"/>
              </a:rPr>
              <a:t>(a,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每行最小值的行索引</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0, 0])</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np.argmin</a:t>
            </a:r>
            <a:r>
              <a:rPr lang="en-US" altLang="zh-CN" b="0" dirty="0">
                <a:solidFill>
                  <a:srgbClr val="24292E"/>
                </a:solidFill>
                <a:effectLst/>
                <a:latin typeface="Consolas" panose="020B0609020204030204" pitchFamily="49" charset="0"/>
              </a:rPr>
              <a:t>(a,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每列最小值的列索引</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0, 0, 0])</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369332"/>
          </a:xfrm>
          <a:prstGeom prst="rect">
            <a:avLst/>
          </a:prstGeom>
          <a:noFill/>
        </p:spPr>
        <p:txBody>
          <a:bodyPr wrap="square">
            <a:spAutoFit/>
          </a:bodyPr>
          <a:lstStyle/>
          <a:p>
            <a:r>
              <a:rPr lang="en-US" altLang="zh-CN" b="0" i="0" dirty="0" err="1">
                <a:solidFill>
                  <a:srgbClr val="050E17"/>
                </a:solidFill>
                <a:effectLst/>
                <a:latin typeface="-apple-system"/>
              </a:rPr>
              <a:t>ndarray</a:t>
            </a:r>
            <a:r>
              <a:rPr lang="zh-CN" altLang="en-US" b="0" i="0" dirty="0">
                <a:solidFill>
                  <a:srgbClr val="050E17"/>
                </a:solidFill>
                <a:effectLst/>
                <a:latin typeface="-apple-system"/>
              </a:rPr>
              <a:t>类的</a:t>
            </a:r>
            <a:r>
              <a:rPr lang="en-US" altLang="zh-CN" b="0" i="0" dirty="0" err="1">
                <a:solidFill>
                  <a:srgbClr val="FF0000"/>
                </a:solidFill>
                <a:effectLst/>
                <a:latin typeface="-apple-system"/>
              </a:rPr>
              <a:t>argmin</a:t>
            </a:r>
            <a:r>
              <a:rPr lang="en-US" altLang="zh-CN" b="0" i="0" dirty="0">
                <a:solidFill>
                  <a:srgbClr val="FF0000"/>
                </a:solidFill>
                <a:effectLst/>
                <a:latin typeface="-apple-system"/>
              </a:rPr>
              <a:t>()</a:t>
            </a:r>
            <a:r>
              <a:rPr lang="zh-CN" altLang="en-US" b="0" i="0" dirty="0">
                <a:solidFill>
                  <a:srgbClr val="050E17"/>
                </a:solidFill>
                <a:effectLst/>
                <a:latin typeface="-apple-system"/>
              </a:rPr>
              <a:t>和</a:t>
            </a:r>
            <a:r>
              <a:rPr lang="en-US" altLang="zh-CN" b="0" i="0" dirty="0">
                <a:solidFill>
                  <a:srgbClr val="FF0000"/>
                </a:solidFill>
                <a:effectLst/>
                <a:latin typeface="-apple-system"/>
              </a:rPr>
              <a:t>argmax()</a:t>
            </a:r>
            <a:r>
              <a:rPr lang="zh-CN" altLang="en-US" b="0" i="0" dirty="0">
                <a:solidFill>
                  <a:srgbClr val="050E17"/>
                </a:solidFill>
                <a:effectLst/>
                <a:latin typeface="-apple-system"/>
              </a:rPr>
              <a:t>函数表示返回最大值或最小值的</a:t>
            </a:r>
            <a:r>
              <a:rPr lang="zh-CN" altLang="en-US" b="0" i="0" dirty="0">
                <a:solidFill>
                  <a:srgbClr val="FF0000"/>
                </a:solidFill>
                <a:effectLst/>
                <a:latin typeface="-apple-system"/>
              </a:rPr>
              <a:t>索引</a:t>
            </a:r>
            <a:r>
              <a:rPr lang="zh-CN" altLang="en-US" b="0" i="0" dirty="0">
                <a:solidFill>
                  <a:srgbClr val="050E17"/>
                </a:solidFill>
                <a:effectLst/>
                <a:latin typeface="-apple-system"/>
              </a:rPr>
              <a:t>。例如：</a:t>
            </a:r>
            <a:endParaRPr lang="en-US" altLang="zh-CN" b="0" i="0" dirty="0">
              <a:solidFill>
                <a:srgbClr val="141718"/>
              </a:solidFill>
              <a:effectLst/>
              <a:latin typeface="__Karla_fd2630"/>
            </a:endParaRPr>
          </a:p>
        </p:txBody>
      </p:sp>
      <p:sp>
        <p:nvSpPr>
          <p:cNvPr id="4" name="文本框 3"/>
          <p:cNvSpPr txBox="1"/>
          <p:nvPr/>
        </p:nvSpPr>
        <p:spPr>
          <a:xfrm>
            <a:off x="706772" y="2267566"/>
            <a:ext cx="8990901" cy="4247317"/>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array([[ 0,  1,  2,  3],</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[ 4,  5,  6,  7],</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[ 8,  9, 10, 11]])</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np.argmin</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最小值的全局索引为</a:t>
            </a:r>
            <a:r>
              <a:rPr lang="en-US" altLang="zh-CN" b="0" dirty="0">
                <a:solidFill>
                  <a:srgbClr val="6A737D"/>
                </a:solidFill>
                <a:effectLst/>
                <a:latin typeface="Consolas" panose="020B0609020204030204" pitchFamily="49" charset="0"/>
              </a:rPr>
              <a:t>0</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0</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np.argmax</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最大值的全局索引为</a:t>
            </a:r>
            <a:r>
              <a:rPr lang="en-US" altLang="zh-CN" b="0" dirty="0">
                <a:solidFill>
                  <a:srgbClr val="6A737D"/>
                </a:solidFill>
                <a:effectLst/>
                <a:latin typeface="Consolas" panose="020B0609020204030204" pitchFamily="49" charset="0"/>
              </a:rPr>
              <a:t>11</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11</a:t>
            </a:r>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5863905" y="2267566"/>
            <a:ext cx="6247701" cy="2031325"/>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np.argmin</a:t>
            </a:r>
            <a:r>
              <a:rPr lang="en-US" altLang="zh-CN" b="0" dirty="0">
                <a:solidFill>
                  <a:srgbClr val="24292E"/>
                </a:solidFill>
                <a:effectLst/>
                <a:latin typeface="Consolas" panose="020B0609020204030204" pitchFamily="49" charset="0"/>
              </a:rPr>
              <a:t>(a,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每行最小值的行索引</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0, 0])</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np.argmin</a:t>
            </a:r>
            <a:r>
              <a:rPr lang="en-US" altLang="zh-CN" b="0" dirty="0">
                <a:solidFill>
                  <a:srgbClr val="24292E"/>
                </a:solidFill>
                <a:effectLst/>
                <a:latin typeface="Consolas" panose="020B0609020204030204" pitchFamily="49" charset="0"/>
              </a:rPr>
              <a:t>(a,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每列最小值的列索引</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0, 0, 0])</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646331"/>
          </a:xfrm>
          <a:prstGeom prst="rect">
            <a:avLst/>
          </a:prstGeom>
          <a:noFill/>
        </p:spPr>
        <p:txBody>
          <a:bodyPr wrap="square">
            <a:spAutoFit/>
          </a:bodyPr>
          <a:lstStyle/>
          <a:p>
            <a:r>
              <a:rPr lang="en-US" altLang="zh-CN" b="0" i="0" dirty="0" err="1">
                <a:solidFill>
                  <a:srgbClr val="050E17"/>
                </a:solidFill>
                <a:effectLst/>
                <a:latin typeface="-apple-system"/>
              </a:rPr>
              <a:t>ndarray</a:t>
            </a:r>
            <a:r>
              <a:rPr lang="zh-CN" altLang="en-US" b="0" i="0" dirty="0">
                <a:solidFill>
                  <a:srgbClr val="050E17"/>
                </a:solidFill>
                <a:effectLst/>
                <a:latin typeface="-apple-system"/>
              </a:rPr>
              <a:t>类的</a:t>
            </a:r>
            <a:r>
              <a:rPr lang="en-US" altLang="zh-CN" b="0" i="0" dirty="0">
                <a:solidFill>
                  <a:srgbClr val="FF0000"/>
                </a:solidFill>
                <a:effectLst/>
                <a:latin typeface="-apple-system"/>
              </a:rPr>
              <a:t>sort()</a:t>
            </a:r>
            <a:r>
              <a:rPr lang="zh-CN" altLang="en-US" b="0" i="0" dirty="0">
                <a:solidFill>
                  <a:srgbClr val="050E17"/>
                </a:solidFill>
                <a:effectLst/>
                <a:latin typeface="-apple-system"/>
              </a:rPr>
              <a:t>函数能够</a:t>
            </a:r>
            <a:r>
              <a:rPr lang="zh-CN" altLang="en-US" b="0" i="0" dirty="0">
                <a:solidFill>
                  <a:srgbClr val="FF0000"/>
                </a:solidFill>
                <a:effectLst/>
                <a:latin typeface="-apple-system"/>
              </a:rPr>
              <a:t>对数组进行排序</a:t>
            </a:r>
            <a:r>
              <a:rPr lang="zh-CN" altLang="en-US" b="0" i="0" dirty="0">
                <a:solidFill>
                  <a:srgbClr val="050E17"/>
                </a:solidFill>
                <a:effectLst/>
                <a:latin typeface="-apple-system"/>
              </a:rPr>
              <a:t>，默认按行进行排序。可以指定轴参数沿任意维度进行操作。当 </a:t>
            </a:r>
            <a:r>
              <a:rPr lang="en-US" altLang="zh-CN" b="0" i="0" dirty="0">
                <a:solidFill>
                  <a:srgbClr val="050E17"/>
                </a:solidFill>
                <a:effectLst/>
                <a:latin typeface="-apple-system"/>
              </a:rPr>
              <a:t>axis </a:t>
            </a:r>
            <a:r>
              <a:rPr lang="zh-CN" altLang="en-US" b="0" i="0" dirty="0">
                <a:solidFill>
                  <a:srgbClr val="050E17"/>
                </a:solidFill>
                <a:effectLst/>
                <a:latin typeface="-apple-system"/>
              </a:rPr>
              <a:t>值为 </a:t>
            </a:r>
            <a:r>
              <a:rPr lang="en-US" altLang="zh-CN" b="0" i="0" dirty="0">
                <a:solidFill>
                  <a:srgbClr val="050E17"/>
                </a:solidFill>
                <a:effectLst/>
                <a:latin typeface="-apple-system"/>
              </a:rPr>
              <a:t>1 </a:t>
            </a:r>
            <a:r>
              <a:rPr lang="zh-CN" altLang="en-US" b="0" i="0" dirty="0">
                <a:solidFill>
                  <a:srgbClr val="050E17"/>
                </a:solidFill>
                <a:effectLst/>
                <a:latin typeface="-apple-system"/>
              </a:rPr>
              <a:t>时，将会对每一行进行排序；当 </a:t>
            </a:r>
            <a:r>
              <a:rPr lang="en-US" altLang="zh-CN" b="0" i="0" dirty="0">
                <a:solidFill>
                  <a:srgbClr val="050E17"/>
                </a:solidFill>
                <a:effectLst/>
                <a:latin typeface="-apple-system"/>
              </a:rPr>
              <a:t>axis </a:t>
            </a:r>
            <a:r>
              <a:rPr lang="zh-CN" altLang="en-US" b="0" i="0" dirty="0">
                <a:solidFill>
                  <a:srgbClr val="050E17"/>
                </a:solidFill>
                <a:effectLst/>
                <a:latin typeface="-apple-system"/>
              </a:rPr>
              <a:t>值为 </a:t>
            </a:r>
            <a:r>
              <a:rPr lang="en-US" altLang="zh-CN" b="0" i="0" dirty="0">
                <a:solidFill>
                  <a:srgbClr val="050E17"/>
                </a:solidFill>
                <a:effectLst/>
                <a:latin typeface="-apple-system"/>
              </a:rPr>
              <a:t>0 </a:t>
            </a:r>
            <a:r>
              <a:rPr lang="zh-CN" altLang="en-US" b="0" i="0" dirty="0">
                <a:solidFill>
                  <a:srgbClr val="050E17"/>
                </a:solidFill>
                <a:effectLst/>
                <a:latin typeface="-apple-system"/>
              </a:rPr>
              <a:t>时，将会对一列进行排序。例如：</a:t>
            </a:r>
            <a:endParaRPr lang="en-US" altLang="zh-CN" b="0" i="0" dirty="0">
              <a:solidFill>
                <a:srgbClr val="141718"/>
              </a:solidFill>
              <a:effectLst/>
              <a:latin typeface="__Karla_fd2630"/>
            </a:endParaRPr>
          </a:p>
        </p:txBody>
      </p:sp>
      <p:sp>
        <p:nvSpPr>
          <p:cNvPr id="6" name="文本框 5"/>
          <p:cNvSpPr txBox="1"/>
          <p:nvPr/>
        </p:nvSpPr>
        <p:spPr>
          <a:xfrm>
            <a:off x="874552" y="2395246"/>
            <a:ext cx="6094602" cy="2862322"/>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np.sort</a:t>
            </a:r>
            <a:r>
              <a:rPr lang="en-US" altLang="zh-CN" b="0" dirty="0">
                <a:solidFill>
                  <a:srgbClr val="24292E"/>
                </a:solidFill>
                <a:effectLst/>
                <a:latin typeface="Consolas" panose="020B0609020204030204" pitchFamily="49" charset="0"/>
              </a:rPr>
              <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默认按行排序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5</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6579066" y="2395246"/>
            <a:ext cx="6094602"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np.sort</a:t>
            </a:r>
            <a:r>
              <a:rPr lang="en-US" altLang="zh-CN" b="0" dirty="0">
                <a:solidFill>
                  <a:srgbClr val="24292E"/>
                </a:solidFill>
                <a:effectLst/>
                <a:latin typeface="Consolas" panose="020B0609020204030204" pitchFamily="49" charset="0"/>
              </a:rPr>
              <a:t>(a,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按行排序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5</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np.sort</a:t>
            </a:r>
            <a:r>
              <a:rPr lang="en-US" altLang="zh-CN" b="0" dirty="0">
                <a:solidFill>
                  <a:srgbClr val="24292E"/>
                </a:solidFill>
                <a:effectLst/>
                <a:latin typeface="Consolas" panose="020B0609020204030204" pitchFamily="49" charset="0"/>
              </a:rPr>
              <a:t>(a,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按列排序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zh-CN" altLang="en-US" dirty="0"/>
          </a:p>
        </p:txBody>
      </p:sp>
    </p:spTree>
    <p:custDataLst>
      <p:tags r:id="rId1"/>
    </p:custData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2.3.3 </a:t>
            </a:r>
            <a:r>
              <a:rPr lang="zh-CN" altLang="en-US" dirty="0">
                <a:solidFill>
                  <a:srgbClr val="577CCE"/>
                </a:solidFill>
                <a:latin typeface="+mn-ea"/>
              </a:rPr>
              <a:t>基本运算</a:t>
            </a:r>
            <a:endParaRPr lang="en-US" altLang="zh-CN" sz="1800" dirty="0">
              <a:solidFill>
                <a:srgbClr val="577CCE"/>
              </a:solidFill>
              <a:latin typeface="+mn-ea"/>
            </a:endParaRPr>
          </a:p>
        </p:txBody>
      </p:sp>
      <p:sp>
        <p:nvSpPr>
          <p:cNvPr id="5" name="文本框 4"/>
          <p:cNvSpPr txBox="1"/>
          <p:nvPr/>
        </p:nvSpPr>
        <p:spPr>
          <a:xfrm>
            <a:off x="616936" y="1748915"/>
            <a:ext cx="10968259" cy="646331"/>
          </a:xfrm>
          <a:prstGeom prst="rect">
            <a:avLst/>
          </a:prstGeom>
          <a:noFill/>
        </p:spPr>
        <p:txBody>
          <a:bodyPr wrap="square">
            <a:spAutoFit/>
          </a:bodyPr>
          <a:lstStyle/>
          <a:p>
            <a:r>
              <a:rPr lang="en-US" altLang="zh-CN" b="0" i="0" dirty="0" err="1">
                <a:solidFill>
                  <a:srgbClr val="050E17"/>
                </a:solidFill>
                <a:effectLst/>
                <a:latin typeface="-apple-system"/>
              </a:rPr>
              <a:t>ndarray</a:t>
            </a:r>
            <a:r>
              <a:rPr lang="zh-CN" altLang="en-US" b="0" i="0" dirty="0">
                <a:solidFill>
                  <a:srgbClr val="050E17"/>
                </a:solidFill>
                <a:effectLst/>
                <a:latin typeface="-apple-system"/>
              </a:rPr>
              <a:t>类具有一个特殊的</a:t>
            </a:r>
            <a:r>
              <a:rPr lang="en-US" altLang="zh-CN" b="0" i="0" dirty="0">
                <a:solidFill>
                  <a:srgbClr val="FF0000"/>
                </a:solidFill>
                <a:effectLst/>
                <a:latin typeface="-apple-system"/>
              </a:rPr>
              <a:t>T</a:t>
            </a:r>
            <a:r>
              <a:rPr lang="zh-CN" altLang="en-US" b="0" i="0" dirty="0">
                <a:solidFill>
                  <a:srgbClr val="FF0000"/>
                </a:solidFill>
                <a:effectLst/>
                <a:latin typeface="-apple-system"/>
              </a:rPr>
              <a:t>属性</a:t>
            </a:r>
            <a:r>
              <a:rPr lang="zh-CN" altLang="en-US" b="0" i="0" dirty="0">
                <a:solidFill>
                  <a:srgbClr val="050E17"/>
                </a:solidFill>
                <a:effectLst/>
                <a:latin typeface="-apple-system"/>
              </a:rPr>
              <a:t>，能够直接</a:t>
            </a:r>
            <a:r>
              <a:rPr lang="zh-CN" altLang="en-US" b="0" i="0" dirty="0">
                <a:solidFill>
                  <a:srgbClr val="FF0000"/>
                </a:solidFill>
                <a:effectLst/>
                <a:latin typeface="-apple-system"/>
              </a:rPr>
              <a:t>对数组进行转置操作</a:t>
            </a:r>
            <a:r>
              <a:rPr lang="zh-CN" altLang="en-US" b="0" i="0" dirty="0">
                <a:solidFill>
                  <a:srgbClr val="050E17"/>
                </a:solidFill>
                <a:effectLst/>
                <a:latin typeface="-apple-system"/>
              </a:rPr>
              <a:t>。于一维数组，</a:t>
            </a:r>
            <a:r>
              <a:rPr lang="en-US" altLang="zh-CN" b="0" i="0" dirty="0">
                <a:solidFill>
                  <a:srgbClr val="050E17"/>
                </a:solidFill>
                <a:effectLst/>
                <a:latin typeface="-apple-system"/>
              </a:rPr>
              <a:t>T</a:t>
            </a:r>
            <a:r>
              <a:rPr lang="zh-CN" altLang="en-US" b="0" i="0" dirty="0">
                <a:solidFill>
                  <a:srgbClr val="050E17"/>
                </a:solidFill>
                <a:effectLst/>
                <a:latin typeface="-apple-system"/>
              </a:rPr>
              <a:t>属性的结果和原数组是一样的。</a:t>
            </a:r>
            <a:endParaRPr lang="en-US" altLang="zh-CN" b="0" i="0" dirty="0">
              <a:solidFill>
                <a:srgbClr val="141718"/>
              </a:solidFill>
              <a:effectLst/>
              <a:latin typeface="__Karla_fd2630"/>
            </a:endParaRPr>
          </a:p>
        </p:txBody>
      </p:sp>
      <p:sp>
        <p:nvSpPr>
          <p:cNvPr id="4" name="文本框 3"/>
          <p:cNvSpPr txBox="1"/>
          <p:nvPr/>
        </p:nvSpPr>
        <p:spPr>
          <a:xfrm>
            <a:off x="736134" y="2277550"/>
            <a:ext cx="6386120"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7122254" y="2277550"/>
            <a:ext cx="4568731" cy="397031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b.T</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shape</a:t>
            </a:r>
            <a:r>
              <a:rPr lang="zh-CN" altLang="en-US" b="0" dirty="0">
                <a:solidFill>
                  <a:srgbClr val="6A737D"/>
                </a:solidFill>
                <a:effectLst/>
                <a:latin typeface="Consolas" panose="020B0609020204030204" pitchFamily="49" charset="0"/>
              </a:rPr>
              <a:t>由原来的</a:t>
            </a:r>
            <a:r>
              <a:rPr lang="en-US" altLang="zh-CN" b="0" dirty="0">
                <a:solidFill>
                  <a:srgbClr val="6A737D"/>
                </a:solidFill>
                <a:effectLst/>
                <a:latin typeface="Consolas" panose="020B0609020204030204" pitchFamily="49" charset="0"/>
              </a:rPr>
              <a:t>(2,3,4)</a:t>
            </a:r>
            <a:r>
              <a:rPr lang="zh-CN" altLang="en-US" b="0" dirty="0">
                <a:solidFill>
                  <a:srgbClr val="6A737D"/>
                </a:solidFill>
                <a:effectLst/>
                <a:latin typeface="Consolas" panose="020B0609020204030204" pitchFamily="49" charset="0"/>
              </a:rPr>
              <a:t>变为</a:t>
            </a:r>
            <a:r>
              <a:rPr lang="en-US" altLang="zh-CN" b="0" dirty="0">
                <a:solidFill>
                  <a:srgbClr val="6A737D"/>
                </a:solidFill>
                <a:effectLst/>
                <a:latin typeface="Consolas" panose="020B0609020204030204" pitchFamily="49" charset="0"/>
              </a:rPr>
              <a:t>(4,3,2)</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24</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16</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23</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18</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14</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17</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13</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2.3.4 </a:t>
            </a:r>
            <a:r>
              <a:rPr lang="zh-CN" altLang="en-US" sz="1800" dirty="0">
                <a:solidFill>
                  <a:srgbClr val="577CCE"/>
                </a:solidFill>
                <a:latin typeface="+mn-ea"/>
              </a:rPr>
              <a:t>索引、切片和迭代</a:t>
            </a:r>
            <a:endParaRPr lang="en-US" altLang="zh-CN" sz="1800" dirty="0">
              <a:solidFill>
                <a:srgbClr val="577CCE"/>
              </a:solidFill>
              <a:latin typeface="+mn-ea"/>
            </a:endParaRPr>
          </a:p>
        </p:txBody>
      </p:sp>
      <p:sp>
        <p:nvSpPr>
          <p:cNvPr id="2" name="文本框 1"/>
          <p:cNvSpPr txBox="1"/>
          <p:nvPr/>
        </p:nvSpPr>
        <p:spPr>
          <a:xfrm>
            <a:off x="616936" y="1748915"/>
            <a:ext cx="10968259" cy="369332"/>
          </a:xfrm>
          <a:prstGeom prst="rect">
            <a:avLst/>
          </a:prstGeom>
          <a:noFill/>
        </p:spPr>
        <p:txBody>
          <a:bodyPr wrap="square">
            <a:spAutoFit/>
          </a:bodyPr>
          <a:lstStyle/>
          <a:p>
            <a:r>
              <a:rPr lang="en-US" altLang="zh-CN" b="0" i="0" dirty="0">
                <a:solidFill>
                  <a:srgbClr val="050E17"/>
                </a:solidFill>
                <a:effectLst/>
                <a:latin typeface="-apple-system"/>
              </a:rPr>
              <a:t>(1) </a:t>
            </a:r>
            <a:r>
              <a:rPr lang="zh-CN" altLang="en-US" b="0" i="0" dirty="0">
                <a:solidFill>
                  <a:srgbClr val="050E17"/>
                </a:solidFill>
                <a:effectLst/>
                <a:latin typeface="-apple-system"/>
              </a:rPr>
              <a:t>索引操作</a:t>
            </a:r>
            <a:endParaRPr lang="en-US" altLang="zh-CN" b="0" i="0" dirty="0">
              <a:solidFill>
                <a:srgbClr val="141718"/>
              </a:solidFill>
              <a:effectLst/>
              <a:latin typeface="__Karla_fd2630"/>
            </a:endParaRPr>
          </a:p>
        </p:txBody>
      </p:sp>
      <p:sp>
        <p:nvSpPr>
          <p:cNvPr id="7" name="文本框 6"/>
          <p:cNvSpPr txBox="1"/>
          <p:nvPr/>
        </p:nvSpPr>
        <p:spPr>
          <a:xfrm>
            <a:off x="765497" y="2277550"/>
            <a:ext cx="6094602" cy="2862322"/>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一维索引</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1, 2, 3, 4, 5, 6, 7, 8, 9])</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2</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array([1, 2, 3, 4])</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5780015" y="1748915"/>
            <a:ext cx="6309919" cy="4801314"/>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多维索引</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array([[ 0,  1,  2,  3],</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[ 4,  5,  6,  7],</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[ 8,  9, 10, 11]])</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第一种索引方法</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10</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第二种索引方法</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10</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第三种索引方法取</a:t>
            </a:r>
            <a:r>
              <a:rPr lang="en-US" altLang="zh-CN" b="0" dirty="0">
                <a:solidFill>
                  <a:srgbClr val="6A737D"/>
                </a:solidFill>
                <a:effectLst/>
                <a:latin typeface="Consolas" panose="020B0609020204030204" pitchFamily="49" charset="0"/>
              </a:rPr>
              <a:t>(0,0),(0,1),(1,2)</a:t>
            </a:r>
            <a:r>
              <a:rPr lang="en-US" altLang="zh-CN" dirty="0">
                <a:solidFill>
                  <a:srgbClr val="6A737D"/>
                </a:solidFill>
                <a:latin typeface="Consolas" panose="020B0609020204030204" pitchFamily="49" charset="0"/>
              </a:rPr>
              <a:t>,(1,3)</a:t>
            </a:r>
            <a:r>
              <a:rPr lang="zh-CN" altLang="en-US" dirty="0">
                <a:solidFill>
                  <a:srgbClr val="6A737D"/>
                </a:solidFill>
                <a:latin typeface="Consolas" panose="020B0609020204030204" pitchFamily="49" charset="0"/>
              </a:rPr>
              <a:t>四</a:t>
            </a:r>
            <a:r>
              <a:rPr lang="zh-CN" altLang="en-US" b="0" dirty="0">
                <a:solidFill>
                  <a:srgbClr val="6A737D"/>
                </a:solidFill>
                <a:effectLst/>
                <a:latin typeface="Consolas" panose="020B0609020204030204" pitchFamily="49" charset="0"/>
              </a:rPr>
              <a:t>个位置的元素</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array([ 0,  1,  6,  7])</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2.3.4 </a:t>
            </a:r>
            <a:r>
              <a:rPr lang="zh-CN" altLang="en-US" sz="1800" dirty="0">
                <a:solidFill>
                  <a:srgbClr val="577CCE"/>
                </a:solidFill>
                <a:latin typeface="+mn-ea"/>
              </a:rPr>
              <a:t>索引、切片和迭代</a:t>
            </a:r>
            <a:endParaRPr lang="en-US" altLang="zh-CN" sz="1800" dirty="0">
              <a:solidFill>
                <a:srgbClr val="577CCE"/>
              </a:solidFill>
              <a:latin typeface="+mn-ea"/>
            </a:endParaRPr>
          </a:p>
        </p:txBody>
      </p:sp>
      <p:sp>
        <p:nvSpPr>
          <p:cNvPr id="2" name="文本框 1"/>
          <p:cNvSpPr txBox="1"/>
          <p:nvPr/>
        </p:nvSpPr>
        <p:spPr>
          <a:xfrm>
            <a:off x="616936" y="1748915"/>
            <a:ext cx="10968259" cy="369332"/>
          </a:xfrm>
          <a:prstGeom prst="rect">
            <a:avLst/>
          </a:prstGeom>
          <a:noFill/>
        </p:spPr>
        <p:txBody>
          <a:bodyPr wrap="square">
            <a:spAutoFit/>
          </a:bodyPr>
          <a:lstStyle/>
          <a:p>
            <a:r>
              <a:rPr lang="en-US" altLang="zh-CN" b="0" i="0" dirty="0">
                <a:solidFill>
                  <a:srgbClr val="050E17"/>
                </a:solidFill>
                <a:effectLst/>
                <a:latin typeface="-apple-system"/>
              </a:rPr>
              <a:t>(</a:t>
            </a:r>
            <a:r>
              <a:rPr lang="en-US" altLang="zh-CN" dirty="0">
                <a:solidFill>
                  <a:srgbClr val="050E17"/>
                </a:solidFill>
                <a:latin typeface="-apple-system"/>
              </a:rPr>
              <a:t>2</a:t>
            </a:r>
            <a:r>
              <a:rPr lang="en-US" altLang="zh-CN" b="0" i="0" dirty="0">
                <a:solidFill>
                  <a:srgbClr val="050E17"/>
                </a:solidFill>
                <a:effectLst/>
                <a:latin typeface="-apple-system"/>
              </a:rPr>
              <a:t>) </a:t>
            </a:r>
            <a:r>
              <a:rPr lang="zh-CN" altLang="en-US" b="0" i="0" dirty="0">
                <a:solidFill>
                  <a:srgbClr val="050E17"/>
                </a:solidFill>
                <a:effectLst/>
                <a:latin typeface="-apple-system"/>
              </a:rPr>
              <a:t>切片操作</a:t>
            </a:r>
            <a:endParaRPr lang="en-US" altLang="zh-CN" b="0" i="0" dirty="0">
              <a:solidFill>
                <a:srgbClr val="141718"/>
              </a:solidFill>
              <a:effectLst/>
              <a:latin typeface="__Karla_fd2630"/>
            </a:endParaRPr>
          </a:p>
        </p:txBody>
      </p:sp>
      <p:sp>
        <p:nvSpPr>
          <p:cNvPr id="5" name="文本框 4"/>
          <p:cNvSpPr txBox="1"/>
          <p:nvPr/>
        </p:nvSpPr>
        <p:spPr>
          <a:xfrm>
            <a:off x="782274" y="2206196"/>
            <a:ext cx="6094602" cy="369332"/>
          </a:xfrm>
          <a:prstGeom prst="rect">
            <a:avLst/>
          </a:prstGeom>
          <a:noFill/>
        </p:spPr>
        <p:txBody>
          <a:bodyPr wrap="square">
            <a:spAutoFit/>
          </a:bodyPr>
          <a:lstStyle/>
          <a:p>
            <a:r>
              <a:rPr lang="en-US" altLang="zh-CN" b="0" i="0" dirty="0" err="1">
                <a:solidFill>
                  <a:srgbClr val="050E17"/>
                </a:solidFill>
                <a:effectLst/>
                <a:latin typeface="-apple-system"/>
              </a:rPr>
              <a:t>Numpy</a:t>
            </a:r>
            <a:r>
              <a:rPr lang="zh-CN" altLang="en-US" b="0" i="0" dirty="0">
                <a:solidFill>
                  <a:srgbClr val="050E17"/>
                </a:solidFill>
                <a:effectLst/>
                <a:latin typeface="-apple-system"/>
              </a:rPr>
              <a:t>一维数组的切片操作示例如下：</a:t>
            </a:r>
            <a:endParaRPr lang="zh-CN" altLang="en-US" dirty="0"/>
          </a:p>
        </p:txBody>
      </p:sp>
      <p:sp>
        <p:nvSpPr>
          <p:cNvPr id="8" name="文本框 7"/>
          <p:cNvSpPr txBox="1"/>
          <p:nvPr/>
        </p:nvSpPr>
        <p:spPr>
          <a:xfrm>
            <a:off x="782274" y="2697141"/>
            <a:ext cx="4242732" cy="1754326"/>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设置步长为</a:t>
            </a:r>
            <a:r>
              <a:rPr lang="en-US" altLang="zh-CN" b="0" dirty="0">
                <a:solidFill>
                  <a:srgbClr val="6A737D"/>
                </a:solidFill>
                <a:effectLst/>
                <a:latin typeface="Consolas" panose="020B0609020204030204" pitchFamily="49" charset="0"/>
              </a:rPr>
              <a:t>2</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array([4, 6])</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
        <p:nvSpPr>
          <p:cNvPr id="11" name="文本框 10"/>
          <p:cNvSpPr txBox="1"/>
          <p:nvPr/>
        </p:nvSpPr>
        <p:spPr>
          <a:xfrm>
            <a:off x="5268287" y="1748915"/>
            <a:ext cx="6560190" cy="4524315"/>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先取两行，再取两列。注意不同于</a:t>
            </a:r>
            <a:r>
              <a:rPr lang="en-US" altLang="zh-CN" b="0" dirty="0">
                <a:solidFill>
                  <a:srgbClr val="6A737D"/>
                </a:solidFill>
                <a:effectLst/>
                <a:latin typeface="Consolas" panose="020B0609020204030204" pitchFamily="49" charset="0"/>
              </a:rPr>
              <a:t>b[0:2][0:2]</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1],</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[4, 5]])</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如果提供的索引少于数组的维度数，那么缺少的索引将被视为完整切片。</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1, 2, 3],</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[4, 5, 6, 7]])</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a:t>
            </a:r>
            <a:r>
              <a:rPr lang="en-US" altLang="zh-CN" b="0" dirty="0">
                <a:solidFill>
                  <a:srgbClr val="6A737D"/>
                </a:solidFill>
                <a:effectLst/>
                <a:latin typeface="Consolas" panose="020B0609020204030204" pitchFamily="49" charset="0"/>
              </a:rPr>
              <a:t>b[0:2]</a:t>
            </a:r>
            <a:r>
              <a:rPr lang="zh-CN" altLang="en-US" b="0" dirty="0">
                <a:solidFill>
                  <a:srgbClr val="6A737D"/>
                </a:solidFill>
                <a:effectLst/>
                <a:latin typeface="Consolas" panose="020B0609020204030204" pitchFamily="49" charset="0"/>
              </a:rPr>
              <a:t>等价</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1, 2, 3],</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[4, 5, 6, 7]])</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(b[:</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类似于</a:t>
            </a:r>
            <a:r>
              <a:rPr lang="en-US" altLang="zh-CN" b="0" dirty="0">
                <a:solidFill>
                  <a:srgbClr val="6A737D"/>
                </a:solidFill>
                <a:effectLst/>
                <a:latin typeface="Consolas" panose="020B0609020204030204" pitchFamily="49" charset="0"/>
              </a:rPr>
              <a:t>Python</a:t>
            </a:r>
            <a:r>
              <a:rPr lang="zh-CN" altLang="en-US" b="0" dirty="0">
                <a:solidFill>
                  <a:srgbClr val="6A737D"/>
                </a:solidFill>
                <a:effectLst/>
                <a:latin typeface="Consolas" panose="020B0609020204030204" pitchFamily="49" charset="0"/>
              </a:rPr>
              <a:t>中的切片，参数可以为负值或省略</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array([[3, 2, 1, 0],</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[7, 6, 5, 4]])</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5268287" y="1375395"/>
            <a:ext cx="6094602" cy="369332"/>
          </a:xfrm>
          <a:prstGeom prst="rect">
            <a:avLst/>
          </a:prstGeom>
          <a:noFill/>
        </p:spPr>
        <p:txBody>
          <a:bodyPr wrap="square">
            <a:spAutoFit/>
          </a:bodyPr>
          <a:lstStyle/>
          <a:p>
            <a:r>
              <a:rPr lang="zh-CN" altLang="en-US" b="0" i="0" dirty="0">
                <a:solidFill>
                  <a:srgbClr val="050E17"/>
                </a:solidFill>
                <a:effectLst/>
                <a:latin typeface="-apple-system"/>
              </a:rPr>
              <a:t>多维组合切片：</a:t>
            </a:r>
            <a:endParaRPr lang="zh-CN" altLang="en-US" dirty="0"/>
          </a:p>
        </p:txBody>
      </p:sp>
    </p:spTree>
    <p:custDataLst>
      <p:tags r:id="rId1"/>
    </p:custData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2.3.4 </a:t>
            </a:r>
            <a:r>
              <a:rPr lang="zh-CN" altLang="en-US" sz="1800" dirty="0">
                <a:solidFill>
                  <a:srgbClr val="577CCE"/>
                </a:solidFill>
                <a:latin typeface="+mn-ea"/>
              </a:rPr>
              <a:t>索引、切片和迭代</a:t>
            </a:r>
            <a:endParaRPr lang="en-US" altLang="zh-CN" sz="1800" dirty="0">
              <a:solidFill>
                <a:srgbClr val="577CCE"/>
              </a:solidFill>
              <a:latin typeface="+mn-ea"/>
            </a:endParaRPr>
          </a:p>
        </p:txBody>
      </p:sp>
      <p:sp>
        <p:nvSpPr>
          <p:cNvPr id="2" name="文本框 1"/>
          <p:cNvSpPr txBox="1"/>
          <p:nvPr/>
        </p:nvSpPr>
        <p:spPr>
          <a:xfrm>
            <a:off x="616936" y="1748915"/>
            <a:ext cx="10968259" cy="369332"/>
          </a:xfrm>
          <a:prstGeom prst="rect">
            <a:avLst/>
          </a:prstGeom>
          <a:noFill/>
        </p:spPr>
        <p:txBody>
          <a:bodyPr wrap="square">
            <a:spAutoFit/>
          </a:bodyPr>
          <a:lstStyle/>
          <a:p>
            <a:r>
              <a:rPr lang="en-US" altLang="zh-CN" b="0" i="0" dirty="0">
                <a:solidFill>
                  <a:srgbClr val="050E17"/>
                </a:solidFill>
                <a:effectLst/>
                <a:latin typeface="-apple-system"/>
              </a:rPr>
              <a:t>(</a:t>
            </a:r>
            <a:r>
              <a:rPr lang="en-US" altLang="zh-CN" dirty="0">
                <a:solidFill>
                  <a:srgbClr val="050E17"/>
                </a:solidFill>
                <a:latin typeface="-apple-system"/>
              </a:rPr>
              <a:t>2</a:t>
            </a:r>
            <a:r>
              <a:rPr lang="en-US" altLang="zh-CN" b="0" i="0" dirty="0">
                <a:solidFill>
                  <a:srgbClr val="050E17"/>
                </a:solidFill>
                <a:effectLst/>
                <a:latin typeface="-apple-system"/>
              </a:rPr>
              <a:t>) </a:t>
            </a:r>
            <a:r>
              <a:rPr lang="zh-CN" altLang="en-US" b="0" i="0" dirty="0">
                <a:solidFill>
                  <a:srgbClr val="050E17"/>
                </a:solidFill>
                <a:effectLst/>
                <a:latin typeface="-apple-system"/>
              </a:rPr>
              <a:t>切片操作</a:t>
            </a:r>
            <a:endParaRPr lang="en-US" altLang="zh-CN" b="0" i="0" dirty="0">
              <a:solidFill>
                <a:srgbClr val="141718"/>
              </a:solidFill>
              <a:effectLst/>
              <a:latin typeface="__Karla_fd2630"/>
            </a:endParaRPr>
          </a:p>
        </p:txBody>
      </p:sp>
      <p:sp>
        <p:nvSpPr>
          <p:cNvPr id="5" name="文本框 4"/>
          <p:cNvSpPr txBox="1"/>
          <p:nvPr/>
        </p:nvSpPr>
        <p:spPr>
          <a:xfrm>
            <a:off x="782273" y="2206196"/>
            <a:ext cx="8638563" cy="369332"/>
          </a:xfrm>
          <a:prstGeom prst="rect">
            <a:avLst/>
          </a:prstGeom>
          <a:noFill/>
        </p:spPr>
        <p:txBody>
          <a:bodyPr wrap="square">
            <a:spAutoFit/>
          </a:bodyPr>
          <a:lstStyle/>
          <a:p>
            <a:r>
              <a:rPr lang="en-US" altLang="zh-CN" b="0" i="0" dirty="0" err="1">
                <a:solidFill>
                  <a:srgbClr val="050E17"/>
                </a:solidFill>
                <a:effectLst/>
                <a:latin typeface="-apple-system"/>
              </a:rPr>
              <a:t>Numpy</a:t>
            </a:r>
            <a:r>
              <a:rPr lang="zh-CN" altLang="en-US" b="0" i="0" dirty="0">
                <a:solidFill>
                  <a:srgbClr val="050E17"/>
                </a:solidFill>
                <a:effectLst/>
                <a:latin typeface="-apple-system"/>
              </a:rPr>
              <a:t>数组既支持布尔方式切片，也支持调整行或列顺序的切片方式。</a:t>
            </a:r>
            <a:endParaRPr lang="zh-CN" altLang="en-US" dirty="0"/>
          </a:p>
        </p:txBody>
      </p:sp>
      <p:sp>
        <p:nvSpPr>
          <p:cNvPr id="6" name="文本框 5"/>
          <p:cNvSpPr txBox="1"/>
          <p:nvPr/>
        </p:nvSpPr>
        <p:spPr>
          <a:xfrm>
            <a:off x="762699" y="2575528"/>
            <a:ext cx="11292281" cy="397031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 [</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False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去列表中对应列索引为</a:t>
            </a:r>
            <a:r>
              <a:rPr lang="en-US" altLang="zh-CN" b="0" dirty="0">
                <a:solidFill>
                  <a:srgbClr val="6A737D"/>
                </a:solidFill>
                <a:effectLst/>
                <a:latin typeface="Consolas" panose="020B0609020204030204" pitchFamily="49" charset="0"/>
              </a:rPr>
              <a:t>False</a:t>
            </a:r>
            <a:r>
              <a:rPr lang="zh-CN" altLang="en-US" b="0" dirty="0">
                <a:solidFill>
                  <a:srgbClr val="6A737D"/>
                </a:solidFill>
                <a:effectLst/>
                <a:latin typeface="Consolas" panose="020B0609020204030204" pitchFamily="49" charset="0"/>
              </a:rPr>
              <a:t>的列即第二列被删掉</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array([[0, 2],</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[3, 5]])</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 a[</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第二行只有第</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列和第</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列的值大于</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，对应的列被保留，第一列被删除</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array([[1, 2],</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[4, 5]])</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按列表中的行索引对数组调整，得到 </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(3,3)</a:t>
            </a:r>
            <a:r>
              <a:rPr lang="zh-CN" altLang="en-US" b="0" dirty="0">
                <a:solidFill>
                  <a:srgbClr val="6A737D"/>
                </a:solidFill>
                <a:effectLst/>
                <a:latin typeface="Consolas" panose="020B0609020204030204" pitchFamily="49" charset="0"/>
              </a:rPr>
              <a:t>的数组</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array([[3, 4, 5],</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[0, 1, 2],</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[3, 4, 5]])</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按列表中的列索引顺序对数组调整，得到 </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(2,5)</a:t>
            </a:r>
            <a:r>
              <a:rPr lang="zh-CN" altLang="en-US" b="0" dirty="0">
                <a:solidFill>
                  <a:srgbClr val="6A737D"/>
                </a:solidFill>
                <a:effectLst/>
                <a:latin typeface="Consolas" panose="020B0609020204030204" pitchFamily="49" charset="0"/>
              </a:rPr>
              <a:t>的数组</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array([[1, 0, 1, 0, 2],</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[4, 3, 4, 3, 5]])</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2.3.5 </a:t>
            </a:r>
            <a:r>
              <a:rPr lang="zh-CN" altLang="en-US" sz="1800" dirty="0">
                <a:solidFill>
                  <a:srgbClr val="577CCE"/>
                </a:solidFill>
                <a:latin typeface="+mn-ea"/>
              </a:rPr>
              <a:t>数组合并</a:t>
            </a:r>
            <a:endParaRPr lang="en-US" altLang="zh-CN" sz="1800" dirty="0">
              <a:solidFill>
                <a:srgbClr val="577CCE"/>
              </a:solidFill>
              <a:latin typeface="+mn-ea"/>
            </a:endParaRPr>
          </a:p>
        </p:txBody>
      </p:sp>
      <p:sp>
        <p:nvSpPr>
          <p:cNvPr id="2" name="文本框 1"/>
          <p:cNvSpPr txBox="1"/>
          <p:nvPr/>
        </p:nvSpPr>
        <p:spPr>
          <a:xfrm>
            <a:off x="616936" y="1748915"/>
            <a:ext cx="10968259" cy="369332"/>
          </a:xfrm>
          <a:prstGeom prst="rect">
            <a:avLst/>
          </a:prstGeom>
          <a:noFill/>
        </p:spPr>
        <p:txBody>
          <a:bodyPr wrap="square">
            <a:spAutoFit/>
          </a:bodyPr>
          <a:lstStyle/>
          <a:p>
            <a:r>
              <a:rPr lang="en-US" altLang="zh-CN" dirty="0">
                <a:solidFill>
                  <a:srgbClr val="050E17"/>
                </a:solidFill>
                <a:latin typeface="-apple-system"/>
              </a:rPr>
              <a:t>(</a:t>
            </a:r>
            <a:r>
              <a:rPr lang="en-US" altLang="zh-CN" b="0" i="0" dirty="0">
                <a:solidFill>
                  <a:srgbClr val="050E17"/>
                </a:solidFill>
                <a:effectLst/>
                <a:latin typeface="-apple-system"/>
              </a:rPr>
              <a:t>1</a:t>
            </a:r>
            <a:r>
              <a:rPr lang="en-US" altLang="zh-CN" dirty="0">
                <a:solidFill>
                  <a:srgbClr val="050E17"/>
                </a:solidFill>
                <a:latin typeface="-apple-system"/>
              </a:rPr>
              <a:t>) </a:t>
            </a:r>
            <a:r>
              <a:rPr lang="zh-CN" altLang="en-US" b="0" i="0" dirty="0">
                <a:solidFill>
                  <a:srgbClr val="050E17"/>
                </a:solidFill>
                <a:effectLst/>
                <a:latin typeface="-apple-system"/>
              </a:rPr>
              <a:t>纵向合并</a:t>
            </a:r>
            <a:endParaRPr lang="en-US" altLang="zh-CN" b="0" i="0" dirty="0">
              <a:solidFill>
                <a:srgbClr val="141718"/>
              </a:solidFill>
              <a:effectLst/>
              <a:latin typeface="__Karla_fd2630"/>
            </a:endParaRPr>
          </a:p>
        </p:txBody>
      </p:sp>
      <p:sp>
        <p:nvSpPr>
          <p:cNvPr id="5" name="文本框 4"/>
          <p:cNvSpPr txBox="1"/>
          <p:nvPr/>
        </p:nvSpPr>
        <p:spPr>
          <a:xfrm>
            <a:off x="782273" y="2151811"/>
            <a:ext cx="11180428" cy="923330"/>
          </a:xfrm>
          <a:prstGeom prst="rect">
            <a:avLst/>
          </a:prstGeom>
          <a:noFill/>
        </p:spPr>
        <p:txBody>
          <a:bodyPr wrap="square">
            <a:spAutoFit/>
          </a:bodyPr>
          <a:lstStyle/>
          <a:p>
            <a:r>
              <a:rPr lang="zh-CN" altLang="en-US" b="0" i="0" dirty="0">
                <a:solidFill>
                  <a:srgbClr val="050E17"/>
                </a:solidFill>
                <a:effectLst/>
                <a:latin typeface="-apple-system"/>
              </a:rPr>
              <a:t>数组的纵向合并可以通过 </a:t>
            </a:r>
            <a:r>
              <a:rPr lang="en-US" altLang="zh-CN" b="0" i="0" dirty="0" err="1">
                <a:solidFill>
                  <a:srgbClr val="FF0000"/>
                </a:solidFill>
                <a:effectLst/>
                <a:latin typeface="-apple-system"/>
              </a:rPr>
              <a:t>vstack</a:t>
            </a:r>
            <a:r>
              <a:rPr lang="en-US" altLang="zh-CN" b="0" i="0" dirty="0">
                <a:solidFill>
                  <a:srgbClr val="FF0000"/>
                </a:solidFill>
                <a:effectLst/>
                <a:latin typeface="-apple-system"/>
              </a:rPr>
              <a:t>()</a:t>
            </a:r>
            <a:r>
              <a:rPr lang="zh-CN" altLang="en-US" b="0" i="0" dirty="0">
                <a:solidFill>
                  <a:srgbClr val="050E17"/>
                </a:solidFill>
                <a:effectLst/>
                <a:latin typeface="-apple-system"/>
              </a:rPr>
              <a:t>函数进行合并。参加合并的数组要求除第一个维度外</a:t>
            </a:r>
            <a:r>
              <a:rPr lang="zh-CN" altLang="en-US" dirty="0">
                <a:solidFill>
                  <a:srgbClr val="050E17"/>
                </a:solidFill>
                <a:latin typeface="-apple-system"/>
              </a:rPr>
              <a:t>，</a:t>
            </a:r>
            <a:r>
              <a:rPr lang="zh-CN" altLang="en-US" b="0" i="0" dirty="0">
                <a:solidFill>
                  <a:srgbClr val="050E17"/>
                </a:solidFill>
                <a:effectLst/>
                <a:latin typeface="-apple-system"/>
              </a:rPr>
              <a:t>其他维度的值需保持一致。对于一维数组</a:t>
            </a:r>
            <a:r>
              <a:rPr lang="zh-CN" altLang="en-US" dirty="0">
                <a:solidFill>
                  <a:srgbClr val="050E17"/>
                </a:solidFill>
                <a:latin typeface="-apple-system"/>
              </a:rPr>
              <a:t>，</a:t>
            </a:r>
            <a:r>
              <a:rPr lang="zh-CN" altLang="en-US" b="0" i="0" dirty="0">
                <a:solidFill>
                  <a:srgbClr val="050E17"/>
                </a:solidFill>
                <a:effectLst/>
                <a:latin typeface="-apple-system"/>
              </a:rPr>
              <a:t>相当于先转为行数为</a:t>
            </a:r>
            <a:r>
              <a:rPr lang="en-US" altLang="zh-CN" b="0" i="0" dirty="0">
                <a:solidFill>
                  <a:srgbClr val="050E17"/>
                </a:solidFill>
                <a:effectLst/>
                <a:latin typeface="-apple-system"/>
              </a:rPr>
              <a:t>1</a:t>
            </a:r>
            <a:r>
              <a:rPr lang="zh-CN" altLang="en-US" b="0" i="0" dirty="0">
                <a:solidFill>
                  <a:srgbClr val="050E17"/>
                </a:solidFill>
                <a:effectLst/>
                <a:latin typeface="-apple-system"/>
              </a:rPr>
              <a:t>的二维数组再进行合并。</a:t>
            </a:r>
            <a:r>
              <a:rPr lang="en-US" altLang="zh-CN" b="0" i="0" dirty="0" err="1">
                <a:solidFill>
                  <a:srgbClr val="050E17"/>
                </a:solidFill>
                <a:effectLst/>
                <a:latin typeface="-apple-system"/>
              </a:rPr>
              <a:t>vstack</a:t>
            </a:r>
            <a:r>
              <a:rPr lang="zh-CN" altLang="en-US" b="0" i="0" dirty="0">
                <a:solidFill>
                  <a:srgbClr val="050E17"/>
                </a:solidFill>
                <a:effectLst/>
                <a:latin typeface="-apple-system"/>
              </a:rPr>
              <a:t>生成的新数组的维度数量与原数保持一致。</a:t>
            </a:r>
            <a:endParaRPr lang="zh-CN" altLang="en-US" dirty="0"/>
          </a:p>
        </p:txBody>
      </p:sp>
      <p:sp>
        <p:nvSpPr>
          <p:cNvPr id="7" name="文本框 6"/>
          <p:cNvSpPr txBox="1"/>
          <p:nvPr/>
        </p:nvSpPr>
        <p:spPr>
          <a:xfrm>
            <a:off x="782273" y="2981972"/>
            <a:ext cx="9083180" cy="4154984"/>
          </a:xfrm>
          <a:prstGeom prst="rect">
            <a:avLst/>
          </a:prstGeom>
          <a:noFill/>
        </p:spPr>
        <p:txBody>
          <a:bodyPr wrap="square">
            <a:spAutoFit/>
          </a:bodyPr>
          <a:lstStyle/>
          <a:p>
            <a:r>
              <a:rPr lang="en-US" altLang="zh-CN" sz="1600" b="0" dirty="0">
                <a:solidFill>
                  <a:srgbClr val="24292E"/>
                </a:solidFill>
                <a:effectLst/>
                <a:latin typeface="Consolas" panose="020B0609020204030204" pitchFamily="49" charset="0"/>
              </a:rPr>
              <a:t>a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np.arange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12</a:t>
            </a:r>
            <a:r>
              <a:rPr lang="en-US" altLang="zh-CN" sz="1600" b="0" dirty="0">
                <a:solidFill>
                  <a:srgbClr val="24292E"/>
                </a:solidFill>
                <a:effectLst/>
                <a:latin typeface="Consolas" panose="020B0609020204030204" pitchFamily="49" charset="0"/>
              </a:rPr>
              <a:t>).reshape(</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三维数组</a:t>
            </a:r>
            <a:r>
              <a:rPr lang="en-US" altLang="zh-CN" sz="1600" b="0" dirty="0">
                <a:solidFill>
                  <a:srgbClr val="6A737D"/>
                </a:solidFill>
                <a:effectLst/>
                <a:latin typeface="Consolas" panose="020B0609020204030204" pitchFamily="49" charset="0"/>
              </a:rPr>
              <a:t>,shape </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(2,3,2)</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b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np.arange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6</a:t>
            </a:r>
            <a:r>
              <a:rPr lang="en-US" altLang="zh-CN" sz="1600" b="0" dirty="0">
                <a:solidFill>
                  <a:srgbClr val="24292E"/>
                </a:solidFill>
                <a:effectLst/>
                <a:latin typeface="Consolas" panose="020B0609020204030204" pitchFamily="49" charset="0"/>
              </a:rPr>
              <a:t>).reshape(</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三维数组</a:t>
            </a:r>
            <a:r>
              <a:rPr lang="en-US" altLang="zh-CN" sz="1600" b="0" dirty="0">
                <a:solidFill>
                  <a:srgbClr val="6A737D"/>
                </a:solidFill>
                <a:effectLst/>
                <a:latin typeface="Consolas" panose="020B0609020204030204" pitchFamily="49" charset="0"/>
              </a:rPr>
              <a:t>,shape </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(1,3,2)</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np.vstack</a:t>
            </a:r>
            <a:r>
              <a:rPr lang="en-US" altLang="zh-CN" sz="1600" b="0" dirty="0">
                <a:solidFill>
                  <a:srgbClr val="24292E"/>
                </a:solidFill>
                <a:effectLst/>
                <a:latin typeface="Consolas" panose="020B0609020204030204" pitchFamily="49" charset="0"/>
              </a:rPr>
              <a:t>((a, b))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变为</a:t>
            </a:r>
            <a:r>
              <a:rPr lang="en-US" altLang="zh-CN" sz="1600" b="0" dirty="0">
                <a:solidFill>
                  <a:srgbClr val="6A737D"/>
                </a:solidFill>
                <a:effectLst/>
                <a:latin typeface="Consolas" panose="020B0609020204030204" pitchFamily="49" charset="0"/>
              </a:rPr>
              <a:t>(3,3,2)</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array([[[ 0,  1],</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[ 2,  3],</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[ 4,  5]],</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[[ 6,  7],</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[ 8,  9],</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[10, 11]],</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[[ 0,  1],</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[ 2,  3],</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[ 4,  5]]])</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2.3.5 </a:t>
            </a:r>
            <a:r>
              <a:rPr lang="zh-CN" altLang="en-US" sz="1800" dirty="0">
                <a:solidFill>
                  <a:srgbClr val="577CCE"/>
                </a:solidFill>
                <a:latin typeface="+mn-ea"/>
              </a:rPr>
              <a:t>数组合并</a:t>
            </a:r>
            <a:endParaRPr lang="en-US" altLang="zh-CN" sz="1800" dirty="0">
              <a:solidFill>
                <a:srgbClr val="577CCE"/>
              </a:solidFill>
              <a:latin typeface="+mn-ea"/>
            </a:endParaRPr>
          </a:p>
        </p:txBody>
      </p:sp>
      <p:sp>
        <p:nvSpPr>
          <p:cNvPr id="2" name="文本框 1"/>
          <p:cNvSpPr txBox="1"/>
          <p:nvPr/>
        </p:nvSpPr>
        <p:spPr>
          <a:xfrm>
            <a:off x="616936" y="1748915"/>
            <a:ext cx="10968259" cy="369332"/>
          </a:xfrm>
          <a:prstGeom prst="rect">
            <a:avLst/>
          </a:prstGeom>
          <a:noFill/>
        </p:spPr>
        <p:txBody>
          <a:bodyPr wrap="square">
            <a:spAutoFit/>
          </a:bodyPr>
          <a:lstStyle/>
          <a:p>
            <a:r>
              <a:rPr lang="en-US" altLang="zh-CN" dirty="0">
                <a:solidFill>
                  <a:srgbClr val="050E17"/>
                </a:solidFill>
                <a:latin typeface="-apple-system"/>
              </a:rPr>
              <a:t>(2) </a:t>
            </a:r>
            <a:r>
              <a:rPr lang="zh-CN" altLang="en-US" dirty="0">
                <a:solidFill>
                  <a:srgbClr val="050E17"/>
                </a:solidFill>
                <a:latin typeface="-apple-system"/>
              </a:rPr>
              <a:t>横向合并</a:t>
            </a:r>
            <a:endParaRPr lang="en-US" altLang="zh-CN" b="0" i="0" dirty="0">
              <a:solidFill>
                <a:srgbClr val="141718"/>
              </a:solidFill>
              <a:effectLst/>
              <a:latin typeface="__Karla_fd2630"/>
            </a:endParaRPr>
          </a:p>
        </p:txBody>
      </p:sp>
      <p:sp>
        <p:nvSpPr>
          <p:cNvPr id="5" name="文本框 4"/>
          <p:cNvSpPr txBox="1"/>
          <p:nvPr/>
        </p:nvSpPr>
        <p:spPr>
          <a:xfrm>
            <a:off x="782273" y="2151811"/>
            <a:ext cx="11180428" cy="369332"/>
          </a:xfrm>
          <a:prstGeom prst="rect">
            <a:avLst/>
          </a:prstGeom>
          <a:noFill/>
        </p:spPr>
        <p:txBody>
          <a:bodyPr wrap="square">
            <a:spAutoFit/>
          </a:bodyPr>
          <a:lstStyle/>
          <a:p>
            <a:r>
              <a:rPr lang="zh-CN" altLang="en-US" b="0" i="0" dirty="0">
                <a:solidFill>
                  <a:srgbClr val="050E17"/>
                </a:solidFill>
                <a:effectLst/>
                <a:latin typeface="-apple-system"/>
              </a:rPr>
              <a:t>数组的横向合并可以通过 </a:t>
            </a:r>
            <a:r>
              <a:rPr lang="en-US" altLang="zh-CN" b="0" i="0" dirty="0" err="1">
                <a:solidFill>
                  <a:srgbClr val="FF0000"/>
                </a:solidFill>
                <a:effectLst/>
                <a:latin typeface="-apple-system"/>
              </a:rPr>
              <a:t>hstack</a:t>
            </a:r>
            <a:r>
              <a:rPr lang="en-US" altLang="zh-CN" b="0" i="0" dirty="0">
                <a:solidFill>
                  <a:srgbClr val="FF0000"/>
                </a:solidFill>
                <a:effectLst/>
                <a:latin typeface="-apple-system"/>
              </a:rPr>
              <a:t>( )</a:t>
            </a:r>
            <a:r>
              <a:rPr lang="zh-CN" altLang="en-US" b="0" i="0" dirty="0">
                <a:solidFill>
                  <a:srgbClr val="050E17"/>
                </a:solidFill>
                <a:effectLst/>
                <a:latin typeface="-apple-system"/>
              </a:rPr>
              <a:t>来实现。</a:t>
            </a:r>
            <a:endParaRPr lang="zh-CN" altLang="en-US" dirty="0"/>
          </a:p>
        </p:txBody>
      </p:sp>
      <p:sp>
        <p:nvSpPr>
          <p:cNvPr id="7" name="文本框 6"/>
          <p:cNvSpPr txBox="1"/>
          <p:nvPr/>
        </p:nvSpPr>
        <p:spPr>
          <a:xfrm>
            <a:off x="782273" y="2780636"/>
            <a:ext cx="9083180" cy="2554545"/>
          </a:xfrm>
          <a:prstGeom prst="rect">
            <a:avLst/>
          </a:prstGeom>
          <a:noFill/>
        </p:spPr>
        <p:txBody>
          <a:bodyPr wrap="square">
            <a:spAutoFit/>
          </a:bodyPr>
          <a:lstStyle/>
          <a:p>
            <a:r>
              <a:rPr lang="en-US" altLang="zh-CN" sz="1600" b="0" dirty="0">
                <a:solidFill>
                  <a:srgbClr val="24292E"/>
                </a:solidFill>
                <a:effectLst/>
                <a:latin typeface="Consolas" panose="020B0609020204030204" pitchFamily="49" charset="0"/>
              </a:rPr>
              <a:t>a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(3,)</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b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5</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6</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(3,)</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np.hstack</a:t>
            </a:r>
            <a:r>
              <a:rPr lang="en-US" altLang="zh-CN" sz="1600" b="0" dirty="0">
                <a:solidFill>
                  <a:srgbClr val="24292E"/>
                </a:solidFill>
                <a:effectLst/>
                <a:latin typeface="Consolas" panose="020B0609020204030204" pitchFamily="49" charset="0"/>
              </a:rPr>
              <a:t>((a, b))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一维数组的横向合并</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array([1, 2, 3, 4, 5, 6])</a:t>
            </a:r>
            <a:endParaRPr lang="en-US" altLang="zh-CN" sz="1600" b="0" dirty="0">
              <a:solidFill>
                <a:srgbClr val="24292E"/>
              </a:solidFill>
              <a:effectLst/>
              <a:latin typeface="Consolas" panose="020B0609020204030204" pitchFamily="49" charset="0"/>
            </a:endParaRPr>
          </a:p>
          <a:p>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c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(2,3)</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d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np.array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(2,3)</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np.hstack</a:t>
            </a:r>
            <a:r>
              <a:rPr lang="en-US" altLang="zh-CN" sz="1600" b="0" dirty="0">
                <a:solidFill>
                  <a:srgbClr val="24292E"/>
                </a:solidFill>
                <a:effectLst/>
                <a:latin typeface="Consolas" panose="020B0609020204030204" pitchFamily="49" charset="0"/>
              </a:rPr>
              <a:t>((c, d))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二维数组的横向合并，除第二个维度外，其他维度值应保持一致</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array([[1, 1, 1, 2, 2, 2],</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[1, 1, 1, 2, 2, 2]])</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2.3.5 </a:t>
            </a:r>
            <a:r>
              <a:rPr lang="zh-CN" altLang="en-US" sz="1800" dirty="0">
                <a:solidFill>
                  <a:srgbClr val="577CCE"/>
                </a:solidFill>
                <a:latin typeface="+mn-ea"/>
              </a:rPr>
              <a:t>数组合并</a:t>
            </a:r>
            <a:endParaRPr lang="en-US" altLang="zh-CN" sz="1800" dirty="0">
              <a:solidFill>
                <a:srgbClr val="577CCE"/>
              </a:solidFill>
              <a:latin typeface="+mn-ea"/>
            </a:endParaRPr>
          </a:p>
        </p:txBody>
      </p:sp>
      <p:sp>
        <p:nvSpPr>
          <p:cNvPr id="2" name="文本框 1"/>
          <p:cNvSpPr txBox="1"/>
          <p:nvPr/>
        </p:nvSpPr>
        <p:spPr>
          <a:xfrm>
            <a:off x="616936" y="1748915"/>
            <a:ext cx="10968259" cy="369332"/>
          </a:xfrm>
          <a:prstGeom prst="rect">
            <a:avLst/>
          </a:prstGeom>
          <a:noFill/>
        </p:spPr>
        <p:txBody>
          <a:bodyPr wrap="square">
            <a:spAutoFit/>
          </a:bodyPr>
          <a:lstStyle/>
          <a:p>
            <a:r>
              <a:rPr lang="en-US" altLang="zh-CN" dirty="0">
                <a:solidFill>
                  <a:srgbClr val="050E17"/>
                </a:solidFill>
                <a:latin typeface="-apple-system"/>
              </a:rPr>
              <a:t>(3) </a:t>
            </a:r>
            <a:r>
              <a:rPr lang="zh-CN" altLang="en-US" dirty="0">
                <a:solidFill>
                  <a:srgbClr val="050E17"/>
                </a:solidFill>
                <a:latin typeface="-apple-system"/>
              </a:rPr>
              <a:t>任意方向合并</a:t>
            </a:r>
            <a:endParaRPr lang="en-US" altLang="zh-CN" b="0" i="0" dirty="0">
              <a:solidFill>
                <a:srgbClr val="141718"/>
              </a:solidFill>
              <a:effectLst/>
              <a:latin typeface="__Karla_fd2630"/>
            </a:endParaRPr>
          </a:p>
        </p:txBody>
      </p:sp>
      <p:sp>
        <p:nvSpPr>
          <p:cNvPr id="5" name="文本框 4"/>
          <p:cNvSpPr txBox="1"/>
          <p:nvPr/>
        </p:nvSpPr>
        <p:spPr>
          <a:xfrm>
            <a:off x="782273" y="2151811"/>
            <a:ext cx="11180428" cy="646331"/>
          </a:xfrm>
          <a:prstGeom prst="rect">
            <a:avLst/>
          </a:prstGeom>
          <a:noFill/>
        </p:spPr>
        <p:txBody>
          <a:bodyPr wrap="square">
            <a:spAutoFit/>
          </a:bodyPr>
          <a:lstStyle/>
          <a:p>
            <a:r>
              <a:rPr lang="zh-CN" altLang="en-US" b="0" i="0" dirty="0">
                <a:solidFill>
                  <a:srgbClr val="050E17"/>
                </a:solidFill>
                <a:effectLst/>
                <a:latin typeface="-apple-system"/>
              </a:rPr>
              <a:t>同样的，可以在第三个维度上使用 </a:t>
            </a:r>
            <a:r>
              <a:rPr lang="en-US" altLang="zh-CN" b="0" i="0" dirty="0" err="1">
                <a:solidFill>
                  <a:srgbClr val="050E17"/>
                </a:solidFill>
                <a:effectLst/>
                <a:latin typeface="-apple-system"/>
              </a:rPr>
              <a:t>dstack</a:t>
            </a:r>
            <a:r>
              <a:rPr lang="en-US" altLang="zh-CN" b="0" i="0" dirty="0">
                <a:solidFill>
                  <a:srgbClr val="050E17"/>
                </a:solidFill>
                <a:effectLst/>
                <a:latin typeface="-apple-system"/>
              </a:rPr>
              <a:t> </a:t>
            </a:r>
            <a:r>
              <a:rPr lang="zh-CN" altLang="en-US" b="0" i="0" dirty="0">
                <a:solidFill>
                  <a:srgbClr val="050E17"/>
                </a:solidFill>
                <a:effectLst/>
                <a:latin typeface="-apple-system"/>
              </a:rPr>
              <a:t>函数进行深度合并。</a:t>
            </a:r>
            <a:r>
              <a:rPr lang="en-US" altLang="zh-CN" b="0" i="0" dirty="0" err="1">
                <a:solidFill>
                  <a:srgbClr val="050E17"/>
                </a:solidFill>
                <a:effectLst/>
                <a:latin typeface="-apple-system"/>
              </a:rPr>
              <a:t>Numpy</a:t>
            </a:r>
            <a:r>
              <a:rPr lang="zh-CN" altLang="en-US" b="0" i="0" dirty="0">
                <a:solidFill>
                  <a:srgbClr val="050E17"/>
                </a:solidFill>
                <a:effectLst/>
                <a:latin typeface="-apple-system"/>
              </a:rPr>
              <a:t>还提供了</a:t>
            </a:r>
            <a:r>
              <a:rPr lang="en-US" altLang="zh-CN" b="0" i="0" dirty="0">
                <a:solidFill>
                  <a:srgbClr val="FF0000"/>
                </a:solidFill>
                <a:effectLst/>
                <a:latin typeface="-apple-system"/>
              </a:rPr>
              <a:t>concatenate</a:t>
            </a:r>
            <a:r>
              <a:rPr lang="zh-CN" altLang="en-US" b="0" i="0" dirty="0">
                <a:solidFill>
                  <a:srgbClr val="FF0000"/>
                </a:solidFill>
                <a:effectLst/>
                <a:latin typeface="-apple-system"/>
              </a:rPr>
              <a:t>函数</a:t>
            </a:r>
            <a:r>
              <a:rPr lang="zh-CN" altLang="en-US" b="0" i="0" dirty="0">
                <a:solidFill>
                  <a:srgbClr val="050E17"/>
                </a:solidFill>
                <a:effectLst/>
                <a:latin typeface="-apple-system"/>
              </a:rPr>
              <a:t>，可以更加方便地通过</a:t>
            </a:r>
            <a:r>
              <a:rPr lang="en-US" altLang="zh-CN" b="0" i="0" dirty="0">
                <a:solidFill>
                  <a:srgbClr val="050E17"/>
                </a:solidFill>
                <a:effectLst/>
                <a:latin typeface="-apple-system"/>
              </a:rPr>
              <a:t>axis</a:t>
            </a:r>
            <a:r>
              <a:rPr lang="zh-CN" altLang="en-US" b="0" i="0" dirty="0">
                <a:solidFill>
                  <a:srgbClr val="050E17"/>
                </a:solidFill>
                <a:effectLst/>
                <a:latin typeface="-apple-system"/>
              </a:rPr>
              <a:t>参数</a:t>
            </a:r>
            <a:r>
              <a:rPr lang="zh-CN" altLang="en-US" b="0" i="0" dirty="0">
                <a:solidFill>
                  <a:srgbClr val="FF0000"/>
                </a:solidFill>
                <a:effectLst/>
                <a:latin typeface="-apple-system"/>
              </a:rPr>
              <a:t>指定合并方向</a:t>
            </a:r>
            <a:r>
              <a:rPr lang="zh-CN" altLang="en-US" b="0" i="0" dirty="0">
                <a:solidFill>
                  <a:srgbClr val="050E17"/>
                </a:solidFill>
                <a:effectLst/>
                <a:latin typeface="-apple-system"/>
              </a:rPr>
              <a:t>，对</a:t>
            </a:r>
            <a:r>
              <a:rPr lang="zh-CN" altLang="en-US" b="0" i="0" dirty="0">
                <a:solidFill>
                  <a:srgbClr val="FF0000"/>
                </a:solidFill>
                <a:effectLst/>
                <a:latin typeface="-apple-system"/>
              </a:rPr>
              <a:t>任意维度</a:t>
            </a:r>
            <a:r>
              <a:rPr lang="zh-CN" altLang="en-US" b="0" i="0" dirty="0">
                <a:solidFill>
                  <a:srgbClr val="050E17"/>
                </a:solidFill>
                <a:effectLst/>
                <a:latin typeface="-apple-system"/>
              </a:rPr>
              <a:t>的数组进行合并。</a:t>
            </a:r>
            <a:endParaRPr lang="zh-CN" altLang="en-US" dirty="0"/>
          </a:p>
        </p:txBody>
      </p:sp>
      <p:sp>
        <p:nvSpPr>
          <p:cNvPr id="7" name="文本框 6"/>
          <p:cNvSpPr txBox="1"/>
          <p:nvPr/>
        </p:nvSpPr>
        <p:spPr>
          <a:xfrm>
            <a:off x="782273" y="2780636"/>
            <a:ext cx="9083180" cy="3293209"/>
          </a:xfrm>
          <a:prstGeom prst="rect">
            <a:avLst/>
          </a:prstGeom>
          <a:noFill/>
        </p:spPr>
        <p:txBody>
          <a:bodyPr wrap="square">
            <a:spAutoFit/>
          </a:bodyPr>
          <a:lstStyle/>
          <a:p>
            <a:r>
              <a:rPr lang="en-US" altLang="zh-CN" sz="1600" b="0" dirty="0">
                <a:solidFill>
                  <a:srgbClr val="005CC5"/>
                </a:solidFill>
                <a:effectLst/>
                <a:latin typeface="Consolas" panose="020B0609020204030204" pitchFamily="49" charset="0"/>
              </a:rPr>
              <a:t>A</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np</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(2,3)</a:t>
            </a:r>
            <a:endParaRPr lang="zh-CN" altLang="en-US" sz="1600" b="0" dirty="0">
              <a:solidFill>
                <a:srgbClr val="24292E"/>
              </a:solidFill>
              <a:effectLst/>
              <a:latin typeface="Consolas" panose="020B0609020204030204" pitchFamily="49" charset="0"/>
            </a:endParaRPr>
          </a:p>
          <a:p>
            <a:r>
              <a:rPr lang="en-US" altLang="zh-CN" sz="1600" b="0" dirty="0">
                <a:solidFill>
                  <a:srgbClr val="005CC5"/>
                </a:solidFill>
                <a:effectLst/>
                <a:latin typeface="Consolas" panose="020B0609020204030204" pitchFamily="49" charset="0"/>
              </a:rPr>
              <a:t>B</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np</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(2,3)</a:t>
            </a:r>
            <a:endParaRPr lang="zh-CN" altLang="en-US" sz="1600" b="0" dirty="0">
              <a:solidFill>
                <a:srgbClr val="24292E"/>
              </a:solidFill>
              <a:effectLst/>
              <a:latin typeface="Consolas" panose="020B0609020204030204" pitchFamily="49" charset="0"/>
            </a:endParaRPr>
          </a:p>
          <a:p>
            <a:r>
              <a:rPr lang="en-US" altLang="zh-CN" sz="1600" b="0" dirty="0">
                <a:solidFill>
                  <a:srgbClr val="005CC5"/>
                </a:solidFill>
                <a:effectLst/>
                <a:latin typeface="Consolas" panose="020B0609020204030204" pitchFamily="49" charset="0"/>
              </a:rPr>
              <a:t>C</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np</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array</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5</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5</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5</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6</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6</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6</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(2,3)</a:t>
            </a:r>
            <a:endParaRPr lang="zh-CN" altLang="en-US" sz="1600" b="0" dirty="0">
              <a:solidFill>
                <a:srgbClr val="24292E"/>
              </a:solidFill>
              <a:effectLst/>
              <a:latin typeface="Consolas" panose="020B0609020204030204" pitchFamily="49" charset="0"/>
            </a:endParaRPr>
          </a:p>
          <a:p>
            <a:r>
              <a:rPr lang="en-US" altLang="zh-CN" sz="1600" b="0" dirty="0" err="1">
                <a:solidFill>
                  <a:srgbClr val="6F42C1"/>
                </a:solidFill>
                <a:effectLst/>
                <a:latin typeface="Consolas" panose="020B0609020204030204" pitchFamily="49" charset="0"/>
              </a:rPr>
              <a:t>np</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concatenate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A</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B</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C</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axis</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相当于</a:t>
            </a:r>
            <a:r>
              <a:rPr lang="en-US" altLang="zh-CN" sz="1600" b="0" dirty="0" err="1">
                <a:solidFill>
                  <a:srgbClr val="6A737D"/>
                </a:solidFill>
                <a:effectLst/>
                <a:latin typeface="Consolas" panose="020B0609020204030204" pitchFamily="49" charset="0"/>
              </a:rPr>
              <a:t>np.vstack</a:t>
            </a:r>
            <a:r>
              <a:rPr lang="en-US" altLang="zh-CN" sz="1600" b="0" dirty="0">
                <a:solidFill>
                  <a:srgbClr val="6A737D"/>
                </a:solidFill>
                <a:effectLst/>
                <a:latin typeface="Consolas" panose="020B0609020204030204" pitchFamily="49" charset="0"/>
              </a:rPr>
              <a:t>(A, B, C)</a:t>
            </a:r>
            <a:r>
              <a:rPr lang="zh-CN" altLang="en-US" sz="1600" b="0" dirty="0">
                <a:solidFill>
                  <a:srgbClr val="6A737D"/>
                </a:solidFill>
                <a:effectLst/>
                <a:latin typeface="Consolas" panose="020B0609020204030204" pitchFamily="49" charset="0"/>
              </a:rPr>
              <a:t>，新数组</a:t>
            </a:r>
            <a:r>
              <a:rPr lang="en-US" altLang="zh-CN" sz="1600" b="0" dirty="0">
                <a:solidFill>
                  <a:srgbClr val="6A737D"/>
                </a:solidFill>
                <a:effectLst/>
                <a:latin typeface="Consolas" panose="020B0609020204030204" pitchFamily="49" charset="0"/>
              </a:rPr>
              <a:t>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(6,3)</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array([[1, 1, 1],</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[2, 2, 2],</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[3, 3, 3],</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[4, 4, 4],</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[5, 5, 5],</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[6, 6, 6]])</a:t>
            </a:r>
            <a:endParaRPr lang="en-US" altLang="zh-CN" sz="1600" b="0" dirty="0">
              <a:solidFill>
                <a:srgbClr val="24292E"/>
              </a:solidFill>
              <a:effectLst/>
              <a:latin typeface="Consolas" panose="020B0609020204030204" pitchFamily="49" charset="0"/>
            </a:endParaRPr>
          </a:p>
          <a:p>
            <a:r>
              <a:rPr lang="en-US" altLang="zh-CN" sz="1600" b="0" dirty="0" err="1">
                <a:solidFill>
                  <a:srgbClr val="6F42C1"/>
                </a:solidFill>
                <a:effectLst/>
                <a:latin typeface="Consolas" panose="020B0609020204030204" pitchFamily="49" charset="0"/>
              </a:rPr>
              <a:t>np</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concatenate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A</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B</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C</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axis</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相当于</a:t>
            </a:r>
            <a:r>
              <a:rPr lang="en-US" altLang="zh-CN" sz="1600" b="0" dirty="0" err="1">
                <a:solidFill>
                  <a:srgbClr val="6A737D"/>
                </a:solidFill>
                <a:effectLst/>
                <a:latin typeface="Consolas" panose="020B0609020204030204" pitchFamily="49" charset="0"/>
              </a:rPr>
              <a:t>np.hstack</a:t>
            </a:r>
            <a:r>
              <a:rPr lang="en-US" altLang="zh-CN" sz="1600" b="0" dirty="0">
                <a:solidFill>
                  <a:srgbClr val="6A737D"/>
                </a:solidFill>
                <a:effectLst/>
                <a:latin typeface="Consolas" panose="020B0609020204030204" pitchFamily="49" charset="0"/>
              </a:rPr>
              <a:t>(A, B, C)</a:t>
            </a:r>
            <a:r>
              <a:rPr lang="zh-CN" altLang="en-US" sz="1600" b="0" dirty="0">
                <a:solidFill>
                  <a:srgbClr val="6A737D"/>
                </a:solidFill>
                <a:effectLst/>
                <a:latin typeface="Consolas" panose="020B0609020204030204" pitchFamily="49" charset="0"/>
              </a:rPr>
              <a:t>，新数组</a:t>
            </a:r>
            <a:r>
              <a:rPr lang="en-US" altLang="zh-CN" sz="1600" b="0" dirty="0">
                <a:solidFill>
                  <a:srgbClr val="6A737D"/>
                </a:solidFill>
                <a:effectLst/>
                <a:latin typeface="Consolas" panose="020B0609020204030204" pitchFamily="49" charset="0"/>
              </a:rPr>
              <a:t>shape</a:t>
            </a:r>
            <a:r>
              <a:rPr lang="zh-CN" altLang="en-US" sz="1600" b="0" dirty="0">
                <a:solidFill>
                  <a:srgbClr val="6A737D"/>
                </a:solidFill>
                <a:effectLst/>
                <a:latin typeface="Consolas" panose="020B0609020204030204" pitchFamily="49" charset="0"/>
              </a:rPr>
              <a:t>为</a:t>
            </a:r>
            <a:r>
              <a:rPr lang="en-US" altLang="zh-CN" sz="1600" b="0" dirty="0">
                <a:solidFill>
                  <a:srgbClr val="6A737D"/>
                </a:solidFill>
                <a:effectLst/>
                <a:latin typeface="Consolas" panose="020B0609020204030204" pitchFamily="49" charset="0"/>
              </a:rPr>
              <a:t>(2,9)</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array([[1, 1, 1, 3, 3, 3, 5, 5, 5],</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[2, 2, 2, 4, 4, 4, 6, 6, 6]])</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2.3.6 </a:t>
            </a:r>
            <a:r>
              <a:rPr lang="zh-CN" altLang="en-US" sz="1800" dirty="0">
                <a:solidFill>
                  <a:srgbClr val="577CCE"/>
                </a:solidFill>
                <a:latin typeface="+mn-ea"/>
              </a:rPr>
              <a:t>数组分割</a:t>
            </a:r>
            <a:endParaRPr lang="en-US" altLang="zh-CN" sz="1800" dirty="0">
              <a:solidFill>
                <a:srgbClr val="577CCE"/>
              </a:solidFill>
              <a:latin typeface="+mn-ea"/>
            </a:endParaRPr>
          </a:p>
        </p:txBody>
      </p:sp>
      <p:sp>
        <p:nvSpPr>
          <p:cNvPr id="2" name="文本框 1"/>
          <p:cNvSpPr txBox="1"/>
          <p:nvPr/>
        </p:nvSpPr>
        <p:spPr>
          <a:xfrm>
            <a:off x="616936" y="1748915"/>
            <a:ext cx="10968259" cy="646331"/>
          </a:xfrm>
          <a:prstGeom prst="rect">
            <a:avLst/>
          </a:prstGeom>
          <a:noFill/>
        </p:spPr>
        <p:txBody>
          <a:bodyPr wrap="square">
            <a:spAutoFit/>
          </a:bodyPr>
          <a:lstStyle/>
          <a:p>
            <a:r>
              <a:rPr lang="zh-CN" altLang="en-US" dirty="0">
                <a:solidFill>
                  <a:srgbClr val="050E17"/>
                </a:solidFill>
                <a:latin typeface="-apple-system"/>
              </a:rPr>
              <a:t>可以利用</a:t>
            </a:r>
            <a:r>
              <a:rPr lang="en-US" altLang="zh-CN" dirty="0">
                <a:solidFill>
                  <a:srgbClr val="050E17"/>
                </a:solidFill>
                <a:latin typeface="-apple-system"/>
              </a:rPr>
              <a:t>split</a:t>
            </a:r>
            <a:r>
              <a:rPr lang="zh-CN" altLang="en-US" dirty="0">
                <a:solidFill>
                  <a:srgbClr val="050E17"/>
                </a:solidFill>
                <a:latin typeface="-apple-system"/>
              </a:rPr>
              <a:t>函数对多维数组进行切分，将数组切分成几份，并且可以通过多个维度进行切分。分割的结果存放到列表中。</a:t>
            </a:r>
            <a:endParaRPr lang="en-US" altLang="zh-CN" b="0" i="0" dirty="0">
              <a:solidFill>
                <a:srgbClr val="141718"/>
              </a:solidFill>
              <a:effectLst/>
              <a:latin typeface="__Karla_fd2630"/>
            </a:endParaRPr>
          </a:p>
        </p:txBody>
      </p:sp>
      <p:sp>
        <p:nvSpPr>
          <p:cNvPr id="6" name="文本框 5"/>
          <p:cNvSpPr txBox="1"/>
          <p:nvPr/>
        </p:nvSpPr>
        <p:spPr>
          <a:xfrm>
            <a:off x="616936" y="2395246"/>
            <a:ext cx="6094602" cy="4247317"/>
          </a:xfrm>
          <a:prstGeom prst="rect">
            <a:avLst/>
          </a:prstGeom>
          <a:noFill/>
        </p:spPr>
        <p:txBody>
          <a:bodyPr wrap="square">
            <a:spAutoFit/>
          </a:bodyPr>
          <a:lstStyle/>
          <a:p>
            <a:r>
              <a:rPr lang="en-US" altLang="zh-CN" b="0" dirty="0">
                <a:solidFill>
                  <a:srgbClr val="005CC5"/>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24</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np.split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横向分割成</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份，结果为</a:t>
            </a:r>
            <a:r>
              <a:rPr lang="en-US" altLang="zh-CN" b="0" dirty="0">
                <a:solidFill>
                  <a:srgbClr val="6A737D"/>
                </a:solidFill>
                <a:effectLst/>
                <a:latin typeface="Consolas" panose="020B0609020204030204" pitchFamily="49" charset="0"/>
              </a:rPr>
              <a:t>list</a:t>
            </a:r>
            <a:r>
              <a:rPr lang="zh-CN" altLang="en-US" b="0" dirty="0">
                <a:solidFill>
                  <a:srgbClr val="6A737D"/>
                </a:solidFill>
                <a:effectLst/>
                <a:latin typeface="Consolas" panose="020B0609020204030204" pitchFamily="49" charset="0"/>
              </a:rPr>
              <a:t>类型，长度为</a:t>
            </a:r>
            <a:r>
              <a:rPr lang="en-US" altLang="zh-CN" b="0" dirty="0">
                <a:solidFill>
                  <a:srgbClr val="6A737D"/>
                </a:solidFill>
                <a:effectLst/>
                <a:latin typeface="Consolas" panose="020B0609020204030204" pitchFamily="49" charset="0"/>
              </a:rPr>
              <a:t>2</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array([[ 0,  1,  2,  3,  4,  5],</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[ 6,  7,  8,  9, 10, 11]])</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np.split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纵向分割成</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份，结果为</a:t>
            </a:r>
            <a:r>
              <a:rPr lang="en-US" altLang="zh-CN" b="0" dirty="0">
                <a:solidFill>
                  <a:srgbClr val="6A737D"/>
                </a:solidFill>
                <a:effectLst/>
                <a:latin typeface="Consolas" panose="020B0609020204030204" pitchFamily="49" charset="0"/>
              </a:rPr>
              <a:t>list</a:t>
            </a:r>
            <a:r>
              <a:rPr lang="zh-CN" altLang="en-US" b="0" dirty="0">
                <a:solidFill>
                  <a:srgbClr val="6A737D"/>
                </a:solidFill>
                <a:effectLst/>
                <a:latin typeface="Consolas" panose="020B0609020204030204" pitchFamily="49" charset="0"/>
              </a:rPr>
              <a:t>类型，长度为</a:t>
            </a:r>
            <a:r>
              <a:rPr lang="en-US" altLang="zh-CN" b="0" dirty="0">
                <a:solidFill>
                  <a:srgbClr val="6A737D"/>
                </a:solidFill>
                <a:effectLst/>
                <a:latin typeface="Consolas" panose="020B0609020204030204" pitchFamily="49" charset="0"/>
              </a:rPr>
              <a:t>3</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array([[ 4,  5],</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[10, 11],</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[16, 17],</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[22, 23]])</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2.3.7 </a:t>
            </a:r>
            <a:r>
              <a:rPr lang="zh-CN" altLang="en-US" sz="1800" dirty="0">
                <a:solidFill>
                  <a:srgbClr val="577CCE"/>
                </a:solidFill>
                <a:latin typeface="+mn-ea"/>
              </a:rPr>
              <a:t>复制数组</a:t>
            </a:r>
            <a:endParaRPr lang="en-US" altLang="zh-CN" sz="1800" dirty="0">
              <a:solidFill>
                <a:srgbClr val="577CCE"/>
              </a:solidFill>
              <a:latin typeface="+mn-ea"/>
            </a:endParaRPr>
          </a:p>
        </p:txBody>
      </p:sp>
      <p:sp>
        <p:nvSpPr>
          <p:cNvPr id="2" name="文本框 1"/>
          <p:cNvSpPr txBox="1"/>
          <p:nvPr/>
        </p:nvSpPr>
        <p:spPr>
          <a:xfrm>
            <a:off x="616936" y="1748915"/>
            <a:ext cx="10968259" cy="646331"/>
          </a:xfrm>
          <a:prstGeom prst="rect">
            <a:avLst/>
          </a:prstGeom>
          <a:noFill/>
        </p:spPr>
        <p:txBody>
          <a:bodyPr wrap="square">
            <a:spAutoFit/>
          </a:bodyPr>
          <a:lstStyle/>
          <a:p>
            <a:r>
              <a:rPr lang="zh-CN" altLang="en-US" dirty="0">
                <a:solidFill>
                  <a:srgbClr val="050E17"/>
                </a:solidFill>
                <a:latin typeface="-apple-system"/>
              </a:rPr>
              <a:t>在操作数组时，数据有时候会被复制到新数组中，有时候不会。可以分为三种情况：</a:t>
            </a:r>
            <a:endParaRPr lang="en-US" altLang="zh-CN" dirty="0">
              <a:solidFill>
                <a:srgbClr val="050E17"/>
              </a:solidFill>
              <a:latin typeface="-apple-system"/>
            </a:endParaRPr>
          </a:p>
          <a:p>
            <a:r>
              <a:rPr lang="en-US" altLang="zh-CN" dirty="0">
                <a:solidFill>
                  <a:srgbClr val="050E17"/>
                </a:solidFill>
                <a:latin typeface="-apple-system"/>
              </a:rPr>
              <a:t>(1) </a:t>
            </a:r>
            <a:r>
              <a:rPr lang="zh-CN" altLang="en-US" b="0" i="0" dirty="0">
                <a:solidFill>
                  <a:srgbClr val="050E17"/>
                </a:solidFill>
                <a:effectLst/>
                <a:latin typeface="-apple-system"/>
              </a:rPr>
              <a:t>数据完全不复制：简单指定分配不会复制数组对象或其数据。</a:t>
            </a:r>
            <a:endParaRPr lang="en-US" altLang="zh-CN" b="0" i="0" dirty="0">
              <a:solidFill>
                <a:srgbClr val="141718"/>
              </a:solidFill>
              <a:effectLst/>
              <a:latin typeface="__Karla_fd2630"/>
            </a:endParaRPr>
          </a:p>
        </p:txBody>
      </p:sp>
      <p:sp>
        <p:nvSpPr>
          <p:cNvPr id="6" name="文本框 5"/>
          <p:cNvSpPr txBox="1"/>
          <p:nvPr/>
        </p:nvSpPr>
        <p:spPr>
          <a:xfrm>
            <a:off x="977663" y="2453337"/>
            <a:ext cx="6094602" cy="2031325"/>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没有新对象生成，</a:t>
            </a:r>
            <a:r>
              <a:rPr lang="en-US" altLang="zh-CN" b="0" dirty="0">
                <a:solidFill>
                  <a:srgbClr val="6A737D"/>
                </a:solidFill>
                <a:effectLst/>
                <a:latin typeface="Consolas" panose="020B0609020204030204" pitchFamily="49" charset="0"/>
              </a:rPr>
              <a:t>b</a:t>
            </a:r>
            <a:r>
              <a:rPr lang="zh-CN" altLang="en-US" b="0" dirty="0">
                <a:solidFill>
                  <a:srgbClr val="6A737D"/>
                </a:solidFill>
                <a:effectLst/>
                <a:latin typeface="Consolas" panose="020B0609020204030204" pitchFamily="49" charset="0"/>
              </a:rPr>
              <a:t>相当于</a:t>
            </a:r>
            <a:r>
              <a:rPr lang="en-US" altLang="zh-CN" b="0" dirty="0">
                <a:solidFill>
                  <a:srgbClr val="6A737D"/>
                </a:solidFill>
                <a:effectLst/>
                <a:latin typeface="Consolas" panose="020B0609020204030204" pitchFamily="49" charset="0"/>
              </a:rPr>
              <a:t>a</a:t>
            </a:r>
            <a:r>
              <a:rPr lang="zh-CN" altLang="en-US" b="0" dirty="0">
                <a:solidFill>
                  <a:srgbClr val="6A737D"/>
                </a:solidFill>
                <a:effectLst/>
                <a:latin typeface="Consolas" panose="020B0609020204030204" pitchFamily="49" charset="0"/>
              </a:rPr>
              <a:t>的别名</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is</a:t>
            </a:r>
            <a:r>
              <a:rPr lang="en-US" altLang="zh-CN" b="0" dirty="0">
                <a:solidFill>
                  <a:srgbClr val="24292E"/>
                </a:solidFill>
                <a:effectLst/>
                <a:latin typeface="Consolas" panose="020B0609020204030204" pitchFamily="49" charset="0"/>
              </a:rPr>
              <a:t> a  </a:t>
            </a:r>
            <a:r>
              <a:rPr lang="en-US" altLang="zh-CN" b="0" dirty="0">
                <a:solidFill>
                  <a:srgbClr val="6A737D"/>
                </a:solidFill>
                <a:effectLst/>
                <a:latin typeface="Consolas" panose="020B0609020204030204" pitchFamily="49" charset="0"/>
              </a:rPr>
              <a:t># a</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b</a:t>
            </a:r>
            <a:r>
              <a:rPr lang="zh-CN" altLang="en-US" b="0" dirty="0">
                <a:solidFill>
                  <a:srgbClr val="6A737D"/>
                </a:solidFill>
                <a:effectLst/>
                <a:latin typeface="Consolas" panose="020B0609020204030204" pitchFamily="49" charset="0"/>
              </a:rPr>
              <a:t>是同一个</a:t>
            </a:r>
            <a:r>
              <a:rPr lang="en-US" altLang="zh-CN" b="0" dirty="0" err="1">
                <a:solidFill>
                  <a:srgbClr val="6A737D"/>
                </a:solidFill>
                <a:effectLst/>
                <a:latin typeface="Consolas" panose="020B0609020204030204" pitchFamily="49" charset="0"/>
              </a:rPr>
              <a:t>ndarray</a:t>
            </a:r>
            <a:r>
              <a:rPr lang="zh-CN" altLang="en-US" b="0" dirty="0">
                <a:solidFill>
                  <a:srgbClr val="6A737D"/>
                </a:solidFill>
                <a:effectLst/>
                <a:latin typeface="Consolas" panose="020B0609020204030204" pitchFamily="49" charset="0"/>
              </a:rPr>
              <a:t>对象的两个名字而已</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True</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b.shape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即也修改了</a:t>
            </a:r>
            <a:r>
              <a:rPr lang="en-US" altLang="zh-CN" b="0" dirty="0">
                <a:solidFill>
                  <a:srgbClr val="6A737D"/>
                </a:solidFill>
                <a:effectLst/>
                <a:latin typeface="Consolas" panose="020B0609020204030204" pitchFamily="49" charset="0"/>
              </a:rPr>
              <a:t>a</a:t>
            </a:r>
            <a:r>
              <a:rPr lang="zh-CN" altLang="en-US" b="0" dirty="0">
                <a:solidFill>
                  <a:srgbClr val="6A737D"/>
                </a:solidFill>
                <a:effectLst/>
                <a:latin typeface="Consolas" panose="020B0609020204030204" pitchFamily="49" charset="0"/>
              </a:rPr>
              <a:t>的</a:t>
            </a:r>
            <a:r>
              <a:rPr lang="en-US" altLang="zh-CN" b="0" dirty="0">
                <a:solidFill>
                  <a:srgbClr val="6A737D"/>
                </a:solidFill>
                <a:effectLst/>
                <a:latin typeface="Consolas" panose="020B0609020204030204" pitchFamily="49" charset="0"/>
              </a:rPr>
              <a:t>shape</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a.shape</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(3, 4)</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2.3.5 </a:t>
            </a:r>
            <a:r>
              <a:rPr lang="zh-CN" altLang="en-US" sz="1800" dirty="0">
                <a:solidFill>
                  <a:srgbClr val="577CCE"/>
                </a:solidFill>
                <a:latin typeface="+mn-ea"/>
              </a:rPr>
              <a:t>数组合并</a:t>
            </a:r>
            <a:endParaRPr lang="en-US" altLang="zh-CN" sz="1800" dirty="0">
              <a:solidFill>
                <a:srgbClr val="577CCE"/>
              </a:solidFill>
              <a:latin typeface="+mn-ea"/>
            </a:endParaRPr>
          </a:p>
        </p:txBody>
      </p:sp>
      <p:sp>
        <p:nvSpPr>
          <p:cNvPr id="2" name="文本框 1"/>
          <p:cNvSpPr txBox="1"/>
          <p:nvPr/>
        </p:nvSpPr>
        <p:spPr>
          <a:xfrm>
            <a:off x="616936" y="1748915"/>
            <a:ext cx="11177985" cy="369332"/>
          </a:xfrm>
          <a:prstGeom prst="rect">
            <a:avLst/>
          </a:prstGeom>
          <a:noFill/>
        </p:spPr>
        <p:txBody>
          <a:bodyPr wrap="square">
            <a:spAutoFit/>
          </a:bodyPr>
          <a:lstStyle/>
          <a:p>
            <a:r>
              <a:rPr lang="en-US" altLang="zh-CN" dirty="0">
                <a:solidFill>
                  <a:srgbClr val="050E17"/>
                </a:solidFill>
                <a:latin typeface="-apple-system"/>
              </a:rPr>
              <a:t>(2) </a:t>
            </a:r>
            <a:r>
              <a:rPr lang="zh-CN" altLang="en-US" dirty="0">
                <a:solidFill>
                  <a:srgbClr val="050E17"/>
                </a:solidFill>
                <a:latin typeface="-apple-system"/>
              </a:rPr>
              <a:t>浅拷贝：浅拷贝是指不同的数组对象可以共享相同的数据。使用 </a:t>
            </a:r>
            <a:r>
              <a:rPr lang="en-US" altLang="zh-CN" dirty="0">
                <a:solidFill>
                  <a:srgbClr val="050E17"/>
                </a:solidFill>
                <a:latin typeface="-apple-system"/>
              </a:rPr>
              <a:t>view()</a:t>
            </a:r>
            <a:r>
              <a:rPr lang="zh-CN" altLang="en-US" dirty="0">
                <a:solidFill>
                  <a:srgbClr val="050E17"/>
                </a:solidFill>
                <a:latin typeface="-apple-system"/>
              </a:rPr>
              <a:t>函数可创建一个同数据的新数组对象。</a:t>
            </a:r>
            <a:endParaRPr lang="en-US" altLang="zh-CN" b="0" i="0" dirty="0">
              <a:solidFill>
                <a:srgbClr val="141718"/>
              </a:solidFill>
              <a:effectLst/>
              <a:latin typeface="__Karla_fd2630"/>
            </a:endParaRPr>
          </a:p>
        </p:txBody>
      </p:sp>
      <p:sp>
        <p:nvSpPr>
          <p:cNvPr id="7" name="文本框 6"/>
          <p:cNvSpPr txBox="1"/>
          <p:nvPr/>
        </p:nvSpPr>
        <p:spPr>
          <a:xfrm>
            <a:off x="975220" y="2210185"/>
            <a:ext cx="9083180" cy="4031873"/>
          </a:xfrm>
          <a:prstGeom prst="rect">
            <a:avLst/>
          </a:prstGeom>
          <a:noFill/>
        </p:spPr>
        <p:txBody>
          <a:bodyPr wrap="square">
            <a:spAutoFit/>
          </a:bodyPr>
          <a:lstStyle/>
          <a:p>
            <a:r>
              <a:rPr lang="en-US" altLang="zh-CN" sz="1600" b="0" dirty="0">
                <a:solidFill>
                  <a:srgbClr val="24292E"/>
                </a:solidFill>
                <a:effectLst/>
                <a:latin typeface="Consolas" panose="020B0609020204030204" pitchFamily="49" charset="0"/>
              </a:rPr>
              <a:t>a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np</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arange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12</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reshape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3</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c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a.view</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c</a:t>
            </a:r>
            <a:r>
              <a:rPr lang="zh-CN" altLang="en-US" sz="1600" b="0" dirty="0">
                <a:solidFill>
                  <a:srgbClr val="6A737D"/>
                </a:solidFill>
                <a:effectLst/>
                <a:latin typeface="Consolas" panose="020B0609020204030204" pitchFamily="49" charset="0"/>
              </a:rPr>
              <a:t>是一个新对象，而非</a:t>
            </a:r>
            <a:r>
              <a:rPr lang="en-US" altLang="zh-CN" sz="1600" b="0" dirty="0">
                <a:solidFill>
                  <a:srgbClr val="6A737D"/>
                </a:solidFill>
                <a:effectLst/>
                <a:latin typeface="Consolas" panose="020B0609020204030204" pitchFamily="49" charset="0"/>
              </a:rPr>
              <a:t>a</a:t>
            </a:r>
            <a:r>
              <a:rPr lang="zh-CN" altLang="en-US" sz="1600" b="0" dirty="0">
                <a:solidFill>
                  <a:srgbClr val="6A737D"/>
                </a:solidFill>
                <a:effectLst/>
                <a:latin typeface="Consolas" panose="020B0609020204030204" pitchFamily="49" charset="0"/>
              </a:rPr>
              <a:t>的别名</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c </a:t>
            </a:r>
            <a:r>
              <a:rPr lang="en-US" altLang="zh-CN" sz="1600" b="0" dirty="0">
                <a:solidFill>
                  <a:srgbClr val="D73A49"/>
                </a:solidFill>
                <a:effectLst/>
                <a:latin typeface="Consolas" panose="020B0609020204030204" pitchFamily="49" charset="0"/>
              </a:rPr>
              <a:t>is</a:t>
            </a:r>
            <a:r>
              <a:rPr lang="en-US" altLang="zh-CN" sz="1600" b="0" dirty="0">
                <a:solidFill>
                  <a:srgbClr val="24292E"/>
                </a:solidFill>
                <a:effectLst/>
                <a:latin typeface="Consolas" panose="020B0609020204030204" pitchFamily="49" charset="0"/>
              </a:rPr>
              <a:t> a</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False</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c.base</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is</a:t>
            </a:r>
            <a:r>
              <a:rPr lang="en-US" altLang="zh-CN" sz="1600" b="0" dirty="0">
                <a:solidFill>
                  <a:srgbClr val="24292E"/>
                </a:solidFill>
                <a:effectLst/>
                <a:latin typeface="Consolas" panose="020B0609020204030204" pitchFamily="49" charset="0"/>
              </a:rPr>
              <a:t> a  </a:t>
            </a:r>
            <a:r>
              <a:rPr lang="en-US" altLang="zh-CN" sz="1600" b="0" dirty="0">
                <a:solidFill>
                  <a:srgbClr val="6A737D"/>
                </a:solidFill>
                <a:effectLst/>
                <a:latin typeface="Consolas" panose="020B0609020204030204" pitchFamily="49" charset="0"/>
              </a:rPr>
              <a:t># c</a:t>
            </a:r>
            <a:r>
              <a:rPr lang="zh-CN" altLang="en-US" sz="1600" b="0" dirty="0">
                <a:solidFill>
                  <a:srgbClr val="6A737D"/>
                </a:solidFill>
                <a:effectLst/>
                <a:latin typeface="Consolas" panose="020B0609020204030204" pitchFamily="49" charset="0"/>
              </a:rPr>
              <a:t>是</a:t>
            </a:r>
            <a:r>
              <a:rPr lang="en-US" altLang="zh-CN" sz="1600" b="0" dirty="0">
                <a:solidFill>
                  <a:srgbClr val="6A737D"/>
                </a:solidFill>
                <a:effectLst/>
                <a:latin typeface="Consolas" panose="020B0609020204030204" pitchFamily="49" charset="0"/>
              </a:rPr>
              <a:t>a</a:t>
            </a:r>
            <a:r>
              <a:rPr lang="zh-CN" altLang="en-US" sz="1600" b="0" dirty="0">
                <a:solidFill>
                  <a:srgbClr val="6A737D"/>
                </a:solidFill>
                <a:effectLst/>
                <a:latin typeface="Consolas" panose="020B0609020204030204" pitchFamily="49" charset="0"/>
              </a:rPr>
              <a:t>对象数据的一个视图对象</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True</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c.flags.owndata</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c</a:t>
            </a:r>
            <a:r>
              <a:rPr lang="zh-CN" altLang="en-US" sz="1600" b="0" dirty="0">
                <a:solidFill>
                  <a:srgbClr val="6A737D"/>
                </a:solidFill>
                <a:effectLst/>
                <a:latin typeface="Consolas" panose="020B0609020204030204" pitchFamily="49" charset="0"/>
              </a:rPr>
              <a:t>的数据来自于</a:t>
            </a:r>
            <a:r>
              <a:rPr lang="en-US" altLang="zh-CN" sz="1600" b="0" dirty="0">
                <a:solidFill>
                  <a:srgbClr val="6A737D"/>
                </a:solidFill>
                <a:effectLst/>
                <a:latin typeface="Consolas" panose="020B0609020204030204" pitchFamily="49" charset="0"/>
              </a:rPr>
              <a:t>a</a:t>
            </a:r>
            <a:r>
              <a:rPr lang="zh-CN" altLang="en-US" sz="1600" b="0" dirty="0">
                <a:solidFill>
                  <a:srgbClr val="6A737D"/>
                </a:solidFill>
                <a:effectLst/>
                <a:latin typeface="Consolas" panose="020B0609020204030204" pitchFamily="49" charset="0"/>
              </a:rPr>
              <a:t>对象，而非自己</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False</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c.shape</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6</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的</a:t>
            </a:r>
            <a:r>
              <a:rPr lang="en-US" altLang="zh-CN" sz="1600" b="0" dirty="0">
                <a:solidFill>
                  <a:srgbClr val="6A737D"/>
                </a:solidFill>
                <a:effectLst/>
                <a:latin typeface="Consolas" panose="020B0609020204030204" pitchFamily="49" charset="0"/>
              </a:rPr>
              <a:t>shape</a:t>
            </a:r>
            <a:r>
              <a:rPr lang="zh-CN" altLang="en-US" sz="1600" b="0" dirty="0">
                <a:solidFill>
                  <a:srgbClr val="6A737D"/>
                </a:solidFill>
                <a:effectLst/>
                <a:latin typeface="Consolas" panose="020B0609020204030204" pitchFamily="49" charset="0"/>
              </a:rPr>
              <a:t>改变并不会影响</a:t>
            </a:r>
            <a:r>
              <a:rPr lang="en-US" altLang="zh-CN" sz="1600" b="0" dirty="0">
                <a:solidFill>
                  <a:srgbClr val="6A737D"/>
                </a:solidFill>
                <a:effectLst/>
                <a:latin typeface="Consolas" panose="020B0609020204030204" pitchFamily="49" charset="0"/>
              </a:rPr>
              <a:t>a</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a.shape</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(3, 4)</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c[</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1234</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通过</a:t>
            </a:r>
            <a:r>
              <a:rPr lang="en-US" altLang="zh-CN" sz="1600" b="0" dirty="0">
                <a:solidFill>
                  <a:srgbClr val="6A737D"/>
                </a:solidFill>
                <a:effectLst/>
                <a:latin typeface="Consolas" panose="020B0609020204030204" pitchFamily="49" charset="0"/>
              </a:rPr>
              <a:t>c</a:t>
            </a:r>
            <a:r>
              <a:rPr lang="zh-CN" altLang="en-US" sz="1600" b="0" dirty="0">
                <a:solidFill>
                  <a:srgbClr val="6A737D"/>
                </a:solidFill>
                <a:effectLst/>
                <a:latin typeface="Consolas" panose="020B0609020204030204" pitchFamily="49" charset="0"/>
              </a:rPr>
              <a:t>修改数据会影响</a:t>
            </a:r>
            <a:r>
              <a:rPr lang="en-US" altLang="zh-CN" sz="1600" b="0" dirty="0">
                <a:solidFill>
                  <a:srgbClr val="6A737D"/>
                </a:solidFill>
                <a:effectLst/>
                <a:latin typeface="Consolas" panose="020B0609020204030204" pitchFamily="49" charset="0"/>
              </a:rPr>
              <a:t>a</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   0,    1,    2,    3],</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[1234,   10,   10,    7],</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8,   10,   10,   11]])</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2.3 NumPy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2.3.5 </a:t>
            </a:r>
            <a:r>
              <a:rPr lang="zh-CN" altLang="en-US" sz="1800" dirty="0">
                <a:solidFill>
                  <a:srgbClr val="577CCE"/>
                </a:solidFill>
                <a:latin typeface="+mn-ea"/>
              </a:rPr>
              <a:t>数组合并</a:t>
            </a:r>
            <a:endParaRPr lang="en-US" altLang="zh-CN" sz="1800" dirty="0">
              <a:solidFill>
                <a:srgbClr val="577CCE"/>
              </a:solidFill>
              <a:latin typeface="+mn-ea"/>
            </a:endParaRPr>
          </a:p>
        </p:txBody>
      </p:sp>
      <p:sp>
        <p:nvSpPr>
          <p:cNvPr id="2" name="文本框 1"/>
          <p:cNvSpPr txBox="1"/>
          <p:nvPr/>
        </p:nvSpPr>
        <p:spPr>
          <a:xfrm>
            <a:off x="616936" y="1748915"/>
            <a:ext cx="11177985" cy="646331"/>
          </a:xfrm>
          <a:prstGeom prst="rect">
            <a:avLst/>
          </a:prstGeom>
          <a:noFill/>
        </p:spPr>
        <p:txBody>
          <a:bodyPr wrap="square">
            <a:spAutoFit/>
          </a:bodyPr>
          <a:lstStyle/>
          <a:p>
            <a:r>
              <a:rPr lang="en-US" altLang="zh-CN" dirty="0">
                <a:solidFill>
                  <a:srgbClr val="050E17"/>
                </a:solidFill>
                <a:latin typeface="-apple-system"/>
              </a:rPr>
              <a:t>(3) </a:t>
            </a:r>
            <a:r>
              <a:rPr lang="zh-CN" altLang="en-US" dirty="0">
                <a:solidFill>
                  <a:srgbClr val="050E17"/>
                </a:solidFill>
                <a:latin typeface="-apple-system"/>
              </a:rPr>
              <a:t>深拷贝：深拷贝是指得到从原数组中得到完整的数据并生成新数组对象；新数组的变化不再影响原数组。通过使用 </a:t>
            </a:r>
            <a:r>
              <a:rPr lang="en-US" altLang="zh-CN" dirty="0">
                <a:solidFill>
                  <a:srgbClr val="050E17"/>
                </a:solidFill>
                <a:latin typeface="-apple-system"/>
              </a:rPr>
              <a:t>copy()</a:t>
            </a:r>
            <a:r>
              <a:rPr lang="zh-CN" altLang="en-US" dirty="0">
                <a:solidFill>
                  <a:srgbClr val="050E17"/>
                </a:solidFill>
                <a:latin typeface="-apple-system"/>
              </a:rPr>
              <a:t>函数生成新数组并保存原数组数据的完整副本。</a:t>
            </a:r>
            <a:endParaRPr lang="en-US" altLang="zh-CN" b="0" i="0" dirty="0">
              <a:solidFill>
                <a:srgbClr val="141718"/>
              </a:solidFill>
              <a:effectLst/>
              <a:latin typeface="__Karla_fd2630"/>
            </a:endParaRPr>
          </a:p>
        </p:txBody>
      </p:sp>
      <p:sp>
        <p:nvSpPr>
          <p:cNvPr id="7" name="文本框 6"/>
          <p:cNvSpPr txBox="1"/>
          <p:nvPr/>
        </p:nvSpPr>
        <p:spPr>
          <a:xfrm>
            <a:off x="983609" y="2441412"/>
            <a:ext cx="9083180" cy="3046988"/>
          </a:xfrm>
          <a:prstGeom prst="rect">
            <a:avLst/>
          </a:prstGeom>
          <a:noFill/>
        </p:spPr>
        <p:txBody>
          <a:bodyPr wrap="square">
            <a:spAutoFit/>
          </a:bodyPr>
          <a:lstStyle/>
          <a:p>
            <a:r>
              <a:rPr lang="en-US" altLang="zh-CN" sz="1600" b="0" dirty="0">
                <a:solidFill>
                  <a:srgbClr val="24292E"/>
                </a:solidFill>
                <a:effectLst/>
                <a:latin typeface="Consolas" panose="020B0609020204030204" pitchFamily="49" charset="0"/>
              </a:rPr>
              <a:t>d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a.copy</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d</a:t>
            </a:r>
            <a:r>
              <a:rPr lang="zh-CN" altLang="en-US" sz="1600" b="0" dirty="0">
                <a:solidFill>
                  <a:srgbClr val="6A737D"/>
                </a:solidFill>
                <a:effectLst/>
                <a:latin typeface="Consolas" panose="020B0609020204030204" pitchFamily="49" charset="0"/>
              </a:rPr>
              <a:t>是一个新数组，数据来源于</a:t>
            </a:r>
            <a:r>
              <a:rPr lang="en-US" altLang="zh-CN" sz="1600" b="0" dirty="0">
                <a:solidFill>
                  <a:srgbClr val="6A737D"/>
                </a:solidFill>
                <a:effectLst/>
                <a:latin typeface="Consolas" panose="020B0609020204030204" pitchFamily="49" charset="0"/>
              </a:rPr>
              <a:t>a</a:t>
            </a:r>
            <a:r>
              <a:rPr lang="zh-CN" altLang="en-US" sz="1600" b="0" dirty="0">
                <a:solidFill>
                  <a:srgbClr val="6A737D"/>
                </a:solidFill>
                <a:effectLst/>
                <a:latin typeface="Consolas" panose="020B0609020204030204" pitchFamily="49" charset="0"/>
              </a:rPr>
              <a:t>数组</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d </a:t>
            </a:r>
            <a:r>
              <a:rPr lang="en-US" altLang="zh-CN" sz="1600" b="0" dirty="0">
                <a:solidFill>
                  <a:srgbClr val="D73A49"/>
                </a:solidFill>
                <a:effectLst/>
                <a:latin typeface="Consolas" panose="020B0609020204030204" pitchFamily="49" charset="0"/>
              </a:rPr>
              <a:t>is</a:t>
            </a:r>
            <a:r>
              <a:rPr lang="en-US" altLang="zh-CN" sz="1600" b="0" dirty="0">
                <a:solidFill>
                  <a:srgbClr val="24292E"/>
                </a:solidFill>
                <a:effectLst/>
                <a:latin typeface="Consolas" panose="020B0609020204030204" pitchFamily="49" charset="0"/>
              </a:rPr>
              <a:t> a  </a:t>
            </a:r>
            <a:r>
              <a:rPr lang="en-US" altLang="zh-CN" sz="1600" b="0" dirty="0">
                <a:solidFill>
                  <a:srgbClr val="6A737D"/>
                </a:solidFill>
                <a:effectLst/>
                <a:latin typeface="Consolas" panose="020B0609020204030204" pitchFamily="49" charset="0"/>
              </a:rPr>
              <a:t># d</a:t>
            </a:r>
            <a:r>
              <a:rPr lang="zh-CN" altLang="en-US" sz="1600" b="0" dirty="0">
                <a:solidFill>
                  <a:srgbClr val="6A737D"/>
                </a:solidFill>
                <a:effectLst/>
                <a:latin typeface="Consolas" panose="020B0609020204030204" pitchFamily="49" charset="0"/>
              </a:rPr>
              <a:t>不再与</a:t>
            </a:r>
            <a:r>
              <a:rPr lang="en-US" altLang="zh-CN" sz="1600" b="0" dirty="0">
                <a:solidFill>
                  <a:srgbClr val="6A737D"/>
                </a:solidFill>
                <a:effectLst/>
                <a:latin typeface="Consolas" panose="020B0609020204030204" pitchFamily="49" charset="0"/>
              </a:rPr>
              <a:t>a</a:t>
            </a:r>
            <a:r>
              <a:rPr lang="zh-CN" altLang="en-US" sz="1600" b="0" dirty="0">
                <a:solidFill>
                  <a:srgbClr val="6A737D"/>
                </a:solidFill>
                <a:effectLst/>
                <a:latin typeface="Consolas" panose="020B0609020204030204" pitchFamily="49" charset="0"/>
              </a:rPr>
              <a:t>有任何共享信息</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False</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d.base</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is</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d</a:t>
            </a:r>
            <a:r>
              <a:rPr lang="zh-CN" altLang="en-US" sz="1600" b="0" dirty="0">
                <a:solidFill>
                  <a:srgbClr val="6A737D"/>
                </a:solidFill>
                <a:effectLst/>
                <a:latin typeface="Consolas" panose="020B0609020204030204" pitchFamily="49" charset="0"/>
              </a:rPr>
              <a:t>和</a:t>
            </a:r>
            <a:r>
              <a:rPr lang="en-US" altLang="zh-CN" sz="1600" b="0" dirty="0">
                <a:solidFill>
                  <a:srgbClr val="6A737D"/>
                </a:solidFill>
                <a:effectLst/>
                <a:latin typeface="Consolas" panose="020B0609020204030204" pitchFamily="49" charset="0"/>
              </a:rPr>
              <a:t>a</a:t>
            </a:r>
            <a:r>
              <a:rPr lang="zh-CN" altLang="en-US" sz="1600" b="0" dirty="0">
                <a:solidFill>
                  <a:srgbClr val="6A737D"/>
                </a:solidFill>
                <a:effectLst/>
                <a:latin typeface="Consolas" panose="020B0609020204030204" pitchFamily="49" charset="0"/>
              </a:rPr>
              <a:t>数据不共享</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True</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d[</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9999</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d</a:t>
            </a:r>
            <a:r>
              <a:rPr lang="zh-CN" altLang="en-US" sz="1600" b="0" dirty="0">
                <a:solidFill>
                  <a:srgbClr val="6A737D"/>
                </a:solidFill>
                <a:effectLst/>
                <a:latin typeface="Consolas" panose="020B0609020204030204" pitchFamily="49" charset="0"/>
              </a:rPr>
              <a:t>的变化不会影响</a:t>
            </a:r>
            <a:r>
              <a:rPr lang="en-US" altLang="zh-CN" sz="1600" b="0" dirty="0">
                <a:solidFill>
                  <a:srgbClr val="6A737D"/>
                </a:solidFill>
                <a:effectLst/>
                <a:latin typeface="Consolas" panose="020B0609020204030204" pitchFamily="49" charset="0"/>
              </a:rPr>
              <a:t>a</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array([[   0,    1,    2,    3],</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[1234,   10,   10,    7],</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   8,   10,   10,   11]])</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endParaRPr lang="zh-CN" altLang="en-US" sz="1600" b="0" dirty="0">
              <a:solidFill>
                <a:srgbClr val="24292E"/>
              </a:solidFill>
              <a:effectLst/>
              <a:latin typeface="Consolas" panose="020B0609020204030204" pitchFamily="49" charset="0"/>
            </a:endParaRPr>
          </a:p>
        </p:txBody>
      </p:sp>
      <p:sp>
        <p:nvSpPr>
          <p:cNvPr id="5" name="文本框 4"/>
          <p:cNvSpPr txBox="1"/>
          <p:nvPr/>
        </p:nvSpPr>
        <p:spPr>
          <a:xfrm>
            <a:off x="6205928" y="2395246"/>
            <a:ext cx="5815496" cy="3139321"/>
          </a:xfrm>
          <a:prstGeom prst="rect">
            <a:avLst/>
          </a:prstGeom>
          <a:noFill/>
        </p:spPr>
        <p:txBody>
          <a:bodyPr wrap="square">
            <a:spAutoFit/>
          </a:bodyPr>
          <a:lstStyle/>
          <a:p>
            <a:r>
              <a:rPr lang="en-US" altLang="zh-CN" sz="1800" b="0" dirty="0">
                <a:solidFill>
                  <a:srgbClr val="6A737D"/>
                </a:solidFill>
                <a:effectLst/>
                <a:latin typeface="Consolas" panose="020B0609020204030204" pitchFamily="49" charset="0"/>
              </a:rPr>
              <a:t># </a:t>
            </a:r>
            <a:r>
              <a:rPr lang="zh-CN" altLang="en-US" sz="1800" b="0" dirty="0">
                <a:solidFill>
                  <a:srgbClr val="6A737D"/>
                </a:solidFill>
                <a:effectLst/>
                <a:latin typeface="Consolas" panose="020B0609020204030204" pitchFamily="49" charset="0"/>
              </a:rPr>
              <a:t>有时如果不再需要原始数组，则应该在切片后调用 </a:t>
            </a:r>
            <a:r>
              <a:rPr lang="en-US" altLang="zh-CN" sz="1800" b="0" dirty="0">
                <a:solidFill>
                  <a:srgbClr val="6A737D"/>
                </a:solidFill>
                <a:effectLst/>
                <a:latin typeface="Consolas" panose="020B0609020204030204" pitchFamily="49" charset="0"/>
              </a:rPr>
              <a:t>copy()</a:t>
            </a:r>
            <a:r>
              <a:rPr lang="zh-CN" altLang="en-US" sz="1800" b="0" dirty="0">
                <a:solidFill>
                  <a:srgbClr val="6A737D"/>
                </a:solidFill>
                <a:effectLst/>
                <a:latin typeface="Consolas" panose="020B0609020204030204" pitchFamily="49" charset="0"/>
              </a:rPr>
              <a:t>。</a:t>
            </a:r>
            <a:endParaRPr lang="en-US" altLang="zh-CN" sz="1800" b="0" dirty="0">
              <a:solidFill>
                <a:srgbClr val="24292E"/>
              </a:solidFill>
              <a:effectLst/>
              <a:latin typeface="Consolas" panose="020B0609020204030204" pitchFamily="49" charset="0"/>
            </a:endParaRPr>
          </a:p>
          <a:p>
            <a:r>
              <a:rPr lang="en-US" altLang="zh-CN" sz="1800" b="0" dirty="0">
                <a:solidFill>
                  <a:srgbClr val="6A737D"/>
                </a:solidFill>
                <a:effectLst/>
                <a:latin typeface="Consolas" panose="020B0609020204030204" pitchFamily="49" charset="0"/>
              </a:rPr>
              <a:t># </a:t>
            </a:r>
            <a:r>
              <a:rPr lang="zh-CN" altLang="en-US" sz="1800" b="0" dirty="0">
                <a:solidFill>
                  <a:srgbClr val="6A737D"/>
                </a:solidFill>
                <a:effectLst/>
                <a:latin typeface="Consolas" panose="020B0609020204030204" pitchFamily="49" charset="0"/>
              </a:rPr>
              <a:t>例如，假设 </a:t>
            </a:r>
            <a:r>
              <a:rPr lang="en-US" altLang="zh-CN" sz="1800" b="0" dirty="0">
                <a:solidFill>
                  <a:srgbClr val="6A737D"/>
                </a:solidFill>
                <a:effectLst/>
                <a:latin typeface="Consolas" panose="020B0609020204030204" pitchFamily="49" charset="0"/>
              </a:rPr>
              <a:t>a </a:t>
            </a:r>
            <a:r>
              <a:rPr lang="zh-CN" altLang="en-US" sz="1800" b="0" dirty="0">
                <a:solidFill>
                  <a:srgbClr val="6A737D"/>
                </a:solidFill>
                <a:effectLst/>
                <a:latin typeface="Consolas" panose="020B0609020204030204" pitchFamily="49" charset="0"/>
              </a:rPr>
              <a:t>是一个很大的中间结果，</a:t>
            </a:r>
            <a:endParaRPr lang="zh-CN" altLang="en-US" sz="1800" b="0" dirty="0">
              <a:solidFill>
                <a:srgbClr val="24292E"/>
              </a:solidFill>
              <a:effectLst/>
              <a:latin typeface="Consolas" panose="020B0609020204030204" pitchFamily="49" charset="0"/>
            </a:endParaRPr>
          </a:p>
          <a:p>
            <a:r>
              <a:rPr lang="en-US" altLang="zh-CN" sz="1800" b="0" dirty="0">
                <a:solidFill>
                  <a:srgbClr val="6A737D"/>
                </a:solidFill>
                <a:effectLst/>
                <a:latin typeface="Consolas" panose="020B0609020204030204" pitchFamily="49" charset="0"/>
              </a:rPr>
              <a:t># </a:t>
            </a:r>
            <a:r>
              <a:rPr lang="zh-CN" altLang="en-US" sz="1800" b="0" dirty="0">
                <a:solidFill>
                  <a:srgbClr val="6A737D"/>
                </a:solidFill>
                <a:effectLst/>
                <a:latin typeface="Consolas" panose="020B0609020204030204" pitchFamily="49" charset="0"/>
              </a:rPr>
              <a:t>最终结果 </a:t>
            </a:r>
            <a:r>
              <a:rPr lang="en-US" altLang="zh-CN" sz="1800" b="0" dirty="0">
                <a:solidFill>
                  <a:srgbClr val="6A737D"/>
                </a:solidFill>
                <a:effectLst/>
                <a:latin typeface="Consolas" panose="020B0609020204030204" pitchFamily="49" charset="0"/>
              </a:rPr>
              <a:t>b </a:t>
            </a:r>
            <a:r>
              <a:rPr lang="zh-CN" altLang="en-US" sz="1800" b="0" dirty="0">
                <a:solidFill>
                  <a:srgbClr val="6A737D"/>
                </a:solidFill>
                <a:effectLst/>
                <a:latin typeface="Consolas" panose="020B0609020204030204" pitchFamily="49" charset="0"/>
              </a:rPr>
              <a:t>只包含 </a:t>
            </a:r>
            <a:r>
              <a:rPr lang="en-US" altLang="zh-CN" sz="1800" b="0" dirty="0">
                <a:solidFill>
                  <a:srgbClr val="6A737D"/>
                </a:solidFill>
                <a:effectLst/>
                <a:latin typeface="Consolas" panose="020B0609020204030204" pitchFamily="49" charset="0"/>
              </a:rPr>
              <a:t>a </a:t>
            </a:r>
            <a:r>
              <a:rPr lang="zh-CN" altLang="en-US" sz="1800" b="0" dirty="0">
                <a:solidFill>
                  <a:srgbClr val="6A737D"/>
                </a:solidFill>
                <a:effectLst/>
                <a:latin typeface="Consolas" panose="020B0609020204030204" pitchFamily="49" charset="0"/>
              </a:rPr>
              <a:t>的一部分，</a:t>
            </a:r>
            <a:endParaRPr lang="zh-CN" altLang="en-US" sz="1800" b="0" dirty="0">
              <a:solidFill>
                <a:srgbClr val="24292E"/>
              </a:solidFill>
              <a:effectLst/>
              <a:latin typeface="Consolas" panose="020B0609020204030204" pitchFamily="49" charset="0"/>
            </a:endParaRPr>
          </a:p>
          <a:p>
            <a:r>
              <a:rPr lang="en-US" altLang="zh-CN" sz="1800" b="0" dirty="0">
                <a:solidFill>
                  <a:srgbClr val="6A737D"/>
                </a:solidFill>
                <a:effectLst/>
                <a:latin typeface="Consolas" panose="020B0609020204030204" pitchFamily="49" charset="0"/>
              </a:rPr>
              <a:t># </a:t>
            </a:r>
            <a:r>
              <a:rPr lang="zh-CN" altLang="en-US" sz="1800" b="0" dirty="0">
                <a:solidFill>
                  <a:srgbClr val="6A737D"/>
                </a:solidFill>
                <a:effectLst/>
                <a:latin typeface="Consolas" panose="020B0609020204030204" pitchFamily="49" charset="0"/>
              </a:rPr>
              <a:t>那在用切片构造 </a:t>
            </a:r>
            <a:r>
              <a:rPr lang="en-US" altLang="zh-CN" sz="1800" b="0" dirty="0">
                <a:solidFill>
                  <a:srgbClr val="6A737D"/>
                </a:solidFill>
                <a:effectLst/>
                <a:latin typeface="Consolas" panose="020B0609020204030204" pitchFamily="49" charset="0"/>
              </a:rPr>
              <a:t>b </a:t>
            </a:r>
            <a:r>
              <a:rPr lang="zh-CN" altLang="en-US" sz="1800" b="0" dirty="0">
                <a:solidFill>
                  <a:srgbClr val="6A737D"/>
                </a:solidFill>
                <a:effectLst/>
                <a:latin typeface="Consolas" panose="020B0609020204030204" pitchFamily="49" charset="0"/>
              </a:rPr>
              <a:t>时应该做一个深拷贝</a:t>
            </a:r>
            <a:endParaRPr lang="zh-CN" altLang="en-US" sz="1800" b="0" dirty="0">
              <a:solidFill>
                <a:srgbClr val="24292E"/>
              </a:solidFill>
              <a:effectLst/>
              <a:latin typeface="Consolas" panose="020B0609020204030204" pitchFamily="49" charset="0"/>
            </a:endParaRPr>
          </a:p>
          <a:p>
            <a:r>
              <a:rPr lang="en-US" altLang="zh-CN" sz="1800" b="0" dirty="0">
                <a:solidFill>
                  <a:srgbClr val="6A737D"/>
                </a:solidFill>
                <a:effectLst/>
                <a:latin typeface="Consolas" panose="020B0609020204030204" pitchFamily="49" charset="0"/>
              </a:rPr>
              <a:t># </a:t>
            </a:r>
            <a:r>
              <a:rPr lang="zh-CN" altLang="en-US" sz="1800" b="0" dirty="0">
                <a:solidFill>
                  <a:srgbClr val="6A737D"/>
                </a:solidFill>
                <a:effectLst/>
                <a:latin typeface="Consolas" panose="020B0609020204030204" pitchFamily="49" charset="0"/>
              </a:rPr>
              <a:t>删除 </a:t>
            </a:r>
            <a:r>
              <a:rPr lang="en-US" altLang="zh-CN" sz="1800" b="0" dirty="0">
                <a:solidFill>
                  <a:srgbClr val="6A737D"/>
                </a:solidFill>
                <a:effectLst/>
                <a:latin typeface="Consolas" panose="020B0609020204030204" pitchFamily="49" charset="0"/>
              </a:rPr>
              <a:t>a</a:t>
            </a:r>
            <a:r>
              <a:rPr lang="zh-CN" altLang="en-US" sz="1800" b="0" dirty="0">
                <a:solidFill>
                  <a:srgbClr val="6A737D"/>
                </a:solidFill>
                <a:effectLst/>
                <a:latin typeface="Consolas" panose="020B0609020204030204" pitchFamily="49" charset="0"/>
              </a:rPr>
              <a:t>，从而释放内存。例如：</a:t>
            </a:r>
            <a:endParaRPr lang="zh-CN" altLang="en-US" sz="1800" b="0" dirty="0">
              <a:solidFill>
                <a:srgbClr val="24292E"/>
              </a:solidFill>
              <a:effectLst/>
              <a:latin typeface="Consolas" panose="020B0609020204030204" pitchFamily="49" charset="0"/>
            </a:endParaRPr>
          </a:p>
          <a:p>
            <a:r>
              <a:rPr lang="en-US" altLang="zh-CN" sz="1800" b="0" dirty="0">
                <a:solidFill>
                  <a:srgbClr val="24292E"/>
                </a:solidFill>
                <a:effectLst/>
                <a:latin typeface="Consolas" panose="020B0609020204030204" pitchFamily="49" charset="0"/>
              </a:rPr>
              <a:t>a </a:t>
            </a:r>
            <a:r>
              <a:rPr lang="en-US" altLang="zh-CN" sz="1800" b="0" dirty="0">
                <a:solidFill>
                  <a:srgbClr val="D73A49"/>
                </a:solidFill>
                <a:effectLst/>
                <a:latin typeface="Consolas" panose="020B0609020204030204" pitchFamily="49" charset="0"/>
              </a:rPr>
              <a:t>=</a:t>
            </a:r>
            <a:r>
              <a:rPr lang="en-US" altLang="zh-CN" sz="1800" b="0" dirty="0">
                <a:solidFill>
                  <a:srgbClr val="24292E"/>
                </a:solidFill>
                <a:effectLst/>
                <a:latin typeface="Consolas" panose="020B0609020204030204" pitchFamily="49" charset="0"/>
              </a:rPr>
              <a:t> </a:t>
            </a:r>
            <a:r>
              <a:rPr lang="en-US" altLang="zh-CN" sz="1800" b="0" dirty="0" err="1">
                <a:solidFill>
                  <a:srgbClr val="24292E"/>
                </a:solidFill>
                <a:effectLst/>
                <a:latin typeface="Consolas" panose="020B0609020204030204" pitchFamily="49" charset="0"/>
              </a:rPr>
              <a:t>np.arange</a:t>
            </a:r>
            <a:r>
              <a:rPr lang="en-US" altLang="zh-CN" sz="1800" b="0" dirty="0">
                <a:solidFill>
                  <a:srgbClr val="24292E"/>
                </a:solidFill>
                <a:effectLst/>
                <a:latin typeface="Consolas" panose="020B0609020204030204" pitchFamily="49" charset="0"/>
              </a:rPr>
              <a:t>(</a:t>
            </a:r>
            <a:r>
              <a:rPr lang="en-US" altLang="zh-CN" sz="1800" b="0" dirty="0">
                <a:solidFill>
                  <a:srgbClr val="6F42C1"/>
                </a:solidFill>
                <a:effectLst/>
                <a:latin typeface="Consolas" panose="020B0609020204030204" pitchFamily="49" charset="0"/>
              </a:rPr>
              <a:t>int</a:t>
            </a:r>
            <a:r>
              <a:rPr lang="en-US" altLang="zh-CN" sz="1800" b="0" dirty="0">
                <a:solidFill>
                  <a:srgbClr val="24292E"/>
                </a:solidFill>
                <a:effectLst/>
                <a:latin typeface="Consolas" panose="020B0609020204030204" pitchFamily="49" charset="0"/>
              </a:rPr>
              <a:t>(</a:t>
            </a:r>
            <a:r>
              <a:rPr lang="en-US" altLang="zh-CN" sz="1800" b="0" dirty="0">
                <a:solidFill>
                  <a:srgbClr val="005CC5"/>
                </a:solidFill>
                <a:effectLst/>
                <a:latin typeface="Consolas" panose="020B0609020204030204" pitchFamily="49" charset="0"/>
              </a:rPr>
              <a:t>1e8</a:t>
            </a:r>
            <a:r>
              <a:rPr lang="en-US" altLang="zh-CN" sz="1800" b="0" dirty="0">
                <a:solidFill>
                  <a:srgbClr val="24292E"/>
                </a:solidFill>
                <a:effectLst/>
                <a:latin typeface="Consolas" panose="020B0609020204030204" pitchFamily="49" charset="0"/>
              </a:rPr>
              <a:t>))  </a:t>
            </a:r>
            <a:r>
              <a:rPr lang="en-US" altLang="zh-CN" sz="1800" b="0" dirty="0">
                <a:solidFill>
                  <a:srgbClr val="6A737D"/>
                </a:solidFill>
                <a:effectLst/>
                <a:latin typeface="Consolas" panose="020B0609020204030204" pitchFamily="49" charset="0"/>
              </a:rPr>
              <a:t># a</a:t>
            </a:r>
            <a:r>
              <a:rPr lang="zh-CN" altLang="en-US" sz="1800" b="0" dirty="0">
                <a:solidFill>
                  <a:srgbClr val="6A737D"/>
                </a:solidFill>
                <a:effectLst/>
                <a:latin typeface="Consolas" panose="020B0609020204030204" pitchFamily="49" charset="0"/>
              </a:rPr>
              <a:t>数组有</a:t>
            </a:r>
            <a:r>
              <a:rPr lang="en-US" altLang="zh-CN" sz="1800" b="0" dirty="0">
                <a:solidFill>
                  <a:srgbClr val="6A737D"/>
                </a:solidFill>
                <a:effectLst/>
                <a:latin typeface="Consolas" panose="020B0609020204030204" pitchFamily="49" charset="0"/>
              </a:rPr>
              <a:t>100000000</a:t>
            </a:r>
            <a:r>
              <a:rPr lang="zh-CN" altLang="en-US" sz="1800" b="0" dirty="0">
                <a:solidFill>
                  <a:srgbClr val="6A737D"/>
                </a:solidFill>
                <a:effectLst/>
                <a:latin typeface="Consolas" panose="020B0609020204030204" pitchFamily="49" charset="0"/>
              </a:rPr>
              <a:t>个元素</a:t>
            </a:r>
            <a:endParaRPr lang="zh-CN" altLang="en-US" sz="1800" b="0" dirty="0">
              <a:solidFill>
                <a:srgbClr val="24292E"/>
              </a:solidFill>
              <a:effectLst/>
              <a:latin typeface="Consolas" panose="020B0609020204030204" pitchFamily="49" charset="0"/>
            </a:endParaRPr>
          </a:p>
          <a:p>
            <a:r>
              <a:rPr lang="en-US" altLang="zh-CN" sz="1800" b="0" dirty="0">
                <a:solidFill>
                  <a:srgbClr val="24292E"/>
                </a:solidFill>
                <a:effectLst/>
                <a:latin typeface="Consolas" panose="020B0609020204030204" pitchFamily="49" charset="0"/>
              </a:rPr>
              <a:t>b </a:t>
            </a:r>
            <a:r>
              <a:rPr lang="en-US" altLang="zh-CN" sz="1800" b="0" dirty="0">
                <a:solidFill>
                  <a:srgbClr val="D73A49"/>
                </a:solidFill>
                <a:effectLst/>
                <a:latin typeface="Consolas" panose="020B0609020204030204" pitchFamily="49" charset="0"/>
              </a:rPr>
              <a:t>=</a:t>
            </a:r>
            <a:r>
              <a:rPr lang="en-US" altLang="zh-CN" sz="1800" b="0" dirty="0">
                <a:solidFill>
                  <a:srgbClr val="24292E"/>
                </a:solidFill>
                <a:effectLst/>
                <a:latin typeface="Consolas" panose="020B0609020204030204" pitchFamily="49" charset="0"/>
              </a:rPr>
              <a:t> a[:</a:t>
            </a:r>
            <a:r>
              <a:rPr lang="en-US" altLang="zh-CN" sz="1800" b="0" dirty="0">
                <a:solidFill>
                  <a:srgbClr val="005CC5"/>
                </a:solidFill>
                <a:effectLst/>
                <a:latin typeface="Consolas" panose="020B0609020204030204" pitchFamily="49" charset="0"/>
              </a:rPr>
              <a:t>100</a:t>
            </a:r>
            <a:r>
              <a:rPr lang="en-US" altLang="zh-CN" sz="1800" b="0" dirty="0">
                <a:solidFill>
                  <a:srgbClr val="24292E"/>
                </a:solidFill>
                <a:effectLst/>
                <a:latin typeface="Consolas" panose="020B0609020204030204" pitchFamily="49" charset="0"/>
              </a:rPr>
              <a:t>].copy()  </a:t>
            </a:r>
            <a:r>
              <a:rPr lang="en-US" altLang="zh-CN" sz="1800" b="0" dirty="0">
                <a:solidFill>
                  <a:srgbClr val="6A737D"/>
                </a:solidFill>
                <a:effectLst/>
                <a:latin typeface="Consolas" panose="020B0609020204030204" pitchFamily="49" charset="0"/>
              </a:rPr>
              <a:t># b</a:t>
            </a:r>
            <a:r>
              <a:rPr lang="zh-CN" altLang="en-US" sz="1800" b="0" dirty="0">
                <a:solidFill>
                  <a:srgbClr val="6A737D"/>
                </a:solidFill>
                <a:effectLst/>
                <a:latin typeface="Consolas" panose="020B0609020204030204" pitchFamily="49" charset="0"/>
              </a:rPr>
              <a:t>复制了</a:t>
            </a:r>
            <a:r>
              <a:rPr lang="en-US" altLang="zh-CN" sz="1800" b="0" dirty="0">
                <a:solidFill>
                  <a:srgbClr val="6A737D"/>
                </a:solidFill>
                <a:effectLst/>
                <a:latin typeface="Consolas" panose="020B0609020204030204" pitchFamily="49" charset="0"/>
              </a:rPr>
              <a:t>a</a:t>
            </a:r>
            <a:r>
              <a:rPr lang="zh-CN" altLang="en-US" sz="1800" b="0" dirty="0">
                <a:solidFill>
                  <a:srgbClr val="6A737D"/>
                </a:solidFill>
                <a:effectLst/>
                <a:latin typeface="Consolas" panose="020B0609020204030204" pitchFamily="49" charset="0"/>
              </a:rPr>
              <a:t>的前</a:t>
            </a:r>
            <a:r>
              <a:rPr lang="en-US" altLang="zh-CN" sz="1800" b="0" dirty="0">
                <a:solidFill>
                  <a:srgbClr val="6A737D"/>
                </a:solidFill>
                <a:effectLst/>
                <a:latin typeface="Consolas" panose="020B0609020204030204" pitchFamily="49" charset="0"/>
              </a:rPr>
              <a:t>100</a:t>
            </a:r>
            <a:r>
              <a:rPr lang="zh-CN" altLang="en-US" sz="1800" b="0" dirty="0">
                <a:solidFill>
                  <a:srgbClr val="6A737D"/>
                </a:solidFill>
                <a:effectLst/>
                <a:latin typeface="Consolas" panose="020B0609020204030204" pitchFamily="49" charset="0"/>
              </a:rPr>
              <a:t>个元素，进行了深拷贝</a:t>
            </a:r>
            <a:endParaRPr lang="zh-CN" altLang="en-US" sz="1800" b="0" dirty="0">
              <a:solidFill>
                <a:srgbClr val="24292E"/>
              </a:solidFill>
              <a:effectLst/>
              <a:latin typeface="Consolas" panose="020B0609020204030204" pitchFamily="49" charset="0"/>
            </a:endParaRPr>
          </a:p>
          <a:p>
            <a:r>
              <a:rPr lang="en-US" altLang="zh-CN" sz="1800" b="0" dirty="0">
                <a:solidFill>
                  <a:srgbClr val="D73A49"/>
                </a:solidFill>
                <a:effectLst/>
                <a:latin typeface="Consolas" panose="020B0609020204030204" pitchFamily="49" charset="0"/>
              </a:rPr>
              <a:t>del</a:t>
            </a:r>
            <a:r>
              <a:rPr lang="en-US" altLang="zh-CN" sz="1800" b="0" dirty="0">
                <a:solidFill>
                  <a:srgbClr val="24292E"/>
                </a:solidFill>
                <a:effectLst/>
                <a:latin typeface="Consolas" panose="020B0609020204030204" pitchFamily="49" charset="0"/>
              </a:rPr>
              <a:t> a  </a:t>
            </a:r>
            <a:r>
              <a:rPr lang="en-US" altLang="zh-CN" sz="1800" b="0" dirty="0">
                <a:solidFill>
                  <a:srgbClr val="6A737D"/>
                </a:solidFill>
                <a:effectLst/>
                <a:latin typeface="Consolas" panose="020B0609020204030204" pitchFamily="49" charset="0"/>
              </a:rPr>
              <a:t># a</a:t>
            </a:r>
            <a:r>
              <a:rPr lang="zh-CN" altLang="en-US" sz="1800" b="0" dirty="0">
                <a:solidFill>
                  <a:srgbClr val="6A737D"/>
                </a:solidFill>
                <a:effectLst/>
                <a:latin typeface="Consolas" panose="020B0609020204030204" pitchFamily="49" charset="0"/>
              </a:rPr>
              <a:t>数组被释放</a:t>
            </a:r>
            <a:endParaRPr lang="zh-CN" altLang="en-US" sz="18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2585323"/>
          </a:xfrm>
          <a:prstGeom prst="rect">
            <a:avLst/>
          </a:prstGeom>
          <a:noFill/>
        </p:spPr>
        <p:txBody>
          <a:bodyPr wrap="square">
            <a:spAutoFit/>
          </a:bodyPr>
          <a:lstStyle/>
          <a:p>
            <a:r>
              <a:rPr lang="en-US" altLang="zh-CN" b="0" i="0" dirty="0">
                <a:solidFill>
                  <a:srgbClr val="050E17"/>
                </a:solidFill>
                <a:effectLst/>
                <a:latin typeface="+mn-ea"/>
              </a:rPr>
              <a:t>Pandas</a:t>
            </a:r>
            <a:r>
              <a:rPr lang="zh-CN" altLang="en-US" b="0" i="0" dirty="0">
                <a:solidFill>
                  <a:srgbClr val="050E17"/>
                </a:solidFill>
                <a:effectLst/>
                <a:latin typeface="+mn-ea"/>
              </a:rPr>
              <a:t>的主要数据结构有两个，分别是</a:t>
            </a:r>
            <a:r>
              <a:rPr lang="en-US" altLang="zh-CN" b="0" i="0" dirty="0">
                <a:solidFill>
                  <a:srgbClr val="050E17"/>
                </a:solidFill>
                <a:effectLst/>
                <a:latin typeface="+mn-ea"/>
              </a:rPr>
              <a:t>Series</a:t>
            </a:r>
            <a:r>
              <a:rPr lang="zh-CN" altLang="en-US" b="0" i="0" dirty="0">
                <a:solidFill>
                  <a:srgbClr val="050E17"/>
                </a:solidFill>
                <a:effectLst/>
                <a:latin typeface="+mn-ea"/>
              </a:rPr>
              <a:t>和</a:t>
            </a:r>
            <a:r>
              <a:rPr lang="en-US" altLang="zh-CN" b="0" i="0" dirty="0" err="1">
                <a:solidFill>
                  <a:srgbClr val="050E17"/>
                </a:solidFill>
                <a:effectLst/>
                <a:latin typeface="+mn-ea"/>
              </a:rPr>
              <a:t>DataFrame</a:t>
            </a:r>
            <a:r>
              <a:rPr lang="zh-CN" altLang="en-US" b="0" i="0" dirty="0">
                <a:solidFill>
                  <a:srgbClr val="050E17"/>
                </a:solidFill>
                <a:effectLst/>
                <a:latin typeface="+mn-ea"/>
              </a:rPr>
              <a:t>。</a:t>
            </a:r>
            <a:endParaRPr lang="zh-CN" altLang="en-US" b="0" i="0" dirty="0">
              <a:solidFill>
                <a:srgbClr val="050E17"/>
              </a:solidFill>
              <a:effectLst/>
              <a:latin typeface="+mn-ea"/>
            </a:endParaRPr>
          </a:p>
          <a:p>
            <a:endParaRPr lang="zh-CN" altLang="en-US" b="0" i="0" dirty="0">
              <a:solidFill>
                <a:srgbClr val="050E17"/>
              </a:solidFill>
              <a:effectLst/>
              <a:latin typeface="+mn-ea"/>
            </a:endParaRPr>
          </a:p>
          <a:p>
            <a:r>
              <a:rPr lang="en-US" altLang="zh-CN" b="0" i="0" dirty="0">
                <a:solidFill>
                  <a:srgbClr val="050E17"/>
                </a:solidFill>
                <a:effectLst/>
                <a:latin typeface="+mn-ea"/>
              </a:rPr>
              <a:t>Series</a:t>
            </a:r>
            <a:r>
              <a:rPr lang="zh-CN" altLang="en-US" b="0" i="0" dirty="0">
                <a:solidFill>
                  <a:srgbClr val="050E17"/>
                </a:solidFill>
                <a:effectLst/>
                <a:latin typeface="+mn-ea"/>
              </a:rPr>
              <a:t>可以看作类似于一维数组的结构，或者是二维数组中的列结构。它由一组数据以及一组与之相关的索引组成。数据可以是各种</a:t>
            </a:r>
            <a:r>
              <a:rPr lang="en-US" altLang="zh-CN" b="0" i="0" dirty="0">
                <a:solidFill>
                  <a:srgbClr val="050E17"/>
                </a:solidFill>
                <a:effectLst/>
                <a:latin typeface="+mn-ea"/>
              </a:rPr>
              <a:t>NumPy</a:t>
            </a:r>
            <a:r>
              <a:rPr lang="zh-CN" altLang="en-US" b="0" i="0" dirty="0">
                <a:solidFill>
                  <a:srgbClr val="050E17"/>
                </a:solidFill>
                <a:effectLst/>
                <a:latin typeface="+mn-ea"/>
              </a:rPr>
              <a:t>数据类型，索引也被称为数据标签。</a:t>
            </a:r>
            <a:endParaRPr lang="zh-CN" altLang="en-US" b="0" i="0" dirty="0">
              <a:solidFill>
                <a:srgbClr val="050E17"/>
              </a:solidFill>
              <a:effectLst/>
              <a:latin typeface="+mn-ea"/>
            </a:endParaRPr>
          </a:p>
          <a:p>
            <a:endParaRPr lang="zh-CN" altLang="en-US" b="0" i="0" dirty="0">
              <a:solidFill>
                <a:srgbClr val="050E17"/>
              </a:solidFill>
              <a:effectLst/>
              <a:latin typeface="+mn-ea"/>
            </a:endParaRPr>
          </a:p>
          <a:p>
            <a:r>
              <a:rPr lang="en-US" altLang="zh-CN" b="0" i="0" dirty="0" err="1">
                <a:solidFill>
                  <a:srgbClr val="050E17"/>
                </a:solidFill>
                <a:effectLst/>
                <a:latin typeface="+mn-ea"/>
              </a:rPr>
              <a:t>DataFrame</a:t>
            </a:r>
            <a:r>
              <a:rPr lang="zh-CN" altLang="en-US" b="0" i="0" dirty="0">
                <a:solidFill>
                  <a:srgbClr val="050E17"/>
                </a:solidFill>
                <a:effectLst/>
                <a:latin typeface="+mn-ea"/>
              </a:rPr>
              <a:t>是一种表格型的数据结构，它含有一组有序的列，列可以是不同的值类型，如数值、字符串、布尔型值等。</a:t>
            </a:r>
            <a:r>
              <a:rPr lang="en-US" altLang="zh-CN" b="0" i="0" dirty="0" err="1">
                <a:solidFill>
                  <a:srgbClr val="050E17"/>
                </a:solidFill>
                <a:effectLst/>
                <a:latin typeface="+mn-ea"/>
              </a:rPr>
              <a:t>DataFrame</a:t>
            </a:r>
            <a:r>
              <a:rPr lang="zh-CN" altLang="en-US" b="0" i="0" dirty="0">
                <a:solidFill>
                  <a:srgbClr val="050E17"/>
                </a:solidFill>
                <a:effectLst/>
                <a:latin typeface="+mn-ea"/>
              </a:rPr>
              <a:t>既有行索引，也有列索引，可以看作是由类似于</a:t>
            </a:r>
            <a:r>
              <a:rPr lang="en-US" altLang="zh-CN" b="0" i="0" dirty="0">
                <a:solidFill>
                  <a:srgbClr val="050E17"/>
                </a:solidFill>
                <a:effectLst/>
                <a:latin typeface="+mn-ea"/>
              </a:rPr>
              <a:t>Series</a:t>
            </a:r>
            <a:r>
              <a:rPr lang="zh-CN" altLang="en-US" b="0" i="0" dirty="0">
                <a:solidFill>
                  <a:srgbClr val="050E17"/>
                </a:solidFill>
                <a:effectLst/>
                <a:latin typeface="+mn-ea"/>
              </a:rPr>
              <a:t>对象组成的字典。从纵向看，</a:t>
            </a:r>
            <a:r>
              <a:rPr lang="en-US" altLang="zh-CN" b="0" i="0" dirty="0" err="1">
                <a:solidFill>
                  <a:srgbClr val="050E17"/>
                </a:solidFill>
                <a:effectLst/>
                <a:latin typeface="+mn-ea"/>
              </a:rPr>
              <a:t>DataFrame</a:t>
            </a:r>
            <a:r>
              <a:rPr lang="zh-CN" altLang="en-US" b="0" i="0" dirty="0">
                <a:solidFill>
                  <a:srgbClr val="050E17"/>
                </a:solidFill>
                <a:effectLst/>
                <a:latin typeface="+mn-ea"/>
              </a:rPr>
              <a:t>的</a:t>
            </a:r>
            <a:r>
              <a:rPr lang="en-US" altLang="zh-CN" b="0" i="0" dirty="0">
                <a:solidFill>
                  <a:srgbClr val="050E17"/>
                </a:solidFill>
                <a:effectLst/>
                <a:latin typeface="+mn-ea"/>
              </a:rPr>
              <a:t>key</a:t>
            </a:r>
            <a:r>
              <a:rPr lang="zh-CN" altLang="en-US" b="0" i="0" dirty="0">
                <a:solidFill>
                  <a:srgbClr val="050E17"/>
                </a:solidFill>
                <a:effectLst/>
                <a:latin typeface="+mn-ea"/>
              </a:rPr>
              <a:t>为列索引，每个</a:t>
            </a:r>
            <a:r>
              <a:rPr lang="en-US" altLang="zh-CN" b="0" i="0" dirty="0">
                <a:solidFill>
                  <a:srgbClr val="050E17"/>
                </a:solidFill>
                <a:effectLst/>
                <a:latin typeface="+mn-ea"/>
              </a:rPr>
              <a:t>Series</a:t>
            </a:r>
            <a:r>
              <a:rPr lang="zh-CN" altLang="en-US" b="0" i="0" dirty="0">
                <a:solidFill>
                  <a:srgbClr val="050E17"/>
                </a:solidFill>
                <a:effectLst/>
                <a:latin typeface="+mn-ea"/>
              </a:rPr>
              <a:t>对象为一列即</a:t>
            </a:r>
            <a:r>
              <a:rPr lang="en-US" altLang="zh-CN" b="0" i="0" dirty="0">
                <a:solidFill>
                  <a:srgbClr val="050E17"/>
                </a:solidFill>
                <a:effectLst/>
                <a:latin typeface="+mn-ea"/>
              </a:rPr>
              <a:t>value</a:t>
            </a:r>
            <a:r>
              <a:rPr lang="zh-CN" altLang="en-US" b="0" i="0" dirty="0">
                <a:solidFill>
                  <a:srgbClr val="050E17"/>
                </a:solidFill>
                <a:effectLst/>
                <a:latin typeface="+mn-ea"/>
              </a:rPr>
              <a:t>；从横向看，所有的</a:t>
            </a:r>
            <a:r>
              <a:rPr lang="en-US" altLang="zh-CN" b="0" i="0" dirty="0">
                <a:solidFill>
                  <a:srgbClr val="050E17"/>
                </a:solidFill>
                <a:effectLst/>
                <a:latin typeface="+mn-ea"/>
              </a:rPr>
              <a:t>Series</a:t>
            </a:r>
            <a:r>
              <a:rPr lang="zh-CN" altLang="en-US" b="0" i="0" dirty="0">
                <a:solidFill>
                  <a:srgbClr val="050E17"/>
                </a:solidFill>
                <a:effectLst/>
                <a:latin typeface="+mn-ea"/>
              </a:rPr>
              <a:t>对象具有相同的行索引，如下图所示。</a:t>
            </a:r>
            <a:endParaRPr lang="zh-CN" altLang="en-US" b="0" i="0" dirty="0">
              <a:solidFill>
                <a:srgbClr val="050E17"/>
              </a:solidFill>
              <a:effectLst/>
              <a:latin typeface="+mn-ea"/>
            </a:endParaRPr>
          </a:p>
        </p:txBody>
      </p:sp>
      <p:sp>
        <p:nvSpPr>
          <p:cNvPr id="6" name="文本框 5"/>
          <p:cNvSpPr txBox="1"/>
          <p:nvPr/>
        </p:nvSpPr>
        <p:spPr>
          <a:xfrm>
            <a:off x="6998515" y="285025"/>
            <a:ext cx="4692470" cy="1200329"/>
          </a:xfrm>
          <a:prstGeom prst="rect">
            <a:avLst/>
          </a:prstGeom>
          <a:noFill/>
        </p:spPr>
        <p:txBody>
          <a:bodyPr wrap="square">
            <a:spAutoFit/>
          </a:bodyPr>
          <a:lstStyle/>
          <a:p>
            <a:r>
              <a:rPr lang="zh-CN" altLang="en-US" dirty="0">
                <a:solidFill>
                  <a:srgbClr val="577CCE"/>
                </a:solidFill>
                <a:latin typeface="Consolas" panose="020B0609020204030204" pitchFamily="49" charset="0"/>
              </a:rPr>
              <a:t>导入</a:t>
            </a:r>
            <a:r>
              <a:rPr lang="en-US" altLang="zh-CN" dirty="0">
                <a:solidFill>
                  <a:srgbClr val="577CCE"/>
                </a:solidFill>
                <a:latin typeface="Consolas" panose="020B0609020204030204" pitchFamily="49" charset="0"/>
              </a:rPr>
              <a:t>Pandas</a:t>
            </a:r>
            <a:r>
              <a:rPr lang="zh-CN" altLang="en-US" dirty="0">
                <a:solidFill>
                  <a:srgbClr val="577CCE"/>
                </a:solidFill>
                <a:latin typeface="Consolas" panose="020B0609020204030204" pitchFamily="49" charset="0"/>
              </a:rPr>
              <a:t>包：</a:t>
            </a:r>
            <a:endParaRPr lang="en-US" altLang="zh-CN" b="0" dirty="0">
              <a:solidFill>
                <a:srgbClr val="577CC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pandas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pd</a:t>
            </a:r>
            <a:br>
              <a:rPr lang="en-US" altLang="zh-CN" b="0" dirty="0">
                <a:solidFill>
                  <a:srgbClr val="24292E"/>
                </a:solidFill>
                <a:effectLst/>
                <a:latin typeface="Consolas" panose="020B0609020204030204" pitchFamily="49" charset="0"/>
              </a:rPr>
            </a:b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a:t>
            </a:r>
            <a:r>
              <a:rPr lang="en-US" altLang="zh-CN" b="0" dirty="0">
                <a:solidFill>
                  <a:srgbClr val="6A737D"/>
                </a:solidFill>
                <a:effectLst/>
                <a:latin typeface="Consolas" panose="020B0609020204030204" pitchFamily="49" charset="0"/>
              </a:rPr>
              <a:t>Pandas</a:t>
            </a:r>
            <a:r>
              <a:rPr lang="zh-CN" altLang="en-US" b="0" dirty="0">
                <a:solidFill>
                  <a:srgbClr val="6A737D"/>
                </a:solidFill>
                <a:effectLst/>
                <a:latin typeface="Consolas" panose="020B0609020204030204" pitchFamily="49" charset="0"/>
              </a:rPr>
              <a:t>版本号</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pd</a:t>
            </a:r>
            <a:r>
              <a:rPr lang="en-US" altLang="zh-CN" b="0" dirty="0" err="1">
                <a:solidFill>
                  <a:srgbClr val="24292E"/>
                </a:solidFill>
                <a:effectLst/>
                <a:latin typeface="Consolas" panose="020B0609020204030204" pitchFamily="49" charset="0"/>
              </a:rPr>
              <a:t>.__version</a:t>
            </a:r>
            <a:r>
              <a:rPr lang="en-US" altLang="zh-CN" b="0" dirty="0">
                <a:solidFill>
                  <a:srgbClr val="24292E"/>
                </a:solidFill>
                <a:effectLst/>
                <a:latin typeface="Consolas" panose="020B0609020204030204" pitchFamily="49" charset="0"/>
              </a:rPr>
              <a:t>__)</a:t>
            </a:r>
            <a:endParaRPr lang="en-US" altLang="zh-CN" b="0" dirty="0">
              <a:solidFill>
                <a:srgbClr val="24292E"/>
              </a:solidFill>
              <a:effectLst/>
              <a:latin typeface="Consolas" panose="020B0609020204030204" pitchFamily="49" charset="0"/>
            </a:endParaRPr>
          </a:p>
        </p:txBody>
      </p:sp>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9105" y="4279193"/>
            <a:ext cx="7134225" cy="237172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1200329"/>
          </a:xfrm>
          <a:prstGeom prst="rect">
            <a:avLst/>
          </a:prstGeom>
          <a:noFill/>
        </p:spPr>
        <p:txBody>
          <a:bodyPr wrap="square">
            <a:spAutoFit/>
          </a:bodyPr>
          <a:lstStyle/>
          <a:p>
            <a:pPr marL="342900" indent="-342900">
              <a:buAutoNum type="arabicParenBoth"/>
            </a:pPr>
            <a:r>
              <a:rPr lang="en-US" altLang="zh-CN" b="0" i="0" dirty="0">
                <a:solidFill>
                  <a:srgbClr val="050E17"/>
                </a:solidFill>
                <a:effectLst/>
                <a:latin typeface="+mn-ea"/>
              </a:rPr>
              <a:t>Series</a:t>
            </a:r>
            <a:endParaRPr lang="en-US" altLang="zh-CN" b="0" i="0" dirty="0">
              <a:solidFill>
                <a:srgbClr val="050E17"/>
              </a:solidFill>
              <a:effectLst/>
              <a:latin typeface="+mn-ea"/>
            </a:endParaRPr>
          </a:p>
          <a:p>
            <a:r>
              <a:rPr lang="zh-CN" altLang="en-US" b="0" i="0" dirty="0">
                <a:solidFill>
                  <a:srgbClr val="050E17"/>
                </a:solidFill>
                <a:effectLst/>
                <a:latin typeface="+mn-ea"/>
              </a:rPr>
              <a:t>构建</a:t>
            </a:r>
            <a:r>
              <a:rPr lang="en-US" altLang="zh-CN" b="0" i="0" dirty="0">
                <a:solidFill>
                  <a:srgbClr val="050E17"/>
                </a:solidFill>
                <a:effectLst/>
                <a:latin typeface="+mn-ea"/>
              </a:rPr>
              <a:t>Series</a:t>
            </a:r>
            <a:r>
              <a:rPr lang="zh-CN" altLang="en-US" b="0" i="0" dirty="0">
                <a:solidFill>
                  <a:srgbClr val="050E17"/>
                </a:solidFill>
                <a:effectLst/>
                <a:latin typeface="+mn-ea"/>
              </a:rPr>
              <a:t>对象：</a:t>
            </a:r>
            <a:r>
              <a:rPr lang="en-US" altLang="zh-CN" b="0" i="0" dirty="0" err="1">
                <a:solidFill>
                  <a:srgbClr val="050E17"/>
                </a:solidFill>
                <a:effectLst/>
                <a:latin typeface="+mn-ea"/>
              </a:rPr>
              <a:t>pandas.Series</a:t>
            </a:r>
            <a:r>
              <a:rPr lang="en-US" altLang="zh-CN" b="0" i="0" dirty="0">
                <a:solidFill>
                  <a:srgbClr val="050E17"/>
                </a:solidFill>
                <a:effectLst/>
                <a:latin typeface="+mn-ea"/>
              </a:rPr>
              <a:t>( data</a:t>
            </a:r>
            <a:r>
              <a:rPr lang="zh-CN" altLang="en-US" b="0" i="0" dirty="0">
                <a:solidFill>
                  <a:srgbClr val="050E17"/>
                </a:solidFill>
                <a:effectLst/>
                <a:latin typeface="+mn-ea"/>
              </a:rPr>
              <a:t>，</a:t>
            </a:r>
            <a:r>
              <a:rPr lang="en-US" altLang="zh-CN" b="0" i="0" dirty="0">
                <a:solidFill>
                  <a:srgbClr val="050E17"/>
                </a:solidFill>
                <a:effectLst/>
                <a:latin typeface="+mn-ea"/>
              </a:rPr>
              <a:t>index</a:t>
            </a:r>
            <a:r>
              <a:rPr lang="zh-CN" altLang="en-US" b="0" i="0" dirty="0">
                <a:solidFill>
                  <a:srgbClr val="050E17"/>
                </a:solidFill>
                <a:effectLst/>
                <a:latin typeface="+mn-ea"/>
              </a:rPr>
              <a:t>，</a:t>
            </a:r>
            <a:r>
              <a:rPr lang="en-US" altLang="zh-CN" b="0" i="0" dirty="0" err="1">
                <a:solidFill>
                  <a:srgbClr val="050E17"/>
                </a:solidFill>
                <a:effectLst/>
                <a:latin typeface="+mn-ea"/>
              </a:rPr>
              <a:t>dtype</a:t>
            </a:r>
            <a:r>
              <a:rPr lang="zh-CN" altLang="en-US" b="0" i="0" dirty="0">
                <a:solidFill>
                  <a:srgbClr val="050E17"/>
                </a:solidFill>
                <a:effectLst/>
                <a:latin typeface="+mn-ea"/>
              </a:rPr>
              <a:t>，</a:t>
            </a:r>
            <a:r>
              <a:rPr lang="en-US" altLang="zh-CN" b="0" i="0" dirty="0">
                <a:solidFill>
                  <a:srgbClr val="050E17"/>
                </a:solidFill>
                <a:effectLst/>
                <a:latin typeface="+mn-ea"/>
              </a:rPr>
              <a:t>name</a:t>
            </a:r>
            <a:r>
              <a:rPr lang="zh-CN" altLang="en-US" b="0" i="0" dirty="0">
                <a:solidFill>
                  <a:srgbClr val="050E17"/>
                </a:solidFill>
                <a:effectLst/>
                <a:latin typeface="+mn-ea"/>
              </a:rPr>
              <a:t>，</a:t>
            </a:r>
            <a:r>
              <a:rPr lang="en-US" altLang="zh-CN" b="0" i="0" dirty="0">
                <a:solidFill>
                  <a:srgbClr val="050E17"/>
                </a:solidFill>
                <a:effectLst/>
                <a:latin typeface="+mn-ea"/>
              </a:rPr>
              <a:t>copy)</a:t>
            </a:r>
            <a:endParaRPr lang="en-US" altLang="zh-CN" b="0" i="0" dirty="0">
              <a:solidFill>
                <a:srgbClr val="050E17"/>
              </a:solidFill>
              <a:effectLst/>
              <a:latin typeface="+mn-ea"/>
            </a:endParaRPr>
          </a:p>
          <a:p>
            <a:r>
              <a:rPr lang="zh-CN" altLang="en-US" b="0" i="0" dirty="0">
                <a:solidFill>
                  <a:srgbClr val="050E17"/>
                </a:solidFill>
                <a:effectLst/>
                <a:latin typeface="+mn-ea"/>
              </a:rPr>
              <a:t>参数</a:t>
            </a:r>
            <a:r>
              <a:rPr lang="en-US" altLang="zh-CN" b="0" i="0" dirty="0">
                <a:solidFill>
                  <a:srgbClr val="050E17"/>
                </a:solidFill>
                <a:effectLst/>
                <a:latin typeface="+mn-ea"/>
              </a:rPr>
              <a:t>data</a:t>
            </a:r>
            <a:r>
              <a:rPr lang="zh-CN" altLang="en-US" b="0" i="0" dirty="0">
                <a:solidFill>
                  <a:srgbClr val="050E17"/>
                </a:solidFill>
                <a:effectLst/>
                <a:latin typeface="+mn-ea"/>
              </a:rPr>
              <a:t>是一组数据，如列表、字典、</a:t>
            </a:r>
            <a:r>
              <a:rPr lang="en-US" altLang="zh-CN" b="0" i="0" dirty="0" err="1">
                <a:solidFill>
                  <a:srgbClr val="050E17"/>
                </a:solidFill>
                <a:effectLst/>
                <a:latin typeface="+mn-ea"/>
              </a:rPr>
              <a:t>ndarray</a:t>
            </a:r>
            <a:r>
              <a:rPr lang="zh-CN" altLang="en-US" b="0" i="0" dirty="0">
                <a:solidFill>
                  <a:srgbClr val="050E17"/>
                </a:solidFill>
                <a:effectLst/>
                <a:latin typeface="+mn-ea"/>
              </a:rPr>
              <a:t>类型的对象等；</a:t>
            </a:r>
            <a:r>
              <a:rPr lang="en-US" altLang="zh-CN" b="0" i="0" dirty="0">
                <a:solidFill>
                  <a:srgbClr val="050E17"/>
                </a:solidFill>
                <a:effectLst/>
                <a:latin typeface="+mn-ea"/>
              </a:rPr>
              <a:t>index</a:t>
            </a:r>
            <a:r>
              <a:rPr lang="zh-CN" altLang="en-US" b="0" i="0" dirty="0">
                <a:solidFill>
                  <a:srgbClr val="050E17"/>
                </a:solidFill>
                <a:effectLst/>
                <a:latin typeface="+mn-ea"/>
              </a:rPr>
              <a:t>是数据索引标签，如果不指定，默认从</a:t>
            </a:r>
            <a:r>
              <a:rPr lang="en-US" altLang="zh-CN" b="0" i="0" dirty="0">
                <a:solidFill>
                  <a:srgbClr val="050E17"/>
                </a:solidFill>
                <a:effectLst/>
                <a:latin typeface="+mn-ea"/>
              </a:rPr>
              <a:t>0</a:t>
            </a:r>
            <a:r>
              <a:rPr lang="zh-CN" altLang="en-US" b="0" i="0" dirty="0">
                <a:solidFill>
                  <a:srgbClr val="050E17"/>
                </a:solidFill>
                <a:effectLst/>
                <a:latin typeface="+mn-ea"/>
              </a:rPr>
              <a:t>开始；</a:t>
            </a:r>
            <a:r>
              <a:rPr lang="en-US" altLang="zh-CN" b="0" i="0" dirty="0" err="1">
                <a:solidFill>
                  <a:srgbClr val="050E17"/>
                </a:solidFill>
                <a:effectLst/>
                <a:latin typeface="+mn-ea"/>
              </a:rPr>
              <a:t>dtype</a:t>
            </a:r>
            <a:r>
              <a:rPr lang="zh-CN" altLang="en-US" b="0" i="0" dirty="0">
                <a:solidFill>
                  <a:srgbClr val="050E17"/>
                </a:solidFill>
                <a:effectLst/>
                <a:latin typeface="+mn-ea"/>
              </a:rPr>
              <a:t>是指定的数据类型，默认会自己判断；</a:t>
            </a:r>
            <a:r>
              <a:rPr lang="en-US" altLang="zh-CN" b="0" i="0" dirty="0">
                <a:solidFill>
                  <a:srgbClr val="050E17"/>
                </a:solidFill>
                <a:effectLst/>
                <a:latin typeface="+mn-ea"/>
              </a:rPr>
              <a:t>name</a:t>
            </a:r>
            <a:r>
              <a:rPr lang="zh-CN" altLang="en-US" b="0" i="0" dirty="0">
                <a:solidFill>
                  <a:srgbClr val="050E17"/>
                </a:solidFill>
                <a:effectLst/>
                <a:latin typeface="+mn-ea"/>
              </a:rPr>
              <a:t>是设置名称；</a:t>
            </a:r>
            <a:r>
              <a:rPr lang="en-US" altLang="zh-CN" b="0" i="0" dirty="0">
                <a:solidFill>
                  <a:srgbClr val="050E17"/>
                </a:solidFill>
                <a:effectLst/>
                <a:latin typeface="+mn-ea"/>
              </a:rPr>
              <a:t>copy</a:t>
            </a:r>
            <a:r>
              <a:rPr lang="zh-CN" altLang="en-US" b="0" i="0" dirty="0">
                <a:solidFill>
                  <a:srgbClr val="050E17"/>
                </a:solidFill>
                <a:effectLst/>
                <a:latin typeface="+mn-ea"/>
              </a:rPr>
              <a:t>参数表示是否复制数据，默认为</a:t>
            </a:r>
            <a:r>
              <a:rPr lang="en-US" altLang="zh-CN" b="0" i="0" dirty="0">
                <a:solidFill>
                  <a:srgbClr val="050E17"/>
                </a:solidFill>
                <a:effectLst/>
                <a:latin typeface="+mn-ea"/>
              </a:rPr>
              <a:t>False</a:t>
            </a:r>
            <a:r>
              <a:rPr lang="zh-CN" altLang="en-US" b="0" i="0" dirty="0">
                <a:solidFill>
                  <a:srgbClr val="050E17"/>
                </a:solidFill>
                <a:effectLst/>
                <a:latin typeface="+mn-ea"/>
              </a:rPr>
              <a:t>。</a:t>
            </a:r>
            <a:endParaRPr lang="zh-CN" altLang="en-US" b="0" i="0" dirty="0">
              <a:solidFill>
                <a:srgbClr val="050E17"/>
              </a:solidFill>
              <a:effectLst/>
              <a:latin typeface="+mn-ea"/>
            </a:endParaRPr>
          </a:p>
        </p:txBody>
      </p:sp>
      <p:sp>
        <p:nvSpPr>
          <p:cNvPr id="11" name="文本框 10"/>
          <p:cNvSpPr txBox="1"/>
          <p:nvPr/>
        </p:nvSpPr>
        <p:spPr>
          <a:xfrm>
            <a:off x="966831" y="2875768"/>
            <a:ext cx="8747620" cy="1477328"/>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由列表生成的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pd</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Series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结果中的第一列为索引，从 </a:t>
            </a:r>
            <a:r>
              <a:rPr lang="en-US" altLang="zh-CN" b="0" dirty="0">
                <a:solidFill>
                  <a:srgbClr val="6A737D"/>
                </a:solidFill>
                <a:effectLst/>
                <a:latin typeface="Consolas" panose="020B0609020204030204" pitchFamily="49" charset="0"/>
              </a:rPr>
              <a:t>0 </a:t>
            </a:r>
            <a:r>
              <a:rPr lang="zh-CN" altLang="en-US" b="0" dirty="0">
                <a:solidFill>
                  <a:srgbClr val="6A737D"/>
                </a:solidFill>
                <a:effectLst/>
                <a:latin typeface="Consolas" panose="020B0609020204030204" pitchFamily="49" charset="0"/>
              </a:rPr>
              <a:t>开始。第二列为实际的数据</a:t>
            </a:r>
            <a:endParaRPr lang="en-US" altLang="zh-CN" b="0" dirty="0">
              <a:solidFill>
                <a:srgbClr val="6A737D"/>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p:txBody>
      </p:sp>
      <p:sp>
        <p:nvSpPr>
          <p:cNvPr id="15" name="文本框 14"/>
          <p:cNvSpPr txBox="1"/>
          <p:nvPr/>
        </p:nvSpPr>
        <p:spPr>
          <a:xfrm>
            <a:off x="899719" y="4105973"/>
            <a:ext cx="6161714" cy="1754326"/>
          </a:xfrm>
          <a:prstGeom prst="rect">
            <a:avLst/>
          </a:prstGeom>
          <a:noFill/>
        </p:spPr>
        <p:txBody>
          <a:bodyPr wrap="square">
            <a:spAutoFit/>
          </a:bodyPr>
          <a:lstStyle/>
          <a:p>
            <a:r>
              <a:rPr lang="zh-CN" altLang="en-US" dirty="0"/>
              <a:t>0    1</a:t>
            </a:r>
            <a:endParaRPr lang="zh-CN" altLang="en-US" dirty="0"/>
          </a:p>
          <a:p>
            <a:r>
              <a:rPr lang="zh-CN" altLang="en-US" dirty="0"/>
              <a:t>1    3</a:t>
            </a:r>
            <a:endParaRPr lang="zh-CN" altLang="en-US" dirty="0"/>
          </a:p>
          <a:p>
            <a:r>
              <a:rPr lang="zh-CN" altLang="en-US" dirty="0"/>
              <a:t>2    5</a:t>
            </a:r>
            <a:endParaRPr lang="zh-CN" altLang="en-US" dirty="0"/>
          </a:p>
          <a:p>
            <a:r>
              <a:rPr lang="zh-CN" altLang="en-US" dirty="0"/>
              <a:t>3    6</a:t>
            </a:r>
            <a:endParaRPr lang="zh-CN" altLang="en-US" dirty="0"/>
          </a:p>
          <a:p>
            <a:r>
              <a:rPr lang="zh-CN" altLang="en-US" dirty="0"/>
              <a:t>4    8</a:t>
            </a:r>
            <a:endParaRPr lang="zh-CN" altLang="en-US" dirty="0"/>
          </a:p>
          <a:p>
            <a:r>
              <a:rPr lang="zh-CN" altLang="en-US" dirty="0"/>
              <a:t>dtype: int64</a:t>
            </a:r>
            <a:endParaRPr lang="zh-CN" altLang="en-US" dirty="0"/>
          </a:p>
        </p:txBody>
      </p:sp>
    </p:spTree>
    <p:custDataLst>
      <p:tags r:id="rId1"/>
    </p:custData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pPr marL="342900" indent="-342900">
              <a:buAutoNum type="arabicParenBoth"/>
            </a:pPr>
            <a:r>
              <a:rPr lang="en-US" altLang="zh-CN" b="0" i="0" dirty="0">
                <a:solidFill>
                  <a:srgbClr val="050E17"/>
                </a:solidFill>
                <a:effectLst/>
                <a:latin typeface="+mn-ea"/>
              </a:rPr>
              <a:t>Series</a:t>
            </a:r>
            <a:endParaRPr lang="en-US" altLang="zh-CN" b="0" i="0" dirty="0">
              <a:solidFill>
                <a:srgbClr val="050E17"/>
              </a:solidFill>
              <a:effectLst/>
              <a:latin typeface="+mn-ea"/>
            </a:endParaRPr>
          </a:p>
        </p:txBody>
      </p:sp>
      <p:sp>
        <p:nvSpPr>
          <p:cNvPr id="9" name="文本框 8"/>
          <p:cNvSpPr txBox="1"/>
          <p:nvPr/>
        </p:nvSpPr>
        <p:spPr>
          <a:xfrm>
            <a:off x="642104" y="2201701"/>
            <a:ext cx="10282806" cy="923330"/>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由词典生成的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pd.Series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结果中的索引就是词典中的索引 </a:t>
            </a:r>
            <a:r>
              <a:rPr lang="en-US" altLang="zh-CN" b="0" dirty="0">
                <a:solidFill>
                  <a:srgbClr val="6A737D"/>
                </a:solidFill>
                <a:effectLst/>
                <a:latin typeface="Consolas" panose="020B0609020204030204" pitchFamily="49" charset="0"/>
              </a:rPr>
              <a:t>key</a:t>
            </a:r>
            <a:r>
              <a:rPr lang="zh-CN" altLang="en-US" b="0" dirty="0">
                <a:solidFill>
                  <a:srgbClr val="6A737D"/>
                </a:solidFill>
                <a:effectLst/>
                <a:latin typeface="Consolas" panose="020B0609020204030204" pitchFamily="49" charset="0"/>
              </a:rPr>
              <a:t>，第二列是词典中的 </a:t>
            </a:r>
            <a:r>
              <a:rPr lang="en-US" altLang="zh-CN" b="0" dirty="0">
                <a:solidFill>
                  <a:srgbClr val="6A737D"/>
                </a:solidFill>
                <a:effectLst/>
                <a:latin typeface="Consolas" panose="020B0609020204030204" pitchFamily="49" charset="0"/>
              </a:rPr>
              <a:t>value </a:t>
            </a:r>
            <a:r>
              <a:rPr lang="zh-CN" altLang="en-US" b="0" dirty="0">
                <a:solidFill>
                  <a:srgbClr val="6A737D"/>
                </a:solidFill>
                <a:effectLst/>
                <a:latin typeface="Consolas" panose="020B0609020204030204" pitchFamily="49" charset="0"/>
              </a:rPr>
              <a:t>数据</a:t>
            </a:r>
            <a:endParaRPr lang="zh-CN" altLang="en-US" b="0" dirty="0">
              <a:solidFill>
                <a:srgbClr val="24292E"/>
              </a:solidFill>
              <a:effectLst/>
              <a:latin typeface="Consolas" panose="020B0609020204030204" pitchFamily="49" charset="0"/>
            </a:endParaRPr>
          </a:p>
        </p:txBody>
      </p:sp>
      <p:sp>
        <p:nvSpPr>
          <p:cNvPr id="17" name="文本框 16"/>
          <p:cNvSpPr txBox="1"/>
          <p:nvPr/>
        </p:nvSpPr>
        <p:spPr>
          <a:xfrm>
            <a:off x="642104" y="3560904"/>
            <a:ext cx="9144699"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c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abcde</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pd</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Series</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data</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 </a:t>
            </a:r>
            <a:r>
              <a:rPr lang="en-US" altLang="zh-CN" b="0" dirty="0">
                <a:solidFill>
                  <a:srgbClr val="E36209"/>
                </a:solidFill>
                <a:effectLst/>
                <a:latin typeface="Consolas" panose="020B0609020204030204" pitchFamily="49" charset="0"/>
              </a:rPr>
              <a:t>index</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d)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分别指定数据和索引，生成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e</a:t>
            </a:r>
            <a:endParaRPr lang="en-US" altLang="zh-CN" b="0" dirty="0">
              <a:solidFill>
                <a:srgbClr val="24292E"/>
              </a:solidFill>
              <a:effectLst/>
              <a:latin typeface="Consolas" panose="020B0609020204030204" pitchFamily="49" charset="0"/>
            </a:endParaRPr>
          </a:p>
        </p:txBody>
      </p:sp>
      <p:sp>
        <p:nvSpPr>
          <p:cNvPr id="19" name="文本框 18"/>
          <p:cNvSpPr txBox="1"/>
          <p:nvPr/>
        </p:nvSpPr>
        <p:spPr>
          <a:xfrm>
            <a:off x="642104" y="4852518"/>
            <a:ext cx="1944149" cy="1754326"/>
          </a:xfrm>
          <a:prstGeom prst="rect">
            <a:avLst/>
          </a:prstGeom>
          <a:noFill/>
          <a:ln>
            <a:solidFill>
              <a:srgbClr val="577CCE"/>
            </a:solidFill>
          </a:ln>
        </p:spPr>
        <p:txBody>
          <a:bodyPr wrap="square">
            <a:spAutoFit/>
          </a:bodyPr>
          <a:lstStyle/>
          <a:p>
            <a:r>
              <a:rPr lang="zh-CN" altLang="en-US" dirty="0"/>
              <a:t>1    a</a:t>
            </a:r>
            <a:endParaRPr lang="zh-CN" altLang="en-US" dirty="0"/>
          </a:p>
          <a:p>
            <a:r>
              <a:rPr lang="zh-CN" altLang="en-US" dirty="0"/>
              <a:t>3    b</a:t>
            </a:r>
            <a:endParaRPr lang="zh-CN" altLang="en-US" dirty="0"/>
          </a:p>
          <a:p>
            <a:r>
              <a:rPr lang="zh-CN" altLang="en-US" dirty="0"/>
              <a:t>5    c</a:t>
            </a:r>
            <a:endParaRPr lang="zh-CN" altLang="en-US" dirty="0"/>
          </a:p>
          <a:p>
            <a:r>
              <a:rPr lang="zh-CN" altLang="en-US" dirty="0"/>
              <a:t>6    d</a:t>
            </a:r>
            <a:endParaRPr lang="zh-CN" altLang="en-US" dirty="0"/>
          </a:p>
          <a:p>
            <a:r>
              <a:rPr lang="zh-CN" altLang="en-US" dirty="0"/>
              <a:t>8    e</a:t>
            </a:r>
            <a:endParaRPr lang="zh-CN" altLang="en-US" dirty="0"/>
          </a:p>
          <a:p>
            <a:r>
              <a:rPr lang="zh-CN" altLang="en-US" dirty="0"/>
              <a:t>dtype: object</a:t>
            </a:r>
            <a:endParaRPr lang="zh-CN" altLang="en-US" dirty="0"/>
          </a:p>
        </p:txBody>
      </p:sp>
    </p:spTree>
    <p:custDataLst>
      <p:tags r:id="rId1"/>
    </p:custData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pPr marL="342900" indent="-342900">
              <a:buAutoNum type="arabicParenBoth"/>
            </a:pPr>
            <a:r>
              <a:rPr lang="en-US" altLang="zh-CN" b="0" i="0" dirty="0">
                <a:solidFill>
                  <a:srgbClr val="050E17"/>
                </a:solidFill>
                <a:effectLst/>
                <a:latin typeface="+mn-ea"/>
              </a:rPr>
              <a:t>Series</a:t>
            </a:r>
            <a:endParaRPr lang="en-US" altLang="zh-CN" b="0" i="0" dirty="0">
              <a:solidFill>
                <a:srgbClr val="050E17"/>
              </a:solidFill>
              <a:effectLst/>
              <a:latin typeface="+mn-ea"/>
            </a:endParaRPr>
          </a:p>
        </p:txBody>
      </p:sp>
      <p:sp>
        <p:nvSpPr>
          <p:cNvPr id="9" name="文本框 8"/>
          <p:cNvSpPr txBox="1"/>
          <p:nvPr/>
        </p:nvSpPr>
        <p:spPr>
          <a:xfrm>
            <a:off x="642104" y="2201701"/>
            <a:ext cx="10282806"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g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pd.Series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对象含有 </a:t>
            </a:r>
            <a:r>
              <a:rPr lang="en-US" altLang="zh-CN" b="0" dirty="0">
                <a:solidFill>
                  <a:srgbClr val="6A737D"/>
                </a:solidFill>
                <a:effectLst/>
                <a:latin typeface="Consolas" panose="020B0609020204030204" pitchFamily="49" charset="0"/>
              </a:rPr>
              <a:t>5 </a:t>
            </a:r>
            <a:r>
              <a:rPr lang="zh-CN" altLang="en-US" b="0" dirty="0">
                <a:solidFill>
                  <a:srgbClr val="6A737D"/>
                </a:solidFill>
                <a:effectLst/>
                <a:latin typeface="Consolas" panose="020B0609020204030204" pitchFamily="49" charset="0"/>
              </a:rPr>
              <a:t>个值均为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的元素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g</a:t>
            </a:r>
            <a:endParaRPr lang="en-US" altLang="zh-CN" b="0" dirty="0">
              <a:solidFill>
                <a:srgbClr val="24292E"/>
              </a:solidFill>
              <a:effectLst/>
              <a:latin typeface="Consolas" panose="020B0609020204030204" pitchFamily="49" charset="0"/>
            </a:endParaRPr>
          </a:p>
        </p:txBody>
      </p:sp>
      <p:sp>
        <p:nvSpPr>
          <p:cNvPr id="17" name="文本框 16"/>
          <p:cNvSpPr txBox="1"/>
          <p:nvPr/>
        </p:nvSpPr>
        <p:spPr>
          <a:xfrm>
            <a:off x="642104" y="3132806"/>
            <a:ext cx="9144699" cy="1754326"/>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0    1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1    1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2    1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3    1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4    1</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dtype</a:t>
            </a:r>
            <a:r>
              <a:rPr lang="en-US" altLang="zh-CN" b="0" dirty="0">
                <a:solidFill>
                  <a:srgbClr val="24292E"/>
                </a:solidFill>
                <a:effectLst/>
                <a:latin typeface="Consolas" panose="020B0609020204030204" pitchFamily="49" charset="0"/>
              </a:rPr>
              <a:t>: int64</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pPr marL="342900" indent="-342900">
              <a:buAutoNum type="arabicParenBoth"/>
            </a:pPr>
            <a:r>
              <a:rPr lang="en-US" altLang="zh-CN" b="0" i="0" dirty="0">
                <a:solidFill>
                  <a:srgbClr val="050E17"/>
                </a:solidFill>
                <a:effectLst/>
                <a:latin typeface="+mn-ea"/>
              </a:rPr>
              <a:t>Series</a:t>
            </a:r>
            <a:endParaRPr lang="en-US" altLang="zh-CN" b="0" i="0" dirty="0">
              <a:solidFill>
                <a:srgbClr val="050E17"/>
              </a:solidFill>
              <a:effectLst/>
              <a:latin typeface="+mn-ea"/>
            </a:endParaRPr>
          </a:p>
        </p:txBody>
      </p:sp>
      <p:sp>
        <p:nvSpPr>
          <p:cNvPr id="5" name="文本框 4"/>
          <p:cNvSpPr txBox="1"/>
          <p:nvPr/>
        </p:nvSpPr>
        <p:spPr>
          <a:xfrm>
            <a:off x="642103" y="2032655"/>
            <a:ext cx="10221639"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 </a:t>
            </a:r>
            <a:r>
              <a:rPr lang="en-US" altLang="zh-CN" b="0" dirty="0">
                <a:solidFill>
                  <a:srgbClr val="24292E"/>
                </a:solidFill>
                <a:effectLst/>
                <a:latin typeface="Consolas" panose="020B0609020204030204" pitchFamily="49" charset="0"/>
              </a:rPr>
              <a:t>f</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pd.Series</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np.random.rand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index</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name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test_S</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f </a:t>
            </a:r>
            <a:r>
              <a:rPr lang="en-US" altLang="zh-CN" b="0" dirty="0">
                <a:solidFill>
                  <a:srgbClr val="6A737D"/>
                </a:solidFill>
                <a:effectLst/>
                <a:latin typeface="Consolas" panose="020B0609020204030204" pitchFamily="49" charset="0"/>
              </a:rPr>
              <a:t>#f </a:t>
            </a:r>
            <a:r>
              <a:rPr lang="zh-CN" altLang="en-US" b="0" dirty="0">
                <a:solidFill>
                  <a:srgbClr val="6A737D"/>
                </a:solidFill>
                <a:effectLst/>
                <a:latin typeface="Consolas" panose="020B0609020204030204" pitchFamily="49" charset="0"/>
              </a:rPr>
              <a:t>是由 </a:t>
            </a:r>
            <a:r>
              <a:rPr lang="en-US" altLang="zh-CN" b="0" dirty="0" err="1">
                <a:solidFill>
                  <a:srgbClr val="6A737D"/>
                </a:solidFill>
                <a:effectLst/>
                <a:latin typeface="Consolas" panose="020B0609020204030204" pitchFamily="49" charset="0"/>
              </a:rPr>
              <a:t>numpy</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随机数据生成的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10</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0.656786</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11</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0.733223</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12</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0.297898</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13</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0.895872</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14</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0.061210</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Name: </a:t>
            </a:r>
            <a:r>
              <a:rPr lang="en-US" altLang="zh-CN" b="0" dirty="0" err="1">
                <a:solidFill>
                  <a:srgbClr val="24292E"/>
                </a:solidFill>
                <a:effectLst/>
                <a:latin typeface="Consolas" panose="020B0609020204030204" pitchFamily="49" charset="0"/>
              </a:rPr>
              <a:t>test_S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dtype</a:t>
            </a:r>
            <a:r>
              <a:rPr lang="en-US" altLang="zh-CN" b="0" dirty="0">
                <a:solidFill>
                  <a:srgbClr val="24292E"/>
                </a:solidFill>
                <a:effectLst/>
                <a:latin typeface="Consolas" panose="020B0609020204030204" pitchFamily="49" charset="0"/>
              </a:rPr>
              <a:t>: float64</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642103" y="4460856"/>
            <a:ext cx="9013624" cy="64633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f[</a:t>
            </a:r>
            <a:r>
              <a:rPr lang="en-US" altLang="zh-CN" b="0" dirty="0">
                <a:solidFill>
                  <a:srgbClr val="005CC5"/>
                </a:solidFill>
                <a:effectLst/>
                <a:latin typeface="Consolas" panose="020B0609020204030204" pitchFamily="49" charset="0"/>
              </a:rPr>
              <a:t>12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返回索引值为 </a:t>
            </a:r>
            <a:r>
              <a:rPr lang="en-US" altLang="zh-CN" b="0" dirty="0">
                <a:solidFill>
                  <a:srgbClr val="6A737D"/>
                </a:solidFill>
                <a:effectLst/>
                <a:latin typeface="Consolas" panose="020B0609020204030204" pitchFamily="49" charset="0"/>
              </a:rPr>
              <a:t>12 </a:t>
            </a:r>
            <a:r>
              <a:rPr lang="zh-CN" altLang="en-US" b="0" dirty="0">
                <a:solidFill>
                  <a:srgbClr val="6A737D"/>
                </a:solidFill>
                <a:effectLst/>
                <a:latin typeface="Consolas" panose="020B0609020204030204" pitchFamily="49" charset="0"/>
              </a:rPr>
              <a:t>的元素，即第 </a:t>
            </a:r>
            <a:r>
              <a:rPr lang="en-US" altLang="zh-CN" b="0" dirty="0">
                <a:solidFill>
                  <a:srgbClr val="6A737D"/>
                </a:solidFill>
                <a:effectLst/>
                <a:latin typeface="Consolas" panose="020B0609020204030204" pitchFamily="49" charset="0"/>
              </a:rPr>
              <a:t>3 </a:t>
            </a:r>
            <a:r>
              <a:rPr lang="zh-CN" altLang="en-US" b="0" dirty="0">
                <a:solidFill>
                  <a:srgbClr val="6A737D"/>
                </a:solidFill>
                <a:effectLst/>
                <a:latin typeface="Consolas" panose="020B0609020204030204" pitchFamily="49" charset="0"/>
              </a:rPr>
              <a:t>个元素的值</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0.2978982661678826</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1477328"/>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a:p>
            <a:r>
              <a:rPr lang="zh-CN" altLang="en-US" b="0" i="0" dirty="0">
                <a:solidFill>
                  <a:srgbClr val="050E17"/>
                </a:solidFill>
                <a:effectLst/>
                <a:latin typeface="+mn-ea"/>
              </a:rPr>
              <a:t>创建</a:t>
            </a:r>
            <a:r>
              <a:rPr lang="en-US" altLang="zh-CN" b="0" i="0" dirty="0" err="1">
                <a:solidFill>
                  <a:srgbClr val="050E17"/>
                </a:solidFill>
                <a:effectLst/>
                <a:latin typeface="+mn-ea"/>
              </a:rPr>
              <a:t>DataFrame</a:t>
            </a:r>
            <a:r>
              <a:rPr lang="zh-CN" altLang="en-US" b="0" i="0" dirty="0">
                <a:solidFill>
                  <a:srgbClr val="050E17"/>
                </a:solidFill>
                <a:effectLst/>
                <a:latin typeface="+mn-ea"/>
              </a:rPr>
              <a:t>类型的对象。</a:t>
            </a:r>
            <a:r>
              <a:rPr lang="en-US" altLang="zh-CN" b="0" i="0" dirty="0" err="1">
                <a:solidFill>
                  <a:srgbClr val="050E17"/>
                </a:solidFill>
                <a:effectLst/>
                <a:latin typeface="+mn-ea"/>
              </a:rPr>
              <a:t>pandas.DataFrame</a:t>
            </a:r>
            <a:r>
              <a:rPr lang="en-US" altLang="zh-CN" b="0" i="0" dirty="0">
                <a:solidFill>
                  <a:srgbClr val="050E17"/>
                </a:solidFill>
                <a:effectLst/>
                <a:latin typeface="+mn-ea"/>
              </a:rPr>
              <a:t>(data, index, columns, </a:t>
            </a:r>
            <a:r>
              <a:rPr lang="en-US" altLang="zh-CN" b="0" i="0" dirty="0" err="1">
                <a:solidFill>
                  <a:srgbClr val="050E17"/>
                </a:solidFill>
                <a:effectLst/>
                <a:latin typeface="+mn-ea"/>
              </a:rPr>
              <a:t>dtype</a:t>
            </a:r>
            <a:r>
              <a:rPr lang="en-US" altLang="zh-CN" b="0" i="0" dirty="0">
                <a:solidFill>
                  <a:srgbClr val="050E17"/>
                </a:solidFill>
                <a:effectLst/>
                <a:latin typeface="+mn-ea"/>
              </a:rPr>
              <a:t>, copy) </a:t>
            </a:r>
            <a:r>
              <a:rPr lang="zh-CN" altLang="en-US" b="0" i="0" dirty="0">
                <a:solidFill>
                  <a:srgbClr val="050E17"/>
                </a:solidFill>
                <a:effectLst/>
                <a:latin typeface="+mn-ea"/>
              </a:rPr>
              <a:t>。</a:t>
            </a:r>
            <a:endParaRPr lang="en-US" altLang="zh-CN" b="0" i="0" dirty="0">
              <a:solidFill>
                <a:srgbClr val="050E17"/>
              </a:solidFill>
              <a:effectLst/>
              <a:latin typeface="+mn-ea"/>
            </a:endParaRPr>
          </a:p>
          <a:p>
            <a:r>
              <a:rPr lang="zh-CN" altLang="en-US" b="0" i="0" dirty="0">
                <a:solidFill>
                  <a:srgbClr val="050E17"/>
                </a:solidFill>
                <a:effectLst/>
                <a:latin typeface="+mn-ea"/>
              </a:rPr>
              <a:t>其中，</a:t>
            </a:r>
            <a:r>
              <a:rPr lang="en-US" altLang="zh-CN" b="0" i="0" dirty="0">
                <a:solidFill>
                  <a:srgbClr val="050E17"/>
                </a:solidFill>
                <a:effectLst/>
                <a:latin typeface="+mn-ea"/>
              </a:rPr>
              <a:t>data</a:t>
            </a:r>
            <a:r>
              <a:rPr lang="zh-CN" altLang="en-US" b="0" i="0" dirty="0">
                <a:solidFill>
                  <a:srgbClr val="050E17"/>
                </a:solidFill>
                <a:effectLst/>
                <a:latin typeface="+mn-ea"/>
              </a:rPr>
              <a:t>表示实际的数据，可以是</a:t>
            </a:r>
            <a:r>
              <a:rPr lang="en-US" altLang="zh-CN" b="0" i="0" dirty="0">
                <a:solidFill>
                  <a:srgbClr val="050E17"/>
                </a:solidFill>
                <a:effectLst/>
                <a:latin typeface="+mn-ea"/>
              </a:rPr>
              <a:t>NumPy</a:t>
            </a:r>
            <a:r>
              <a:rPr lang="zh-CN" altLang="en-US" b="0" i="0" dirty="0">
                <a:solidFill>
                  <a:srgbClr val="050E17"/>
                </a:solidFill>
                <a:effectLst/>
                <a:latin typeface="+mn-ea"/>
              </a:rPr>
              <a:t>的</a:t>
            </a:r>
            <a:r>
              <a:rPr lang="en-US" altLang="zh-CN" b="0" i="0" dirty="0" err="1">
                <a:solidFill>
                  <a:srgbClr val="050E17"/>
                </a:solidFill>
                <a:effectLst/>
                <a:latin typeface="+mn-ea"/>
              </a:rPr>
              <a:t>ndarray</a:t>
            </a:r>
            <a:r>
              <a:rPr lang="zh-CN" altLang="en-US" b="0" i="0" dirty="0">
                <a:solidFill>
                  <a:srgbClr val="050E17"/>
                </a:solidFill>
                <a:effectLst/>
                <a:latin typeface="+mn-ea"/>
              </a:rPr>
              <a:t>类型、</a:t>
            </a:r>
            <a:r>
              <a:rPr lang="en-US" altLang="zh-CN" b="0" i="0" dirty="0">
                <a:solidFill>
                  <a:srgbClr val="050E17"/>
                </a:solidFill>
                <a:effectLst/>
                <a:latin typeface="+mn-ea"/>
              </a:rPr>
              <a:t>Pandas</a:t>
            </a:r>
            <a:r>
              <a:rPr lang="zh-CN" altLang="en-US" b="0" i="0" dirty="0">
                <a:solidFill>
                  <a:srgbClr val="050E17"/>
                </a:solidFill>
                <a:effectLst/>
                <a:latin typeface="+mn-ea"/>
              </a:rPr>
              <a:t>的</a:t>
            </a:r>
            <a:r>
              <a:rPr lang="en-US" altLang="zh-CN" b="0" i="0" dirty="0">
                <a:solidFill>
                  <a:srgbClr val="050E17"/>
                </a:solidFill>
                <a:effectLst/>
                <a:latin typeface="+mn-ea"/>
              </a:rPr>
              <a:t>Series</a:t>
            </a:r>
            <a:r>
              <a:rPr lang="zh-CN" altLang="en-US" b="0" i="0" dirty="0">
                <a:solidFill>
                  <a:srgbClr val="050E17"/>
                </a:solidFill>
                <a:effectLst/>
                <a:latin typeface="+mn-ea"/>
              </a:rPr>
              <a:t>类型或列表、字典等类型；</a:t>
            </a:r>
            <a:endParaRPr lang="zh-CN" altLang="en-US" b="0" i="0" dirty="0">
              <a:solidFill>
                <a:srgbClr val="050E17"/>
              </a:solidFill>
              <a:effectLst/>
              <a:latin typeface="+mn-ea"/>
            </a:endParaRPr>
          </a:p>
          <a:p>
            <a:r>
              <a:rPr lang="en-US" altLang="zh-CN" b="0" i="0" dirty="0">
                <a:solidFill>
                  <a:srgbClr val="050E17"/>
                </a:solidFill>
                <a:effectLst/>
                <a:latin typeface="+mn-ea"/>
              </a:rPr>
              <a:t>index</a:t>
            </a:r>
            <a:r>
              <a:rPr lang="zh-CN" altLang="en-US" b="0" i="0" dirty="0">
                <a:solidFill>
                  <a:srgbClr val="050E17"/>
                </a:solidFill>
                <a:effectLst/>
                <a:latin typeface="+mn-ea"/>
              </a:rPr>
              <a:t>为行标签，默认从</a:t>
            </a:r>
            <a:r>
              <a:rPr lang="en-US" altLang="zh-CN" b="0" i="0" dirty="0">
                <a:solidFill>
                  <a:srgbClr val="050E17"/>
                </a:solidFill>
                <a:effectLst/>
                <a:latin typeface="+mn-ea"/>
              </a:rPr>
              <a:t>0</a:t>
            </a:r>
            <a:r>
              <a:rPr lang="zh-CN" altLang="en-US" b="0" i="0" dirty="0">
                <a:solidFill>
                  <a:srgbClr val="050E17"/>
                </a:solidFill>
                <a:effectLst/>
                <a:latin typeface="+mn-ea"/>
              </a:rPr>
              <a:t>开始；</a:t>
            </a:r>
            <a:r>
              <a:rPr lang="en-US" altLang="zh-CN" b="0" i="0" dirty="0">
                <a:solidFill>
                  <a:srgbClr val="050E17"/>
                </a:solidFill>
                <a:effectLst/>
                <a:latin typeface="+mn-ea"/>
              </a:rPr>
              <a:t>columns</a:t>
            </a:r>
            <a:r>
              <a:rPr lang="zh-CN" altLang="en-US" b="0" i="0" dirty="0">
                <a:solidFill>
                  <a:srgbClr val="050E17"/>
                </a:solidFill>
                <a:effectLst/>
                <a:latin typeface="+mn-ea"/>
              </a:rPr>
              <a:t>为列标签，默认以</a:t>
            </a:r>
            <a:r>
              <a:rPr lang="en-US" altLang="zh-CN" b="0" i="0" dirty="0">
                <a:solidFill>
                  <a:srgbClr val="050E17"/>
                </a:solidFill>
                <a:effectLst/>
                <a:latin typeface="+mn-ea"/>
              </a:rPr>
              <a:t>0</a:t>
            </a:r>
            <a:r>
              <a:rPr lang="zh-CN" altLang="en-US" b="0" i="0" dirty="0">
                <a:solidFill>
                  <a:srgbClr val="050E17"/>
                </a:solidFill>
                <a:effectLst/>
                <a:latin typeface="+mn-ea"/>
              </a:rPr>
              <a:t>开始；</a:t>
            </a:r>
            <a:r>
              <a:rPr lang="en-US" altLang="zh-CN" b="0" i="0" dirty="0" err="1">
                <a:solidFill>
                  <a:srgbClr val="050E17"/>
                </a:solidFill>
                <a:effectLst/>
                <a:latin typeface="+mn-ea"/>
              </a:rPr>
              <a:t>dtype</a:t>
            </a:r>
            <a:r>
              <a:rPr lang="zh-CN" altLang="en-US" b="0" i="0" dirty="0">
                <a:solidFill>
                  <a:srgbClr val="050E17"/>
                </a:solidFill>
                <a:effectLst/>
                <a:latin typeface="+mn-ea"/>
              </a:rPr>
              <a:t>指定数据类型；</a:t>
            </a:r>
            <a:r>
              <a:rPr lang="en-US" altLang="zh-CN" b="0" i="0" dirty="0">
                <a:solidFill>
                  <a:srgbClr val="050E17"/>
                </a:solidFill>
                <a:effectLst/>
                <a:latin typeface="+mn-ea"/>
              </a:rPr>
              <a:t>copy</a:t>
            </a:r>
            <a:r>
              <a:rPr lang="zh-CN" altLang="en-US" b="0" i="0" dirty="0">
                <a:solidFill>
                  <a:srgbClr val="050E17"/>
                </a:solidFill>
                <a:effectLst/>
                <a:latin typeface="+mn-ea"/>
              </a:rPr>
              <a:t>表示是否复制数据，默认为</a:t>
            </a:r>
            <a:r>
              <a:rPr lang="en-US" altLang="zh-CN" b="0" i="0" dirty="0">
                <a:solidFill>
                  <a:srgbClr val="050E17"/>
                </a:solidFill>
                <a:effectLst/>
                <a:latin typeface="+mn-ea"/>
              </a:rPr>
              <a:t>False</a:t>
            </a:r>
            <a:r>
              <a:rPr lang="zh-CN" altLang="en-US" b="0" i="0" dirty="0">
                <a:solidFill>
                  <a:srgbClr val="050E17"/>
                </a:solidFill>
                <a:effectLst/>
                <a:latin typeface="+mn-ea"/>
              </a:rPr>
              <a:t>。</a:t>
            </a:r>
            <a:endParaRPr lang="zh-CN" altLang="en-US" b="0" i="0" dirty="0">
              <a:solidFill>
                <a:srgbClr val="050E17"/>
              </a:solidFill>
              <a:effectLst/>
              <a:latin typeface="+mn-ea"/>
            </a:endParaRPr>
          </a:p>
        </p:txBody>
      </p:sp>
      <p:sp>
        <p:nvSpPr>
          <p:cNvPr id="6" name="文本框 5"/>
          <p:cNvSpPr txBox="1"/>
          <p:nvPr/>
        </p:nvSpPr>
        <p:spPr>
          <a:xfrm>
            <a:off x="866162" y="3171197"/>
            <a:ext cx="10928759"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'BUPT'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1955</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'Tsinghua'</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1911</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'PKU'</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1898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(data, </a:t>
            </a:r>
            <a:r>
              <a:rPr lang="en-US" altLang="zh-CN" b="0" dirty="0">
                <a:solidFill>
                  <a:srgbClr val="E36209"/>
                </a:solidFill>
                <a:effectLst/>
                <a:latin typeface="Consolas" panose="020B0609020204030204" pitchFamily="49" charset="0"/>
              </a:rPr>
              <a:t>columns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'University'</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'Year'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行索引默认从 </a:t>
            </a:r>
            <a:r>
              <a:rPr lang="en-US" altLang="zh-CN" b="0" dirty="0">
                <a:solidFill>
                  <a:srgbClr val="6A737D"/>
                </a:solidFill>
                <a:effectLst/>
                <a:latin typeface="Consolas" panose="020B0609020204030204" pitchFamily="49" charset="0"/>
              </a:rPr>
              <a:t>0 </a:t>
            </a:r>
            <a:r>
              <a:rPr lang="zh-CN" altLang="en-US" b="0" dirty="0">
                <a:solidFill>
                  <a:srgbClr val="6A737D"/>
                </a:solidFill>
                <a:effectLst/>
                <a:latin typeface="Consolas" panose="020B0609020204030204" pitchFamily="49" charset="0"/>
              </a:rPr>
              <a:t>开始</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866162" y="4248323"/>
            <a:ext cx="3063384" cy="2166447"/>
          </a:xfrm>
          <a:prstGeom prst="rect">
            <a:avLst/>
          </a:prstGeom>
        </p:spPr>
      </p:pic>
    </p:spTree>
    <p:custDataLst>
      <p:tags r:id="rId2"/>
    </p:custData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5" name="文本框 4"/>
          <p:cNvSpPr txBox="1"/>
          <p:nvPr/>
        </p:nvSpPr>
        <p:spPr>
          <a:xfrm>
            <a:off x="983609" y="2017035"/>
            <a:ext cx="9687188"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需要注意的是，若列表中的每个元素为一个字典，则每个元素代表一行，字典中的 </a:t>
            </a:r>
            <a:r>
              <a:rPr lang="en-US" altLang="zh-CN" b="0" dirty="0">
                <a:solidFill>
                  <a:srgbClr val="24292E"/>
                </a:solidFill>
                <a:effectLst/>
                <a:latin typeface="Consolas" panose="020B0609020204030204" pitchFamily="49" charset="0"/>
              </a:rPr>
              <a:t>key </a:t>
            </a:r>
            <a:r>
              <a:rPr lang="zh-CN" altLang="en-US" b="0" dirty="0">
                <a:solidFill>
                  <a:srgbClr val="24292E"/>
                </a:solidFill>
                <a:effectLst/>
                <a:latin typeface="Consolas" panose="020B0609020204030204" pitchFamily="49" charset="0"/>
              </a:rPr>
              <a:t>为列索引。例如：</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83609" y="2828835"/>
            <a:ext cx="10593198"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'U'</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'BUPT'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1955</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'N'</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15655</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'U'</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'PKU'</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(data)</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最后一个元素在 </a:t>
            </a:r>
            <a:r>
              <a:rPr lang="en-US" altLang="zh-CN" b="0" dirty="0">
                <a:solidFill>
                  <a:srgbClr val="6A737D"/>
                </a:solidFill>
                <a:effectLst/>
                <a:latin typeface="Consolas" panose="020B0609020204030204" pitchFamily="49" charset="0"/>
              </a:rPr>
              <a:t>data </a:t>
            </a:r>
            <a:r>
              <a:rPr lang="zh-CN" altLang="en-US" b="0" dirty="0">
                <a:solidFill>
                  <a:srgbClr val="6A737D"/>
                </a:solidFill>
                <a:effectLst/>
                <a:latin typeface="Consolas" panose="020B0609020204030204" pitchFamily="49" charset="0"/>
              </a:rPr>
              <a:t>中未给出，则用 </a:t>
            </a:r>
            <a:r>
              <a:rPr lang="en-US" altLang="zh-CN" b="0" dirty="0" err="1">
                <a:solidFill>
                  <a:srgbClr val="6A737D"/>
                </a:solidFill>
                <a:effectLst/>
                <a:latin typeface="Consolas" panose="020B0609020204030204" pitchFamily="49" charset="0"/>
              </a:rPr>
              <a:t>Numpy</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中的 </a:t>
            </a:r>
            <a:r>
              <a:rPr lang="en-US" altLang="zh-CN" b="0" dirty="0" err="1">
                <a:solidFill>
                  <a:srgbClr val="6A737D"/>
                </a:solidFill>
                <a:effectLst/>
                <a:latin typeface="Consolas" panose="020B0609020204030204" pitchFamily="49" charset="0"/>
              </a:rPr>
              <a:t>NaN</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表示</a:t>
            </a:r>
            <a:endParaRPr lang="zh-CN" altLang="en-US" b="0" dirty="0">
              <a:solidFill>
                <a:srgbClr val="24292E"/>
              </a:solidFill>
              <a:effectLst/>
              <a:latin typeface="Consolas" panose="020B0609020204030204" pitchFamily="49" charset="0"/>
            </a:endParaRPr>
          </a:p>
        </p:txBody>
      </p:sp>
      <p:pic>
        <p:nvPicPr>
          <p:cNvPr id="14" name="图片 13"/>
          <p:cNvPicPr>
            <a:picLocks noChangeAspect="1"/>
          </p:cNvPicPr>
          <p:nvPr/>
        </p:nvPicPr>
        <p:blipFill>
          <a:blip r:embed="rId1"/>
          <a:stretch>
            <a:fillRect/>
          </a:stretch>
        </p:blipFill>
        <p:spPr>
          <a:xfrm>
            <a:off x="983609" y="4078307"/>
            <a:ext cx="3076169" cy="1332592"/>
          </a:xfrm>
          <a:prstGeom prst="rect">
            <a:avLst/>
          </a:prstGeom>
        </p:spPr>
      </p:pic>
    </p:spTree>
    <p:custDataLst>
      <p:tags r:id="rId2"/>
    </p:custData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5" name="文本框 4"/>
          <p:cNvSpPr txBox="1"/>
          <p:nvPr/>
        </p:nvSpPr>
        <p:spPr>
          <a:xfrm>
            <a:off x="983609" y="2017035"/>
            <a:ext cx="9687188"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以下是直接使用词典生成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对象示例，需要注意的是，词典中每个 </a:t>
            </a:r>
            <a:r>
              <a:rPr lang="en-US" altLang="zh-CN" b="0" dirty="0">
                <a:solidFill>
                  <a:srgbClr val="24292E"/>
                </a:solidFill>
                <a:effectLst/>
                <a:latin typeface="Consolas" panose="020B0609020204030204" pitchFamily="49" charset="0"/>
              </a:rPr>
              <a:t>key </a:t>
            </a:r>
            <a:r>
              <a:rPr lang="zh-CN" altLang="en-US" b="0" dirty="0">
                <a:solidFill>
                  <a:srgbClr val="24292E"/>
                </a:solidFill>
                <a:effectLst/>
                <a:latin typeface="Consolas" panose="020B0609020204030204" pitchFamily="49" charset="0"/>
              </a:rPr>
              <a:t>对应列 索引，每个 </a:t>
            </a:r>
            <a:r>
              <a:rPr lang="en-US" altLang="zh-CN" b="0" dirty="0">
                <a:solidFill>
                  <a:srgbClr val="24292E"/>
                </a:solidFill>
                <a:effectLst/>
                <a:latin typeface="Consolas" panose="020B0609020204030204" pitchFamily="49" charset="0"/>
              </a:rPr>
              <a:t>value </a:t>
            </a:r>
            <a:r>
              <a:rPr lang="zh-CN" altLang="en-US" b="0" dirty="0">
                <a:solidFill>
                  <a:srgbClr val="24292E"/>
                </a:solidFill>
                <a:effectLst/>
                <a:latin typeface="Consolas" panose="020B0609020204030204" pitchFamily="49" charset="0"/>
              </a:rPr>
              <a:t>为一个列表对象，代表一列。</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83609" y="2828835"/>
            <a:ext cx="10593198"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'University'</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'BUPT'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'Tsinghua'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'PKU'</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1955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1911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1898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(data, </a:t>
            </a:r>
            <a:r>
              <a:rPr lang="en-US" altLang="zh-CN" b="0" dirty="0">
                <a:solidFill>
                  <a:srgbClr val="E36209"/>
                </a:solidFill>
                <a:effectLst/>
                <a:latin typeface="Consolas" panose="020B0609020204030204" pitchFamily="49" charset="0"/>
              </a:rPr>
              <a:t>index</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'BTP'</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指定了行索引</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983609" y="4075673"/>
            <a:ext cx="2922227" cy="2048290"/>
          </a:xfrm>
          <a:prstGeom prst="rect">
            <a:avLst/>
          </a:prstGeom>
        </p:spPr>
      </p:pic>
    </p:spTree>
    <p:custDataLst>
      <p:tags r:id="rId2"/>
    </p:custData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5" name="文本框 4"/>
          <p:cNvSpPr txBox="1"/>
          <p:nvPr/>
        </p:nvSpPr>
        <p:spPr>
          <a:xfrm>
            <a:off x="983609" y="2017035"/>
            <a:ext cx="9687188"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使用 </a:t>
            </a:r>
            <a:r>
              <a:rPr lang="en-US" altLang="zh-CN" b="0" dirty="0" err="1">
                <a:solidFill>
                  <a:srgbClr val="24292E"/>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中的 </a:t>
            </a:r>
            <a:r>
              <a:rPr lang="en-US" altLang="zh-CN" b="0" dirty="0" err="1">
                <a:solidFill>
                  <a:srgbClr val="24292E"/>
                </a:solidFill>
                <a:effectLst/>
                <a:latin typeface="Consolas" panose="020B0609020204030204" pitchFamily="49" charset="0"/>
              </a:rPr>
              <a:t>ndarray</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对象也可以生成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对象，例如：</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83609" y="2587824"/>
            <a:ext cx="10593198"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np.random.rand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983608" y="3586294"/>
            <a:ext cx="5092575" cy="1682093"/>
          </a:xfrm>
          <a:prstGeom prst="rect">
            <a:avLst/>
          </a:prstGeom>
        </p:spPr>
      </p:pic>
    </p:spTree>
    <p:custDataLst>
      <p:tags r:id="rId2"/>
    </p:custData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5" name="文本框 4"/>
          <p:cNvSpPr txBox="1"/>
          <p:nvPr/>
        </p:nvSpPr>
        <p:spPr>
          <a:xfrm>
            <a:off x="983609" y="2017035"/>
            <a:ext cx="9687188"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使用 </a:t>
            </a:r>
            <a:r>
              <a:rPr lang="en-US" altLang="zh-CN" b="0" dirty="0" err="1">
                <a:solidFill>
                  <a:srgbClr val="24292E"/>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中的 </a:t>
            </a:r>
            <a:r>
              <a:rPr lang="en-US" altLang="zh-CN" b="0" dirty="0" err="1">
                <a:solidFill>
                  <a:srgbClr val="24292E"/>
                </a:solidFill>
                <a:effectLst/>
                <a:latin typeface="Consolas" panose="020B0609020204030204" pitchFamily="49" charset="0"/>
              </a:rPr>
              <a:t>ndarray</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对象也可以生成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对象，例如：</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83609" y="2587824"/>
            <a:ext cx="10593198"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np.random.rand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7258574" y="3060312"/>
            <a:ext cx="3412223" cy="1127068"/>
          </a:xfrm>
          <a:prstGeom prst="rect">
            <a:avLst/>
          </a:prstGeom>
        </p:spPr>
      </p:pic>
      <p:sp>
        <p:nvSpPr>
          <p:cNvPr id="6" name="文本框 5"/>
          <p:cNvSpPr txBox="1"/>
          <p:nvPr/>
        </p:nvSpPr>
        <p:spPr>
          <a:xfrm>
            <a:off x="983608" y="4374958"/>
            <a:ext cx="9972413"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pd.date_range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periods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得到 </a:t>
            </a:r>
            <a:r>
              <a:rPr lang="en-US" altLang="zh-CN" b="0" dirty="0">
                <a:solidFill>
                  <a:srgbClr val="6A737D"/>
                </a:solidFill>
                <a:effectLst/>
                <a:latin typeface="Consolas" panose="020B0609020204030204" pitchFamily="49" charset="0"/>
              </a:rPr>
              <a:t>6 </a:t>
            </a:r>
            <a:r>
              <a:rPr lang="zh-CN" altLang="en-US" b="0" dirty="0">
                <a:solidFill>
                  <a:srgbClr val="6A737D"/>
                </a:solidFill>
                <a:effectLst/>
                <a:latin typeface="Consolas" panose="020B0609020204030204" pitchFamily="49" charset="0"/>
              </a:rPr>
              <a:t>个日期索引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dates</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983608" y="5188504"/>
            <a:ext cx="6094602" cy="923330"/>
          </a:xfrm>
          <a:prstGeom prst="rect">
            <a:avLst/>
          </a:prstGeom>
          <a:noFill/>
        </p:spPr>
        <p:txBody>
          <a:bodyPr wrap="square">
            <a:spAutoFit/>
          </a:bodyPr>
          <a:lstStyle/>
          <a:p>
            <a:r>
              <a:rPr lang="en-US" altLang="zh-CN" b="0" i="0" dirty="0" err="1">
                <a:solidFill>
                  <a:srgbClr val="24292E"/>
                </a:solidFill>
                <a:effectLst/>
                <a:latin typeface="Consolas" panose="020B0609020204030204" pitchFamily="49" charset="0"/>
              </a:rPr>
              <a:t>DatetimeIndex</a:t>
            </a:r>
            <a:r>
              <a:rPr lang="en-US" altLang="zh-CN" b="0" i="0" dirty="0">
                <a:solidFill>
                  <a:srgbClr val="24292E"/>
                </a:solidFill>
                <a:effectLst/>
                <a:latin typeface="Consolas" panose="020B0609020204030204" pitchFamily="49" charset="0"/>
              </a:rPr>
              <a:t>(['2013-01-01', '2013-01-02', '2013-01-03', '2013-01-04', '2013-01-05', '2013-01-06'], </a:t>
            </a:r>
            <a:r>
              <a:rPr lang="en-US" altLang="zh-CN" b="0" i="0" dirty="0" err="1">
                <a:solidFill>
                  <a:srgbClr val="24292E"/>
                </a:solidFill>
                <a:effectLst/>
                <a:latin typeface="Consolas" panose="020B0609020204030204" pitchFamily="49" charset="0"/>
              </a:rPr>
              <a:t>dtype</a:t>
            </a:r>
            <a:r>
              <a:rPr lang="en-US" altLang="zh-CN" b="0" i="0" dirty="0">
                <a:solidFill>
                  <a:srgbClr val="24292E"/>
                </a:solidFill>
                <a:effectLst/>
                <a:latin typeface="Consolas" panose="020B0609020204030204" pitchFamily="49" charset="0"/>
              </a:rPr>
              <a:t>='datetime64[ns]', </a:t>
            </a:r>
            <a:r>
              <a:rPr lang="en-US" altLang="zh-CN" b="0" i="0" dirty="0" err="1">
                <a:solidFill>
                  <a:srgbClr val="24292E"/>
                </a:solidFill>
                <a:effectLst/>
                <a:latin typeface="Consolas" panose="020B0609020204030204" pitchFamily="49" charset="0"/>
              </a:rPr>
              <a:t>freq</a:t>
            </a:r>
            <a:r>
              <a:rPr lang="en-US" altLang="zh-CN" b="0" i="0" dirty="0">
                <a:solidFill>
                  <a:srgbClr val="24292E"/>
                </a:solidFill>
                <a:effectLst/>
                <a:latin typeface="Consolas" panose="020B0609020204030204" pitchFamily="49" charset="0"/>
              </a:rPr>
              <a:t>='D')</a:t>
            </a:r>
            <a:endParaRPr lang="zh-CN" altLang="en-US" dirty="0"/>
          </a:p>
        </p:txBody>
      </p:sp>
    </p:spTree>
    <p:custDataLst>
      <p:tags r:id="rId2"/>
    </p:custData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9" name="文本框 8"/>
          <p:cNvSpPr txBox="1"/>
          <p:nvPr/>
        </p:nvSpPr>
        <p:spPr>
          <a:xfrm>
            <a:off x="991998" y="2017035"/>
            <a:ext cx="10593198"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np.random.randn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index</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dates, </a:t>
            </a:r>
            <a:r>
              <a:rPr lang="en-US" altLang="zh-CN" b="0" dirty="0">
                <a:solidFill>
                  <a:srgbClr val="E36209"/>
                </a:solidFill>
                <a:effectLst/>
                <a:latin typeface="Consolas" panose="020B0609020204030204" pitchFamily="49" charset="0"/>
              </a:rPr>
              <a:t>columns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"ABCD"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数据为 </a:t>
            </a:r>
            <a:r>
              <a:rPr lang="en-US" altLang="zh-CN" b="0" dirty="0">
                <a:solidFill>
                  <a:srgbClr val="6A737D"/>
                </a:solidFill>
                <a:effectLst/>
                <a:latin typeface="Consolas" panose="020B0609020204030204" pitchFamily="49" charset="0"/>
              </a:rPr>
              <a:t>6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列，每行的索引为 </a:t>
            </a:r>
            <a:r>
              <a:rPr lang="en-US" altLang="zh-CN" b="0" dirty="0">
                <a:solidFill>
                  <a:srgbClr val="6A737D"/>
                </a:solidFill>
                <a:effectLst/>
                <a:latin typeface="Consolas" panose="020B0609020204030204" pitchFamily="49" charset="0"/>
              </a:rPr>
              <a:t>dates </a:t>
            </a:r>
            <a:r>
              <a:rPr lang="zh-CN" altLang="en-US" b="0" dirty="0">
                <a:solidFill>
                  <a:srgbClr val="6A737D"/>
                </a:solidFill>
                <a:effectLst/>
                <a:latin typeface="Consolas" panose="020B0609020204030204" pitchFamily="49" charset="0"/>
              </a:rPr>
              <a:t>中的元素，每列的索引为 </a:t>
            </a:r>
            <a:r>
              <a:rPr lang="en-US" altLang="zh-CN" b="0" dirty="0">
                <a:solidFill>
                  <a:srgbClr val="6A737D"/>
                </a:solidFill>
                <a:effectLst/>
                <a:latin typeface="Consolas" panose="020B0609020204030204" pitchFamily="49" charset="0"/>
              </a:rPr>
              <a:t>list </a:t>
            </a:r>
            <a:r>
              <a:rPr lang="zh-CN" altLang="en-US" b="0" dirty="0">
                <a:solidFill>
                  <a:srgbClr val="6A737D"/>
                </a:solidFill>
                <a:effectLst/>
                <a:latin typeface="Consolas" panose="020B0609020204030204" pitchFamily="49" charset="0"/>
              </a:rPr>
              <a:t>对象中的每个元素</a:t>
            </a:r>
            <a:endParaRPr lang="zh-CN" altLang="en-US"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1073328" y="3045363"/>
            <a:ext cx="5837610" cy="2717873"/>
          </a:xfrm>
          <a:prstGeom prst="rect">
            <a:avLst/>
          </a:prstGeom>
        </p:spPr>
      </p:pic>
    </p:spTree>
    <p:custDataLst>
      <p:tags r:id="rId2"/>
    </p:custData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9" name="文本框 8"/>
          <p:cNvSpPr txBox="1"/>
          <p:nvPr/>
        </p:nvSpPr>
        <p:spPr>
          <a:xfrm>
            <a:off x="991998" y="2017035"/>
            <a:ext cx="10593198"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以下示例给出了每列具有不同数据类型的数据来构建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991998" y="2541270"/>
            <a:ext cx="11089630"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 </a:t>
            </a:r>
            <a:r>
              <a:rPr lang="en-US" altLang="zh-CN" b="0" dirty="0" err="1">
                <a:solidFill>
                  <a:srgbClr val="24292E"/>
                </a:solidFill>
                <a:effectLst/>
                <a:latin typeface="Consolas" panose="020B0609020204030204" pitchFamily="49" charset="0"/>
              </a:rPr>
              <a:t>pd.Series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index</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'float32'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 </a:t>
            </a:r>
            <a:r>
              <a:rPr lang="en-US" altLang="zh-CN" b="0" dirty="0" err="1">
                <a:solidFill>
                  <a:srgbClr val="24292E"/>
                </a:solidFill>
                <a:effectLst/>
                <a:latin typeface="Consolas" panose="020B0609020204030204" pitchFamily="49" charset="0"/>
              </a:rPr>
              <a:t>np.array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'int32'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'E'</a:t>
            </a:r>
            <a:r>
              <a:rPr lang="en-US" altLang="zh-CN" b="0" dirty="0">
                <a:solidFill>
                  <a:srgbClr val="24292E"/>
                </a:solidFill>
                <a:effectLst/>
                <a:latin typeface="Consolas" panose="020B0609020204030204" pitchFamily="49" charset="0"/>
              </a:rPr>
              <a:t> : </a:t>
            </a:r>
            <a:r>
              <a:rPr lang="en-US" altLang="zh-CN" b="0" dirty="0" err="1">
                <a:solidFill>
                  <a:srgbClr val="24292E"/>
                </a:solidFill>
                <a:effectLst/>
                <a:latin typeface="Consolas" panose="020B0609020204030204" pitchFamily="49" charset="0"/>
              </a:rPr>
              <a:t>pd.Categorical</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test"</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"train"</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"test"</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"train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a:t>
            </a:r>
            <a:r>
              <a:rPr lang="en-US" altLang="zh-CN" b="0" dirty="0">
                <a:solidFill>
                  <a:srgbClr val="24292E"/>
                </a:solidFill>
                <a:effectLst/>
                <a:latin typeface="Consolas" panose="020B0609020204030204" pitchFamily="49" charset="0"/>
              </a:rPr>
              <a:t> : </a:t>
            </a:r>
            <a:r>
              <a:rPr lang="en-US" altLang="zh-CN" b="0" dirty="0">
                <a:solidFill>
                  <a:srgbClr val="032F62"/>
                </a:solidFill>
                <a:effectLst/>
                <a:latin typeface="Consolas" panose="020B0609020204030204" pitchFamily="49" charset="0"/>
              </a:rPr>
              <a:t>'foo'</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df2</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1031146" y="3873807"/>
            <a:ext cx="3708633" cy="2541873"/>
          </a:xfrm>
          <a:prstGeom prst="rect">
            <a:avLst/>
          </a:prstGeom>
        </p:spPr>
      </p:pic>
    </p:spTree>
    <p:custDataLst>
      <p:tags r:id="rId2"/>
    </p:custData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2.4.1 Pandas</a:t>
            </a:r>
            <a:r>
              <a:rPr lang="zh-CN" altLang="en-US" sz="1800" dirty="0">
                <a:solidFill>
                  <a:srgbClr val="577CCE"/>
                </a:solidFill>
                <a:latin typeface="+mn-ea"/>
              </a:rPr>
              <a:t>的主要数据结构</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en-US" altLang="zh-CN" b="0" i="0" dirty="0">
                <a:solidFill>
                  <a:srgbClr val="050E17"/>
                </a:solidFill>
                <a:effectLst/>
                <a:latin typeface="+mn-ea"/>
              </a:rPr>
              <a:t>(2) </a:t>
            </a:r>
            <a:r>
              <a:rPr lang="en-US" altLang="zh-CN" b="0" i="0" dirty="0" err="1">
                <a:solidFill>
                  <a:srgbClr val="050E17"/>
                </a:solidFill>
                <a:effectLst/>
                <a:latin typeface="+mn-ea"/>
              </a:rPr>
              <a:t>DataFrame</a:t>
            </a:r>
            <a:endParaRPr lang="en-US" altLang="zh-CN" b="0" i="0" dirty="0">
              <a:solidFill>
                <a:srgbClr val="050E17"/>
              </a:solidFill>
              <a:effectLst/>
              <a:latin typeface="+mn-ea"/>
            </a:endParaRPr>
          </a:p>
        </p:txBody>
      </p:sp>
      <p:sp>
        <p:nvSpPr>
          <p:cNvPr id="9" name="文本框 8"/>
          <p:cNvSpPr txBox="1"/>
          <p:nvPr/>
        </p:nvSpPr>
        <p:spPr>
          <a:xfrm>
            <a:off x="991998" y="2017035"/>
            <a:ext cx="10593198"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具有一些属性，例如行索引 </a:t>
            </a:r>
            <a:r>
              <a:rPr lang="en-US" altLang="zh-CN" b="0" dirty="0">
                <a:solidFill>
                  <a:srgbClr val="24292E"/>
                </a:solidFill>
                <a:effectLst/>
                <a:latin typeface="Consolas" panose="020B0609020204030204" pitchFamily="49" charset="0"/>
              </a:rPr>
              <a:t>index</a:t>
            </a:r>
            <a:r>
              <a:rPr lang="zh-CN" altLang="en-US" b="0" dirty="0">
                <a:solidFill>
                  <a:srgbClr val="24292E"/>
                </a:solidFill>
                <a:effectLst/>
                <a:latin typeface="Consolas" panose="020B0609020204030204" pitchFamily="49" charset="0"/>
              </a:rPr>
              <a:t>，列索引 </a:t>
            </a:r>
            <a:r>
              <a:rPr lang="en-US" altLang="zh-CN" b="0" dirty="0">
                <a:solidFill>
                  <a:srgbClr val="24292E"/>
                </a:solidFill>
                <a:effectLst/>
                <a:latin typeface="Consolas" panose="020B0609020204030204" pitchFamily="49" charset="0"/>
              </a:rPr>
              <a:t>columns</a:t>
            </a:r>
            <a:r>
              <a:rPr lang="zh-CN" altLang="en-US" b="0" dirty="0">
                <a:solidFill>
                  <a:srgbClr val="24292E"/>
                </a:solidFill>
                <a:effectLst/>
                <a:latin typeface="Consolas" panose="020B0609020204030204" pitchFamily="49" charset="0"/>
              </a:rPr>
              <a:t>，元素类型 </a:t>
            </a:r>
            <a:r>
              <a:rPr lang="en-US" altLang="zh-CN" b="0" dirty="0" err="1">
                <a:solidFill>
                  <a:srgbClr val="24292E"/>
                </a:solidFill>
                <a:effectLst/>
                <a:latin typeface="Consolas" panose="020B0609020204030204" pitchFamily="49" charset="0"/>
              </a:rPr>
              <a:t>dtypes</a:t>
            </a:r>
            <a:r>
              <a:rPr lang="zh-CN" altLang="en-US" b="0" dirty="0">
                <a:solidFill>
                  <a:srgbClr val="24292E"/>
                </a:solidFill>
                <a:effectLst/>
                <a:latin typeface="Consolas" panose="020B0609020204030204" pitchFamily="49" charset="0"/>
              </a:rPr>
              <a:t>，转置 </a:t>
            </a:r>
            <a:r>
              <a:rPr lang="en-US" altLang="zh-CN" b="0" dirty="0">
                <a:solidFill>
                  <a:srgbClr val="24292E"/>
                </a:solidFill>
                <a:effectLst/>
                <a:latin typeface="Consolas" panose="020B0609020204030204" pitchFamily="49" charset="0"/>
              </a:rPr>
              <a:t>T </a:t>
            </a:r>
            <a:r>
              <a:rPr lang="zh-CN" altLang="en-US" b="0" dirty="0">
                <a:solidFill>
                  <a:srgbClr val="24292E"/>
                </a:solidFill>
                <a:effectLst/>
                <a:latin typeface="Consolas" panose="020B0609020204030204" pitchFamily="49" charset="0"/>
              </a:rPr>
              <a:t>等。举例如下：</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991998" y="2676101"/>
            <a:ext cx="6094602"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df2.index</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Int64Index([</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'int64'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df2.columns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Index([</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'object'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df2.dtypes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     float64</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C     float32</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       int32</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E    category</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      </a:t>
            </a:r>
            <a:r>
              <a:rPr lang="en-US" altLang="zh-CN" b="0" dirty="0">
                <a:solidFill>
                  <a:srgbClr val="6F42C1"/>
                </a:solidFill>
                <a:effectLst/>
                <a:latin typeface="Consolas" panose="020B0609020204030204" pitchFamily="49" charset="0"/>
              </a:rPr>
              <a:t>object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dtype</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object</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7543800" y="2663366"/>
            <a:ext cx="4147185"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df2.T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C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E  test  train  test  train</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   foo    </a:t>
            </a:r>
            <a:r>
              <a:rPr lang="en-US" altLang="zh-CN" b="0" dirty="0" err="1">
                <a:solidFill>
                  <a:srgbClr val="24292E"/>
                </a:solidFill>
                <a:effectLst/>
                <a:latin typeface="Consolas" panose="020B0609020204030204" pitchFamily="49" charset="0"/>
              </a:rPr>
              <a:t>foo</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foo</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foo</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i="0" dirty="0">
                <a:solidFill>
                  <a:srgbClr val="050E17"/>
                </a:solidFill>
                <a:effectLst/>
                <a:latin typeface="+mn-ea"/>
              </a:rPr>
              <a:t>类似于</a:t>
            </a:r>
            <a:r>
              <a:rPr lang="en-US" altLang="zh-CN" b="0" i="0" dirty="0">
                <a:solidFill>
                  <a:srgbClr val="050E17"/>
                </a:solidFill>
                <a:effectLst/>
                <a:latin typeface="+mn-ea"/>
              </a:rPr>
              <a:t>list</a:t>
            </a:r>
            <a:r>
              <a:rPr lang="zh-CN" altLang="en-US" b="0" i="0" dirty="0">
                <a:solidFill>
                  <a:srgbClr val="050E17"/>
                </a:solidFill>
                <a:effectLst/>
                <a:latin typeface="+mn-ea"/>
              </a:rPr>
              <a:t>和</a:t>
            </a:r>
            <a:r>
              <a:rPr lang="en-US" altLang="zh-CN" b="0" i="0" dirty="0" err="1">
                <a:solidFill>
                  <a:srgbClr val="050E17"/>
                </a:solidFill>
                <a:effectLst/>
                <a:latin typeface="+mn-ea"/>
              </a:rPr>
              <a:t>ndarray</a:t>
            </a:r>
            <a:r>
              <a:rPr lang="zh-CN" altLang="en-US" b="0" i="0" dirty="0">
                <a:solidFill>
                  <a:srgbClr val="050E17"/>
                </a:solidFill>
                <a:effectLst/>
                <a:latin typeface="+mn-ea"/>
              </a:rPr>
              <a:t>对象</a:t>
            </a:r>
            <a:r>
              <a:rPr lang="zh-CN" altLang="en-US" dirty="0">
                <a:solidFill>
                  <a:srgbClr val="050E17"/>
                </a:solidFill>
                <a:latin typeface="+mn-ea"/>
              </a:rPr>
              <a:t>，</a:t>
            </a:r>
            <a:r>
              <a:rPr lang="en-US" altLang="zh-CN" b="0" i="0" dirty="0" err="1">
                <a:solidFill>
                  <a:srgbClr val="050E17"/>
                </a:solidFill>
                <a:effectLst/>
                <a:latin typeface="+mn-ea"/>
              </a:rPr>
              <a:t>DataFrame</a:t>
            </a:r>
            <a:r>
              <a:rPr lang="zh-CN" altLang="en-US" b="0" i="0" dirty="0">
                <a:solidFill>
                  <a:srgbClr val="050E17"/>
                </a:solidFill>
                <a:effectLst/>
                <a:latin typeface="+mn-ea"/>
              </a:rPr>
              <a:t>对象也可以进行索引和切片。设数组定义如下：</a:t>
            </a:r>
            <a:endParaRPr lang="zh-CN" altLang="en-US" b="0" i="0" dirty="0">
              <a:solidFill>
                <a:srgbClr val="050E17"/>
              </a:solidFill>
              <a:effectLst/>
              <a:latin typeface="+mn-ea"/>
            </a:endParaRPr>
          </a:p>
        </p:txBody>
      </p:sp>
      <p:sp>
        <p:nvSpPr>
          <p:cNvPr id="7" name="文本框 6"/>
          <p:cNvSpPr txBox="1"/>
          <p:nvPr/>
        </p:nvSpPr>
        <p:spPr>
          <a:xfrm>
            <a:off x="642104" y="1958944"/>
            <a:ext cx="10907792"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pd.date_range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periods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24</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dates, </a:t>
            </a:r>
            <a:r>
              <a:rPr lang="en-US" altLang="zh-CN" b="0" dirty="0">
                <a:solidFill>
                  <a:srgbClr val="E36209"/>
                </a:solidFill>
                <a:effectLst/>
                <a:latin typeface="Consolas" panose="020B0609020204030204" pitchFamily="49" charset="0"/>
              </a:rPr>
              <a:t>columns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"ABCD"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#6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列，行索引从</a:t>
            </a:r>
            <a:r>
              <a:rPr lang="en-US" altLang="zh-CN" b="0" dirty="0">
                <a:solidFill>
                  <a:srgbClr val="6A737D"/>
                </a:solidFill>
                <a:effectLst/>
                <a:latin typeface="Consolas" panose="020B0609020204030204" pitchFamily="49" charset="0"/>
              </a:rPr>
              <a:t>"20130101"</a:t>
            </a:r>
            <a:r>
              <a:rPr lang="zh-CN" altLang="en-US" b="0" dirty="0">
                <a:solidFill>
                  <a:srgbClr val="6A737D"/>
                </a:solidFill>
                <a:effectLst/>
                <a:latin typeface="Consolas" panose="020B0609020204030204" pitchFamily="49" charset="0"/>
              </a:rPr>
              <a:t>到</a:t>
            </a:r>
            <a:r>
              <a:rPr lang="en-US" altLang="zh-CN" b="0" dirty="0">
                <a:solidFill>
                  <a:srgbClr val="6A737D"/>
                </a:solidFill>
                <a:effectLst/>
                <a:latin typeface="Consolas" panose="020B0609020204030204" pitchFamily="49" charset="0"/>
              </a:rPr>
              <a:t>"20130106"</a:t>
            </a:r>
            <a:r>
              <a:rPr lang="zh-CN" altLang="en-US" b="0" dirty="0">
                <a:solidFill>
                  <a:srgbClr val="6A737D"/>
                </a:solidFill>
                <a:effectLst/>
                <a:latin typeface="Consolas" panose="020B0609020204030204" pitchFamily="49" charset="0"/>
              </a:rPr>
              <a:t>，列索引从</a:t>
            </a:r>
            <a:r>
              <a:rPr lang="en-US" altLang="zh-CN" b="0" dirty="0">
                <a:solidFill>
                  <a:srgbClr val="6A737D"/>
                </a:solidFill>
                <a:effectLst/>
                <a:latin typeface="Consolas" panose="020B0609020204030204" pitchFamily="49" charset="0"/>
              </a:rPr>
              <a:t>"A"</a:t>
            </a:r>
            <a:r>
              <a:rPr lang="zh-CN" altLang="en-US" b="0" dirty="0">
                <a:solidFill>
                  <a:srgbClr val="6A737D"/>
                </a:solidFill>
                <a:effectLst/>
                <a:latin typeface="Consolas" panose="020B0609020204030204" pitchFamily="49" charset="0"/>
              </a:rPr>
              <a:t>到</a:t>
            </a:r>
            <a:r>
              <a:rPr lang="en-US" altLang="zh-CN" b="0" dirty="0">
                <a:solidFill>
                  <a:srgbClr val="6A737D"/>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1539899" y="3014433"/>
            <a:ext cx="3862784" cy="3400337"/>
          </a:xfrm>
          <a:prstGeom prst="rect">
            <a:avLst/>
          </a:prstGeom>
        </p:spPr>
      </p:pic>
    </p:spTree>
    <p:custDataLst>
      <p:tags r:id="rId2"/>
    </p:custData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）列索引</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642104" y="1958944"/>
            <a:ext cx="10907792"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选择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 </a:t>
            </a:r>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其中的某一列，格式为 </a:t>
            </a:r>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a:t>
            </a:r>
            <a:r>
              <a:rPr lang="zh-CN" altLang="en-US" b="0" u="sng" dirty="0">
                <a:solidFill>
                  <a:srgbClr val="032F62"/>
                </a:solidFill>
                <a:effectLst/>
                <a:latin typeface="Consolas" panose="020B0609020204030204" pitchFamily="49" charset="0"/>
              </a:rPr>
              <a:t>列索引名</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，生成结果为一个 </a:t>
            </a:r>
            <a:r>
              <a:rPr lang="en-US" altLang="zh-CN" b="0" dirty="0">
                <a:solidFill>
                  <a:srgbClr val="24292E"/>
                </a:solidFill>
                <a:effectLst/>
                <a:latin typeface="Consolas" panose="020B0609020204030204" pitchFamily="49" charset="0"/>
              </a:rPr>
              <a:t>Series </a:t>
            </a:r>
            <a:r>
              <a:rPr lang="zh-CN" altLang="en-US" b="0" dirty="0">
                <a:solidFill>
                  <a:srgbClr val="24292E"/>
                </a:solidFill>
                <a:effectLst/>
                <a:latin typeface="Consolas" panose="020B0609020204030204" pitchFamily="49" charset="0"/>
              </a:rPr>
              <a:t>对象。示例如下：</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445004" y="2478700"/>
            <a:ext cx="839528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列名给出的情况下，也可以使用 </a:t>
            </a:r>
            <a:r>
              <a:rPr lang="en-US" altLang="zh-CN" b="0" dirty="0" err="1">
                <a:solidFill>
                  <a:srgbClr val="6A737D"/>
                </a:solidFill>
                <a:effectLst/>
                <a:latin typeface="Consolas" panose="020B0609020204030204" pitchFamily="49" charset="0"/>
              </a:rPr>
              <a:t>df.A</a:t>
            </a:r>
            <a:r>
              <a:rPr lang="zh-CN" altLang="en-US" b="0" dirty="0">
                <a:solidFill>
                  <a:srgbClr val="6A737D"/>
                </a:solidFill>
                <a:effectLst/>
                <a:latin typeface="Consolas" panose="020B0609020204030204" pitchFamily="49" charset="0"/>
              </a:rPr>
              <a:t>，但不能使用 </a:t>
            </a:r>
            <a:r>
              <a:rPr lang="en-US" altLang="zh-CN" b="0" dirty="0" err="1">
                <a:solidFill>
                  <a:srgbClr val="6A737D"/>
                </a:solidFill>
                <a:effectLst/>
                <a:latin typeface="Consolas" panose="020B0609020204030204" pitchFamily="49" charset="0"/>
              </a:rPr>
              <a:t>df</a:t>
            </a:r>
            <a:r>
              <a:rPr lang="en-US" altLang="zh-CN" b="0" dirty="0">
                <a:solidFill>
                  <a:srgbClr val="6A737D"/>
                </a:solidFill>
                <a:effectLst/>
                <a:latin typeface="Consolas" panose="020B0609020204030204" pitchFamily="49" charset="0"/>
              </a:rPr>
              <a:t>[0]</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1506686" y="3125031"/>
            <a:ext cx="4961219" cy="2822763"/>
          </a:xfrm>
          <a:prstGeom prst="rect">
            <a:avLst/>
          </a:prstGeom>
        </p:spPr>
      </p:pic>
    </p:spTree>
    <p:custDataLst>
      <p:tags r:id="rId2"/>
    </p:custData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）行索引</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893773" y="1979237"/>
            <a:ext cx="10907792"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选择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 </a:t>
            </a:r>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其中的某一行，可使用 </a:t>
            </a:r>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的属性 </a:t>
            </a:r>
            <a:r>
              <a:rPr lang="en-US" altLang="zh-CN" b="0" dirty="0">
                <a:solidFill>
                  <a:srgbClr val="24292E"/>
                </a:solidFill>
                <a:effectLst/>
                <a:latin typeface="Consolas" panose="020B0609020204030204" pitchFamily="49" charset="0"/>
              </a:rPr>
              <a:t>loc </a:t>
            </a:r>
            <a:r>
              <a:rPr lang="zh-CN" altLang="en-US" b="0" dirty="0">
                <a:solidFill>
                  <a:srgbClr val="24292E"/>
                </a:solidFill>
                <a:effectLst/>
                <a:latin typeface="Consolas" panose="020B0609020204030204" pitchFamily="49" charset="0"/>
              </a:rPr>
              <a:t>对象或 </a:t>
            </a:r>
            <a:r>
              <a:rPr lang="en-US" altLang="zh-CN" b="0" dirty="0" err="1">
                <a:solidFill>
                  <a:srgbClr val="24292E"/>
                </a:solidFill>
                <a:effectLst/>
                <a:latin typeface="Consolas" panose="020B0609020204030204" pitchFamily="49" charset="0"/>
              </a:rPr>
              <a:t>iloc</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 使用 </a:t>
            </a:r>
            <a:r>
              <a:rPr lang="en-US" altLang="zh-CN" b="0" dirty="0">
                <a:solidFill>
                  <a:srgbClr val="24292E"/>
                </a:solidFill>
                <a:effectLst/>
                <a:latin typeface="Consolas" panose="020B0609020204030204" pitchFamily="49" charset="0"/>
              </a:rPr>
              <a:t>loc </a:t>
            </a:r>
            <a:r>
              <a:rPr lang="zh-CN" altLang="en-US" b="0" dirty="0">
                <a:solidFill>
                  <a:srgbClr val="24292E"/>
                </a:solidFill>
                <a:effectLst/>
                <a:latin typeface="Consolas" panose="020B0609020204030204" pitchFamily="49" charset="0"/>
              </a:rPr>
              <a:t>对象的格式为 </a:t>
            </a:r>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a:t>
            </a:r>
            <a:r>
              <a:rPr lang="zh-CN" altLang="en-US" b="0" u="sng" dirty="0">
                <a:solidFill>
                  <a:srgbClr val="032F62"/>
                </a:solidFill>
                <a:effectLst/>
                <a:latin typeface="Consolas" panose="020B0609020204030204" pitchFamily="49" charset="0"/>
              </a:rPr>
              <a:t>行索引名</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，使用 </a:t>
            </a:r>
            <a:r>
              <a:rPr lang="en-US" altLang="zh-CN" b="0" dirty="0" err="1">
                <a:solidFill>
                  <a:srgbClr val="24292E"/>
                </a:solidFill>
                <a:effectLst/>
                <a:latin typeface="Consolas" panose="020B0609020204030204" pitchFamily="49" charset="0"/>
              </a:rPr>
              <a:t>iloc</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对象的格式为 </a:t>
            </a:r>
            <a:r>
              <a:rPr lang="en-US" altLang="zh-CN" b="0" dirty="0" err="1">
                <a:solidFill>
                  <a:srgbClr val="24292E"/>
                </a:solidFill>
                <a:effectLst/>
                <a:latin typeface="Consolas" panose="020B0609020204030204" pitchFamily="49" charset="0"/>
              </a:rPr>
              <a:t>df.iloc</a:t>
            </a:r>
            <a:r>
              <a:rPr lang="en-US" altLang="zh-CN" b="0" dirty="0">
                <a:solidFill>
                  <a:srgbClr val="24292E"/>
                </a:solidFill>
                <a:effectLst/>
                <a:latin typeface="Consolas" panose="020B0609020204030204" pitchFamily="49" charset="0"/>
              </a:rPr>
              <a:t>[</a:t>
            </a:r>
            <a:r>
              <a:rPr lang="zh-CN" altLang="en-US" b="0" u="sng" dirty="0">
                <a:solidFill>
                  <a:srgbClr val="032F62"/>
                </a:solidFill>
                <a:effectLst/>
                <a:latin typeface="Consolas" panose="020B0609020204030204" pitchFamily="49" charset="0"/>
              </a:rPr>
              <a:t>行索引序号</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zh-CN" altLang="en-US" b="0" dirty="0">
                <a:solidFill>
                  <a:srgbClr val="FF0000"/>
                </a:solidFill>
                <a:effectLst/>
                <a:latin typeface="Consolas" panose="020B0609020204030204" pitchFamily="49" charset="0"/>
              </a:rPr>
              <a:t>生成结果均为一个 </a:t>
            </a:r>
            <a:r>
              <a:rPr lang="en-US" altLang="zh-CN" b="0" dirty="0">
                <a:solidFill>
                  <a:srgbClr val="FF0000"/>
                </a:solidFill>
                <a:effectLst/>
                <a:latin typeface="Consolas" panose="020B0609020204030204" pitchFamily="49" charset="0"/>
              </a:rPr>
              <a:t>Series </a:t>
            </a:r>
            <a:r>
              <a:rPr lang="zh-CN" altLang="en-US" b="0" dirty="0">
                <a:solidFill>
                  <a:srgbClr val="FF0000"/>
                </a:solidFill>
                <a:effectLst/>
                <a:latin typeface="Consolas" panose="020B0609020204030204" pitchFamily="49" charset="0"/>
              </a:rPr>
              <a:t>对象</a:t>
            </a:r>
            <a:r>
              <a:rPr lang="zh-CN" altLang="en-US" b="0" dirty="0">
                <a:solidFill>
                  <a:srgbClr val="24292E"/>
                </a:solidFill>
                <a:effectLst/>
                <a:latin typeface="Consolas" panose="020B0609020204030204" pitchFamily="49" charset="0"/>
              </a:rPr>
              <a:t>。示例如下：</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083266" y="2994901"/>
            <a:ext cx="10557199"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注意，需要用实际的索引名称，而不能用索引序号</a:t>
            </a:r>
            <a:endParaRPr lang="zh-CN" altLang="en-US"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1512888" y="3538812"/>
            <a:ext cx="4490391" cy="1440125"/>
          </a:xfrm>
          <a:prstGeom prst="rect">
            <a:avLst/>
          </a:prstGeom>
        </p:spPr>
      </p:pic>
      <p:sp>
        <p:nvSpPr>
          <p:cNvPr id="12" name="文本框 11"/>
          <p:cNvSpPr txBox="1"/>
          <p:nvPr/>
        </p:nvSpPr>
        <p:spPr>
          <a:xfrm>
            <a:off x="1083266" y="5183662"/>
            <a:ext cx="6094602" cy="369332"/>
          </a:xfrm>
          <a:prstGeom prst="rect">
            <a:avLst/>
          </a:prstGeom>
          <a:noFill/>
        </p:spPr>
        <p:txBody>
          <a:bodyPr wrap="square">
            <a:spAutoFit/>
          </a:bodyPr>
          <a:lstStyle/>
          <a:p>
            <a:r>
              <a:rPr lang="en-US" altLang="zh-CN" b="0" dirty="0">
                <a:solidFill>
                  <a:srgbClr val="005CC5"/>
                </a:solidFill>
                <a:effectLst/>
                <a:latin typeface="Consolas" panose="020B0609020204030204" pitchFamily="49" charset="0"/>
              </a:rPr>
              <a:t>type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查看返回对象类型</a:t>
            </a:r>
            <a:endParaRPr lang="zh-CN" altLang="en-US" b="0" dirty="0">
              <a:solidFill>
                <a:srgbClr val="24292E"/>
              </a:solidFill>
              <a:effectLst/>
              <a:latin typeface="Consolas" panose="020B0609020204030204" pitchFamily="49" charset="0"/>
            </a:endParaRPr>
          </a:p>
        </p:txBody>
      </p:sp>
      <p:sp>
        <p:nvSpPr>
          <p:cNvPr id="16" name="文本框 15"/>
          <p:cNvSpPr txBox="1"/>
          <p:nvPr/>
        </p:nvSpPr>
        <p:spPr>
          <a:xfrm>
            <a:off x="1512888" y="5757719"/>
            <a:ext cx="4752018" cy="400110"/>
          </a:xfrm>
          <a:prstGeom prst="rect">
            <a:avLst/>
          </a:prstGeom>
          <a:noFill/>
        </p:spPr>
        <p:txBody>
          <a:bodyPr wrap="square">
            <a:spAutoFit/>
          </a:bodyPr>
          <a:lstStyle/>
          <a:p>
            <a:pPr algn="l"/>
            <a:r>
              <a:rPr lang="zh-CN" altLang="en-US" sz="2000" i="0" dirty="0">
                <a:solidFill>
                  <a:srgbClr val="577CCE"/>
                </a:solidFill>
                <a:effectLst/>
                <a:latin typeface="var(--notebook-cell-output-font-family)"/>
              </a:rPr>
              <a:t>结果</a:t>
            </a:r>
            <a:r>
              <a:rPr lang="zh-CN" altLang="en-US" sz="2000" i="0" dirty="0">
                <a:solidFill>
                  <a:srgbClr val="24292E"/>
                </a:solidFill>
                <a:effectLst/>
                <a:latin typeface="var(--notebook-cell-output-font-family)"/>
              </a:rPr>
              <a:t>：</a:t>
            </a:r>
            <a:r>
              <a:rPr lang="en-US" altLang="zh-CN" sz="2000" i="0" dirty="0" err="1">
                <a:solidFill>
                  <a:srgbClr val="24292E"/>
                </a:solidFill>
                <a:effectLst/>
                <a:latin typeface="var(--notebook-cell-output-font-family)"/>
              </a:rPr>
              <a:t>pandas.core.series.Series</a:t>
            </a:r>
            <a:endParaRPr lang="zh-CN" altLang="en-US" sz="2000" dirty="0"/>
          </a:p>
        </p:txBody>
      </p:sp>
    </p:spTree>
    <p:custDataLst>
      <p:tags r:id="rId2"/>
    </p:custData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）行索引</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083266" y="2095726"/>
            <a:ext cx="10557199"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df.iloc</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注意，需要用索引序号，而不能用实际的索引名称</a:t>
            </a:r>
            <a:endParaRPr lang="zh-CN" altLang="en-US" b="0" dirty="0">
              <a:solidFill>
                <a:srgbClr val="24292E"/>
              </a:solidFill>
              <a:effectLst/>
              <a:latin typeface="Consolas" panose="020B0609020204030204" pitchFamily="49" charset="0"/>
            </a:endParaRPr>
          </a:p>
        </p:txBody>
      </p:sp>
      <p:sp>
        <p:nvSpPr>
          <p:cNvPr id="12" name="文本框 11"/>
          <p:cNvSpPr txBox="1"/>
          <p:nvPr/>
        </p:nvSpPr>
        <p:spPr>
          <a:xfrm>
            <a:off x="1083266" y="4537710"/>
            <a:ext cx="6094602" cy="369332"/>
          </a:xfrm>
          <a:prstGeom prst="rect">
            <a:avLst/>
          </a:prstGeom>
          <a:noFill/>
        </p:spPr>
        <p:txBody>
          <a:bodyPr wrap="square">
            <a:spAutoFit/>
          </a:bodyPr>
          <a:lstStyle/>
          <a:p>
            <a:r>
              <a:rPr lang="en-US" altLang="zh-CN" b="0" dirty="0">
                <a:solidFill>
                  <a:srgbClr val="005CC5"/>
                </a:solidFill>
                <a:effectLst/>
                <a:latin typeface="Consolas" panose="020B0609020204030204" pitchFamily="49" charset="0"/>
              </a:rPr>
              <a:t>type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df.iloc</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查看返回对象类型</a:t>
            </a:r>
            <a:endParaRPr lang="zh-CN" altLang="en-US" b="0" dirty="0">
              <a:solidFill>
                <a:srgbClr val="24292E"/>
              </a:solidFill>
              <a:effectLst/>
              <a:latin typeface="Consolas" panose="020B0609020204030204" pitchFamily="49" charset="0"/>
            </a:endParaRPr>
          </a:p>
        </p:txBody>
      </p:sp>
      <p:sp>
        <p:nvSpPr>
          <p:cNvPr id="16" name="文本框 15"/>
          <p:cNvSpPr txBox="1"/>
          <p:nvPr/>
        </p:nvSpPr>
        <p:spPr>
          <a:xfrm>
            <a:off x="1512888" y="5162100"/>
            <a:ext cx="4752018" cy="400110"/>
          </a:xfrm>
          <a:prstGeom prst="rect">
            <a:avLst/>
          </a:prstGeom>
          <a:noFill/>
        </p:spPr>
        <p:txBody>
          <a:bodyPr wrap="square">
            <a:spAutoFit/>
          </a:bodyPr>
          <a:lstStyle/>
          <a:p>
            <a:pPr algn="l"/>
            <a:r>
              <a:rPr lang="zh-CN" altLang="en-US" sz="2000" i="0" dirty="0">
                <a:solidFill>
                  <a:srgbClr val="577CCE"/>
                </a:solidFill>
                <a:effectLst/>
                <a:latin typeface="var(--notebook-cell-output-font-family)"/>
              </a:rPr>
              <a:t>结果</a:t>
            </a:r>
            <a:r>
              <a:rPr lang="zh-CN" altLang="en-US" sz="2000" i="0" dirty="0">
                <a:solidFill>
                  <a:srgbClr val="24292E"/>
                </a:solidFill>
                <a:effectLst/>
                <a:latin typeface="var(--notebook-cell-output-font-family)"/>
              </a:rPr>
              <a:t>：</a:t>
            </a:r>
            <a:r>
              <a:rPr lang="en-US" altLang="zh-CN" sz="2000" i="0" dirty="0" err="1">
                <a:solidFill>
                  <a:srgbClr val="24292E"/>
                </a:solidFill>
                <a:effectLst/>
                <a:latin typeface="var(--notebook-cell-output-font-family)"/>
              </a:rPr>
              <a:t>pandas.core.series.Series</a:t>
            </a:r>
            <a:endParaRPr lang="zh-CN" altLang="en-US" sz="2000" dirty="0"/>
          </a:p>
        </p:txBody>
      </p:sp>
      <p:pic>
        <p:nvPicPr>
          <p:cNvPr id="5" name="图片 4"/>
          <p:cNvPicPr>
            <a:picLocks noChangeAspect="1"/>
          </p:cNvPicPr>
          <p:nvPr/>
        </p:nvPicPr>
        <p:blipFill>
          <a:blip r:embed="rId1"/>
          <a:stretch>
            <a:fillRect/>
          </a:stretch>
        </p:blipFill>
        <p:spPr>
          <a:xfrm>
            <a:off x="1512888" y="2605487"/>
            <a:ext cx="5520230" cy="1614175"/>
          </a:xfrm>
          <a:prstGeom prst="rect">
            <a:avLst/>
          </a:prstGeom>
        </p:spPr>
      </p:pic>
    </p:spTree>
    <p:custDataLst>
      <p:tags r:id="rId2"/>
    </p:custData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）按行切片，得到新的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类型的对象</a:t>
            </a:r>
            <a:endParaRPr lang="en-US" altLang="zh-CN"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33274" y="1994140"/>
            <a:ext cx="10953926"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对象可以直接通过</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进行按行切片，</a:t>
            </a:r>
            <a:r>
              <a:rPr lang="zh-CN" altLang="en-US" b="0" dirty="0">
                <a:solidFill>
                  <a:srgbClr val="FF0000"/>
                </a:solidFill>
                <a:effectLst/>
                <a:latin typeface="Consolas" panose="020B0609020204030204" pitchFamily="49" charset="0"/>
              </a:rPr>
              <a:t>此时</a:t>
            </a:r>
            <a:r>
              <a:rPr lang="en-US" altLang="zh-CN" b="0" dirty="0">
                <a:solidFill>
                  <a:srgbClr val="FF0000"/>
                </a:solidFill>
                <a:effectLst/>
                <a:latin typeface="Consolas" panose="020B0609020204030204" pitchFamily="49" charset="0"/>
              </a:rPr>
              <a:t>[ ]</a:t>
            </a:r>
            <a:r>
              <a:rPr lang="zh-CN" altLang="en-US" b="0" dirty="0">
                <a:solidFill>
                  <a:srgbClr val="FF0000"/>
                </a:solidFill>
                <a:effectLst/>
                <a:latin typeface="Consolas" panose="020B0609020204030204" pitchFamily="49" charset="0"/>
              </a:rPr>
              <a:t>内必须有冒号</a:t>
            </a:r>
            <a:r>
              <a:rPr lang="zh-CN" altLang="en-US" b="0" dirty="0">
                <a:solidFill>
                  <a:srgbClr val="24292E"/>
                </a:solidFill>
                <a:effectLst/>
                <a:latin typeface="Consolas" panose="020B0609020204030204" pitchFamily="49" charset="0"/>
              </a:rPr>
              <a:t>。冒号前后可以是行索引序号或行索引名称，也可以省略，但切片范围有所区别。例如：</a:t>
            </a:r>
            <a:endParaRPr lang="zh-CN" altLang="en-US" dirty="0"/>
          </a:p>
        </p:txBody>
      </p:sp>
      <p:sp>
        <p:nvSpPr>
          <p:cNvPr id="9" name="文本框 8"/>
          <p:cNvSpPr txBox="1"/>
          <p:nvPr/>
        </p:nvSpPr>
        <p:spPr>
          <a:xfrm>
            <a:off x="1346200" y="2697608"/>
            <a:ext cx="609460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取前 </a:t>
            </a:r>
            <a:r>
              <a:rPr lang="en-US" altLang="zh-CN" b="0" dirty="0">
                <a:solidFill>
                  <a:srgbClr val="6A737D"/>
                </a:solidFill>
                <a:effectLst/>
                <a:latin typeface="Consolas" panose="020B0609020204030204" pitchFamily="49" charset="0"/>
              </a:rPr>
              <a:t>3 </a:t>
            </a:r>
            <a:r>
              <a:rPr lang="zh-CN" altLang="en-US" b="0" dirty="0">
                <a:solidFill>
                  <a:srgbClr val="6A737D"/>
                </a:solidFill>
                <a:effectLst/>
                <a:latin typeface="Consolas" panose="020B0609020204030204" pitchFamily="49" charset="0"/>
              </a:rPr>
              <a:t>行数据，也可以写成 </a:t>
            </a:r>
            <a:r>
              <a:rPr lang="en-US" altLang="zh-CN" b="0" dirty="0" err="1">
                <a:solidFill>
                  <a:srgbClr val="6A737D"/>
                </a:solidFill>
                <a:effectLst/>
                <a:latin typeface="Consolas" panose="020B0609020204030204" pitchFamily="49" charset="0"/>
              </a:rPr>
              <a:t>df</a:t>
            </a:r>
            <a:r>
              <a:rPr lang="en-US" altLang="zh-CN" b="0" dirty="0">
                <a:solidFill>
                  <a:srgbClr val="6A737D"/>
                </a:solidFill>
                <a:effectLst/>
                <a:latin typeface="Consolas" panose="020B0609020204030204" pitchFamily="49" charset="0"/>
              </a:rPr>
              <a:t>[:3]</a:t>
            </a:r>
            <a:endParaRPr lang="zh-CN" altLang="en-US" b="0" dirty="0">
              <a:solidFill>
                <a:srgbClr val="24292E"/>
              </a:solidFill>
              <a:effectLst/>
              <a:latin typeface="Consolas" panose="020B0609020204030204" pitchFamily="49" charset="0"/>
            </a:endParaRPr>
          </a:p>
        </p:txBody>
      </p:sp>
      <p:pic>
        <p:nvPicPr>
          <p:cNvPr id="11" name="图片 10"/>
          <p:cNvPicPr>
            <a:picLocks noChangeAspect="1"/>
          </p:cNvPicPr>
          <p:nvPr/>
        </p:nvPicPr>
        <p:blipFill>
          <a:blip r:embed="rId1"/>
          <a:stretch>
            <a:fillRect/>
          </a:stretch>
        </p:blipFill>
        <p:spPr>
          <a:xfrm>
            <a:off x="1800852" y="3123089"/>
            <a:ext cx="2787926" cy="1429705"/>
          </a:xfrm>
          <a:prstGeom prst="rect">
            <a:avLst/>
          </a:prstGeom>
        </p:spPr>
      </p:pic>
      <p:sp>
        <p:nvSpPr>
          <p:cNvPr id="14" name="文本框 13"/>
          <p:cNvSpPr txBox="1"/>
          <p:nvPr/>
        </p:nvSpPr>
        <p:spPr>
          <a:xfrm>
            <a:off x="1346200" y="4680323"/>
            <a:ext cx="1044033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取两个索引之间的各行数据，注意含最后一个索引行</a:t>
            </a:r>
            <a:endParaRPr lang="zh-CN" altLang="en-US" b="0" dirty="0">
              <a:solidFill>
                <a:srgbClr val="24292E"/>
              </a:solidFill>
              <a:effectLst/>
              <a:latin typeface="Consolas" panose="020B0609020204030204" pitchFamily="49" charset="0"/>
            </a:endParaRPr>
          </a:p>
        </p:txBody>
      </p:sp>
      <p:pic>
        <p:nvPicPr>
          <p:cNvPr id="17" name="图片 16"/>
          <p:cNvPicPr>
            <a:picLocks noChangeAspect="1"/>
          </p:cNvPicPr>
          <p:nvPr/>
        </p:nvPicPr>
        <p:blipFill>
          <a:blip r:embed="rId2"/>
          <a:stretch>
            <a:fillRect/>
          </a:stretch>
        </p:blipFill>
        <p:spPr>
          <a:xfrm>
            <a:off x="1800852" y="5049655"/>
            <a:ext cx="2787926" cy="1725395"/>
          </a:xfrm>
          <a:prstGeom prst="rect">
            <a:avLst/>
          </a:prstGeom>
        </p:spPr>
      </p:pic>
    </p:spTree>
    <p:custDataLst>
      <p:tags r:id="rId3"/>
    </p:custData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）按行进行布尔索引</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33274" y="1994140"/>
            <a:ext cx="10953926"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布尔索引用于筛选出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中满足相应条件的若干行。例如：</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1346200" y="2452309"/>
            <a:ext cx="609460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&gt;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筛选出 </a:t>
            </a:r>
            <a:r>
              <a:rPr lang="en-US" altLang="zh-CN" b="0" dirty="0">
                <a:solidFill>
                  <a:srgbClr val="6A737D"/>
                </a:solidFill>
                <a:effectLst/>
                <a:latin typeface="Consolas" panose="020B0609020204030204" pitchFamily="49" charset="0"/>
              </a:rPr>
              <a:t>B </a:t>
            </a:r>
            <a:r>
              <a:rPr lang="zh-CN" altLang="en-US" b="0" dirty="0">
                <a:solidFill>
                  <a:srgbClr val="6A737D"/>
                </a:solidFill>
                <a:effectLst/>
                <a:latin typeface="Consolas" panose="020B0609020204030204" pitchFamily="49" charset="0"/>
              </a:rPr>
              <a:t>列中值</a:t>
            </a:r>
            <a:r>
              <a:rPr lang="en-US" altLang="zh-CN" b="0" dirty="0">
                <a:solidFill>
                  <a:srgbClr val="6A737D"/>
                </a:solidFill>
                <a:effectLst/>
                <a:latin typeface="Consolas" panose="020B0609020204030204" pitchFamily="49" charset="0"/>
              </a:rPr>
              <a:t>&gt;10 </a:t>
            </a:r>
            <a:r>
              <a:rPr lang="zh-CN" altLang="en-US" b="0" dirty="0">
                <a:solidFill>
                  <a:srgbClr val="6A737D"/>
                </a:solidFill>
                <a:effectLst/>
                <a:latin typeface="Consolas" panose="020B0609020204030204" pitchFamily="49" charset="0"/>
              </a:rPr>
              <a:t>的元素所在的行</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346200" y="4335945"/>
            <a:ext cx="1044033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df.B.isin</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筛选出 </a:t>
            </a:r>
            <a:r>
              <a:rPr lang="en-US" altLang="zh-CN" b="0" dirty="0">
                <a:solidFill>
                  <a:srgbClr val="6A737D"/>
                </a:solidFill>
                <a:effectLst/>
                <a:latin typeface="Consolas" panose="020B0609020204030204" pitchFamily="49" charset="0"/>
              </a:rPr>
              <a:t>B </a:t>
            </a:r>
            <a:r>
              <a:rPr lang="zh-CN" altLang="en-US" b="0" dirty="0">
                <a:solidFill>
                  <a:srgbClr val="6A737D"/>
                </a:solidFill>
                <a:effectLst/>
                <a:latin typeface="Consolas" panose="020B0609020204030204" pitchFamily="49" charset="0"/>
              </a:rPr>
              <a:t>列中值在给定列表中的元素所在的行</a:t>
            </a:r>
            <a:endParaRPr lang="zh-CN" altLang="en-US"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1800851" y="2881791"/>
            <a:ext cx="2847327" cy="1394004"/>
          </a:xfrm>
          <a:prstGeom prst="rect">
            <a:avLst/>
          </a:prstGeom>
        </p:spPr>
      </p:pic>
      <p:pic>
        <p:nvPicPr>
          <p:cNvPr id="8" name="图片 7"/>
          <p:cNvPicPr>
            <a:picLocks noChangeAspect="1"/>
          </p:cNvPicPr>
          <p:nvPr/>
        </p:nvPicPr>
        <p:blipFill>
          <a:blip r:embed="rId2"/>
          <a:stretch>
            <a:fillRect/>
          </a:stretch>
        </p:blipFill>
        <p:spPr>
          <a:xfrm>
            <a:off x="1800851" y="4794114"/>
            <a:ext cx="2844998" cy="1153680"/>
          </a:xfrm>
          <a:prstGeom prst="rect">
            <a:avLst/>
          </a:prstGeom>
        </p:spPr>
      </p:pic>
    </p:spTree>
    <p:custDataLst>
      <p:tags r:id="rId3"/>
    </p:custData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）按行进行布尔索引</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117832" y="2109368"/>
            <a:ext cx="9225793"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[df</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对所有元素筛选，保留所有为偶数的元素，不满足条件的元素置为 </a:t>
            </a:r>
            <a:r>
              <a:rPr lang="en-US" altLang="zh-CN" b="0" dirty="0">
                <a:solidFill>
                  <a:srgbClr val="6A737D"/>
                </a:solidFill>
                <a:effectLst/>
                <a:latin typeface="Consolas" panose="020B0609020204030204" pitchFamily="49" charset="0"/>
              </a:rPr>
              <a:t>Nan</a:t>
            </a:r>
            <a:endParaRPr lang="zh-CN" altLang="en-US" b="0" dirty="0">
              <a:solidFill>
                <a:srgbClr val="24292E"/>
              </a:solidFill>
              <a:effectLst/>
              <a:latin typeface="Consolas" panose="020B0609020204030204" pitchFamily="49" charset="0"/>
            </a:endParaRPr>
          </a:p>
        </p:txBody>
      </p:sp>
      <p:pic>
        <p:nvPicPr>
          <p:cNvPr id="11" name="图片 10"/>
          <p:cNvPicPr>
            <a:picLocks noChangeAspect="1"/>
          </p:cNvPicPr>
          <p:nvPr/>
        </p:nvPicPr>
        <p:blipFill>
          <a:blip r:embed="rId1"/>
          <a:stretch>
            <a:fillRect/>
          </a:stretch>
        </p:blipFill>
        <p:spPr>
          <a:xfrm>
            <a:off x="1410503" y="2663366"/>
            <a:ext cx="3371222" cy="2709780"/>
          </a:xfrm>
          <a:prstGeom prst="rect">
            <a:avLst/>
          </a:prstGeom>
        </p:spPr>
      </p:pic>
    </p:spTree>
    <p:custDataLst>
      <p:tags r:id="rId2"/>
    </p:custData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）任意切片</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33274" y="1994140"/>
            <a:ext cx="10953926"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使用 </a:t>
            </a:r>
            <a:r>
              <a:rPr lang="en-US" altLang="zh-CN" b="0" dirty="0">
                <a:solidFill>
                  <a:srgbClr val="24292E"/>
                </a:solidFill>
                <a:effectLst/>
                <a:latin typeface="Consolas" panose="020B0609020204030204" pitchFamily="49" charset="0"/>
              </a:rPr>
              <a:t>loc </a:t>
            </a:r>
            <a:r>
              <a:rPr lang="zh-CN" altLang="en-US" b="0" dirty="0">
                <a:solidFill>
                  <a:srgbClr val="24292E"/>
                </a:solidFill>
                <a:effectLst/>
                <a:latin typeface="Consolas" panose="020B0609020204030204" pitchFamily="49" charset="0"/>
              </a:rPr>
              <a:t>对象或 </a:t>
            </a:r>
            <a:r>
              <a:rPr lang="en-US" altLang="zh-CN" b="0" dirty="0" err="1">
                <a:solidFill>
                  <a:srgbClr val="24292E"/>
                </a:solidFill>
                <a:effectLst/>
                <a:latin typeface="Consolas" panose="020B0609020204030204" pitchFamily="49" charset="0"/>
              </a:rPr>
              <a:t>iloc</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可同时对行和列进行任意切片，此时</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内必须有逗号，逗号前的参数表示对行的切片，逗号后的参数表示对类的切片。若参数为冒号，所以选择所有的行或列。 例如：</a:t>
            </a:r>
            <a:endParaRPr lang="zh-CN" altLang="en-US" b="0" dirty="0">
              <a:solidFill>
                <a:srgbClr val="24292E"/>
              </a:solidFill>
              <a:effectLst/>
              <a:latin typeface="Consolas" panose="020B0609020204030204" pitchFamily="49" charset="0"/>
            </a:endParaRPr>
          </a:p>
        </p:txBody>
      </p:sp>
      <p:sp>
        <p:nvSpPr>
          <p:cNvPr id="20" name="文本框 19"/>
          <p:cNvSpPr txBox="1"/>
          <p:nvPr/>
        </p:nvSpPr>
        <p:spPr>
          <a:xfrm>
            <a:off x="1346200" y="2675667"/>
            <a:ext cx="609460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22" name="图片 21"/>
          <p:cNvPicPr>
            <a:picLocks noChangeAspect="1"/>
          </p:cNvPicPr>
          <p:nvPr/>
        </p:nvPicPr>
        <p:blipFill>
          <a:blip r:embed="rId1"/>
          <a:stretch>
            <a:fillRect/>
          </a:stretch>
        </p:blipFill>
        <p:spPr>
          <a:xfrm>
            <a:off x="1648783" y="3134472"/>
            <a:ext cx="2030064" cy="2517677"/>
          </a:xfrm>
          <a:prstGeom prst="rect">
            <a:avLst/>
          </a:prstGeom>
        </p:spPr>
      </p:pic>
      <p:sp>
        <p:nvSpPr>
          <p:cNvPr id="24" name="文本框 23"/>
          <p:cNvSpPr txBox="1"/>
          <p:nvPr/>
        </p:nvSpPr>
        <p:spPr>
          <a:xfrm>
            <a:off x="5104701" y="2651406"/>
            <a:ext cx="609460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"20130104"</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26" name="图片 25"/>
          <p:cNvPicPr>
            <a:picLocks noChangeAspect="1"/>
          </p:cNvPicPr>
          <p:nvPr/>
        </p:nvPicPr>
        <p:blipFill>
          <a:blip r:embed="rId2"/>
          <a:stretch>
            <a:fillRect/>
          </a:stretch>
        </p:blipFill>
        <p:spPr>
          <a:xfrm>
            <a:off x="6518592" y="3336721"/>
            <a:ext cx="2392325" cy="1674627"/>
          </a:xfrm>
          <a:prstGeom prst="rect">
            <a:avLst/>
          </a:prstGeom>
        </p:spPr>
      </p:pic>
    </p:spTree>
    <p:custDataLst>
      <p:tags r:id="rId3"/>
    </p:custData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2.4.2 </a:t>
            </a:r>
            <a:r>
              <a:rPr lang="zh-CN" altLang="en-US" sz="1800" dirty="0">
                <a:solidFill>
                  <a:srgbClr val="577CCE"/>
                </a:solidFill>
                <a:latin typeface="+mn-ea"/>
              </a:rPr>
              <a:t>索引与切片</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）任意切片</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143001" y="2005110"/>
            <a:ext cx="7690606"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注意返回的是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1346200" y="2449294"/>
            <a:ext cx="4721345" cy="979705"/>
          </a:xfrm>
          <a:prstGeom prst="rect">
            <a:avLst/>
          </a:prstGeom>
        </p:spPr>
      </p:pic>
      <p:sp>
        <p:nvSpPr>
          <p:cNvPr id="10" name="文本框 9"/>
          <p:cNvSpPr txBox="1"/>
          <p:nvPr/>
        </p:nvSpPr>
        <p:spPr>
          <a:xfrm>
            <a:off x="1143001" y="3605173"/>
            <a:ext cx="9175458"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需要获取到某一位置的标量值时，同样可以使用 </a:t>
            </a:r>
            <a:r>
              <a:rPr lang="en-US" altLang="zh-CN" b="0" dirty="0">
                <a:solidFill>
                  <a:srgbClr val="24292E"/>
                </a:solidFill>
                <a:effectLst/>
                <a:latin typeface="Consolas" panose="020B0609020204030204" pitchFamily="49" charset="0"/>
              </a:rPr>
              <a:t>loc </a:t>
            </a:r>
            <a:r>
              <a:rPr lang="zh-CN" altLang="en-US" b="0" dirty="0">
                <a:solidFill>
                  <a:srgbClr val="24292E"/>
                </a:solidFill>
                <a:effectLst/>
                <a:latin typeface="Consolas" panose="020B0609020204030204" pitchFamily="49" charset="0"/>
              </a:rPr>
              <a:t>属性来进行选择，还可以使用更快 的 </a:t>
            </a:r>
            <a:r>
              <a:rPr lang="en-US" altLang="zh-CN" b="0" dirty="0">
                <a:solidFill>
                  <a:srgbClr val="24292E"/>
                </a:solidFill>
                <a:effectLst/>
                <a:latin typeface="Consolas" panose="020B0609020204030204" pitchFamily="49" charset="0"/>
              </a:rPr>
              <a:t>at </a:t>
            </a:r>
            <a:r>
              <a:rPr lang="zh-CN" altLang="en-US" b="0" dirty="0">
                <a:solidFill>
                  <a:srgbClr val="24292E"/>
                </a:solidFill>
                <a:effectLst/>
                <a:latin typeface="Consolas" panose="020B0609020204030204" pitchFamily="49" charset="0"/>
              </a:rPr>
              <a:t>属性来进行选择，两者的效果相同。</a:t>
            </a:r>
            <a:endParaRPr lang="zh-CN" altLang="en-US" b="0" dirty="0">
              <a:solidFill>
                <a:srgbClr val="24292E"/>
              </a:solidFill>
              <a:effectLst/>
              <a:latin typeface="Consolas" panose="020B0609020204030204" pitchFamily="49" charset="0"/>
            </a:endParaRPr>
          </a:p>
        </p:txBody>
      </p:sp>
      <p:sp>
        <p:nvSpPr>
          <p:cNvPr id="12" name="文本框 11"/>
          <p:cNvSpPr txBox="1"/>
          <p:nvPr/>
        </p:nvSpPr>
        <p:spPr>
          <a:xfrm>
            <a:off x="1346200" y="4290398"/>
            <a:ext cx="6094602" cy="1200329"/>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df.loc</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注意返回的是元素值</a:t>
            </a:r>
            <a:endParaRPr lang="en-US" altLang="zh-CN" b="0" dirty="0">
              <a:solidFill>
                <a:srgbClr val="6A737D"/>
              </a:solidFill>
              <a:effectLst/>
              <a:latin typeface="Consolas" panose="020B0609020204030204" pitchFamily="49" charset="0"/>
            </a:endParaRPr>
          </a:p>
          <a:p>
            <a:r>
              <a:rPr lang="en-US" altLang="zh-CN" dirty="0">
                <a:solidFill>
                  <a:srgbClr val="6A737D"/>
                </a:solidFill>
                <a:latin typeface="Consolas" panose="020B0609020204030204" pitchFamily="49" charset="0"/>
              </a:rPr>
              <a:t># 4</a:t>
            </a:r>
            <a:endParaRPr lang="en-US" altLang="zh-CN" dirty="0">
              <a:solidFill>
                <a:srgbClr val="6A737D"/>
              </a:solidFill>
              <a:latin typeface="Consolas" panose="020B0609020204030204" pitchFamily="49" charset="0"/>
            </a:endParaRPr>
          </a:p>
          <a:p>
            <a:r>
              <a:rPr lang="en-US" altLang="zh-CN" b="0" dirty="0">
                <a:solidFill>
                  <a:srgbClr val="24292E"/>
                </a:solidFill>
                <a:effectLst/>
                <a:latin typeface="Consolas" panose="020B0609020204030204" pitchFamily="49" charset="0"/>
              </a:rPr>
              <a:t>df.at[</a:t>
            </a:r>
            <a:r>
              <a:rPr lang="en-US" altLang="zh-CN" b="0" dirty="0">
                <a:solidFill>
                  <a:srgbClr val="032F62"/>
                </a:solidFill>
                <a:effectLst/>
                <a:latin typeface="Consolas" panose="020B0609020204030204" pitchFamily="49" charset="0"/>
              </a:rPr>
              <a:t>"20130102"</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4</a:t>
            </a:r>
            <a:endParaRPr lang="zh-CN" altLang="en-US" b="0" dirty="0">
              <a:solidFill>
                <a:srgbClr val="24292E"/>
              </a:solidFill>
              <a:effectLst/>
              <a:latin typeface="Consolas" panose="020B0609020204030204" pitchFamily="49" charset="0"/>
            </a:endParaRPr>
          </a:p>
        </p:txBody>
      </p:sp>
      <p:sp>
        <p:nvSpPr>
          <p:cNvPr id="13" name="文本框 12"/>
          <p:cNvSpPr txBox="1"/>
          <p:nvPr/>
        </p:nvSpPr>
        <p:spPr>
          <a:xfrm>
            <a:off x="1143001" y="5574567"/>
            <a:ext cx="9175458" cy="369332"/>
          </a:xfrm>
          <a:prstGeom prst="rect">
            <a:avLst/>
          </a:prstGeom>
          <a:noFill/>
        </p:spPr>
        <p:txBody>
          <a:bodyPr wrap="square">
            <a:spAutoFit/>
          </a:bodyPr>
          <a:lstStyle/>
          <a:p>
            <a:r>
              <a:rPr lang="en-US" altLang="zh-CN" dirty="0" err="1">
                <a:solidFill>
                  <a:srgbClr val="24292E"/>
                </a:solidFill>
                <a:latin typeface="Consolas" panose="020B0609020204030204" pitchFamily="49" charset="0"/>
              </a:rPr>
              <a:t>i</a:t>
            </a:r>
            <a:r>
              <a:rPr lang="en-US" altLang="zh-CN" b="0" dirty="0" err="1">
                <a:solidFill>
                  <a:srgbClr val="24292E"/>
                </a:solidFill>
                <a:effectLst/>
                <a:latin typeface="Consolas" panose="020B0609020204030204" pitchFamily="49" charset="0"/>
              </a:rPr>
              <a:t>loc</a:t>
            </a:r>
            <a:r>
              <a:rPr lang="zh-CN" altLang="en-US" b="0" dirty="0">
                <a:solidFill>
                  <a:srgbClr val="24292E"/>
                </a:solidFill>
                <a:effectLst/>
                <a:latin typeface="Consolas" panose="020B0609020204030204" pitchFamily="49" charset="0"/>
              </a:rPr>
              <a:t>使用方法同上。获取某一位置的标量值时，也可以使用 </a:t>
            </a:r>
            <a:r>
              <a:rPr lang="en-US" altLang="zh-CN" b="0" dirty="0" err="1">
                <a:solidFill>
                  <a:srgbClr val="24292E"/>
                </a:solidFill>
                <a:effectLst/>
                <a:latin typeface="Consolas" panose="020B0609020204030204" pitchFamily="49" charset="0"/>
              </a:rPr>
              <a:t>iat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属性</a:t>
            </a:r>
            <a:endParaRPr lang="zh-CN" altLang="en-US" b="0" dirty="0">
              <a:solidFill>
                <a:srgbClr val="24292E"/>
              </a:solidFill>
              <a:effectLst/>
              <a:latin typeface="Consolas" panose="020B0609020204030204" pitchFamily="49" charset="0"/>
            </a:endParaRPr>
          </a:p>
        </p:txBody>
      </p:sp>
      <p:sp>
        <p:nvSpPr>
          <p:cNvPr id="15" name="文本框 14"/>
          <p:cNvSpPr txBox="1"/>
          <p:nvPr/>
        </p:nvSpPr>
        <p:spPr>
          <a:xfrm>
            <a:off x="1346200" y="6019124"/>
            <a:ext cx="6094602"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df.iat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dirty="0">
                <a:solidFill>
                  <a:srgbClr val="24292E"/>
                </a:solidFill>
                <a:latin typeface="Consolas" panose="020B0609020204030204" pitchFamily="49" charset="0"/>
              </a:rPr>
              <a:t># 5</a:t>
            </a:r>
            <a:endParaRPr lang="en-US" altLang="zh-CN" b="0" dirty="0">
              <a:solidFill>
                <a:srgbClr val="24292E"/>
              </a:solidFill>
              <a:effectLst/>
              <a:latin typeface="Consolas" panose="020B0609020204030204" pitchFamily="49" charset="0"/>
            </a:endParaRPr>
          </a:p>
        </p:txBody>
      </p:sp>
    </p:spTree>
    <p:custDataLst>
      <p:tags r:id="rId2"/>
    </p:custData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）索引更改</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77664" y="1958944"/>
            <a:ext cx="10907792"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Pandas </a:t>
            </a:r>
            <a:r>
              <a:rPr lang="zh-CN" altLang="en-US" b="0" dirty="0">
                <a:solidFill>
                  <a:srgbClr val="24292E"/>
                </a:solidFill>
                <a:effectLst/>
                <a:latin typeface="Consolas" panose="020B0609020204030204" pitchFamily="49" charset="0"/>
              </a:rPr>
              <a:t>允许更改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对象的行索引或列索引。例如：</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6096000" y="360362"/>
            <a:ext cx="5900485"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np.arange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24</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#6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列，行索引从 </a:t>
            </a:r>
            <a:r>
              <a:rPr lang="en-US" altLang="zh-CN" b="0" dirty="0">
                <a:solidFill>
                  <a:srgbClr val="6A737D"/>
                </a:solidFill>
                <a:effectLst/>
                <a:latin typeface="Consolas" panose="020B0609020204030204" pitchFamily="49" charset="0"/>
              </a:rPr>
              <a:t>0 </a:t>
            </a:r>
            <a:r>
              <a:rPr lang="zh-CN" altLang="en-US" b="0" dirty="0">
                <a:solidFill>
                  <a:srgbClr val="6A737D"/>
                </a:solidFill>
                <a:effectLst/>
                <a:latin typeface="Consolas" panose="020B0609020204030204" pitchFamily="49" charset="0"/>
              </a:rPr>
              <a:t>到 </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，列索引从 </a:t>
            </a:r>
            <a:r>
              <a:rPr lang="en-US" altLang="zh-CN" b="0" dirty="0">
                <a:solidFill>
                  <a:srgbClr val="6A737D"/>
                </a:solidFill>
                <a:effectLst/>
                <a:latin typeface="Consolas" panose="020B0609020204030204" pitchFamily="49" charset="0"/>
              </a:rPr>
              <a:t>0 </a:t>
            </a:r>
            <a:r>
              <a:rPr lang="zh-CN" altLang="en-US" b="0" dirty="0">
                <a:solidFill>
                  <a:srgbClr val="6A737D"/>
                </a:solidFill>
                <a:effectLst/>
                <a:latin typeface="Consolas" panose="020B0609020204030204" pitchFamily="49" charset="0"/>
              </a:rPr>
              <a:t>到 </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8855847" y="1089561"/>
            <a:ext cx="2470110" cy="3184813"/>
          </a:xfrm>
          <a:prstGeom prst="rect">
            <a:avLst/>
          </a:prstGeom>
        </p:spPr>
      </p:pic>
      <p:sp>
        <p:nvSpPr>
          <p:cNvPr id="11" name="文本框 10"/>
          <p:cNvSpPr txBox="1"/>
          <p:nvPr/>
        </p:nvSpPr>
        <p:spPr>
          <a:xfrm>
            <a:off x="1346200" y="2326179"/>
            <a:ext cx="6094602"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pd.date_range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"20130101"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periods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df.index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dates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修改行索引</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2"/>
          <a:stretch>
            <a:fillRect/>
          </a:stretch>
        </p:blipFill>
        <p:spPr>
          <a:xfrm>
            <a:off x="4998606" y="2735608"/>
            <a:ext cx="2442195" cy="2182386"/>
          </a:xfrm>
          <a:prstGeom prst="rect">
            <a:avLst/>
          </a:prstGeom>
        </p:spPr>
      </p:pic>
      <p:sp>
        <p:nvSpPr>
          <p:cNvPr id="15" name="文本框 14"/>
          <p:cNvSpPr txBox="1"/>
          <p:nvPr/>
        </p:nvSpPr>
        <p:spPr>
          <a:xfrm>
            <a:off x="1346200" y="4958355"/>
            <a:ext cx="6094602"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df.columns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"ABCD"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修改列索引，变为从</a:t>
            </a:r>
            <a:r>
              <a:rPr lang="en-US" altLang="zh-CN" b="0" dirty="0">
                <a:solidFill>
                  <a:srgbClr val="6A737D"/>
                </a:solidFill>
                <a:effectLst/>
                <a:latin typeface="Consolas" panose="020B0609020204030204" pitchFamily="49" charset="0"/>
              </a:rPr>
              <a:t>"A"</a:t>
            </a:r>
            <a:r>
              <a:rPr lang="zh-CN" altLang="en-US" b="0" dirty="0">
                <a:solidFill>
                  <a:srgbClr val="6A737D"/>
                </a:solidFill>
                <a:effectLst/>
                <a:latin typeface="Consolas" panose="020B0609020204030204" pitchFamily="49" charset="0"/>
              </a:rPr>
              <a:t>到</a:t>
            </a:r>
            <a:r>
              <a:rPr lang="en-US" altLang="zh-CN" b="0" dirty="0">
                <a:solidFill>
                  <a:srgbClr val="6A737D"/>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17" name="图片 16"/>
          <p:cNvPicPr>
            <a:picLocks noChangeAspect="1"/>
          </p:cNvPicPr>
          <p:nvPr/>
        </p:nvPicPr>
        <p:blipFill>
          <a:blip r:embed="rId3"/>
          <a:stretch>
            <a:fillRect/>
          </a:stretch>
        </p:blipFill>
        <p:spPr>
          <a:xfrm>
            <a:off x="4998605" y="5325326"/>
            <a:ext cx="2442195" cy="1477705"/>
          </a:xfrm>
          <a:prstGeom prst="rect">
            <a:avLst/>
          </a:prstGeom>
        </p:spPr>
      </p:pic>
    </p:spTree>
    <p:custDataLst>
      <p:tags r:id="rId4"/>
    </p:custData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）索引更改</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77664" y="1958944"/>
            <a:ext cx="10907792"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可以使用 </a:t>
            </a:r>
            <a:r>
              <a:rPr lang="en-US" altLang="zh-CN" b="0" dirty="0">
                <a:solidFill>
                  <a:srgbClr val="24292E"/>
                </a:solidFill>
                <a:effectLst/>
                <a:latin typeface="Consolas" panose="020B0609020204030204" pitchFamily="49" charset="0"/>
              </a:rPr>
              <a:t>reindex </a:t>
            </a:r>
            <a:r>
              <a:rPr lang="zh-CN" altLang="en-US" b="0" dirty="0">
                <a:solidFill>
                  <a:srgbClr val="24292E"/>
                </a:solidFill>
                <a:effectLst/>
                <a:latin typeface="Consolas" panose="020B0609020204030204" pitchFamily="49" charset="0"/>
              </a:rPr>
              <a:t>函数，对索引进行扩充或删除，生成新的对象，原对象未改变。需要注意的是，</a:t>
            </a:r>
            <a:r>
              <a:rPr lang="zh-CN" altLang="en-US" b="0" dirty="0">
                <a:solidFill>
                  <a:srgbClr val="FF0000"/>
                </a:solidFill>
                <a:effectLst/>
                <a:latin typeface="Consolas" panose="020B0609020204030204" pitchFamily="49" charset="0"/>
              </a:rPr>
              <a:t>新增索引对应的行或列的数据是缺失的</a:t>
            </a:r>
            <a:r>
              <a:rPr lang="zh-CN" altLang="en-US" b="0" dirty="0">
                <a:solidFill>
                  <a:srgbClr val="24292E"/>
                </a:solidFill>
                <a:effectLst/>
                <a:latin typeface="Consolas" panose="020B0609020204030204" pitchFamily="49" charset="0"/>
              </a:rPr>
              <a:t>，此时使用 </a:t>
            </a:r>
            <a:r>
              <a:rPr lang="en-US" altLang="zh-CN" b="0" dirty="0" err="1">
                <a:solidFill>
                  <a:srgbClr val="24292E"/>
                </a:solidFill>
                <a:effectLst/>
                <a:latin typeface="Consolas" panose="020B0609020204030204" pitchFamily="49" charset="0"/>
              </a:rPr>
              <a:t>NaN</a:t>
            </a:r>
            <a:r>
              <a:rPr lang="zh-CN" altLang="en-US" b="0" dirty="0">
                <a:solidFill>
                  <a:srgbClr val="24292E"/>
                </a:solidFill>
                <a:effectLst/>
                <a:latin typeface="Consolas" panose="020B0609020204030204" pitchFamily="49" charset="0"/>
              </a:rPr>
              <a:t>（即 </a:t>
            </a:r>
            <a:r>
              <a:rPr lang="en-US" altLang="zh-CN" b="0" dirty="0" err="1">
                <a:solidFill>
                  <a:srgbClr val="24292E"/>
                </a:solidFill>
                <a:effectLst/>
                <a:latin typeface="Consolas" panose="020B0609020204030204" pitchFamily="49" charset="0"/>
              </a:rPr>
              <a:t>np.nan</a:t>
            </a:r>
            <a:r>
              <a:rPr lang="zh-CN" altLang="en-US" b="0" dirty="0">
                <a:solidFill>
                  <a:srgbClr val="24292E"/>
                </a:solidFill>
                <a:effectLst/>
                <a:latin typeface="Consolas" panose="020B0609020204030204" pitchFamily="49" charset="0"/>
              </a:rPr>
              <a:t>）来表示。</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346200" y="2663366"/>
            <a:ext cx="8645088"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df.reindex</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index</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df.index</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columns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df.columns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df1 </a:t>
            </a:r>
            <a:r>
              <a:rPr lang="en-US" altLang="zh-CN" b="0" dirty="0">
                <a:solidFill>
                  <a:srgbClr val="6A737D"/>
                </a:solidFill>
                <a:effectLst/>
                <a:latin typeface="Consolas" panose="020B0609020204030204" pitchFamily="49" charset="0"/>
              </a:rPr>
              <a:t>#6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5 </a:t>
            </a:r>
            <a:r>
              <a:rPr lang="zh-CN" altLang="en-US" b="0" dirty="0">
                <a:solidFill>
                  <a:srgbClr val="6A737D"/>
                </a:solidFill>
                <a:effectLst/>
                <a:latin typeface="Consolas" panose="020B0609020204030204" pitchFamily="49" charset="0"/>
              </a:rPr>
              <a:t>列，行索引未变，增加了一列，对应列索引为</a:t>
            </a:r>
            <a:r>
              <a:rPr lang="en-US" altLang="zh-CN" b="0" dirty="0">
                <a:solidFill>
                  <a:srgbClr val="6A737D"/>
                </a:solidFill>
                <a:effectLst/>
                <a:latin typeface="Consolas" panose="020B0609020204030204" pitchFamily="49" charset="0"/>
              </a:rPr>
              <a:t>"E"</a:t>
            </a:r>
            <a:r>
              <a:rPr lang="zh-CN" altLang="en-US" b="0" dirty="0">
                <a:solidFill>
                  <a:srgbClr val="6A737D"/>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1457090" y="3468847"/>
            <a:ext cx="3911747" cy="2873229"/>
          </a:xfrm>
          <a:prstGeom prst="rect">
            <a:avLst/>
          </a:prstGeom>
        </p:spPr>
      </p:pic>
    </p:spTree>
    <p:custDataLst>
      <p:tags r:id="rId2"/>
    </p:custDataLst>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）缺失数据的处理</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77664" y="1958944"/>
            <a:ext cx="10907792"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默认情况下，缺失数据并不参与计算。我们可以将具有缺失数据的任何行或列进行删除， 或将缺失数据填充为某个值。例如：</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346200" y="2663366"/>
            <a:ext cx="10020884"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df1.iloc[</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 </a:t>
            </a:r>
            <a:r>
              <a:rPr lang="en-US" altLang="zh-CN" b="0" dirty="0">
                <a:solidFill>
                  <a:srgbClr val="6A737D"/>
                </a:solidFill>
                <a:effectLst/>
                <a:latin typeface="Consolas" panose="020B0609020204030204" pitchFamily="49" charset="0"/>
              </a:rPr>
              <a:t># </a:t>
            </a:r>
            <a:r>
              <a:rPr lang="zh-CN" altLang="en-US" dirty="0">
                <a:solidFill>
                  <a:srgbClr val="6A737D"/>
                </a:solidFill>
                <a:latin typeface="Consolas" panose="020B0609020204030204" pitchFamily="49" charset="0"/>
              </a:rPr>
              <a:t>填补此行的空数据</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df1.dropna(</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how</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“any”</a:t>
            </a:r>
            <a:r>
              <a:rPr lang="en-US" altLang="zh-CN" b="0" dirty="0">
                <a:solidFill>
                  <a:srgbClr val="24292E"/>
                </a:solidFill>
                <a:effectLst/>
                <a:latin typeface="Consolas" panose="020B0609020204030204" pitchFamily="49" charset="0"/>
              </a:rPr>
              <a:t>)</a:t>
            </a:r>
            <a:endParaRPr lang="en-US" altLang="zh-CN" b="0" dirty="0">
              <a:solidFill>
                <a:srgbClr val="6A737D"/>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删除含有缺失数据的行，返回</a:t>
            </a:r>
            <a:r>
              <a:rPr lang="zh-CN" altLang="en-US" b="0" dirty="0">
                <a:solidFill>
                  <a:srgbClr val="FF0000"/>
                </a:solidFill>
                <a:effectLst/>
                <a:latin typeface="Consolas" panose="020B0609020204030204" pitchFamily="49" charset="0"/>
              </a:rPr>
              <a:t>新的对象</a:t>
            </a:r>
            <a:r>
              <a:rPr lang="zh-CN" altLang="en-US" b="0" dirty="0">
                <a:solidFill>
                  <a:srgbClr val="6A737D"/>
                </a:solidFill>
                <a:effectLst/>
                <a:latin typeface="Consolas" panose="020B0609020204030204" pitchFamily="49" charset="0"/>
              </a:rPr>
              <a:t>，</a:t>
            </a:r>
            <a:r>
              <a:rPr lang="zh-CN" altLang="en-US" b="0" dirty="0">
                <a:solidFill>
                  <a:srgbClr val="FF0000"/>
                </a:solidFill>
                <a:effectLst/>
                <a:latin typeface="Consolas" panose="020B0609020204030204" pitchFamily="49" charset="0"/>
              </a:rPr>
              <a:t>原对象未改变</a:t>
            </a:r>
            <a:r>
              <a:rPr lang="zh-CN" altLang="en-US" b="0" dirty="0">
                <a:solidFill>
                  <a:srgbClr val="6A737D"/>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axis </a:t>
            </a:r>
            <a:r>
              <a:rPr lang="zh-CN" altLang="en-US" b="0" dirty="0">
                <a:solidFill>
                  <a:srgbClr val="6A737D"/>
                </a:solidFill>
                <a:effectLst/>
                <a:latin typeface="Consolas" panose="020B0609020204030204" pitchFamily="49" charset="0"/>
              </a:rPr>
              <a:t>默认为 </a:t>
            </a:r>
            <a:r>
              <a:rPr lang="en-US" altLang="zh-CN" b="0" dirty="0">
                <a:solidFill>
                  <a:srgbClr val="6A737D"/>
                </a:solidFill>
                <a:effectLst/>
                <a:latin typeface="Consolas" panose="020B0609020204030204" pitchFamily="49" charset="0"/>
              </a:rPr>
              <a:t>0</a:t>
            </a:r>
            <a:r>
              <a:rPr lang="zh-CN" altLang="en-US" b="0" dirty="0">
                <a:solidFill>
                  <a:srgbClr val="6A737D"/>
                </a:solidFill>
                <a:effectLst/>
                <a:latin typeface="Consolas" panose="020B0609020204030204" pitchFamily="49" charset="0"/>
              </a:rPr>
              <a:t>，表示删除行，因此 </a:t>
            </a:r>
            <a:r>
              <a:rPr lang="en-US" altLang="zh-CN" b="0" dirty="0">
                <a:solidFill>
                  <a:srgbClr val="6A737D"/>
                </a:solidFill>
                <a:effectLst/>
                <a:latin typeface="Consolas" panose="020B0609020204030204" pitchFamily="49" charset="0"/>
              </a:rPr>
              <a:t>axis=0 </a:t>
            </a:r>
            <a:r>
              <a:rPr lang="zh-CN" altLang="en-US" b="0" dirty="0">
                <a:solidFill>
                  <a:srgbClr val="6A737D"/>
                </a:solidFill>
                <a:effectLst/>
                <a:latin typeface="Consolas" panose="020B0609020204030204" pitchFamily="49" charset="0"/>
              </a:rPr>
              <a:t>可省略，等价于 </a:t>
            </a:r>
            <a:r>
              <a:rPr lang="en-US" altLang="zh-CN" b="0" dirty="0">
                <a:solidFill>
                  <a:srgbClr val="6A737D"/>
                </a:solidFill>
                <a:effectLst/>
                <a:latin typeface="Consolas" panose="020B0609020204030204" pitchFamily="49" charset="0"/>
              </a:rPr>
              <a:t>df1.dropna(how="any")</a:t>
            </a:r>
            <a:endParaRPr lang="en-US" altLang="zh-CN" b="0" dirty="0">
              <a:solidFill>
                <a:srgbClr val="24292E"/>
              </a:solidFill>
              <a:effectLst/>
              <a:latin typeface="Consolas" panose="020B0609020204030204" pitchFamily="49" charset="0"/>
            </a:endParaRPr>
          </a:p>
        </p:txBody>
      </p:sp>
      <p:pic>
        <p:nvPicPr>
          <p:cNvPr id="16" name="图片 15"/>
          <p:cNvPicPr>
            <a:picLocks noChangeAspect="1"/>
          </p:cNvPicPr>
          <p:nvPr/>
        </p:nvPicPr>
        <p:blipFill>
          <a:blip r:embed="rId1"/>
          <a:stretch>
            <a:fillRect/>
          </a:stretch>
        </p:blipFill>
        <p:spPr>
          <a:xfrm>
            <a:off x="1618754" y="3978411"/>
            <a:ext cx="3867646" cy="833745"/>
          </a:xfrm>
          <a:prstGeom prst="rect">
            <a:avLst/>
          </a:prstGeom>
        </p:spPr>
      </p:pic>
      <p:sp>
        <p:nvSpPr>
          <p:cNvPr id="19" name="文本框 18"/>
          <p:cNvSpPr txBox="1"/>
          <p:nvPr/>
        </p:nvSpPr>
        <p:spPr>
          <a:xfrm>
            <a:off x="1346199" y="4991389"/>
            <a:ext cx="10146717"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df1.dropna(</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how</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"any"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删除含有缺失数据的列，</a:t>
            </a:r>
            <a:r>
              <a:rPr lang="en-US" altLang="zh-CN" b="0" dirty="0">
                <a:solidFill>
                  <a:srgbClr val="6A737D"/>
                </a:solidFill>
                <a:effectLst/>
                <a:latin typeface="Consolas" panose="020B0609020204030204" pitchFamily="49" charset="0"/>
              </a:rPr>
              <a:t>axis=1</a:t>
            </a:r>
            <a:r>
              <a:rPr lang="zh-CN" altLang="en-US" b="0" dirty="0">
                <a:solidFill>
                  <a:srgbClr val="6A737D"/>
                </a:solidFill>
                <a:effectLst/>
                <a:latin typeface="Consolas" panose="020B0609020204030204" pitchFamily="49" charset="0"/>
              </a:rPr>
              <a:t>，表示删除列</a:t>
            </a:r>
            <a:endParaRPr lang="zh-CN" altLang="en-US" b="0" dirty="0">
              <a:solidFill>
                <a:srgbClr val="24292E"/>
              </a:solidFill>
              <a:effectLst/>
              <a:latin typeface="Consolas" panose="020B0609020204030204" pitchFamily="49" charset="0"/>
            </a:endParaRPr>
          </a:p>
        </p:txBody>
      </p:sp>
      <p:pic>
        <p:nvPicPr>
          <p:cNvPr id="21" name="图片 20"/>
          <p:cNvPicPr>
            <a:picLocks noChangeAspect="1"/>
          </p:cNvPicPr>
          <p:nvPr/>
        </p:nvPicPr>
        <p:blipFill>
          <a:blip r:embed="rId2"/>
          <a:stretch>
            <a:fillRect/>
          </a:stretch>
        </p:blipFill>
        <p:spPr>
          <a:xfrm>
            <a:off x="6431559" y="5360721"/>
            <a:ext cx="3358608" cy="1200328"/>
          </a:xfrm>
          <a:prstGeom prst="rect">
            <a:avLst/>
          </a:prstGeom>
        </p:spPr>
      </p:pic>
      <p:pic>
        <p:nvPicPr>
          <p:cNvPr id="23" name="图片 22"/>
          <p:cNvPicPr>
            <a:picLocks noChangeAspect="1"/>
          </p:cNvPicPr>
          <p:nvPr/>
        </p:nvPicPr>
        <p:blipFill>
          <a:blip r:embed="rId3"/>
          <a:stretch>
            <a:fillRect/>
          </a:stretch>
        </p:blipFill>
        <p:spPr>
          <a:xfrm>
            <a:off x="1346199" y="5383541"/>
            <a:ext cx="2787066" cy="1200329"/>
          </a:xfrm>
          <a:prstGeom prst="rect">
            <a:avLst/>
          </a:prstGeom>
        </p:spPr>
      </p:pic>
      <p:sp>
        <p:nvSpPr>
          <p:cNvPr id="24" name="箭头: 右 23"/>
          <p:cNvSpPr/>
          <p:nvPr/>
        </p:nvSpPr>
        <p:spPr>
          <a:xfrm>
            <a:off x="4420998" y="5922628"/>
            <a:ext cx="1675002" cy="3271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4"/>
    </p:custDataLst>
  </p:cSld>
  <p:clrMapOvr>
    <a:masterClrMapping/>
  </p:clrMapOvr>
  <p:transition spd="slow">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）缺失数据的处理</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017164" y="1958944"/>
            <a:ext cx="9034327"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df1.fillna(</a:t>
            </a:r>
            <a:r>
              <a:rPr lang="en-US" altLang="zh-CN" b="0" dirty="0">
                <a:solidFill>
                  <a:srgbClr val="E36209"/>
                </a:solidFill>
                <a:effectLst/>
                <a:latin typeface="Consolas" panose="020B0609020204030204" pitchFamily="49" charset="0"/>
              </a:rPr>
              <a:t>value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将所有缺失数据填充为 </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，返回新的对象，原对象未改变</a:t>
            </a:r>
            <a:endParaRPr lang="zh-CN" altLang="en-US" b="0" dirty="0">
              <a:solidFill>
                <a:srgbClr val="24292E"/>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7000940" y="2594076"/>
            <a:ext cx="3661626" cy="2749002"/>
          </a:xfrm>
          <a:prstGeom prst="rect">
            <a:avLst/>
          </a:prstGeom>
        </p:spPr>
      </p:pic>
      <p:pic>
        <p:nvPicPr>
          <p:cNvPr id="11" name="图片 10"/>
          <p:cNvPicPr>
            <a:picLocks noChangeAspect="1"/>
          </p:cNvPicPr>
          <p:nvPr/>
        </p:nvPicPr>
        <p:blipFill>
          <a:blip r:embed="rId2"/>
          <a:stretch>
            <a:fillRect/>
          </a:stretch>
        </p:blipFill>
        <p:spPr>
          <a:xfrm>
            <a:off x="1115390" y="2594076"/>
            <a:ext cx="3661626" cy="2711525"/>
          </a:xfrm>
          <a:prstGeom prst="rect">
            <a:avLst/>
          </a:prstGeom>
        </p:spPr>
      </p:pic>
      <p:sp>
        <p:nvSpPr>
          <p:cNvPr id="13" name="箭头: 右 12"/>
          <p:cNvSpPr/>
          <p:nvPr/>
        </p:nvSpPr>
        <p:spPr>
          <a:xfrm>
            <a:off x="4951562" y="3554083"/>
            <a:ext cx="1837427" cy="802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Ovr>
    <a:masterClrMapping/>
  </p:clrMapOvr>
  <p:transition spd="slow">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）合并</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028699" y="1958944"/>
            <a:ext cx="10662285"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可通过 </a:t>
            </a:r>
            <a:r>
              <a:rPr lang="en-US" altLang="zh-CN" b="0" dirty="0" err="1">
                <a:solidFill>
                  <a:srgbClr val="FF0000"/>
                </a:solidFill>
                <a:effectLst/>
                <a:latin typeface="Consolas" panose="020B0609020204030204" pitchFamily="49" charset="0"/>
              </a:rPr>
              <a:t>pd.concat</a:t>
            </a:r>
            <a:r>
              <a:rPr lang="en-US" altLang="zh-CN"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函数进行</a:t>
            </a:r>
            <a:r>
              <a:rPr lang="zh-CN" altLang="en-US" b="0" dirty="0">
                <a:solidFill>
                  <a:srgbClr val="FF0000"/>
                </a:solidFill>
                <a:effectLst/>
                <a:latin typeface="Consolas" panose="020B0609020204030204" pitchFamily="49" charset="0"/>
              </a:rPr>
              <a:t>横向或纵向</a:t>
            </a:r>
            <a:r>
              <a:rPr lang="zh-CN" altLang="en-US" b="0" dirty="0">
                <a:solidFill>
                  <a:srgbClr val="24292E"/>
                </a:solidFill>
                <a:effectLst/>
                <a:latin typeface="Consolas" panose="020B0609020204030204" pitchFamily="49" charset="0"/>
              </a:rPr>
              <a:t>连接对象，得到</a:t>
            </a:r>
            <a:r>
              <a:rPr lang="zh-CN" altLang="en-US" b="0" dirty="0">
                <a:solidFill>
                  <a:srgbClr val="FF0000"/>
                </a:solidFill>
                <a:effectLst/>
                <a:latin typeface="Consolas" panose="020B0609020204030204" pitchFamily="49" charset="0"/>
              </a:rPr>
              <a:t>新的 </a:t>
            </a:r>
            <a:r>
              <a:rPr lang="en-US" altLang="zh-CN" b="0" dirty="0" err="1">
                <a:solidFill>
                  <a:srgbClr val="FF0000"/>
                </a:solidFill>
                <a:effectLst/>
                <a:latin typeface="Consolas" panose="020B0609020204030204" pitchFamily="49" charset="0"/>
              </a:rPr>
              <a:t>DataFrame</a:t>
            </a:r>
            <a:r>
              <a:rPr lang="en-US" altLang="zh-CN" b="0" dirty="0">
                <a:solidFill>
                  <a:srgbClr val="FF0000"/>
                </a:solidFill>
                <a:effectLst/>
                <a:latin typeface="Consolas" panose="020B0609020204030204" pitchFamily="49" charset="0"/>
              </a:rPr>
              <a:t> </a:t>
            </a:r>
            <a:r>
              <a:rPr lang="zh-CN" altLang="en-US" b="0" dirty="0">
                <a:solidFill>
                  <a:srgbClr val="FF0000"/>
                </a:solidFill>
                <a:effectLst/>
                <a:latin typeface="Consolas" panose="020B0609020204030204" pitchFamily="49" charset="0"/>
              </a:rPr>
              <a:t>对象</a:t>
            </a:r>
            <a:r>
              <a:rPr lang="zh-CN" altLang="en-US" b="0" dirty="0">
                <a:solidFill>
                  <a:srgbClr val="24292E"/>
                </a:solidFill>
                <a:effectLst/>
                <a:latin typeface="Consolas" panose="020B0609020204030204" pitchFamily="49" charset="0"/>
              </a:rPr>
              <a:t>。函数 参数 </a:t>
            </a:r>
            <a:r>
              <a:rPr lang="en-US" altLang="zh-CN" b="0" dirty="0">
                <a:solidFill>
                  <a:srgbClr val="24292E"/>
                </a:solidFill>
                <a:effectLst/>
                <a:latin typeface="Consolas" panose="020B0609020204030204" pitchFamily="49" charset="0"/>
              </a:rPr>
              <a:t>axis </a:t>
            </a:r>
            <a:r>
              <a:rPr lang="zh-CN" altLang="en-US" b="0" dirty="0">
                <a:solidFill>
                  <a:srgbClr val="24292E"/>
                </a:solidFill>
                <a:effectLst/>
                <a:latin typeface="Consolas" panose="020B0609020204030204" pitchFamily="49" charset="0"/>
              </a:rPr>
              <a:t>默认值为 </a:t>
            </a:r>
            <a:r>
              <a:rPr lang="en-US" altLang="zh-CN" b="0" dirty="0">
                <a:solidFill>
                  <a:srgbClr val="24292E"/>
                </a:solidFill>
                <a:effectLst/>
                <a:latin typeface="Consolas" panose="020B0609020204030204" pitchFamily="49" charset="0"/>
              </a:rPr>
              <a:t>0</a:t>
            </a:r>
            <a:r>
              <a:rPr lang="zh-CN" altLang="en-US" b="0" dirty="0">
                <a:solidFill>
                  <a:srgbClr val="24292E"/>
                </a:solidFill>
                <a:effectLst/>
                <a:latin typeface="Consolas" panose="020B0609020204030204" pitchFamily="49" charset="0"/>
              </a:rPr>
              <a:t>，表示纵向合并，合并时只有列索引相同的进行合并，不同的列会自动扩充。例如：</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346200" y="2655065"/>
            <a:ext cx="6094562"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np.random.randn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df3 # </a:t>
            </a:r>
            <a:r>
              <a:rPr lang="zh-CN" altLang="en-US" b="0" dirty="0">
                <a:solidFill>
                  <a:srgbClr val="24292E"/>
                </a:solidFill>
                <a:effectLst/>
                <a:latin typeface="Consolas" panose="020B0609020204030204" pitchFamily="49" charset="0"/>
              </a:rPr>
              <a:t>初始面板数据</a:t>
            </a:r>
            <a:endParaRPr lang="en-US" altLang="zh-CN" b="0" dirty="0">
              <a:solidFill>
                <a:srgbClr val="24292E"/>
              </a:solidFill>
              <a:effectLst/>
              <a:latin typeface="Consolas" panose="020B0609020204030204" pitchFamily="49" charset="0"/>
            </a:endParaRPr>
          </a:p>
        </p:txBody>
      </p:sp>
      <p:pic>
        <p:nvPicPr>
          <p:cNvPr id="12" name="图片 11"/>
          <p:cNvPicPr>
            <a:picLocks noChangeAspect="1"/>
          </p:cNvPicPr>
          <p:nvPr/>
        </p:nvPicPr>
        <p:blipFill>
          <a:blip r:embed="rId1"/>
          <a:stretch>
            <a:fillRect/>
          </a:stretch>
        </p:blipFill>
        <p:spPr>
          <a:xfrm>
            <a:off x="1346200" y="3351186"/>
            <a:ext cx="5329344" cy="2963350"/>
          </a:xfrm>
          <a:prstGeom prst="rect">
            <a:avLst/>
          </a:prstGeom>
        </p:spPr>
      </p:pic>
    </p:spTree>
    <p:custDataLst>
      <p:tags r:id="rId2"/>
    </p:custData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）合并</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346200" y="1958944"/>
            <a:ext cx="609456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pd.concat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df3])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合并，变为 </a:t>
            </a:r>
            <a:r>
              <a:rPr lang="en-US" altLang="zh-CN" b="0" dirty="0">
                <a:solidFill>
                  <a:srgbClr val="6A737D"/>
                </a:solidFill>
                <a:effectLst/>
                <a:latin typeface="Consolas" panose="020B0609020204030204" pitchFamily="49" charset="0"/>
              </a:rPr>
              <a:t>12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8 </a:t>
            </a:r>
            <a:r>
              <a:rPr lang="zh-CN" altLang="en-US" b="0" dirty="0">
                <a:solidFill>
                  <a:srgbClr val="6A737D"/>
                </a:solidFill>
                <a:effectLst/>
                <a:latin typeface="Consolas" panose="020B0609020204030204" pitchFamily="49" charset="0"/>
              </a:rPr>
              <a:t>列</a:t>
            </a:r>
            <a:endParaRPr lang="zh-CN" altLang="en-US" b="0" dirty="0">
              <a:solidFill>
                <a:srgbClr val="24292E"/>
              </a:solidFill>
              <a:effectLst/>
              <a:latin typeface="Consolas" panose="020B0609020204030204" pitchFamily="49" charset="0"/>
            </a:endParaRPr>
          </a:p>
        </p:txBody>
      </p:sp>
      <p:pic>
        <p:nvPicPr>
          <p:cNvPr id="15" name="图片 14"/>
          <p:cNvPicPr>
            <a:picLocks noChangeAspect="1"/>
          </p:cNvPicPr>
          <p:nvPr/>
        </p:nvPicPr>
        <p:blipFill>
          <a:blip r:embed="rId1"/>
          <a:stretch>
            <a:fillRect/>
          </a:stretch>
        </p:blipFill>
        <p:spPr>
          <a:xfrm>
            <a:off x="7592036" y="512165"/>
            <a:ext cx="3383905" cy="2505866"/>
          </a:xfrm>
          <a:prstGeom prst="rect">
            <a:avLst/>
          </a:prstGeom>
        </p:spPr>
      </p:pic>
      <p:pic>
        <p:nvPicPr>
          <p:cNvPr id="16" name="图片 15"/>
          <p:cNvPicPr>
            <a:picLocks noChangeAspect="1"/>
          </p:cNvPicPr>
          <p:nvPr/>
        </p:nvPicPr>
        <p:blipFill>
          <a:blip r:embed="rId2"/>
          <a:stretch>
            <a:fillRect/>
          </a:stretch>
        </p:blipFill>
        <p:spPr>
          <a:xfrm>
            <a:off x="7592036" y="4386596"/>
            <a:ext cx="3945968" cy="2194132"/>
          </a:xfrm>
          <a:prstGeom prst="rect">
            <a:avLst/>
          </a:prstGeom>
        </p:spPr>
      </p:pic>
      <p:pic>
        <p:nvPicPr>
          <p:cNvPr id="18" name="图片 17"/>
          <p:cNvPicPr>
            <a:picLocks noChangeAspect="1"/>
          </p:cNvPicPr>
          <p:nvPr/>
        </p:nvPicPr>
        <p:blipFill>
          <a:blip r:embed="rId3"/>
          <a:stretch>
            <a:fillRect/>
          </a:stretch>
        </p:blipFill>
        <p:spPr>
          <a:xfrm>
            <a:off x="245418" y="2572879"/>
            <a:ext cx="6584251" cy="3627434"/>
          </a:xfrm>
          <a:prstGeom prst="rect">
            <a:avLst/>
          </a:prstGeom>
        </p:spPr>
      </p:pic>
      <p:sp>
        <p:nvSpPr>
          <p:cNvPr id="20" name="加号 19"/>
          <p:cNvSpPr/>
          <p:nvPr/>
        </p:nvSpPr>
        <p:spPr>
          <a:xfrm>
            <a:off x="8741328" y="3129094"/>
            <a:ext cx="1082180" cy="1031845"/>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左大括号 21"/>
          <p:cNvSpPr/>
          <p:nvPr/>
        </p:nvSpPr>
        <p:spPr>
          <a:xfrm>
            <a:off x="6980943" y="1774278"/>
            <a:ext cx="459819" cy="362743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ustDataLst>
      <p:tags r:id="rId4"/>
    </p:custDataLst>
  </p:cSld>
  <p:clrMapOvr>
    <a:masterClrMapping/>
  </p:clrMapOvr>
  <p:transition spd="slow">
    <p:push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）合并</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953220" y="1926001"/>
            <a:ext cx="10497751"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df3.columns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df.columns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变更 </a:t>
            </a:r>
            <a:r>
              <a:rPr lang="en-US" altLang="zh-CN" b="0" dirty="0">
                <a:solidFill>
                  <a:srgbClr val="6A737D"/>
                </a:solidFill>
                <a:effectLst/>
                <a:latin typeface="Consolas" panose="020B0609020204030204" pitchFamily="49" charset="0"/>
              </a:rPr>
              <a:t>df3 </a:t>
            </a:r>
            <a:r>
              <a:rPr lang="zh-CN" altLang="en-US" b="0" dirty="0">
                <a:solidFill>
                  <a:srgbClr val="6A737D"/>
                </a:solidFill>
                <a:effectLst/>
                <a:latin typeface="Consolas" panose="020B0609020204030204" pitchFamily="49" charset="0"/>
              </a:rPr>
              <a:t>的列索引</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pd.concat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df3])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再次纵向合并，相同列索引的数据合并为一列，变为 </a:t>
            </a:r>
            <a:r>
              <a:rPr lang="en-US" altLang="zh-CN" b="0" dirty="0">
                <a:solidFill>
                  <a:srgbClr val="6A737D"/>
                </a:solidFill>
                <a:effectLst/>
                <a:latin typeface="Consolas" panose="020B0609020204030204" pitchFamily="49" charset="0"/>
              </a:rPr>
              <a:t>12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列</a:t>
            </a:r>
            <a:endParaRPr lang="zh-CN" altLang="en-US"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1421971" y="2849331"/>
            <a:ext cx="5205331" cy="3847064"/>
          </a:xfrm>
          <a:prstGeom prst="rect">
            <a:avLst/>
          </a:prstGeom>
        </p:spPr>
      </p:pic>
    </p:spTree>
    <p:custDataLst>
      <p:tags r:id="rId2"/>
    </p:custData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2.4.3 </a:t>
            </a:r>
            <a:r>
              <a:rPr lang="zh-CN" altLang="en-US" sz="1800" dirty="0">
                <a:solidFill>
                  <a:srgbClr val="577CCE"/>
                </a:solidFill>
                <a:latin typeface="+mn-ea"/>
              </a:rPr>
              <a:t>数据扩充和合并</a:t>
            </a:r>
            <a:endParaRPr lang="en-US" altLang="zh-CN" sz="1800" dirty="0">
              <a:solidFill>
                <a:srgbClr val="577CCE"/>
              </a:solidFill>
              <a:latin typeface="+mn-ea"/>
            </a:endParaRPr>
          </a:p>
        </p:txBody>
      </p:sp>
      <p:sp>
        <p:nvSpPr>
          <p:cNvPr id="4" name="文本框 3"/>
          <p:cNvSpPr txBox="1"/>
          <p:nvPr/>
        </p:nvSpPr>
        <p:spPr>
          <a:xfrm>
            <a:off x="642104" y="1589612"/>
            <a:ext cx="1143952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）合并</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953220" y="1926001"/>
            <a:ext cx="10497751"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df.index</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range</a:t>
            </a:r>
            <a:r>
              <a:rPr lang="en-US" altLang="zh-CN" b="0" dirty="0">
                <a:solidFill>
                  <a:srgbClr val="24292E"/>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len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df.index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修改 </a:t>
            </a:r>
            <a:r>
              <a:rPr lang="en-US" altLang="zh-CN" b="0" dirty="0" err="1">
                <a:solidFill>
                  <a:srgbClr val="6A737D"/>
                </a:solidFill>
                <a:effectLst/>
                <a:latin typeface="Consolas" panose="020B0609020204030204" pitchFamily="49" charset="0"/>
              </a:rPr>
              <a:t>df</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的行索引为从 </a:t>
            </a:r>
            <a:r>
              <a:rPr lang="en-US" altLang="zh-CN" b="0" dirty="0">
                <a:solidFill>
                  <a:srgbClr val="6A737D"/>
                </a:solidFill>
                <a:effectLst/>
                <a:latin typeface="Consolas" panose="020B0609020204030204" pitchFamily="49" charset="0"/>
              </a:rPr>
              <a:t>0 </a:t>
            </a:r>
            <a:r>
              <a:rPr lang="zh-CN" altLang="en-US" b="0" dirty="0">
                <a:solidFill>
                  <a:srgbClr val="6A737D"/>
                </a:solidFill>
                <a:effectLst/>
                <a:latin typeface="Consolas" panose="020B0609020204030204" pitchFamily="49" charset="0"/>
              </a:rPr>
              <a:t>到 </a:t>
            </a:r>
            <a:r>
              <a:rPr lang="en-US" altLang="zh-CN" b="0" dirty="0">
                <a:solidFill>
                  <a:srgbClr val="6A737D"/>
                </a:solidFill>
                <a:effectLst/>
                <a:latin typeface="Consolas" panose="020B0609020204030204" pitchFamily="49" charset="0"/>
              </a:rPr>
              <a:t>5</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953220" y="3183433"/>
            <a:ext cx="7729386"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pd.concat</a:t>
            </a:r>
            <a:r>
              <a:rPr lang="en-US" altLang="zh-CN" b="0" dirty="0">
                <a:solidFill>
                  <a:srgbClr val="24292E"/>
                </a:solidFill>
                <a:effectLst/>
                <a:latin typeface="Consolas" panose="020B0609020204030204" pitchFamily="49" charset="0"/>
              </a:rPr>
              <a:t>([df,df3], </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横向合并，变为 </a:t>
            </a:r>
            <a:r>
              <a:rPr lang="en-US" altLang="zh-CN" b="0" dirty="0">
                <a:solidFill>
                  <a:srgbClr val="6A737D"/>
                </a:solidFill>
                <a:effectLst/>
                <a:latin typeface="Consolas" panose="020B0609020204030204" pitchFamily="49" charset="0"/>
              </a:rPr>
              <a:t>6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8 </a:t>
            </a:r>
            <a:r>
              <a:rPr lang="zh-CN" altLang="en-US" b="0" dirty="0">
                <a:solidFill>
                  <a:srgbClr val="6A737D"/>
                </a:solidFill>
                <a:effectLst/>
                <a:latin typeface="Consolas" panose="020B0609020204030204" pitchFamily="49" charset="0"/>
              </a:rPr>
              <a:t>列，注意列索引名称</a:t>
            </a:r>
            <a:endParaRPr lang="zh-CN" altLang="en-US" b="0" dirty="0">
              <a:solidFill>
                <a:srgbClr val="24292E"/>
              </a:solidFill>
              <a:effectLst/>
              <a:latin typeface="Consolas" panose="020B0609020204030204" pitchFamily="49" charset="0"/>
            </a:endParaRPr>
          </a:p>
        </p:txBody>
      </p:sp>
      <p:grpSp>
        <p:nvGrpSpPr>
          <p:cNvPr id="11" name="组合 10"/>
          <p:cNvGrpSpPr/>
          <p:nvPr/>
        </p:nvGrpSpPr>
        <p:grpSpPr>
          <a:xfrm>
            <a:off x="8790538" y="443230"/>
            <a:ext cx="2055262" cy="3109535"/>
            <a:chOff x="8790538" y="443230"/>
            <a:chExt cx="2055262" cy="3109535"/>
          </a:xfrm>
        </p:grpSpPr>
        <p:pic>
          <p:nvPicPr>
            <p:cNvPr id="6" name="图片 5"/>
            <p:cNvPicPr>
              <a:picLocks noChangeAspect="1"/>
            </p:cNvPicPr>
            <p:nvPr/>
          </p:nvPicPr>
          <p:blipFill>
            <a:blip r:embed="rId1"/>
            <a:stretch>
              <a:fillRect/>
            </a:stretch>
          </p:blipFill>
          <p:spPr>
            <a:xfrm>
              <a:off x="8790538" y="443230"/>
              <a:ext cx="2055262" cy="2672907"/>
            </a:xfrm>
            <a:prstGeom prst="rect">
              <a:avLst/>
            </a:prstGeom>
          </p:spPr>
        </p:pic>
        <p:sp>
          <p:nvSpPr>
            <p:cNvPr id="10" name="文本框 9"/>
            <p:cNvSpPr txBox="1"/>
            <p:nvPr/>
          </p:nvSpPr>
          <p:spPr>
            <a:xfrm>
              <a:off x="9629656" y="3183433"/>
              <a:ext cx="377026" cy="369332"/>
            </a:xfrm>
            <a:prstGeom prst="rect">
              <a:avLst/>
            </a:prstGeom>
            <a:noFill/>
          </p:spPr>
          <p:txBody>
            <a:bodyPr wrap="none" rtlCol="0">
              <a:spAutoFit/>
            </a:bodyPr>
            <a:lstStyle/>
            <a:p>
              <a:r>
                <a:rPr lang="en-US" altLang="zh-CN" dirty="0" err="1"/>
                <a:t>df</a:t>
              </a:r>
              <a:endParaRPr lang="zh-CN" altLang="en-US" dirty="0"/>
            </a:p>
          </p:txBody>
        </p:sp>
      </p:grpSp>
      <p:pic>
        <p:nvPicPr>
          <p:cNvPr id="13" name="图片 12"/>
          <p:cNvPicPr>
            <a:picLocks noChangeAspect="1"/>
          </p:cNvPicPr>
          <p:nvPr/>
        </p:nvPicPr>
        <p:blipFill>
          <a:blip r:embed="rId2"/>
          <a:stretch>
            <a:fillRect/>
          </a:stretch>
        </p:blipFill>
        <p:spPr>
          <a:xfrm>
            <a:off x="1262653" y="3898735"/>
            <a:ext cx="6522131" cy="2644677"/>
          </a:xfrm>
          <a:prstGeom prst="rect">
            <a:avLst/>
          </a:prstGeom>
        </p:spPr>
      </p:pic>
    </p:spTree>
    <p:custDataLst>
      <p:tags r:id="rId3"/>
    </p:custDataLst>
  </p:cSld>
  <p:clrMapOvr>
    <a:masterClrMapping/>
  </p:clrMapOvr>
  <p:transition spd="slow">
    <p:push di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2.4.4 </a:t>
            </a:r>
            <a:r>
              <a:rPr lang="zh-CN" altLang="en-US" sz="1800" dirty="0">
                <a:solidFill>
                  <a:srgbClr val="577CCE"/>
                </a:solidFill>
                <a:latin typeface="+mn-ea"/>
              </a:rPr>
              <a:t>分组统计</a:t>
            </a:r>
            <a:endParaRPr lang="en-US" altLang="zh-CN" sz="1800" dirty="0">
              <a:solidFill>
                <a:srgbClr val="577CCE"/>
              </a:solidFill>
              <a:latin typeface="+mn-ea"/>
            </a:endParaRPr>
          </a:p>
        </p:txBody>
      </p:sp>
      <p:sp>
        <p:nvSpPr>
          <p:cNvPr id="7" name="文本框 6"/>
          <p:cNvSpPr txBox="1"/>
          <p:nvPr/>
        </p:nvSpPr>
        <p:spPr>
          <a:xfrm>
            <a:off x="868607" y="1601536"/>
            <a:ext cx="10907792"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Pandas </a:t>
            </a:r>
            <a:r>
              <a:rPr lang="zh-CN" altLang="en-US" b="0" dirty="0">
                <a:solidFill>
                  <a:srgbClr val="24292E"/>
                </a:solidFill>
                <a:effectLst/>
                <a:latin typeface="Consolas" panose="020B0609020204030204" pitchFamily="49" charset="0"/>
              </a:rPr>
              <a:t>支持按照某一标准对数据进行分组，对每一组都单独应用某一操作，将最后的结果合并在一个新的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对象中。</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161642" y="2305958"/>
            <a:ext cx="9034327" cy="1754326"/>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list1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"foo"</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"bar"</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"foo"</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"bar"</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"foo"</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"bar"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list2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"one"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"one"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"two"</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"three"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"two"</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"one"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list3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np.random.randint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list4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np.random.randint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pd.DataFrame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list1,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 list2, </a:t>
            </a:r>
            <a:r>
              <a:rPr lang="en-US" altLang="zh-CN" b="0" dirty="0">
                <a:solidFill>
                  <a:srgbClr val="032F62"/>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list3, </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list4})</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df</a:t>
            </a:r>
            <a:endParaRPr lang="en-US" altLang="zh-CN"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1889130" y="3779783"/>
            <a:ext cx="2322143" cy="2880350"/>
          </a:xfrm>
          <a:prstGeom prst="rect">
            <a:avLst/>
          </a:prstGeom>
        </p:spPr>
      </p:pic>
    </p:spTree>
    <p:custDataLst>
      <p:tags r:id="rId2"/>
    </p:custDataLst>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2.4.4 </a:t>
            </a:r>
            <a:r>
              <a:rPr lang="zh-CN" altLang="en-US" sz="1800" dirty="0">
                <a:solidFill>
                  <a:srgbClr val="577CCE"/>
                </a:solidFill>
                <a:latin typeface="+mn-ea"/>
              </a:rPr>
              <a:t>分组统计</a:t>
            </a:r>
            <a:endParaRPr lang="en-US" altLang="zh-CN" sz="1800" dirty="0">
              <a:solidFill>
                <a:srgbClr val="577CCE"/>
              </a:solidFill>
              <a:latin typeface="+mn-ea"/>
            </a:endParaRPr>
          </a:p>
        </p:txBody>
      </p:sp>
      <p:sp>
        <p:nvSpPr>
          <p:cNvPr id="7" name="文本框 6"/>
          <p:cNvSpPr txBox="1"/>
          <p:nvPr/>
        </p:nvSpPr>
        <p:spPr>
          <a:xfrm>
            <a:off x="868607" y="1601536"/>
            <a:ext cx="1090779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根据某一列对数据分组，并对每一组单独进行求和、求平均等统计操作。</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42332" y="1982792"/>
            <a:ext cx="609460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df.groupby</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).sum()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求和</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5053615" y="1970868"/>
            <a:ext cx="6269778"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r</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df.groupby</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]).mean()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求平均，注意返回的对象有</a:t>
            </a:r>
            <a:r>
              <a:rPr lang="en-US" altLang="zh-CN" b="0" dirty="0">
                <a:solidFill>
                  <a:srgbClr val="6A737D"/>
                </a:solidFill>
                <a:effectLst/>
                <a:latin typeface="Consolas" panose="020B0609020204030204" pitchFamily="49" charset="0"/>
              </a:rPr>
              <a:t>'A'</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'B'</a:t>
            </a:r>
            <a:r>
              <a:rPr lang="zh-CN" altLang="en-US" b="0" dirty="0">
                <a:solidFill>
                  <a:srgbClr val="6A737D"/>
                </a:solidFill>
                <a:effectLst/>
                <a:latin typeface="Consolas" panose="020B0609020204030204" pitchFamily="49" charset="0"/>
              </a:rPr>
              <a:t>共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列行索引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r</a:t>
            </a:r>
            <a:endParaRPr lang="en-US" altLang="zh-CN" b="0" dirty="0">
              <a:solidFill>
                <a:srgbClr val="24292E"/>
              </a:solidFill>
              <a:effectLst/>
              <a:latin typeface="Consolas" panose="020B0609020204030204" pitchFamily="49" charset="0"/>
            </a:endParaRPr>
          </a:p>
        </p:txBody>
      </p:sp>
      <p:sp>
        <p:nvSpPr>
          <p:cNvPr id="11" name="文本框 10"/>
          <p:cNvSpPr txBox="1"/>
          <p:nvPr/>
        </p:nvSpPr>
        <p:spPr>
          <a:xfrm>
            <a:off x="1042332" y="4672282"/>
            <a:ext cx="10734067"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r.loc</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bar'</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'three</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得到第二行数据，返回的是 </a:t>
            </a:r>
            <a:r>
              <a:rPr lang="en-US" altLang="zh-CN" b="0" dirty="0">
                <a:solidFill>
                  <a:srgbClr val="6A737D"/>
                </a:solidFill>
                <a:effectLst/>
                <a:latin typeface="Consolas" panose="020B0609020204030204" pitchFamily="49" charset="0"/>
              </a:rPr>
              <a:t>Series </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1"/>
          <a:stretch>
            <a:fillRect/>
          </a:stretch>
        </p:blipFill>
        <p:spPr>
          <a:xfrm>
            <a:off x="1311928" y="2464663"/>
            <a:ext cx="2777705" cy="1593583"/>
          </a:xfrm>
          <a:prstGeom prst="rect">
            <a:avLst/>
          </a:prstGeom>
        </p:spPr>
      </p:pic>
      <p:pic>
        <p:nvPicPr>
          <p:cNvPr id="15" name="图片 14"/>
          <p:cNvPicPr>
            <a:picLocks noChangeAspect="1"/>
          </p:cNvPicPr>
          <p:nvPr/>
        </p:nvPicPr>
        <p:blipFill>
          <a:blip r:embed="rId2"/>
          <a:stretch>
            <a:fillRect/>
          </a:stretch>
        </p:blipFill>
        <p:spPr>
          <a:xfrm>
            <a:off x="9213024" y="2361774"/>
            <a:ext cx="2251481" cy="2382635"/>
          </a:xfrm>
          <a:prstGeom prst="rect">
            <a:avLst/>
          </a:prstGeom>
        </p:spPr>
      </p:pic>
      <p:pic>
        <p:nvPicPr>
          <p:cNvPr id="17" name="图片 16"/>
          <p:cNvPicPr>
            <a:picLocks noChangeAspect="1"/>
          </p:cNvPicPr>
          <p:nvPr/>
        </p:nvPicPr>
        <p:blipFill>
          <a:blip r:embed="rId3"/>
          <a:stretch>
            <a:fillRect/>
          </a:stretch>
        </p:blipFill>
        <p:spPr>
          <a:xfrm>
            <a:off x="1311928" y="5310031"/>
            <a:ext cx="4320592" cy="952746"/>
          </a:xfrm>
          <a:prstGeom prst="rect">
            <a:avLst/>
          </a:prstGeom>
        </p:spPr>
      </p:pic>
    </p:spTree>
    <p:custDataLst>
      <p:tags r:id="rId4"/>
    </p:custDataLst>
  </p:cSld>
  <p:clrMapOvr>
    <a:masterClrMapping/>
  </p:clrMapOvr>
  <p:transition spd="slow">
    <p:push di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2.4.5 </a:t>
            </a:r>
            <a:r>
              <a:rPr lang="zh-CN" altLang="en-US" sz="1800" dirty="0">
                <a:solidFill>
                  <a:srgbClr val="577CCE"/>
                </a:solidFill>
                <a:latin typeface="+mn-ea"/>
              </a:rPr>
              <a:t>文件的读取与导出</a:t>
            </a:r>
            <a:endParaRPr lang="en-US" altLang="zh-CN" sz="1800" dirty="0">
              <a:solidFill>
                <a:srgbClr val="577CCE"/>
              </a:solidFill>
              <a:latin typeface="+mn-ea"/>
            </a:endParaRPr>
          </a:p>
        </p:txBody>
      </p:sp>
      <p:sp>
        <p:nvSpPr>
          <p:cNvPr id="7" name="文本框 6"/>
          <p:cNvSpPr txBox="1"/>
          <p:nvPr/>
        </p:nvSpPr>
        <p:spPr>
          <a:xfrm>
            <a:off x="868607" y="1601536"/>
            <a:ext cx="10907792"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Pandas </a:t>
            </a:r>
            <a:r>
              <a:rPr lang="zh-CN" altLang="en-US" b="0" dirty="0">
                <a:solidFill>
                  <a:srgbClr val="24292E"/>
                </a:solidFill>
                <a:effectLst/>
                <a:latin typeface="Consolas" panose="020B0609020204030204" pitchFamily="49" charset="0"/>
              </a:rPr>
              <a:t>可以将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对象写入 </a:t>
            </a:r>
            <a:r>
              <a:rPr lang="en-US" altLang="zh-CN" b="0" dirty="0">
                <a:solidFill>
                  <a:srgbClr val="24292E"/>
                </a:solidFill>
                <a:effectLst/>
                <a:latin typeface="Consolas" panose="020B0609020204030204" pitchFamily="49" charset="0"/>
              </a:rPr>
              <a:t>CSV</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HDF5</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Excel </a:t>
            </a:r>
            <a:r>
              <a:rPr lang="zh-CN" altLang="en-US" b="0" dirty="0">
                <a:solidFill>
                  <a:srgbClr val="24292E"/>
                </a:solidFill>
                <a:effectLst/>
                <a:latin typeface="Consolas" panose="020B0609020204030204" pitchFamily="49" charset="0"/>
              </a:rPr>
              <a:t>文件中，也能从 </a:t>
            </a:r>
            <a:r>
              <a:rPr lang="en-US" altLang="zh-CN" b="0" dirty="0">
                <a:solidFill>
                  <a:srgbClr val="24292E"/>
                </a:solidFill>
                <a:effectLst/>
                <a:latin typeface="Consolas" panose="020B0609020204030204" pitchFamily="49" charset="0"/>
              </a:rPr>
              <a:t>CSV</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HDF5</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Excel </a:t>
            </a:r>
            <a:r>
              <a:rPr lang="zh-CN" altLang="en-US" b="0" dirty="0">
                <a:solidFill>
                  <a:srgbClr val="24292E"/>
                </a:solidFill>
                <a:effectLst/>
                <a:latin typeface="Consolas" panose="020B0609020204030204" pitchFamily="49" charset="0"/>
              </a:rPr>
              <a:t>文件中读取数据得到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 </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868607" y="2305958"/>
            <a:ext cx="609456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）写入文件 </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1346200" y="2779547"/>
            <a:ext cx="7866811"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对象写入文件时，行索引和列索引也会保存到文件中。</a:t>
            </a:r>
            <a:endParaRPr lang="en-US" altLang="zh-CN"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需要模块</a:t>
            </a:r>
            <a:r>
              <a:rPr lang="en-US" altLang="zh-CN" b="0" dirty="0">
                <a:solidFill>
                  <a:srgbClr val="FF0000"/>
                </a:solidFill>
                <a:effectLst/>
                <a:latin typeface="Consolas" panose="020B0609020204030204" pitchFamily="49" charset="0"/>
              </a:rPr>
              <a:t>tables</a:t>
            </a:r>
            <a:endParaRPr lang="en-US" altLang="zh-CN" b="0" dirty="0">
              <a:solidFill>
                <a:srgbClr val="FF0000"/>
              </a:solidFill>
              <a:effectLst/>
              <a:latin typeface="Consolas" panose="020B0609020204030204" pitchFamily="49" charset="0"/>
            </a:endParaRPr>
          </a:p>
          <a:p>
            <a:r>
              <a:rPr lang="en-US" altLang="zh-CN" b="0" dirty="0">
                <a:solidFill>
                  <a:srgbClr val="577CCE"/>
                </a:solidFill>
                <a:effectLst/>
                <a:latin typeface="Consolas" panose="020B0609020204030204" pitchFamily="49" charset="0"/>
              </a:rPr>
              <a:t>pip install </a:t>
            </a:r>
            <a:r>
              <a:rPr lang="en-US" altLang="zh-CN" b="0" dirty="0" err="1">
                <a:solidFill>
                  <a:srgbClr val="577CCE"/>
                </a:solidFill>
                <a:effectLst/>
                <a:latin typeface="Consolas" panose="020B0609020204030204" pitchFamily="49" charset="0"/>
              </a:rPr>
              <a:t>pytables</a:t>
            </a:r>
            <a:endParaRPr lang="zh-CN" altLang="en-US" b="0" dirty="0">
              <a:solidFill>
                <a:srgbClr val="577CCE"/>
              </a:solidFill>
              <a:effectLst/>
              <a:latin typeface="Consolas" panose="020B0609020204030204" pitchFamily="49" charset="0"/>
            </a:endParaRPr>
          </a:p>
        </p:txBody>
      </p:sp>
      <p:sp>
        <p:nvSpPr>
          <p:cNvPr id="19" name="文本框 18"/>
          <p:cNvSpPr txBox="1"/>
          <p:nvPr/>
        </p:nvSpPr>
        <p:spPr>
          <a:xfrm>
            <a:off x="1346200" y="3675391"/>
            <a:ext cx="6094562" cy="1323439"/>
          </a:xfrm>
          <a:prstGeom prst="rect">
            <a:avLst/>
          </a:prstGeom>
          <a:noFill/>
        </p:spPr>
        <p:txBody>
          <a:bodyPr wrap="square">
            <a:spAutoFit/>
          </a:bodyPr>
          <a:lstStyle/>
          <a:p>
            <a:r>
              <a:rPr lang="en-US" altLang="zh-CN" sz="1600" b="0" dirty="0" err="1">
                <a:solidFill>
                  <a:srgbClr val="24292E"/>
                </a:solidFill>
                <a:effectLst/>
                <a:latin typeface="Consolas" panose="020B0609020204030204" pitchFamily="49" charset="0"/>
              </a:rPr>
              <a:t>df.to_csv</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"test.csv"</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a:t>
            </a:r>
            <a:r>
              <a:rPr lang="zh-CN" altLang="en-US" sz="1600" b="0" dirty="0">
                <a:solidFill>
                  <a:srgbClr val="6A737D"/>
                </a:solidFill>
                <a:effectLst/>
                <a:latin typeface="Consolas" panose="020B0609020204030204" pitchFamily="49" charset="0"/>
              </a:rPr>
              <a:t>写入 </a:t>
            </a:r>
            <a:r>
              <a:rPr lang="en-US" altLang="zh-CN" sz="1600" b="0" dirty="0" err="1">
                <a:solidFill>
                  <a:srgbClr val="6A737D"/>
                </a:solidFill>
                <a:effectLst/>
                <a:latin typeface="Consolas" panose="020B0609020204030204" pitchFamily="49" charset="0"/>
              </a:rPr>
              <a:t>cvs</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文件</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df.to_hdf</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"test.h5"</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key</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df</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a:t>
            </a:r>
            <a:r>
              <a:rPr lang="zh-CN" altLang="en-US" sz="1600" b="0" dirty="0">
                <a:solidFill>
                  <a:srgbClr val="6A737D"/>
                </a:solidFill>
                <a:effectLst/>
                <a:latin typeface="Consolas" panose="020B0609020204030204" pitchFamily="49" charset="0"/>
              </a:rPr>
              <a:t>写入 </a:t>
            </a:r>
            <a:r>
              <a:rPr lang="en-US" altLang="zh-CN" sz="1600" b="0" dirty="0">
                <a:solidFill>
                  <a:srgbClr val="6A737D"/>
                </a:solidFill>
                <a:effectLst/>
                <a:latin typeface="Consolas" panose="020B0609020204030204" pitchFamily="49" charset="0"/>
              </a:rPr>
              <a:t>hdf5 </a:t>
            </a:r>
            <a:r>
              <a:rPr lang="zh-CN" altLang="en-US" sz="1600" b="0" dirty="0">
                <a:solidFill>
                  <a:srgbClr val="6A737D"/>
                </a:solidFill>
                <a:effectLst/>
                <a:latin typeface="Consolas" panose="020B0609020204030204" pitchFamily="49" charset="0"/>
              </a:rPr>
              <a:t>文件，</a:t>
            </a:r>
            <a:r>
              <a:rPr lang="en-US" altLang="zh-CN" sz="1600" b="0" dirty="0">
                <a:solidFill>
                  <a:srgbClr val="6A737D"/>
                </a:solidFill>
                <a:effectLst/>
                <a:latin typeface="Consolas" panose="020B0609020204030204" pitchFamily="49" charset="0"/>
              </a:rPr>
              <a:t>key </a:t>
            </a:r>
            <a:r>
              <a:rPr lang="zh-CN" altLang="en-US" sz="1600" b="0" dirty="0">
                <a:solidFill>
                  <a:srgbClr val="6A737D"/>
                </a:solidFill>
                <a:effectLst/>
                <a:latin typeface="Consolas" panose="020B0609020204030204" pitchFamily="49" charset="0"/>
              </a:rPr>
              <a:t>指定存入的 </a:t>
            </a:r>
            <a:r>
              <a:rPr lang="en-US" altLang="zh-CN" sz="1600" b="0" dirty="0">
                <a:solidFill>
                  <a:srgbClr val="6A737D"/>
                </a:solidFill>
                <a:effectLst/>
                <a:latin typeface="Consolas" panose="020B0609020204030204" pitchFamily="49" charset="0"/>
              </a:rPr>
              <a:t>group </a:t>
            </a:r>
            <a:r>
              <a:rPr lang="zh-CN" altLang="en-US" sz="1600" b="0" dirty="0">
                <a:solidFill>
                  <a:srgbClr val="6A737D"/>
                </a:solidFill>
                <a:effectLst/>
                <a:latin typeface="Consolas" panose="020B0609020204030204" pitchFamily="49" charset="0"/>
              </a:rPr>
              <a:t>名称</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df.to_excel</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"test.xlsx"</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sheet_name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"Sheet1"</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a:t>
            </a:r>
            <a:r>
              <a:rPr lang="zh-CN" altLang="en-US" sz="1600" b="0" dirty="0">
                <a:solidFill>
                  <a:srgbClr val="6A737D"/>
                </a:solidFill>
                <a:effectLst/>
                <a:latin typeface="Consolas" panose="020B0609020204030204" pitchFamily="49" charset="0"/>
              </a:rPr>
              <a:t>写入 </a:t>
            </a:r>
            <a:r>
              <a:rPr lang="en-US" altLang="zh-CN" sz="1600" b="0" dirty="0">
                <a:solidFill>
                  <a:srgbClr val="6A737D"/>
                </a:solidFill>
                <a:effectLst/>
                <a:latin typeface="Consolas" panose="020B0609020204030204" pitchFamily="49" charset="0"/>
              </a:rPr>
              <a:t>excel </a:t>
            </a:r>
            <a:r>
              <a:rPr lang="zh-CN" altLang="en-US" sz="1600" b="0" dirty="0">
                <a:solidFill>
                  <a:srgbClr val="6A737D"/>
                </a:solidFill>
                <a:effectLst/>
                <a:latin typeface="Consolas" panose="020B0609020204030204" pitchFamily="49" charset="0"/>
              </a:rPr>
              <a:t>文件</a:t>
            </a:r>
            <a:endParaRPr lang="zh-CN" altLang="en-US" sz="1600" b="0" dirty="0">
              <a:solidFill>
                <a:srgbClr val="24292E"/>
              </a:solidFill>
              <a:effectLst/>
              <a:latin typeface="Consolas" panose="020B0609020204030204" pitchFamily="49" charset="0"/>
            </a:endParaRPr>
          </a:p>
        </p:txBody>
      </p:sp>
      <p:grpSp>
        <p:nvGrpSpPr>
          <p:cNvPr id="24" name="组合 23"/>
          <p:cNvGrpSpPr/>
          <p:nvPr/>
        </p:nvGrpSpPr>
        <p:grpSpPr>
          <a:xfrm>
            <a:off x="8687204" y="2057736"/>
            <a:ext cx="2742795" cy="3568060"/>
            <a:chOff x="8687204" y="2057736"/>
            <a:chExt cx="2742795" cy="3568060"/>
          </a:xfrm>
        </p:grpSpPr>
        <p:sp>
          <p:nvSpPr>
            <p:cNvPr id="14" name="文本框 13"/>
            <p:cNvSpPr txBox="1"/>
            <p:nvPr/>
          </p:nvSpPr>
          <p:spPr>
            <a:xfrm>
              <a:off x="9342408" y="5256464"/>
              <a:ext cx="1407758" cy="369332"/>
            </a:xfrm>
            <a:prstGeom prst="rect">
              <a:avLst/>
            </a:prstGeom>
            <a:noFill/>
          </p:spPr>
          <p:txBody>
            <a:bodyPr wrap="none" rtlCol="0">
              <a:spAutoFit/>
            </a:bodyPr>
            <a:lstStyle/>
            <a:p>
              <a:r>
                <a:rPr lang="zh-CN" altLang="en-US" dirty="0"/>
                <a:t>面板数据 </a:t>
              </a:r>
              <a:r>
                <a:rPr lang="en-US" altLang="zh-CN" dirty="0" err="1"/>
                <a:t>df</a:t>
              </a:r>
              <a:endParaRPr lang="zh-CN" altLang="en-US" dirty="0"/>
            </a:p>
          </p:txBody>
        </p:sp>
        <p:pic>
          <p:nvPicPr>
            <p:cNvPr id="23" name="图片 22"/>
            <p:cNvPicPr>
              <a:picLocks noChangeAspect="1"/>
            </p:cNvPicPr>
            <p:nvPr/>
          </p:nvPicPr>
          <p:blipFill>
            <a:blip r:embed="rId1"/>
            <a:stretch>
              <a:fillRect/>
            </a:stretch>
          </p:blipFill>
          <p:spPr>
            <a:xfrm>
              <a:off x="8687204" y="2057736"/>
              <a:ext cx="2742795" cy="3094983"/>
            </a:xfrm>
            <a:prstGeom prst="rect">
              <a:avLst/>
            </a:prstGeom>
          </p:spPr>
        </p:pic>
      </p:grpSp>
      <p:pic>
        <p:nvPicPr>
          <p:cNvPr id="26" name="图片 25"/>
          <p:cNvPicPr>
            <a:picLocks noChangeAspect="1"/>
          </p:cNvPicPr>
          <p:nvPr/>
        </p:nvPicPr>
        <p:blipFill>
          <a:blip r:embed="rId2"/>
          <a:stretch>
            <a:fillRect/>
          </a:stretch>
        </p:blipFill>
        <p:spPr>
          <a:xfrm>
            <a:off x="1346200" y="4998830"/>
            <a:ext cx="3044645" cy="1810180"/>
          </a:xfrm>
          <a:prstGeom prst="rect">
            <a:avLst/>
          </a:prstGeom>
        </p:spPr>
      </p:pic>
      <p:pic>
        <p:nvPicPr>
          <p:cNvPr id="28" name="图片 27"/>
          <p:cNvPicPr>
            <a:picLocks noChangeAspect="1"/>
          </p:cNvPicPr>
          <p:nvPr/>
        </p:nvPicPr>
        <p:blipFill>
          <a:blip r:embed="rId3"/>
          <a:stretch>
            <a:fillRect/>
          </a:stretch>
        </p:blipFill>
        <p:spPr>
          <a:xfrm>
            <a:off x="5168275" y="5036015"/>
            <a:ext cx="3165512" cy="1727900"/>
          </a:xfrm>
          <a:prstGeom prst="rect">
            <a:avLst/>
          </a:prstGeom>
        </p:spPr>
      </p:pic>
    </p:spTree>
    <p:custDataLst>
      <p:tags r:id="rId4"/>
    </p:custData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2.4.5 </a:t>
            </a:r>
            <a:r>
              <a:rPr lang="zh-CN" altLang="en-US" sz="1800" dirty="0">
                <a:solidFill>
                  <a:srgbClr val="577CCE"/>
                </a:solidFill>
                <a:latin typeface="+mn-ea"/>
              </a:rPr>
              <a:t>文件的读取与导出</a:t>
            </a:r>
            <a:endParaRPr lang="en-US" altLang="zh-CN" sz="1800" dirty="0">
              <a:solidFill>
                <a:srgbClr val="577CCE"/>
              </a:solidFill>
              <a:latin typeface="+mn-ea"/>
            </a:endParaRPr>
          </a:p>
        </p:txBody>
      </p:sp>
      <p:sp>
        <p:nvSpPr>
          <p:cNvPr id="7" name="文本框 6"/>
          <p:cNvSpPr txBox="1"/>
          <p:nvPr/>
        </p:nvSpPr>
        <p:spPr>
          <a:xfrm>
            <a:off x="868607" y="1601536"/>
            <a:ext cx="10907792"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Pandas </a:t>
            </a:r>
            <a:r>
              <a:rPr lang="zh-CN" altLang="en-US" b="0" dirty="0">
                <a:solidFill>
                  <a:srgbClr val="24292E"/>
                </a:solidFill>
                <a:effectLst/>
                <a:latin typeface="Consolas" panose="020B0609020204030204" pitchFamily="49" charset="0"/>
              </a:rPr>
              <a:t>可以将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对象写入 </a:t>
            </a:r>
            <a:r>
              <a:rPr lang="en-US" altLang="zh-CN" b="0" dirty="0">
                <a:solidFill>
                  <a:srgbClr val="24292E"/>
                </a:solidFill>
                <a:effectLst/>
                <a:latin typeface="Consolas" panose="020B0609020204030204" pitchFamily="49" charset="0"/>
              </a:rPr>
              <a:t>CSV</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HDF5</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Excel </a:t>
            </a:r>
            <a:r>
              <a:rPr lang="zh-CN" altLang="en-US" b="0" dirty="0">
                <a:solidFill>
                  <a:srgbClr val="24292E"/>
                </a:solidFill>
                <a:effectLst/>
                <a:latin typeface="Consolas" panose="020B0609020204030204" pitchFamily="49" charset="0"/>
              </a:rPr>
              <a:t>文件中，也能从 </a:t>
            </a:r>
            <a:r>
              <a:rPr lang="en-US" altLang="zh-CN" b="0" dirty="0">
                <a:solidFill>
                  <a:srgbClr val="24292E"/>
                </a:solidFill>
                <a:effectLst/>
                <a:latin typeface="Consolas" panose="020B0609020204030204" pitchFamily="49" charset="0"/>
              </a:rPr>
              <a:t>CSV</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HDF5</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Excel </a:t>
            </a:r>
            <a:r>
              <a:rPr lang="zh-CN" altLang="en-US" b="0" dirty="0">
                <a:solidFill>
                  <a:srgbClr val="24292E"/>
                </a:solidFill>
                <a:effectLst/>
                <a:latin typeface="Consolas" panose="020B0609020204030204" pitchFamily="49" charset="0"/>
              </a:rPr>
              <a:t>文件中读取数据得到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 </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868607" y="2305958"/>
            <a:ext cx="609456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）写入文件 </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1346200" y="2779547"/>
            <a:ext cx="786681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对于多个 </a:t>
            </a:r>
            <a:r>
              <a:rPr lang="en-US" altLang="zh-CN" b="0" dirty="0" err="1">
                <a:solidFill>
                  <a:srgbClr val="24292E"/>
                </a:solidFill>
                <a:effectLst/>
                <a:latin typeface="Consolas" panose="020B0609020204030204" pitchFamily="49" charset="0"/>
              </a:rPr>
              <a:t>DateFrame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对象，可以保存到同一文件的多个 </a:t>
            </a:r>
            <a:r>
              <a:rPr lang="en-US" altLang="zh-CN" b="0" dirty="0">
                <a:solidFill>
                  <a:srgbClr val="24292E"/>
                </a:solidFill>
                <a:effectLst/>
                <a:latin typeface="Consolas" panose="020B0609020204030204" pitchFamily="49" charset="0"/>
              </a:rPr>
              <a:t>sheet </a:t>
            </a:r>
            <a:r>
              <a:rPr lang="zh-CN" altLang="en-US" b="0" dirty="0">
                <a:solidFill>
                  <a:srgbClr val="24292E"/>
                </a:solidFill>
                <a:effectLst/>
                <a:latin typeface="Consolas" panose="020B0609020204030204" pitchFamily="49" charset="0"/>
              </a:rPr>
              <a:t>表单中，此时需要用到 </a:t>
            </a:r>
            <a:r>
              <a:rPr lang="en-US" altLang="zh-CN" b="0" dirty="0" err="1">
                <a:solidFill>
                  <a:srgbClr val="24292E"/>
                </a:solidFill>
                <a:effectLst/>
                <a:latin typeface="Consolas" panose="020B0609020204030204" pitchFamily="49" charset="0"/>
              </a:rPr>
              <a:t>ExcelWriter</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对象，示例如下：</a:t>
            </a:r>
            <a:endParaRPr lang="zh-CN" altLang="en-US" b="0" dirty="0">
              <a:solidFill>
                <a:srgbClr val="24292E"/>
              </a:solidFill>
              <a:effectLst/>
              <a:latin typeface="Consolas" panose="020B0609020204030204" pitchFamily="49" charset="0"/>
            </a:endParaRPr>
          </a:p>
        </p:txBody>
      </p:sp>
      <p:sp>
        <p:nvSpPr>
          <p:cNvPr id="19" name="文本框 18"/>
          <p:cNvSpPr txBox="1"/>
          <p:nvPr/>
        </p:nvSpPr>
        <p:spPr>
          <a:xfrm>
            <a:off x="1346199" y="3675391"/>
            <a:ext cx="10344785" cy="1569660"/>
          </a:xfrm>
          <a:prstGeom prst="rect">
            <a:avLst/>
          </a:prstGeom>
          <a:noFill/>
        </p:spPr>
        <p:txBody>
          <a:bodyPr wrap="square">
            <a:spAutoFit/>
          </a:bodyPr>
          <a:lstStyle/>
          <a:p>
            <a:r>
              <a:rPr lang="en-US" altLang="zh-CN" sz="1600" b="0" dirty="0">
                <a:solidFill>
                  <a:srgbClr val="24292E"/>
                </a:solidFill>
                <a:effectLst/>
                <a:latin typeface="Consolas" panose="020B0609020204030204" pitchFamily="49" charset="0"/>
              </a:rPr>
              <a:t>df1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df.copy</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with</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pd.ExcelWriter</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'output.xlsx'</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as</a:t>
            </a:r>
            <a:r>
              <a:rPr lang="en-US" altLang="zh-CN" sz="1600" b="0" dirty="0">
                <a:solidFill>
                  <a:srgbClr val="24292E"/>
                </a:solidFill>
                <a:effectLst/>
                <a:latin typeface="Consolas" panose="020B0609020204030204" pitchFamily="49" charset="0"/>
              </a:rPr>
              <a:t> writer: </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df.to_excel</a:t>
            </a:r>
            <a:r>
              <a:rPr lang="en-US" altLang="zh-CN" sz="1600" b="0" dirty="0">
                <a:solidFill>
                  <a:srgbClr val="24292E"/>
                </a:solidFill>
                <a:effectLst/>
                <a:latin typeface="Consolas" panose="020B0609020204030204" pitchFamily="49" charset="0"/>
              </a:rPr>
              <a:t>(writer, </a:t>
            </a:r>
            <a:r>
              <a:rPr lang="en-US" altLang="zh-CN" sz="1600" b="0" dirty="0" err="1">
                <a:solidFill>
                  <a:srgbClr val="E36209"/>
                </a:solidFill>
                <a:effectLst/>
                <a:latin typeface="Consolas" panose="020B0609020204030204" pitchFamily="49" charset="0"/>
              </a:rPr>
              <a:t>sheet_name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'Sheet_name_1'</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df1.to_excel(writer, </a:t>
            </a:r>
            <a:r>
              <a:rPr lang="en-US" altLang="zh-CN" sz="1600" b="0" dirty="0" err="1">
                <a:solidFill>
                  <a:srgbClr val="E36209"/>
                </a:solidFill>
                <a:effectLst/>
                <a:latin typeface="Consolas" panose="020B0609020204030204" pitchFamily="49" charset="0"/>
              </a:rPr>
              <a:t>sheet_name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'Sheet_name_2'</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with</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pd.ExcelWriter</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'output.xlsx'</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mode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'a'</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engine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openpyxl</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as</a:t>
            </a:r>
            <a:r>
              <a:rPr lang="en-US" altLang="zh-CN" sz="1600" b="0" dirty="0">
                <a:solidFill>
                  <a:srgbClr val="24292E"/>
                </a:solidFill>
                <a:effectLst/>
                <a:latin typeface="Consolas" panose="020B0609020204030204" pitchFamily="49" charset="0"/>
              </a:rPr>
              <a:t> writer: </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df.to_excel</a:t>
            </a:r>
            <a:r>
              <a:rPr lang="en-US" altLang="zh-CN" sz="1600" b="0" dirty="0">
                <a:solidFill>
                  <a:srgbClr val="24292E"/>
                </a:solidFill>
                <a:effectLst/>
                <a:latin typeface="Consolas" panose="020B0609020204030204" pitchFamily="49" charset="0"/>
              </a:rPr>
              <a:t>(writer, </a:t>
            </a:r>
            <a:r>
              <a:rPr lang="en-US" altLang="zh-CN" sz="1600" b="0" dirty="0" err="1">
                <a:solidFill>
                  <a:srgbClr val="E36209"/>
                </a:solidFill>
                <a:effectLst/>
                <a:latin typeface="Consolas" panose="020B0609020204030204" pitchFamily="49" charset="0"/>
              </a:rPr>
              <a:t>sheet_name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'Sheet_name_3'</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2.4 Pandas </a:t>
            </a:r>
            <a:r>
              <a:rPr lang="zh-CN" altLang="en-US" sz="3200" dirty="0">
                <a:sym typeface="+mn-ea"/>
              </a:rPr>
              <a:t>基础</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2.4.5 </a:t>
            </a:r>
            <a:r>
              <a:rPr lang="zh-CN" altLang="en-US" sz="1800" dirty="0">
                <a:solidFill>
                  <a:srgbClr val="577CCE"/>
                </a:solidFill>
                <a:latin typeface="+mn-ea"/>
              </a:rPr>
              <a:t>文件的读取与导出</a:t>
            </a:r>
            <a:endParaRPr lang="en-US" altLang="zh-CN" sz="1800" dirty="0">
              <a:solidFill>
                <a:srgbClr val="577CCE"/>
              </a:solidFill>
              <a:latin typeface="+mn-ea"/>
            </a:endParaRPr>
          </a:p>
        </p:txBody>
      </p:sp>
      <p:sp>
        <p:nvSpPr>
          <p:cNvPr id="5" name="文本框 4"/>
          <p:cNvSpPr txBox="1"/>
          <p:nvPr/>
        </p:nvSpPr>
        <p:spPr>
          <a:xfrm>
            <a:off x="818273" y="1654459"/>
            <a:ext cx="609456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）读取文件 </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1346199" y="2088164"/>
            <a:ext cx="786681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读取文件是同写入文件相反的操作，从文件中读取信息生成新的 </a:t>
            </a:r>
            <a:r>
              <a:rPr lang="en-US" altLang="zh-CN" b="0" dirty="0" err="1">
                <a:solidFill>
                  <a:srgbClr val="24292E"/>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对象。示例如下：</a:t>
            </a:r>
            <a:endParaRPr lang="zh-CN" altLang="en-US" b="0" dirty="0">
              <a:solidFill>
                <a:srgbClr val="24292E"/>
              </a:solidFill>
              <a:effectLst/>
              <a:latin typeface="Consolas" panose="020B0609020204030204" pitchFamily="49" charset="0"/>
            </a:endParaRPr>
          </a:p>
        </p:txBody>
      </p:sp>
      <p:sp>
        <p:nvSpPr>
          <p:cNvPr id="19" name="文本框 18"/>
          <p:cNvSpPr txBox="1"/>
          <p:nvPr/>
        </p:nvSpPr>
        <p:spPr>
          <a:xfrm>
            <a:off x="1346199" y="2792586"/>
            <a:ext cx="10344785" cy="1077218"/>
          </a:xfrm>
          <a:prstGeom prst="rect">
            <a:avLst/>
          </a:prstGeom>
          <a:noFill/>
        </p:spPr>
        <p:txBody>
          <a:bodyPr wrap="square">
            <a:spAutoFit/>
          </a:bodyPr>
          <a:lstStyle/>
          <a:p>
            <a:r>
              <a:rPr lang="en-US" altLang="zh-CN" sz="1600" b="0" dirty="0" err="1">
                <a:solidFill>
                  <a:srgbClr val="24292E"/>
                </a:solidFill>
                <a:effectLst/>
                <a:latin typeface="Consolas" panose="020B0609020204030204" pitchFamily="49" charset="0"/>
              </a:rPr>
              <a:t>pd.read_csv</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"test.csv"</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a:t>
            </a:r>
            <a:r>
              <a:rPr lang="zh-CN" altLang="en-US" sz="1600" b="0" dirty="0">
                <a:solidFill>
                  <a:srgbClr val="6A737D"/>
                </a:solidFill>
                <a:effectLst/>
                <a:latin typeface="Consolas" panose="020B0609020204030204" pitchFamily="49" charset="0"/>
              </a:rPr>
              <a:t>读取 </a:t>
            </a:r>
            <a:r>
              <a:rPr lang="en-US" altLang="zh-CN" sz="1600" b="0" dirty="0">
                <a:solidFill>
                  <a:srgbClr val="6A737D"/>
                </a:solidFill>
                <a:effectLst/>
                <a:latin typeface="Consolas" panose="020B0609020204030204" pitchFamily="49" charset="0"/>
              </a:rPr>
              <a:t>csv </a:t>
            </a:r>
            <a:r>
              <a:rPr lang="zh-CN" altLang="en-US" sz="1600" b="0" dirty="0">
                <a:solidFill>
                  <a:srgbClr val="6A737D"/>
                </a:solidFill>
                <a:effectLst/>
                <a:latin typeface="Consolas" panose="020B0609020204030204" pitchFamily="49" charset="0"/>
              </a:rPr>
              <a:t>文件，参数为文件名 </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pd.read_hdf</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"test.h5"</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df</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a:t>
            </a:r>
            <a:r>
              <a:rPr lang="zh-CN" altLang="en-US" sz="1600" b="0" dirty="0">
                <a:solidFill>
                  <a:srgbClr val="6A737D"/>
                </a:solidFill>
                <a:effectLst/>
                <a:latin typeface="Consolas" panose="020B0609020204030204" pitchFamily="49" charset="0"/>
              </a:rPr>
              <a:t>从 </a:t>
            </a:r>
            <a:r>
              <a:rPr lang="en-US" altLang="zh-CN" sz="1600" b="0" dirty="0">
                <a:solidFill>
                  <a:srgbClr val="6A737D"/>
                </a:solidFill>
                <a:effectLst/>
                <a:latin typeface="Consolas" panose="020B0609020204030204" pitchFamily="49" charset="0"/>
              </a:rPr>
              <a:t>hdf5 </a:t>
            </a:r>
            <a:r>
              <a:rPr lang="zh-CN" altLang="en-US" sz="1600" b="0" dirty="0">
                <a:solidFill>
                  <a:srgbClr val="6A737D"/>
                </a:solidFill>
                <a:effectLst/>
                <a:latin typeface="Consolas" panose="020B0609020204030204" pitchFamily="49" charset="0"/>
              </a:rPr>
              <a:t>文件读取 </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pd.read_excel</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"test.xlsx"</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"Sheet1"</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index_col</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na_values</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"NA"</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从 </a:t>
            </a:r>
            <a:r>
              <a:rPr lang="en-US" altLang="zh-CN" sz="1600" b="0" dirty="0">
                <a:solidFill>
                  <a:srgbClr val="6A737D"/>
                </a:solidFill>
                <a:effectLst/>
                <a:latin typeface="Consolas" panose="020B0609020204030204" pitchFamily="49" charset="0"/>
              </a:rPr>
              <a:t>test.xlsx </a:t>
            </a:r>
            <a:r>
              <a:rPr lang="zh-CN" altLang="en-US" sz="1600" b="0" dirty="0">
                <a:solidFill>
                  <a:srgbClr val="6A737D"/>
                </a:solidFill>
                <a:effectLst/>
                <a:latin typeface="Consolas" panose="020B0609020204030204" pitchFamily="49" charset="0"/>
              </a:rPr>
              <a:t>文件中的 </a:t>
            </a:r>
            <a:r>
              <a:rPr lang="en-US" altLang="zh-CN" sz="1600" b="0" dirty="0">
                <a:solidFill>
                  <a:srgbClr val="6A737D"/>
                </a:solidFill>
                <a:effectLst/>
                <a:latin typeface="Consolas" panose="020B0609020204030204" pitchFamily="49" charset="0"/>
              </a:rPr>
              <a:t>Sheet1 </a:t>
            </a:r>
            <a:r>
              <a:rPr lang="zh-CN" altLang="en-US" sz="1600" b="0" dirty="0">
                <a:solidFill>
                  <a:srgbClr val="6A737D"/>
                </a:solidFill>
                <a:effectLst/>
                <a:latin typeface="Consolas" panose="020B0609020204030204" pitchFamily="49" charset="0"/>
              </a:rPr>
              <a:t>表单中读取数据，行索引在第 </a:t>
            </a:r>
            <a:r>
              <a:rPr lang="en-US" altLang="zh-CN" sz="1600" b="0" dirty="0">
                <a:solidFill>
                  <a:srgbClr val="6A737D"/>
                </a:solidFill>
                <a:effectLst/>
                <a:latin typeface="Consolas" panose="020B0609020204030204" pitchFamily="49" charset="0"/>
              </a:rPr>
              <a:t>0 </a:t>
            </a:r>
            <a:r>
              <a:rPr lang="zh-CN" altLang="en-US" sz="1600" b="0" dirty="0">
                <a:solidFill>
                  <a:srgbClr val="6A737D"/>
                </a:solidFill>
                <a:effectLst/>
                <a:latin typeface="Consolas" panose="020B0609020204030204" pitchFamily="49" charset="0"/>
              </a:rPr>
              <a:t>列（若没有设置为 </a:t>
            </a:r>
            <a:r>
              <a:rPr lang="en-US" altLang="zh-CN" sz="1600" b="0" dirty="0">
                <a:solidFill>
                  <a:srgbClr val="6A737D"/>
                </a:solidFill>
                <a:effectLst/>
                <a:latin typeface="Consolas" panose="020B0609020204030204" pitchFamily="49" charset="0"/>
              </a:rPr>
              <a:t>None</a:t>
            </a:r>
            <a:r>
              <a:rPr lang="zh-CN" altLang="en-US" sz="1600" b="0" dirty="0">
                <a:solidFill>
                  <a:srgbClr val="6A737D"/>
                </a:solidFill>
                <a:effectLst/>
                <a:latin typeface="Consolas" panose="020B0609020204030204" pitchFamily="49" charset="0"/>
              </a:rPr>
              <a:t>），若有缺省 值则使用 </a:t>
            </a:r>
            <a:r>
              <a:rPr lang="en-US" altLang="zh-CN" sz="1600" b="0" dirty="0">
                <a:solidFill>
                  <a:srgbClr val="6A737D"/>
                </a:solidFill>
                <a:effectLst/>
                <a:latin typeface="Consolas" panose="020B0609020204030204" pitchFamily="49" charset="0"/>
              </a:rPr>
              <a:t>NA </a:t>
            </a:r>
            <a:r>
              <a:rPr lang="zh-CN" altLang="en-US" sz="1600" b="0" dirty="0">
                <a:solidFill>
                  <a:srgbClr val="6A737D"/>
                </a:solidFill>
                <a:effectLst/>
                <a:latin typeface="Consolas" panose="020B0609020204030204" pitchFamily="49" charset="0"/>
              </a:rPr>
              <a:t>表示</a:t>
            </a:r>
            <a:endParaRPr lang="zh-CN" altLang="en-US" sz="1600" b="0" dirty="0">
              <a:solidFill>
                <a:srgbClr val="24292E"/>
              </a:solidFill>
              <a:effectLst/>
              <a:latin typeface="Consolas" panose="020B0609020204030204" pitchFamily="49" charset="0"/>
            </a:endParaRPr>
          </a:p>
        </p:txBody>
      </p:sp>
      <p:sp>
        <p:nvSpPr>
          <p:cNvPr id="11" name="文本框 10"/>
          <p:cNvSpPr txBox="1"/>
          <p:nvPr/>
        </p:nvSpPr>
        <p:spPr>
          <a:xfrm>
            <a:off x="945625" y="3976772"/>
            <a:ext cx="6094602" cy="2585323"/>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Csv</a:t>
            </a:r>
            <a:r>
              <a:rPr lang="zh-CN" altLang="en-US" b="0" dirty="0">
                <a:solidFill>
                  <a:srgbClr val="24292E"/>
                </a:solidFill>
                <a:effectLst/>
                <a:latin typeface="Consolas" panose="020B0609020204030204" pitchFamily="49" charset="0"/>
              </a:rPr>
              <a:t>读出，表格化输出：</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Unnamed: 0 |   A   |   B   | C | D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0     |  foo  |  one  | 2 | 0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1     |  bar  |  one  | 3 | 3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2     |  foo  |  two  | 3 | 4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3     |  bar  | three | 1 | 2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4     |  foo  |  two  | 0 | 4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5     |  bar  |  one  | 1 | 2 |</a:t>
            </a:r>
            <a:endParaRPr lang="en-US" altLang="zh-CN" b="0" dirty="0">
              <a:solidFill>
                <a:srgbClr val="24292E"/>
              </a:solidFill>
              <a:effectLst/>
              <a:latin typeface="Consolas" panose="020B0609020204030204" pitchFamily="49" charset="0"/>
            </a:endParaRPr>
          </a:p>
        </p:txBody>
      </p:sp>
      <p:sp>
        <p:nvSpPr>
          <p:cNvPr id="13" name="文本框 12"/>
          <p:cNvSpPr txBox="1"/>
          <p:nvPr/>
        </p:nvSpPr>
        <p:spPr>
          <a:xfrm>
            <a:off x="7693638" y="3976772"/>
            <a:ext cx="3883169" cy="2585323"/>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Hdf</a:t>
            </a:r>
            <a:r>
              <a:rPr lang="en-US" altLang="zh-CN" b="0" dirty="0">
                <a:solidFill>
                  <a:srgbClr val="24292E"/>
                </a:solidFill>
                <a:effectLst/>
                <a:latin typeface="Consolas" panose="020B0609020204030204" pitchFamily="49" charset="0"/>
              </a:rPr>
              <a:t>/excel</a:t>
            </a:r>
            <a:r>
              <a:rPr lang="zh-CN" altLang="en-US" b="0" dirty="0">
                <a:solidFill>
                  <a:srgbClr val="24292E"/>
                </a:solidFill>
                <a:effectLst/>
                <a:latin typeface="Consolas" panose="020B0609020204030204" pitchFamily="49" charset="0"/>
              </a:rPr>
              <a:t>读出，表格化输出：</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   |   B   | C | D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foo  |  one  | 2 | 0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bar  |  one  | 3 | 3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foo  |  two  | 3 | 4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bar  | three | 1 | 2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foo  |  two  | 0 | 4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bar  |  one  | 1 | 2 |</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2.5.1 </a:t>
            </a:r>
            <a:r>
              <a:rPr lang="zh-CN" altLang="en-US" sz="1800" dirty="0">
                <a:solidFill>
                  <a:srgbClr val="577CCE"/>
                </a:solidFill>
                <a:latin typeface="+mn-ea"/>
              </a:rPr>
              <a:t>基础概念</a:t>
            </a:r>
            <a:endParaRPr lang="en-US" altLang="zh-CN" sz="1800" dirty="0">
              <a:solidFill>
                <a:srgbClr val="577CCE"/>
              </a:solidFill>
              <a:latin typeface="+mn-ea"/>
            </a:endParaRPr>
          </a:p>
        </p:txBody>
      </p:sp>
      <p:sp>
        <p:nvSpPr>
          <p:cNvPr id="9" name="文本框 8"/>
          <p:cNvSpPr txBox="1"/>
          <p:nvPr/>
        </p:nvSpPr>
        <p:spPr>
          <a:xfrm>
            <a:off x="658303" y="1576927"/>
            <a:ext cx="11220509" cy="147732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有两个基本的概念：</a:t>
            </a:r>
            <a:r>
              <a:rPr lang="zh-CN" altLang="en-US" b="0" dirty="0">
                <a:solidFill>
                  <a:srgbClr val="FF0000"/>
                </a:solidFill>
                <a:effectLst/>
                <a:latin typeface="Consolas" panose="020B0609020204030204" pitchFamily="49" charset="0"/>
              </a:rPr>
              <a:t>图形（</a:t>
            </a:r>
            <a:r>
              <a:rPr lang="en-US" altLang="zh-CN" b="0" dirty="0">
                <a:solidFill>
                  <a:srgbClr val="FF0000"/>
                </a:solidFill>
                <a:effectLst/>
                <a:latin typeface="Consolas" panose="020B0609020204030204" pitchFamily="49" charset="0"/>
              </a:rPr>
              <a:t>figure</a:t>
            </a:r>
            <a:r>
              <a:rPr lang="zh-CN" altLang="en-US"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和</a:t>
            </a:r>
            <a:r>
              <a:rPr lang="zh-CN" altLang="en-US" b="0" dirty="0">
                <a:solidFill>
                  <a:srgbClr val="FF0000"/>
                </a:solidFill>
                <a:effectLst/>
                <a:latin typeface="Consolas" panose="020B0609020204030204" pitchFamily="49" charset="0"/>
              </a:rPr>
              <a:t>轴（</a:t>
            </a:r>
            <a:r>
              <a:rPr lang="en-US" altLang="zh-CN" b="0" dirty="0">
                <a:solidFill>
                  <a:srgbClr val="FF0000"/>
                </a:solidFill>
                <a:effectLst/>
                <a:latin typeface="Consolas" panose="020B0609020204030204" pitchFamily="49" charset="0"/>
              </a:rPr>
              <a:t>axes</a:t>
            </a:r>
            <a:r>
              <a:rPr lang="zh-CN" altLang="en-US"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Figure </a:t>
            </a:r>
            <a:r>
              <a:rPr lang="zh-CN" altLang="en-US" b="0" dirty="0">
                <a:solidFill>
                  <a:srgbClr val="24292E"/>
                </a:solidFill>
                <a:effectLst/>
                <a:latin typeface="Consolas" panose="020B0609020204030204" pitchFamily="49" charset="0"/>
              </a:rPr>
              <a:t>相当于进行画图的窗口或画板，所有要绘制的对象都要放置其中，一个 </a:t>
            </a:r>
            <a:r>
              <a:rPr lang="en-US" altLang="zh-CN" b="0" dirty="0">
                <a:solidFill>
                  <a:srgbClr val="24292E"/>
                </a:solidFill>
                <a:effectLst/>
                <a:latin typeface="Consolas" panose="020B0609020204030204" pitchFamily="49" charset="0"/>
              </a:rPr>
              <a:t>figure </a:t>
            </a:r>
            <a:r>
              <a:rPr lang="zh-CN" altLang="en-US" b="0" dirty="0">
                <a:solidFill>
                  <a:srgbClr val="24292E"/>
                </a:solidFill>
                <a:effectLst/>
                <a:latin typeface="Consolas" panose="020B0609020204030204" pitchFamily="49" charset="0"/>
              </a:rPr>
              <a:t>可以包含一个或多个 </a:t>
            </a:r>
            <a:r>
              <a:rPr lang="en-US" altLang="zh-CN" b="0" dirty="0">
                <a:solidFill>
                  <a:srgbClr val="24292E"/>
                </a:solidFill>
                <a:effectLst/>
                <a:latin typeface="Consolas" panose="020B0609020204030204" pitchFamily="49" charset="0"/>
              </a:rPr>
              <a:t>axes</a:t>
            </a:r>
            <a:r>
              <a:rPr lang="zh-CN" altLang="en-US" b="0" dirty="0">
                <a:solidFill>
                  <a:srgbClr val="24292E"/>
                </a:solidFill>
                <a:effectLst/>
                <a:latin typeface="Consolas" panose="020B0609020204030204" pitchFamily="49" charset="0"/>
              </a:rPr>
              <a:t>。 而 </a:t>
            </a:r>
            <a:r>
              <a:rPr lang="en-US" altLang="zh-CN" b="0" dirty="0">
                <a:solidFill>
                  <a:srgbClr val="FF0000"/>
                </a:solidFill>
                <a:effectLst/>
                <a:latin typeface="Consolas" panose="020B0609020204030204" pitchFamily="49" charset="0"/>
              </a:rPr>
              <a:t>axes </a:t>
            </a:r>
            <a:r>
              <a:rPr lang="zh-CN" altLang="en-US" b="0" dirty="0">
                <a:solidFill>
                  <a:srgbClr val="FF0000"/>
                </a:solidFill>
                <a:effectLst/>
                <a:latin typeface="Consolas" panose="020B0609020204030204" pitchFamily="49" charset="0"/>
              </a:rPr>
              <a:t>也被称为子图或轴域</a:t>
            </a:r>
            <a:r>
              <a:rPr lang="zh-CN" altLang="en-US" b="0" dirty="0">
                <a:solidFill>
                  <a:srgbClr val="24292E"/>
                </a:solidFill>
                <a:effectLst/>
                <a:latin typeface="Consolas" panose="020B0609020204030204" pitchFamily="49" charset="0"/>
              </a:rPr>
              <a:t>，是绘制一组数据的区域，可包含子图的标题（</a:t>
            </a:r>
            <a:r>
              <a:rPr lang="en-US" altLang="zh-CN" b="0" dirty="0">
                <a:solidFill>
                  <a:srgbClr val="24292E"/>
                </a:solidFill>
                <a:effectLst/>
                <a:latin typeface="Consolas" panose="020B0609020204030204" pitchFamily="49" charset="0"/>
              </a:rPr>
              <a:t>title</a:t>
            </a:r>
            <a:r>
              <a:rPr lang="zh-CN" altLang="en-US" b="0" dirty="0">
                <a:solidFill>
                  <a:srgbClr val="24292E"/>
                </a:solidFill>
                <a:effectLst/>
                <a:latin typeface="Consolas" panose="020B0609020204030204" pitchFamily="49" charset="0"/>
              </a:rPr>
              <a:t>），图形图例名称（</a:t>
            </a:r>
            <a:r>
              <a:rPr lang="en-US" altLang="zh-CN" b="0" dirty="0">
                <a:solidFill>
                  <a:srgbClr val="24292E"/>
                </a:solidFill>
                <a:effectLst/>
                <a:latin typeface="Consolas" panose="020B0609020204030204" pitchFamily="49" charset="0"/>
              </a:rPr>
              <a:t>legend</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xy</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坐标轴或进行三维绘图时使用的 </a:t>
            </a:r>
            <a:r>
              <a:rPr lang="en-US" altLang="zh-CN" b="0" dirty="0">
                <a:solidFill>
                  <a:srgbClr val="24292E"/>
                </a:solidFill>
                <a:effectLst/>
                <a:latin typeface="Consolas" panose="020B0609020204030204" pitchFamily="49" charset="0"/>
              </a:rPr>
              <a:t>z </a:t>
            </a:r>
            <a:r>
              <a:rPr lang="zh-CN" altLang="en-US" b="0" dirty="0">
                <a:solidFill>
                  <a:srgbClr val="24292E"/>
                </a:solidFill>
                <a:effectLst/>
                <a:latin typeface="Consolas" panose="020B0609020204030204" pitchFamily="49" charset="0"/>
              </a:rPr>
              <a:t>坐标轴的轴名称（</a:t>
            </a:r>
            <a:r>
              <a:rPr lang="en-US" altLang="zh-CN" b="0" dirty="0">
                <a:solidFill>
                  <a:srgbClr val="24292E"/>
                </a:solidFill>
                <a:effectLst/>
                <a:latin typeface="Consolas" panose="020B0609020204030204" pitchFamily="49" charset="0"/>
              </a:rPr>
              <a:t>axis label</a:t>
            </a:r>
            <a:r>
              <a:rPr lang="zh-CN" altLang="en-US" b="0" dirty="0">
                <a:solidFill>
                  <a:srgbClr val="24292E"/>
                </a:solidFill>
                <a:effectLst/>
                <a:latin typeface="Consolas" panose="020B0609020204030204" pitchFamily="49" charset="0"/>
              </a:rPr>
              <a:t>）、刻度、最大刻度，以及要绘制的点、线、形状、文本等各种信息，这些统称为组件（</a:t>
            </a:r>
            <a:r>
              <a:rPr lang="en-US" altLang="zh-CN" b="0" dirty="0">
                <a:solidFill>
                  <a:srgbClr val="24292E"/>
                </a:solidFill>
                <a:effectLst/>
                <a:latin typeface="Consolas" panose="020B0609020204030204" pitchFamily="49" charset="0"/>
              </a:rPr>
              <a:t>artist</a:t>
            </a:r>
            <a:r>
              <a:rPr lang="zh-CN" altLang="en-US" b="0" dirty="0">
                <a:solidFill>
                  <a:srgbClr val="24292E"/>
                </a:solidFill>
                <a:effectLst/>
                <a:latin typeface="Consolas" panose="020B0609020204030204" pitchFamily="49" charset="0"/>
              </a:rPr>
              <a:t>）。 以下是绘图的简单举例：</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08776" y="3054255"/>
            <a:ext cx="10870036"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 </a:t>
            </a:r>
            <a:r>
              <a:rPr lang="en-US" altLang="zh-CN" b="0" dirty="0">
                <a:solidFill>
                  <a:srgbClr val="6A737D"/>
                </a:solidFill>
                <a:effectLst/>
                <a:latin typeface="Consolas" panose="020B0609020204030204" pitchFamily="49" charset="0"/>
              </a:rPr>
              <a:t>figure </a:t>
            </a:r>
            <a:r>
              <a:rPr lang="zh-CN" altLang="en-US" b="0" dirty="0">
                <a:solidFill>
                  <a:srgbClr val="6A737D"/>
                </a:solidFill>
                <a:effectLst/>
                <a:latin typeface="Consolas" panose="020B0609020204030204" pitchFamily="49" charset="0"/>
              </a:rPr>
              <a:t>及包含于其中的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列共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个 </a:t>
            </a:r>
            <a:r>
              <a:rPr lang="en-US" altLang="zh-CN" b="0" dirty="0">
                <a:solidFill>
                  <a:srgbClr val="6A737D"/>
                </a:solidFill>
                <a:effectLst/>
                <a:latin typeface="Consolas" panose="020B0609020204030204" pitchFamily="49" charset="0"/>
              </a:rPr>
              <a:t>axes </a:t>
            </a:r>
            <a:r>
              <a:rPr lang="zh-CN" altLang="en-US" b="0" dirty="0">
                <a:solidFill>
                  <a:srgbClr val="6A737D"/>
                </a:solidFill>
                <a:effectLst/>
                <a:latin typeface="Consolas" panose="020B0609020204030204" pitchFamily="49" charset="0"/>
              </a:rPr>
              <a:t>子图</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].plot([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在子图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上绘制数据，两个列表分别表示数 据的横纵坐标，即四个点的坐标分别为（</a:t>
            </a:r>
            <a:r>
              <a:rPr lang="en-US" altLang="zh-CN" b="0" dirty="0">
                <a:solidFill>
                  <a:srgbClr val="6A737D"/>
                </a:solidFill>
                <a:effectLst/>
                <a:latin typeface="Consolas" panose="020B0609020204030204" pitchFamily="49" charset="0"/>
              </a:rPr>
              <a:t>1,1</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2,4</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3,2</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4,3</a:t>
            </a:r>
            <a:r>
              <a:rPr lang="zh-CN" altLang="en-US" b="0" dirty="0">
                <a:solidFill>
                  <a:srgbClr val="6A737D"/>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3438081" y="3981823"/>
            <a:ext cx="3768062" cy="2820633"/>
          </a:xfrm>
          <a:prstGeom prst="rect">
            <a:avLst/>
          </a:prstGeom>
        </p:spPr>
      </p:pic>
    </p:spTree>
    <p:custDataLst>
      <p:tags r:id="rId2"/>
    </p:custDataLst>
  </p:cSld>
  <p:clrMapOvr>
    <a:masterClrMapping/>
  </p:clrMapOvr>
  <p:transition spd="slow">
    <p:push di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2.5.1 </a:t>
            </a:r>
            <a:r>
              <a:rPr lang="zh-CN" altLang="en-US" sz="1800" dirty="0">
                <a:solidFill>
                  <a:srgbClr val="577CCE"/>
                </a:solidFill>
                <a:latin typeface="+mn-ea"/>
              </a:rPr>
              <a:t>基础概念</a:t>
            </a:r>
            <a:endParaRPr lang="en-US" altLang="zh-CN" sz="1800" dirty="0">
              <a:solidFill>
                <a:srgbClr val="577CCE"/>
              </a:solidFill>
              <a:latin typeface="+mn-ea"/>
            </a:endParaRPr>
          </a:p>
        </p:txBody>
      </p:sp>
      <p:sp>
        <p:nvSpPr>
          <p:cNvPr id="4" name="文本框 3"/>
          <p:cNvSpPr txBox="1"/>
          <p:nvPr/>
        </p:nvSpPr>
        <p:spPr>
          <a:xfrm>
            <a:off x="916497" y="1619630"/>
            <a:ext cx="10870036"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 </a:t>
            </a:r>
            <a:r>
              <a:rPr lang="en-US" altLang="zh-CN" b="0" dirty="0">
                <a:solidFill>
                  <a:srgbClr val="6A737D"/>
                </a:solidFill>
                <a:effectLst/>
                <a:latin typeface="Consolas" panose="020B0609020204030204" pitchFamily="49" charset="0"/>
              </a:rPr>
              <a:t>figure </a:t>
            </a:r>
            <a:r>
              <a:rPr lang="zh-CN" altLang="en-US" b="0" dirty="0">
                <a:solidFill>
                  <a:srgbClr val="6A737D"/>
                </a:solidFill>
                <a:effectLst/>
                <a:latin typeface="Consolas" panose="020B0609020204030204" pitchFamily="49" charset="0"/>
              </a:rPr>
              <a:t>及包含于其中的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列共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个 </a:t>
            </a:r>
            <a:r>
              <a:rPr lang="en-US" altLang="zh-CN" b="0" dirty="0">
                <a:solidFill>
                  <a:srgbClr val="6A737D"/>
                </a:solidFill>
                <a:effectLst/>
                <a:latin typeface="Consolas" panose="020B0609020204030204" pitchFamily="49" charset="0"/>
              </a:rPr>
              <a:t>axes </a:t>
            </a:r>
            <a:r>
              <a:rPr lang="zh-CN" altLang="en-US" b="0" dirty="0">
                <a:solidFill>
                  <a:srgbClr val="6A737D"/>
                </a:solidFill>
                <a:effectLst/>
                <a:latin typeface="Consolas" panose="020B0609020204030204" pitchFamily="49" charset="0"/>
              </a:rPr>
              <a:t>子图</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].plot([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在子图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上绘制数据，参数列表表示数据的纵坐标，横坐标默 认从 </a:t>
            </a:r>
            <a:r>
              <a:rPr lang="en-US" altLang="zh-CN" b="0" dirty="0">
                <a:solidFill>
                  <a:srgbClr val="6A737D"/>
                </a:solidFill>
                <a:effectLst/>
                <a:latin typeface="Consolas" panose="020B0609020204030204" pitchFamily="49" charset="0"/>
              </a:rPr>
              <a:t>0 </a:t>
            </a:r>
            <a:r>
              <a:rPr lang="zh-CN" altLang="en-US" b="0" dirty="0">
                <a:solidFill>
                  <a:srgbClr val="6A737D"/>
                </a:solidFill>
                <a:effectLst/>
                <a:latin typeface="Consolas" panose="020B0609020204030204" pitchFamily="49" charset="0"/>
              </a:rPr>
              <a:t>开始的整数值，即</a:t>
            </a:r>
            <a:r>
              <a:rPr lang="en-US" altLang="zh-CN" b="0" dirty="0">
                <a:solidFill>
                  <a:srgbClr val="6A737D"/>
                </a:solidFill>
                <a:effectLst/>
                <a:latin typeface="Consolas" panose="020B0609020204030204" pitchFamily="49" charset="0"/>
              </a:rPr>
              <a:t>[0,1,2,3]</a:t>
            </a:r>
            <a:r>
              <a:rPr lang="zh-CN" altLang="en-US" b="0" dirty="0">
                <a:solidFill>
                  <a:srgbClr val="6A737D"/>
                </a:solidFill>
                <a:effectLst/>
                <a:latin typeface="Consolas" panose="020B0609020204030204" pitchFamily="49" charset="0"/>
              </a:rPr>
              <a:t>，因此四个点的坐标分别为（</a:t>
            </a:r>
            <a:r>
              <a:rPr lang="en-US" altLang="zh-CN" b="0" dirty="0">
                <a:solidFill>
                  <a:srgbClr val="6A737D"/>
                </a:solidFill>
                <a:effectLst/>
                <a:latin typeface="Consolas" panose="020B0609020204030204" pitchFamily="49" charset="0"/>
              </a:rPr>
              <a:t>0,0</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1,1</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2,4</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3,9</a:t>
            </a:r>
            <a:r>
              <a:rPr lang="zh-CN" altLang="en-US" b="0" dirty="0">
                <a:solidFill>
                  <a:srgbClr val="6A737D"/>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917984" y="2542960"/>
            <a:ext cx="5433531" cy="4054191"/>
          </a:xfrm>
          <a:prstGeom prst="rect">
            <a:avLst/>
          </a:prstGeom>
        </p:spPr>
      </p:pic>
      <p:sp>
        <p:nvSpPr>
          <p:cNvPr id="8" name="文本框 7"/>
          <p:cNvSpPr txBox="1"/>
          <p:nvPr/>
        </p:nvSpPr>
        <p:spPr>
          <a:xfrm>
            <a:off x="6982525" y="2723396"/>
            <a:ext cx="4172998" cy="3139321"/>
          </a:xfrm>
          <a:prstGeom prst="rect">
            <a:avLst/>
          </a:prstGeom>
          <a:noFill/>
        </p:spPr>
        <p:txBody>
          <a:bodyPr wrap="square">
            <a:spAutoFit/>
          </a:bodyPr>
          <a:lstStyle/>
          <a:p>
            <a:r>
              <a:rPr lang="zh-CN" altLang="en-US" dirty="0"/>
              <a:t>本例中，fig, ax = plt.subplots(2, 1) 语句生成了 </a:t>
            </a:r>
            <a:r>
              <a:rPr lang="zh-CN" altLang="en-US" dirty="0">
                <a:solidFill>
                  <a:srgbClr val="FF0000"/>
                </a:solidFill>
              </a:rPr>
              <a:t>figure 对象</a:t>
            </a:r>
            <a:r>
              <a:rPr lang="zh-CN" altLang="en-US" dirty="0"/>
              <a:t>和 </a:t>
            </a:r>
            <a:r>
              <a:rPr lang="zh-CN" altLang="en-US" dirty="0">
                <a:solidFill>
                  <a:srgbClr val="FF0000"/>
                </a:solidFill>
              </a:rPr>
              <a:t>2 个 axes 对象</a:t>
            </a:r>
            <a:r>
              <a:rPr lang="zh-CN" altLang="en-US" dirty="0"/>
              <a:t>。两个 axes 对象 ax[0]、ax[1] 的排列是 2 行 1 列。若语句为 fig, ax = plt.subplots(3, 2)，则表示生成 3 行 2 列共计 6 个 axes 对象，分别表示为 ax[0][0] 或 ax[0,0]、ax[0][1] 或 ax[0,1]、ax[1][0] 或 ax[1,0]、…、ax[2][1] 或 ax[2,1]。若参数为空，即 fig, ax = plt.subplots()，则只生成 1 个 axes 对象，对象名为 ax。</a:t>
            </a:r>
            <a:endParaRPr lang="zh-CN" altLang="en-US" dirty="0"/>
          </a:p>
        </p:txBody>
      </p:sp>
    </p:spTree>
    <p:custDataLst>
      <p:tags r:id="rId2"/>
    </p:custDataLst>
  </p:cSld>
  <p:clrMapOvr>
    <a:masterClrMapping/>
  </p:clrMapOvr>
  <p:transition spd="slow">
    <p:push di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2.5.1 </a:t>
            </a:r>
            <a:r>
              <a:rPr lang="zh-CN" altLang="en-US" sz="1800" dirty="0">
                <a:solidFill>
                  <a:srgbClr val="577CCE"/>
                </a:solidFill>
                <a:latin typeface="+mn-ea"/>
              </a:rPr>
              <a:t>基础概念</a:t>
            </a:r>
            <a:endParaRPr lang="en-US" altLang="zh-CN" sz="1800" dirty="0">
              <a:solidFill>
                <a:srgbClr val="577CCE"/>
              </a:solidFill>
              <a:latin typeface="+mn-ea"/>
            </a:endParaRPr>
          </a:p>
        </p:txBody>
      </p:sp>
      <p:sp>
        <p:nvSpPr>
          <p:cNvPr id="4" name="文本框 3"/>
          <p:cNvSpPr txBox="1"/>
          <p:nvPr/>
        </p:nvSpPr>
        <p:spPr>
          <a:xfrm>
            <a:off x="1403056" y="2000886"/>
            <a:ext cx="9385887"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生成不包含 </a:t>
            </a:r>
            <a:r>
              <a:rPr lang="en-US" altLang="zh-CN" b="0" dirty="0">
                <a:solidFill>
                  <a:srgbClr val="6A737D"/>
                </a:solidFill>
                <a:effectLst/>
                <a:latin typeface="Consolas" panose="020B0609020204030204" pitchFamily="49" charset="0"/>
              </a:rPr>
              <a:t>axes </a:t>
            </a:r>
            <a:r>
              <a:rPr lang="zh-CN" altLang="en-US" b="0" dirty="0">
                <a:solidFill>
                  <a:srgbClr val="6A737D"/>
                </a:solidFill>
                <a:effectLst/>
                <a:latin typeface="Consolas" panose="020B0609020204030204" pitchFamily="49" charset="0"/>
              </a:rPr>
              <a:t>的 </a:t>
            </a:r>
            <a:r>
              <a:rPr lang="en-US" altLang="zh-CN" b="0" dirty="0">
                <a:solidFill>
                  <a:srgbClr val="6A737D"/>
                </a:solidFill>
                <a:effectLst/>
                <a:latin typeface="Consolas" panose="020B0609020204030204" pitchFamily="49" charset="0"/>
              </a:rPr>
              <a:t>figure </a:t>
            </a:r>
            <a:r>
              <a:rPr lang="zh-CN" altLang="en-US" b="0" dirty="0">
                <a:solidFill>
                  <a:srgbClr val="6A737D"/>
                </a:solidFill>
                <a:effectLst/>
                <a:latin typeface="Consolas" panose="020B0609020204030204" pitchFamily="49" charset="0"/>
              </a:rPr>
              <a:t>对象，为当前图形对象</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当前图形对象没有子图</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403056" y="2782669"/>
            <a:ext cx="6944690"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axes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在当前图形下，生成 </a:t>
            </a:r>
            <a:r>
              <a:rPr lang="en-US" altLang="zh-CN" b="0" dirty="0">
                <a:solidFill>
                  <a:srgbClr val="6A737D"/>
                </a:solidFill>
                <a:effectLst/>
                <a:latin typeface="Consolas" panose="020B0609020204030204" pitchFamily="49" charset="0"/>
              </a:rPr>
              <a:t>axes </a:t>
            </a:r>
            <a:r>
              <a:rPr lang="zh-CN" altLang="en-US" b="0" dirty="0">
                <a:solidFill>
                  <a:srgbClr val="6A737D"/>
                </a:solidFill>
                <a:effectLst/>
                <a:latin typeface="Consolas" panose="020B0609020204030204" pitchFamily="49" charset="0"/>
              </a:rPr>
              <a:t>轴对象</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当前图形对象含有了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个子图</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16497" y="1610583"/>
            <a:ext cx="10058399"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生成 </a:t>
            </a:r>
            <a:r>
              <a:rPr lang="en-US" altLang="zh-CN" b="0" dirty="0">
                <a:solidFill>
                  <a:srgbClr val="24292E"/>
                </a:solidFill>
                <a:effectLst/>
                <a:latin typeface="Consolas" panose="020B0609020204030204" pitchFamily="49" charset="0"/>
              </a:rPr>
              <a:t>figure </a:t>
            </a:r>
            <a:r>
              <a:rPr lang="zh-CN" altLang="en-US" b="0" dirty="0">
                <a:solidFill>
                  <a:srgbClr val="24292E"/>
                </a:solidFill>
                <a:effectLst/>
                <a:latin typeface="Consolas" panose="020B0609020204030204" pitchFamily="49" charset="0"/>
              </a:rPr>
              <a:t>对象和 </a:t>
            </a:r>
            <a:r>
              <a:rPr lang="en-US" altLang="zh-CN" b="0" dirty="0">
                <a:solidFill>
                  <a:srgbClr val="24292E"/>
                </a:solidFill>
                <a:effectLst/>
                <a:latin typeface="Consolas" panose="020B0609020204030204" pitchFamily="49" charset="0"/>
              </a:rPr>
              <a:t>axes </a:t>
            </a:r>
            <a:r>
              <a:rPr lang="zh-CN" altLang="en-US" b="0" dirty="0">
                <a:solidFill>
                  <a:srgbClr val="24292E"/>
                </a:solidFill>
                <a:effectLst/>
                <a:latin typeface="Consolas" panose="020B0609020204030204" pitchFamily="49" charset="0"/>
              </a:rPr>
              <a:t>对象的方法有很多，例如如下语句也可以分别生成相关对象：</a:t>
            </a:r>
            <a:endParaRPr lang="zh-CN" altLang="en-US" b="0" dirty="0">
              <a:solidFill>
                <a:srgbClr val="24292E"/>
              </a:solidFill>
              <a:effectLst/>
              <a:latin typeface="Consolas" panose="020B0609020204030204" pitchFamily="49" charset="0"/>
            </a:endParaRPr>
          </a:p>
        </p:txBody>
      </p:sp>
      <p:sp>
        <p:nvSpPr>
          <p:cNvPr id="11" name="文本框 10"/>
          <p:cNvSpPr txBox="1"/>
          <p:nvPr/>
        </p:nvSpPr>
        <p:spPr>
          <a:xfrm>
            <a:off x="916496" y="3862423"/>
            <a:ext cx="11054593" cy="2585323"/>
          </a:xfrm>
          <a:prstGeom prst="rect">
            <a:avLst/>
          </a:prstGeom>
          <a:noFill/>
        </p:spPr>
        <p:txBody>
          <a:bodyPr wrap="square">
            <a:spAutoFit/>
          </a:bodyPr>
          <a:lstStyle/>
          <a:p>
            <a:pPr marL="285750" indent="-285750">
              <a:buFont typeface="Arial" panose="020B0604020202020204" pitchFamily="34" charset="0"/>
              <a:buChar char="•"/>
            </a:pPr>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支持</a:t>
            </a:r>
            <a:r>
              <a:rPr lang="zh-CN" altLang="en-US" b="0" dirty="0">
                <a:solidFill>
                  <a:srgbClr val="FF0000"/>
                </a:solidFill>
                <a:effectLst/>
                <a:latin typeface="Consolas" panose="020B0609020204030204" pitchFamily="49" charset="0"/>
              </a:rPr>
              <a:t>面向对象方式（</a:t>
            </a:r>
            <a:r>
              <a:rPr lang="en-US" altLang="zh-CN" b="0" dirty="0">
                <a:solidFill>
                  <a:srgbClr val="FF0000"/>
                </a:solidFill>
                <a:effectLst/>
                <a:latin typeface="Consolas" panose="020B0609020204030204" pitchFamily="49" charset="0"/>
              </a:rPr>
              <a:t>object-oriented-style</a:t>
            </a:r>
            <a:r>
              <a:rPr lang="zh-CN" altLang="en-US"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和 </a:t>
            </a:r>
            <a:r>
              <a:rPr lang="en-US" altLang="zh-CN" b="0" dirty="0" err="1">
                <a:solidFill>
                  <a:srgbClr val="FF0000"/>
                </a:solidFill>
                <a:effectLst/>
                <a:latin typeface="Consolas" panose="020B0609020204030204" pitchFamily="49" charset="0"/>
              </a:rPr>
              <a:t>pyplot</a:t>
            </a:r>
            <a:r>
              <a:rPr lang="en-US" altLang="zh-CN" b="0" dirty="0">
                <a:solidFill>
                  <a:srgbClr val="FF0000"/>
                </a:solidFill>
                <a:effectLst/>
                <a:latin typeface="Consolas" panose="020B0609020204030204" pitchFamily="49" charset="0"/>
              </a:rPr>
              <a:t> </a:t>
            </a:r>
            <a:r>
              <a:rPr lang="zh-CN" altLang="en-US" b="0" dirty="0">
                <a:solidFill>
                  <a:srgbClr val="FF0000"/>
                </a:solidFill>
                <a:effectLst/>
                <a:latin typeface="Consolas" panose="020B0609020204030204" pitchFamily="49" charset="0"/>
              </a:rPr>
              <a:t>方式（</a:t>
            </a:r>
            <a:r>
              <a:rPr lang="en-US" altLang="zh-CN" b="0" dirty="0" err="1">
                <a:solidFill>
                  <a:srgbClr val="FF0000"/>
                </a:solidFill>
                <a:effectLst/>
                <a:latin typeface="Consolas" panose="020B0609020204030204" pitchFamily="49" charset="0"/>
              </a:rPr>
              <a:t>pyplot</a:t>
            </a:r>
            <a:r>
              <a:rPr lang="en-US" altLang="zh-CN" b="0" dirty="0">
                <a:solidFill>
                  <a:srgbClr val="FF0000"/>
                </a:solidFill>
                <a:effectLst/>
                <a:latin typeface="Consolas" panose="020B0609020204030204" pitchFamily="49" charset="0"/>
              </a:rPr>
              <a:t>-style</a:t>
            </a:r>
            <a:r>
              <a:rPr lang="zh-CN" altLang="en-US"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两种 类型的绘图方法。</a:t>
            </a:r>
            <a:endParaRPr lang="en-US" altLang="zh-CN" b="0" dirty="0">
              <a:solidFill>
                <a:srgbClr val="24292E"/>
              </a:solidFill>
              <a:effectLst/>
              <a:latin typeface="Consolas" panose="020B0609020204030204" pitchFamily="49" charset="0"/>
            </a:endParaRPr>
          </a:p>
          <a:p>
            <a:pPr marL="285750" indent="-285750">
              <a:buFont typeface="Arial" panose="020B0604020202020204" pitchFamily="34" charset="0"/>
              <a:buChar char="•"/>
            </a:pPr>
            <a:endParaRPr lang="en-US" altLang="zh-CN" dirty="0">
              <a:solidFill>
                <a:srgbClr val="24292E"/>
              </a:solidFill>
              <a:latin typeface="Consolas" panose="020B0609020204030204" pitchFamily="49" charset="0"/>
            </a:endParaRPr>
          </a:p>
          <a:p>
            <a:pPr marL="285750" indent="-285750">
              <a:buFont typeface="Arial" panose="020B0604020202020204" pitchFamily="34" charset="0"/>
              <a:buChar char="•"/>
            </a:pPr>
            <a:r>
              <a:rPr lang="zh-CN" altLang="en-US" b="0" dirty="0">
                <a:solidFill>
                  <a:srgbClr val="24292E"/>
                </a:solidFill>
                <a:effectLst/>
                <a:latin typeface="Consolas" panose="020B0609020204030204" pitchFamily="49" charset="0"/>
              </a:rPr>
              <a:t>前面的绘图简单举例就是面向对象方式进行绘图，面向对象方式显式地创建图形 </a:t>
            </a:r>
            <a:r>
              <a:rPr lang="en-US" altLang="zh-CN" b="0" dirty="0">
                <a:solidFill>
                  <a:srgbClr val="24292E"/>
                </a:solidFill>
                <a:effectLst/>
                <a:latin typeface="Consolas" panose="020B0609020204030204" pitchFamily="49" charset="0"/>
              </a:rPr>
              <a:t>figure </a:t>
            </a:r>
            <a:r>
              <a:rPr lang="zh-CN" altLang="en-US" b="0" dirty="0">
                <a:solidFill>
                  <a:srgbClr val="24292E"/>
                </a:solidFill>
                <a:effectLst/>
                <a:latin typeface="Consolas" panose="020B0609020204030204" pitchFamily="49" charset="0"/>
              </a:rPr>
              <a:t>和轴 </a:t>
            </a:r>
            <a:r>
              <a:rPr lang="en-US" altLang="zh-CN" b="0" dirty="0">
                <a:solidFill>
                  <a:srgbClr val="24292E"/>
                </a:solidFill>
                <a:effectLst/>
                <a:latin typeface="Consolas" panose="020B0609020204030204" pitchFamily="49" charset="0"/>
              </a:rPr>
              <a:t>axes </a:t>
            </a:r>
            <a:r>
              <a:rPr lang="zh-CN" altLang="en-US" b="0" dirty="0">
                <a:solidFill>
                  <a:srgbClr val="24292E"/>
                </a:solidFill>
                <a:effectLst/>
                <a:latin typeface="Consolas" panose="020B0609020204030204" pitchFamily="49" charset="0"/>
              </a:rPr>
              <a:t>对象，并用这些对象直接调用自己的方法进行绘制图形。而 </a:t>
            </a:r>
            <a:r>
              <a:rPr lang="en-US" altLang="zh-CN" b="0" dirty="0" err="1">
                <a:solidFill>
                  <a:srgbClr val="24292E"/>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方式类似于 </a:t>
            </a:r>
            <a:r>
              <a:rPr lang="en-US" altLang="zh-CN" b="0" dirty="0">
                <a:solidFill>
                  <a:srgbClr val="24292E"/>
                </a:solidFill>
                <a:effectLst/>
                <a:latin typeface="Consolas" panose="020B0609020204030204" pitchFamily="49" charset="0"/>
              </a:rPr>
              <a:t>MATLAB </a:t>
            </a:r>
            <a:r>
              <a:rPr lang="zh-CN" altLang="en-US" b="0" dirty="0">
                <a:solidFill>
                  <a:srgbClr val="24292E"/>
                </a:solidFill>
                <a:effectLst/>
                <a:latin typeface="Consolas" panose="020B0609020204030204" pitchFamily="49" charset="0"/>
              </a:rPr>
              <a:t>形式的绘图方法，依靠 </a:t>
            </a:r>
            <a:r>
              <a:rPr lang="en-US" altLang="zh-CN" b="0" dirty="0" err="1">
                <a:solidFill>
                  <a:srgbClr val="24292E"/>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自动创建和管理图形 </a:t>
            </a:r>
            <a:r>
              <a:rPr lang="en-US" altLang="zh-CN" b="0" dirty="0">
                <a:solidFill>
                  <a:srgbClr val="24292E"/>
                </a:solidFill>
                <a:effectLst/>
                <a:latin typeface="Consolas" panose="020B0609020204030204" pitchFamily="49" charset="0"/>
              </a:rPr>
              <a:t>figure </a:t>
            </a:r>
            <a:r>
              <a:rPr lang="zh-CN" altLang="en-US" b="0" dirty="0">
                <a:solidFill>
                  <a:srgbClr val="24292E"/>
                </a:solidFill>
                <a:effectLst/>
                <a:latin typeface="Consolas" panose="020B0609020204030204" pitchFamily="49" charset="0"/>
              </a:rPr>
              <a:t>和轴 </a:t>
            </a:r>
            <a:r>
              <a:rPr lang="en-US" altLang="zh-CN" b="0" dirty="0">
                <a:solidFill>
                  <a:srgbClr val="24292E"/>
                </a:solidFill>
                <a:effectLst/>
                <a:latin typeface="Consolas" panose="020B0609020204030204" pitchFamily="49" charset="0"/>
              </a:rPr>
              <a:t>axes</a:t>
            </a:r>
            <a:r>
              <a:rPr lang="zh-CN" altLang="en-US" b="0" dirty="0">
                <a:solidFill>
                  <a:srgbClr val="24292E"/>
                </a:solidFill>
                <a:effectLst/>
                <a:latin typeface="Consolas" panose="020B0609020204030204" pitchFamily="49" charset="0"/>
              </a:rPr>
              <a:t>，并使用 </a:t>
            </a:r>
            <a:r>
              <a:rPr lang="en-US" altLang="zh-CN" b="0" dirty="0" err="1">
                <a:solidFill>
                  <a:srgbClr val="24292E"/>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自己的函数进行绘图。</a:t>
            </a:r>
            <a:endParaRPr lang="en-US" altLang="zh-CN" b="0" dirty="0">
              <a:solidFill>
                <a:srgbClr val="24292E"/>
              </a:solidFill>
              <a:effectLst/>
              <a:latin typeface="Consolas" panose="020B0609020204030204" pitchFamily="49" charset="0"/>
            </a:endParaRPr>
          </a:p>
          <a:p>
            <a:pPr marL="285750" indent="-285750">
              <a:buFont typeface="Arial" panose="020B0604020202020204" pitchFamily="34" charset="0"/>
              <a:buChar char="•"/>
            </a:pPr>
            <a:endParaRPr lang="en-US" altLang="zh-CN" dirty="0">
              <a:solidFill>
                <a:srgbClr val="24292E"/>
              </a:solidFill>
              <a:latin typeface="Consolas" panose="020B0609020204030204" pitchFamily="49" charset="0"/>
            </a:endParaRPr>
          </a:p>
          <a:p>
            <a:pPr marL="285750" indent="-285750">
              <a:buFont typeface="Arial" panose="020B0604020202020204" pitchFamily="34" charset="0"/>
              <a:buChar char="•"/>
            </a:pPr>
            <a:r>
              <a:rPr lang="zh-CN" altLang="en-US" b="0" dirty="0">
                <a:solidFill>
                  <a:srgbClr val="24292E"/>
                </a:solidFill>
                <a:effectLst/>
                <a:latin typeface="Consolas" panose="020B0609020204030204" pitchFamily="49" charset="0"/>
              </a:rPr>
              <a:t>因此，这种方法会跟踪当前要操作的图形 </a:t>
            </a:r>
            <a:r>
              <a:rPr lang="en-US" altLang="zh-CN" b="0" dirty="0">
                <a:solidFill>
                  <a:srgbClr val="24292E"/>
                </a:solidFill>
                <a:effectLst/>
                <a:latin typeface="Consolas" panose="020B0609020204030204" pitchFamily="49" charset="0"/>
              </a:rPr>
              <a:t>figure </a:t>
            </a:r>
            <a:r>
              <a:rPr lang="zh-CN" altLang="en-US" b="0" dirty="0">
                <a:solidFill>
                  <a:srgbClr val="24292E"/>
                </a:solidFill>
                <a:effectLst/>
                <a:latin typeface="Consolas" panose="020B0609020204030204" pitchFamily="49" charset="0"/>
              </a:rPr>
              <a:t>和坐标轴 </a:t>
            </a:r>
            <a:r>
              <a:rPr lang="en-US" altLang="zh-CN" b="0" dirty="0">
                <a:solidFill>
                  <a:srgbClr val="24292E"/>
                </a:solidFill>
                <a:effectLst/>
                <a:latin typeface="Consolas" panose="020B0609020204030204" pitchFamily="49" charset="0"/>
              </a:rPr>
              <a:t>axes</a:t>
            </a:r>
            <a:r>
              <a:rPr lang="zh-CN" altLang="en-US" b="0" dirty="0">
                <a:solidFill>
                  <a:srgbClr val="24292E"/>
                </a:solidFill>
                <a:effectLst/>
                <a:latin typeface="Consolas" panose="020B0609020204030204" pitchFamily="49" charset="0"/>
              </a:rPr>
              <a:t>，在绘制比较简单的图形时比较方便，但难以进行比较复杂的绘图操作，如在不同的子图间切换。</a:t>
            </a:r>
            <a:r>
              <a:rPr lang="zh-CN" altLang="en-US" b="0" dirty="0">
                <a:solidFill>
                  <a:srgbClr val="FF0000"/>
                </a:solidFill>
                <a:effectLst/>
                <a:latin typeface="Consolas" panose="020B0609020204030204" pitchFamily="49" charset="0"/>
              </a:rPr>
              <a:t>以下是采用 </a:t>
            </a:r>
            <a:r>
              <a:rPr lang="en-US" altLang="zh-CN" b="0" dirty="0" err="1">
                <a:solidFill>
                  <a:srgbClr val="FF0000"/>
                </a:solidFill>
                <a:effectLst/>
                <a:latin typeface="Consolas" panose="020B0609020204030204" pitchFamily="49" charset="0"/>
              </a:rPr>
              <a:t>pyplot</a:t>
            </a:r>
            <a:r>
              <a:rPr lang="en-US" altLang="zh-CN" b="0" dirty="0">
                <a:solidFill>
                  <a:srgbClr val="FF0000"/>
                </a:solidFill>
                <a:effectLst/>
                <a:latin typeface="Consolas" panose="020B0609020204030204" pitchFamily="49" charset="0"/>
              </a:rPr>
              <a:t> </a:t>
            </a:r>
            <a:r>
              <a:rPr lang="zh-CN" altLang="en-US" b="0" dirty="0">
                <a:solidFill>
                  <a:srgbClr val="FF0000"/>
                </a:solidFill>
                <a:effectLst/>
                <a:latin typeface="Consolas" panose="020B0609020204030204" pitchFamily="49" charset="0"/>
              </a:rPr>
              <a:t>方式的绘图示例</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2.5.1 </a:t>
            </a:r>
            <a:r>
              <a:rPr lang="zh-CN" altLang="en-US" sz="1800" dirty="0">
                <a:solidFill>
                  <a:srgbClr val="577CCE"/>
                </a:solidFill>
                <a:latin typeface="+mn-ea"/>
              </a:rPr>
              <a:t>基础概念</a:t>
            </a:r>
            <a:endParaRPr lang="en-US" altLang="zh-CN" sz="1800" dirty="0">
              <a:solidFill>
                <a:srgbClr val="577CCE"/>
              </a:solidFill>
              <a:latin typeface="+mn-ea"/>
            </a:endParaRPr>
          </a:p>
        </p:txBody>
      </p:sp>
      <p:sp>
        <p:nvSpPr>
          <p:cNvPr id="5" name="文本框 4"/>
          <p:cNvSpPr txBox="1"/>
          <p:nvPr/>
        </p:nvSpPr>
        <p:spPr>
          <a:xfrm>
            <a:off x="832608" y="1660587"/>
            <a:ext cx="10274416" cy="923330"/>
          </a:xfrm>
          <a:prstGeom prst="rect">
            <a:avLst/>
          </a:prstGeom>
          <a:noFill/>
        </p:spPr>
        <p:txBody>
          <a:bodyPr wrap="square">
            <a:spAutoFit/>
          </a:bodyPr>
          <a:lstStyle/>
          <a:p>
            <a:r>
              <a:rPr lang="en-US" altLang="zh-CN" b="0" dirty="0">
                <a:solidFill>
                  <a:srgbClr val="005CC5"/>
                </a:solidFill>
                <a:effectLst/>
                <a:latin typeface="Consolas" panose="020B0609020204030204" pitchFamily="49" charset="0"/>
              </a:rPr>
              <a:t>X</a:t>
            </a:r>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.pi</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.pi</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256</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endpoint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从</a:t>
            </a:r>
            <a:r>
              <a:rPr lang="en-US" altLang="zh-CN" b="0" dirty="0">
                <a:solidFill>
                  <a:srgbClr val="6A737D"/>
                </a:solidFill>
                <a:effectLst/>
                <a:latin typeface="Consolas" panose="020B0609020204030204" pitchFamily="49" charset="0"/>
              </a:rPr>
              <a:t>-π</a:t>
            </a:r>
            <a:r>
              <a:rPr lang="zh-CN" altLang="en-US" b="0" dirty="0">
                <a:solidFill>
                  <a:srgbClr val="6A737D"/>
                </a:solidFill>
                <a:effectLst/>
                <a:latin typeface="Consolas" panose="020B0609020204030204" pitchFamily="49" charset="0"/>
              </a:rPr>
              <a:t>到</a:t>
            </a:r>
            <a:r>
              <a:rPr lang="en-US" altLang="zh-CN" b="0" dirty="0">
                <a:solidFill>
                  <a:srgbClr val="6A737D"/>
                </a:solidFill>
                <a:effectLst/>
                <a:latin typeface="Consolas" panose="020B0609020204030204" pitchFamily="49" charset="0"/>
              </a:rPr>
              <a:t>π</a:t>
            </a:r>
            <a:r>
              <a:rPr lang="zh-CN" altLang="en-US" b="0" dirty="0">
                <a:solidFill>
                  <a:srgbClr val="6A737D"/>
                </a:solidFill>
                <a:effectLst/>
                <a:latin typeface="Consolas" panose="020B0609020204030204" pitchFamily="49" charset="0"/>
              </a:rPr>
              <a:t>均匀取 </a:t>
            </a:r>
            <a:r>
              <a:rPr lang="en-US" altLang="zh-CN" b="0" dirty="0">
                <a:solidFill>
                  <a:srgbClr val="6A737D"/>
                </a:solidFill>
                <a:effectLst/>
                <a:latin typeface="Consolas" panose="020B0609020204030204" pitchFamily="49" charset="0"/>
              </a:rPr>
              <a:t>256 </a:t>
            </a:r>
            <a:r>
              <a:rPr lang="zh-CN" altLang="en-US" b="0" dirty="0">
                <a:solidFill>
                  <a:srgbClr val="6A737D"/>
                </a:solidFill>
                <a:effectLst/>
                <a:latin typeface="Consolas" panose="020B0609020204030204" pitchFamily="49" charset="0"/>
              </a:rPr>
              <a:t>个点</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a:t>
            </a:r>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.cos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分别得到这些点的余弦值和正弦值生成的一维数组</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横坐标为 </a:t>
            </a:r>
            <a:r>
              <a:rPr lang="en-US" altLang="zh-CN" b="0" dirty="0">
                <a:solidFill>
                  <a:srgbClr val="6A737D"/>
                </a:solidFill>
                <a:effectLst/>
                <a:latin typeface="Consolas" panose="020B0609020204030204" pitchFamily="49" charset="0"/>
              </a:rPr>
              <a:t>X</a:t>
            </a:r>
            <a:r>
              <a:rPr lang="zh-CN" altLang="en-US" b="0" dirty="0">
                <a:solidFill>
                  <a:srgbClr val="6A737D"/>
                </a:solidFill>
                <a:effectLst/>
                <a:latin typeface="Consolas" panose="020B0609020204030204" pitchFamily="49" charset="0"/>
              </a:rPr>
              <a:t>，纵坐标为 </a:t>
            </a:r>
            <a:r>
              <a:rPr lang="en-US" altLang="zh-CN" b="0" dirty="0">
                <a:solidFill>
                  <a:srgbClr val="6A737D"/>
                </a:solidFill>
                <a:effectLst/>
                <a:latin typeface="Consolas" panose="020B0609020204030204" pitchFamily="49" charset="0"/>
              </a:rPr>
              <a:t>C</a:t>
            </a:r>
            <a:r>
              <a:rPr lang="zh-CN" altLang="en-US" b="0" dirty="0">
                <a:solidFill>
                  <a:srgbClr val="6A737D"/>
                </a:solidFill>
                <a:effectLst/>
                <a:latin typeface="Consolas" panose="020B0609020204030204" pitchFamily="49" charset="0"/>
              </a:rPr>
              <a:t>，绘制连线</a:t>
            </a:r>
            <a:endParaRPr lang="zh-CN" altLang="en-US"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2625055" y="2765468"/>
            <a:ext cx="5616427" cy="3977985"/>
          </a:xfrm>
          <a:prstGeom prst="rect">
            <a:avLst/>
          </a:prstGeom>
        </p:spPr>
      </p:pic>
    </p:spTree>
    <p:custDataLst>
      <p:tags r:id="rId2"/>
    </p:custDataLst>
  </p:cSld>
  <p:clrMapOvr>
    <a:masterClrMapping/>
  </p:clrMapOvr>
  <p:transition spd="slow">
    <p:push di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2.5.1 </a:t>
            </a:r>
            <a:r>
              <a:rPr lang="zh-CN" altLang="en-US" sz="1800" dirty="0">
                <a:solidFill>
                  <a:srgbClr val="577CCE"/>
                </a:solidFill>
                <a:latin typeface="+mn-ea"/>
              </a:rPr>
              <a:t>基础概念</a:t>
            </a:r>
            <a:endParaRPr lang="en-US" altLang="zh-CN" sz="1800" dirty="0">
              <a:solidFill>
                <a:srgbClr val="577CCE"/>
              </a:solidFill>
              <a:latin typeface="+mn-ea"/>
            </a:endParaRPr>
          </a:p>
        </p:txBody>
      </p:sp>
      <p:sp>
        <p:nvSpPr>
          <p:cNvPr id="5" name="文本框 4"/>
          <p:cNvSpPr txBox="1"/>
          <p:nvPr/>
        </p:nvSpPr>
        <p:spPr>
          <a:xfrm>
            <a:off x="832608" y="1660587"/>
            <a:ext cx="10274416" cy="923330"/>
          </a:xfrm>
          <a:prstGeom prst="rect">
            <a:avLst/>
          </a:prstGeom>
          <a:noFill/>
        </p:spPr>
        <p:txBody>
          <a:bodyPr wrap="square">
            <a:spAutoFit/>
          </a:bodyPr>
          <a:lstStyle/>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横坐标为 </a:t>
            </a:r>
            <a:r>
              <a:rPr lang="en-US" altLang="zh-CN" b="0" dirty="0">
                <a:solidFill>
                  <a:srgbClr val="6A737D"/>
                </a:solidFill>
                <a:effectLst/>
                <a:latin typeface="Consolas" panose="020B0609020204030204" pitchFamily="49" charset="0"/>
              </a:rPr>
              <a:t>X</a:t>
            </a:r>
            <a:r>
              <a:rPr lang="zh-CN" altLang="en-US" b="0" dirty="0">
                <a:solidFill>
                  <a:srgbClr val="6A737D"/>
                </a:solidFill>
                <a:effectLst/>
                <a:latin typeface="Consolas" panose="020B0609020204030204" pitchFamily="49" charset="0"/>
              </a:rPr>
              <a:t>，纵坐标为 </a:t>
            </a:r>
            <a:r>
              <a:rPr lang="en-US" altLang="zh-CN" b="0" dirty="0">
                <a:solidFill>
                  <a:srgbClr val="6A737D"/>
                </a:solidFill>
                <a:effectLst/>
                <a:latin typeface="Consolas" panose="020B0609020204030204" pitchFamily="49" charset="0"/>
              </a:rPr>
              <a:t>C</a:t>
            </a:r>
            <a:r>
              <a:rPr lang="zh-CN" altLang="en-US" b="0" dirty="0">
                <a:solidFill>
                  <a:srgbClr val="6A737D"/>
                </a:solidFill>
                <a:effectLst/>
                <a:latin typeface="Consolas" panose="020B0609020204030204" pitchFamily="49" charset="0"/>
              </a:rPr>
              <a:t>，绘制连线</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横坐标为 </a:t>
            </a:r>
            <a:r>
              <a:rPr lang="en-US" altLang="zh-CN" b="0" dirty="0">
                <a:solidFill>
                  <a:srgbClr val="6A737D"/>
                </a:solidFill>
                <a:effectLst/>
                <a:latin typeface="Consolas" panose="020B0609020204030204" pitchFamily="49" charset="0"/>
              </a:rPr>
              <a:t>X</a:t>
            </a:r>
            <a:r>
              <a:rPr lang="zh-CN" altLang="en-US" b="0" dirty="0">
                <a:solidFill>
                  <a:srgbClr val="6A737D"/>
                </a:solidFill>
                <a:effectLst/>
                <a:latin typeface="Consolas" panose="020B0609020204030204" pitchFamily="49" charset="0"/>
              </a:rPr>
              <a:t>，纵坐标为 </a:t>
            </a:r>
            <a:r>
              <a:rPr lang="en-US" altLang="zh-CN" b="0" dirty="0">
                <a:solidFill>
                  <a:srgbClr val="6A737D"/>
                </a:solidFill>
                <a:effectLst/>
                <a:latin typeface="Consolas" panose="020B0609020204030204" pitchFamily="49" charset="0"/>
              </a:rPr>
              <a:t>S</a:t>
            </a:r>
            <a:r>
              <a:rPr lang="zh-CN" altLang="en-US" b="0" dirty="0">
                <a:solidFill>
                  <a:srgbClr val="6A737D"/>
                </a:solidFill>
                <a:effectLst/>
                <a:latin typeface="Consolas" panose="020B0609020204030204" pitchFamily="49" charset="0"/>
              </a:rPr>
              <a:t>，绘制连线</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4" name="图片 3"/>
          <p:cNvPicPr>
            <a:picLocks noChangeAspect="1"/>
          </p:cNvPicPr>
          <p:nvPr/>
        </p:nvPicPr>
        <p:blipFill>
          <a:blip r:embed="rId1"/>
          <a:stretch>
            <a:fillRect/>
          </a:stretch>
        </p:blipFill>
        <p:spPr>
          <a:xfrm>
            <a:off x="2585291" y="2558716"/>
            <a:ext cx="5719810" cy="4140520"/>
          </a:xfrm>
          <a:prstGeom prst="rect">
            <a:avLst/>
          </a:prstGeom>
        </p:spPr>
      </p:pic>
    </p:spTree>
    <p:custDataLst>
      <p:tags r:id="rId2"/>
    </p:custDataLst>
  </p:cSld>
  <p:clrMapOvr>
    <a:masterClrMapping/>
  </p:clrMapOvr>
  <p:transition spd="slow">
    <p:push di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2.5.2 </a:t>
            </a:r>
            <a:r>
              <a:rPr lang="zh-CN" altLang="en-US" sz="1800" dirty="0">
                <a:solidFill>
                  <a:srgbClr val="577CCE"/>
                </a:solidFill>
                <a:latin typeface="+mn-ea"/>
              </a:rPr>
              <a:t>不同环境下的图形显示</a:t>
            </a:r>
            <a:endParaRPr lang="en-US" altLang="zh-CN" sz="1800" dirty="0">
              <a:solidFill>
                <a:srgbClr val="577CCE"/>
              </a:solidFill>
              <a:latin typeface="+mn-ea"/>
            </a:endParaRPr>
          </a:p>
        </p:txBody>
      </p:sp>
      <p:sp>
        <p:nvSpPr>
          <p:cNvPr id="5" name="文本框 4"/>
          <p:cNvSpPr txBox="1"/>
          <p:nvPr/>
        </p:nvSpPr>
        <p:spPr>
          <a:xfrm>
            <a:off x="832608" y="1660587"/>
            <a:ext cx="10274416"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Jupyter</a:t>
            </a:r>
            <a:r>
              <a:rPr lang="en-US" altLang="zh-CN" b="0" dirty="0">
                <a:solidFill>
                  <a:srgbClr val="24292E"/>
                </a:solidFill>
                <a:effectLst/>
                <a:latin typeface="Consolas" panose="020B0609020204030204" pitchFamily="49" charset="0"/>
              </a:rPr>
              <a:t> Notebook </a:t>
            </a:r>
            <a:r>
              <a:rPr lang="zh-CN" altLang="en-US" b="0" dirty="0">
                <a:solidFill>
                  <a:srgbClr val="24292E"/>
                </a:solidFill>
                <a:effectLst/>
                <a:latin typeface="Consolas" panose="020B0609020204030204" pitchFamily="49" charset="0"/>
              </a:rPr>
              <a:t>也是我们常用的 </a:t>
            </a:r>
            <a:r>
              <a:rPr lang="en-US" altLang="zh-CN" b="0" dirty="0">
                <a:solidFill>
                  <a:srgbClr val="24292E"/>
                </a:solidFill>
                <a:effectLst/>
                <a:latin typeface="Consolas" panose="020B0609020204030204" pitchFamily="49" charset="0"/>
              </a:rPr>
              <a:t>python </a:t>
            </a:r>
            <a:r>
              <a:rPr lang="zh-CN" altLang="en-US" b="0" dirty="0">
                <a:solidFill>
                  <a:srgbClr val="24292E"/>
                </a:solidFill>
                <a:effectLst/>
                <a:latin typeface="Consolas" panose="020B0609020204030204" pitchFamily="49" charset="0"/>
              </a:rPr>
              <a:t>开发环境，其图形展示方式与在 </a:t>
            </a:r>
            <a:r>
              <a:rPr lang="en-US" altLang="zh-CN" b="0" dirty="0" err="1">
                <a:solidFill>
                  <a:srgbClr val="24292E"/>
                </a:solidFill>
                <a:effectLst/>
                <a:latin typeface="Consolas" panose="020B0609020204030204" pitchFamily="49" charset="0"/>
              </a:rPr>
              <a:t>IPython</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中类似，也需要使用</a:t>
            </a:r>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命令。在 </a:t>
            </a:r>
            <a:r>
              <a:rPr lang="en-US" altLang="zh-CN" b="0" dirty="0" err="1">
                <a:solidFill>
                  <a:srgbClr val="24292E"/>
                </a:solidFill>
                <a:effectLst/>
                <a:latin typeface="Consolas" panose="020B0609020204030204" pitchFamily="49" charset="0"/>
              </a:rPr>
              <a:t>Jupyter</a:t>
            </a:r>
            <a:r>
              <a:rPr lang="en-US" altLang="zh-CN" b="0" dirty="0">
                <a:solidFill>
                  <a:srgbClr val="24292E"/>
                </a:solidFill>
                <a:effectLst/>
                <a:latin typeface="Consolas" panose="020B0609020204030204" pitchFamily="49" charset="0"/>
              </a:rPr>
              <a:t> Notebook </a:t>
            </a:r>
            <a:r>
              <a:rPr lang="zh-CN" altLang="en-US" b="0" dirty="0">
                <a:solidFill>
                  <a:srgbClr val="24292E"/>
                </a:solidFill>
                <a:effectLst/>
                <a:latin typeface="Consolas" panose="020B0609020204030204" pitchFamily="49" charset="0"/>
              </a:rPr>
              <a:t>中，有两种图形展现形式：</a:t>
            </a:r>
            <a:endParaRPr lang="zh-CN" altLang="en-US"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226502" y="2365009"/>
            <a:ext cx="7232377" cy="3121922"/>
          </a:xfrm>
          <a:prstGeom prst="rect">
            <a:avLst/>
          </a:prstGeom>
        </p:spPr>
      </p:pic>
      <p:pic>
        <p:nvPicPr>
          <p:cNvPr id="8" name="图片 7"/>
          <p:cNvPicPr>
            <a:picLocks noChangeAspect="1"/>
          </p:cNvPicPr>
          <p:nvPr/>
        </p:nvPicPr>
        <p:blipFill>
          <a:blip r:embed="rId2"/>
          <a:stretch>
            <a:fillRect/>
          </a:stretch>
        </p:blipFill>
        <p:spPr>
          <a:xfrm>
            <a:off x="5192785" y="3690870"/>
            <a:ext cx="6856456" cy="3002158"/>
          </a:xfrm>
          <a:prstGeom prst="rect">
            <a:avLst/>
          </a:prstGeom>
        </p:spPr>
      </p:pic>
      <p:sp>
        <p:nvSpPr>
          <p:cNvPr id="9" name="箭头: 圆角右 8"/>
          <p:cNvSpPr/>
          <p:nvPr/>
        </p:nvSpPr>
        <p:spPr>
          <a:xfrm rot="5400000">
            <a:off x="7784983" y="2592083"/>
            <a:ext cx="965782" cy="980463"/>
          </a:xfrm>
          <a:prstGeom prst="bentArrow">
            <a:avLst>
              <a:gd name="adj1" fmla="val 17182"/>
              <a:gd name="adj2" fmla="val 2500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文本框 10"/>
          <p:cNvSpPr txBox="1"/>
          <p:nvPr/>
        </p:nvSpPr>
        <p:spPr>
          <a:xfrm>
            <a:off x="8974932" y="3244334"/>
            <a:ext cx="3074309"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Ipython</a:t>
            </a:r>
            <a:r>
              <a:rPr lang="zh-CN" altLang="en-US" b="0" dirty="0">
                <a:solidFill>
                  <a:srgbClr val="24292E"/>
                </a:solidFill>
                <a:effectLst/>
                <a:latin typeface="Consolas" panose="020B0609020204030204" pitchFamily="49" charset="0"/>
              </a:rPr>
              <a:t>的情况：</a:t>
            </a:r>
            <a:endParaRPr lang="zh-CN" altLang="en-US" dirty="0"/>
          </a:p>
        </p:txBody>
      </p:sp>
    </p:spTree>
    <p:custDataLst>
      <p:tags r:id="rId3"/>
    </p:custDataLst>
  </p:cSld>
  <p:clrMapOvr>
    <a:masterClrMapping/>
  </p:clrMapOvr>
  <p:transition spd="slow">
    <p:push dir="u"/>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2.5.2 </a:t>
            </a:r>
            <a:r>
              <a:rPr lang="zh-CN" altLang="en-US" sz="1800" dirty="0">
                <a:solidFill>
                  <a:srgbClr val="577CCE"/>
                </a:solidFill>
                <a:latin typeface="+mn-ea"/>
              </a:rPr>
              <a:t>不同环境下的图形显示</a:t>
            </a:r>
            <a:endParaRPr lang="en-US" altLang="zh-CN" sz="1800" dirty="0">
              <a:solidFill>
                <a:srgbClr val="577CCE"/>
              </a:solidFill>
              <a:latin typeface="+mn-ea"/>
            </a:endParaRPr>
          </a:p>
        </p:txBody>
      </p:sp>
      <p:sp>
        <p:nvSpPr>
          <p:cNvPr id="4" name="文本框 3"/>
          <p:cNvSpPr txBox="1"/>
          <p:nvPr/>
        </p:nvSpPr>
        <p:spPr>
          <a:xfrm>
            <a:off x="740328" y="1601536"/>
            <a:ext cx="6094602" cy="64633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matplotlib notebook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matplotlib inline </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740327" y="2259791"/>
            <a:ext cx="10950657"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采用 </a:t>
            </a:r>
            <a:r>
              <a:rPr lang="en-US" altLang="zh-CN" b="0" dirty="0">
                <a:solidFill>
                  <a:srgbClr val="24292E"/>
                </a:solidFill>
                <a:effectLst/>
                <a:latin typeface="Consolas" panose="020B0609020204030204" pitchFamily="49" charset="0"/>
              </a:rPr>
              <a:t>notebook </a:t>
            </a:r>
            <a:r>
              <a:rPr lang="zh-CN" altLang="en-US" b="0" dirty="0">
                <a:solidFill>
                  <a:srgbClr val="24292E"/>
                </a:solidFill>
                <a:effectLst/>
                <a:latin typeface="Consolas" panose="020B0609020204030204" pitchFamily="49" charset="0"/>
              </a:rPr>
              <a:t>模式时，</a:t>
            </a:r>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会在 </a:t>
            </a:r>
            <a:r>
              <a:rPr lang="en-US" altLang="zh-CN" b="0" dirty="0" err="1">
                <a:solidFill>
                  <a:srgbClr val="24292E"/>
                </a:solidFill>
                <a:effectLst/>
                <a:latin typeface="Consolas" panose="020B0609020204030204" pitchFamily="49" charset="0"/>
              </a:rPr>
              <a:t>Jupyter</a:t>
            </a:r>
            <a:r>
              <a:rPr lang="en-US" altLang="zh-CN" b="0" dirty="0">
                <a:solidFill>
                  <a:srgbClr val="24292E"/>
                </a:solidFill>
                <a:effectLst/>
                <a:latin typeface="Consolas" panose="020B0609020204030204" pitchFamily="49" charset="0"/>
              </a:rPr>
              <a:t> Notebook </a:t>
            </a:r>
            <a:r>
              <a:rPr lang="zh-CN" altLang="en-US" b="0" dirty="0">
                <a:solidFill>
                  <a:srgbClr val="24292E"/>
                </a:solidFill>
                <a:effectLst/>
                <a:latin typeface="Consolas" panose="020B0609020204030204" pitchFamily="49" charset="0"/>
              </a:rPr>
              <a:t>中绘制交互式的图形，类似于 </a:t>
            </a:r>
            <a:r>
              <a:rPr lang="en-US" altLang="zh-CN" b="0" dirty="0" err="1">
                <a:solidFill>
                  <a:srgbClr val="24292E"/>
                </a:solidFill>
                <a:effectLst/>
                <a:latin typeface="Consolas" panose="020B0609020204030204" pitchFamily="49" charset="0"/>
              </a:rPr>
              <a:t>IPython</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中的绘图方式。而 </a:t>
            </a:r>
            <a:r>
              <a:rPr lang="en-US" altLang="zh-CN" b="0" dirty="0">
                <a:solidFill>
                  <a:srgbClr val="24292E"/>
                </a:solidFill>
                <a:effectLst/>
                <a:latin typeface="Consolas" panose="020B0609020204030204" pitchFamily="49" charset="0"/>
              </a:rPr>
              <a:t>inline </a:t>
            </a:r>
            <a:r>
              <a:rPr lang="zh-CN" altLang="en-US" b="0" dirty="0">
                <a:solidFill>
                  <a:srgbClr val="24292E"/>
                </a:solidFill>
                <a:effectLst/>
                <a:latin typeface="Consolas" panose="020B0609020204030204" pitchFamily="49" charset="0"/>
              </a:rPr>
              <a:t>模式绘制的则是静态图形，绘制的图形就会以 </a:t>
            </a:r>
            <a:r>
              <a:rPr lang="en-US" altLang="zh-CN" b="0" dirty="0">
                <a:solidFill>
                  <a:srgbClr val="24292E"/>
                </a:solidFill>
                <a:effectLst/>
                <a:latin typeface="Consolas" panose="020B0609020204030204" pitchFamily="49" charset="0"/>
              </a:rPr>
              <a:t>PNG </a:t>
            </a:r>
            <a:r>
              <a:rPr lang="zh-CN" altLang="en-US" b="0" dirty="0">
                <a:solidFill>
                  <a:srgbClr val="24292E"/>
                </a:solidFill>
                <a:effectLst/>
                <a:latin typeface="Consolas" panose="020B0609020204030204" pitchFamily="49" charset="0"/>
              </a:rPr>
              <a:t>格式嵌入在 </a:t>
            </a:r>
            <a:r>
              <a:rPr lang="en-US" altLang="zh-CN" b="0" dirty="0" err="1">
                <a:solidFill>
                  <a:srgbClr val="24292E"/>
                </a:solidFill>
                <a:effectLst/>
                <a:latin typeface="Consolas" panose="020B0609020204030204" pitchFamily="49" charset="0"/>
              </a:rPr>
              <a:t>Jupyter</a:t>
            </a:r>
            <a:r>
              <a:rPr lang="en-US" altLang="zh-CN" b="0" dirty="0">
                <a:solidFill>
                  <a:srgbClr val="24292E"/>
                </a:solidFill>
                <a:effectLst/>
                <a:latin typeface="Consolas" panose="020B0609020204030204" pitchFamily="49" charset="0"/>
              </a:rPr>
              <a:t> Notebook </a:t>
            </a:r>
            <a:r>
              <a:rPr lang="zh-CN" altLang="en-US" b="0" dirty="0">
                <a:solidFill>
                  <a:srgbClr val="24292E"/>
                </a:solidFill>
                <a:effectLst/>
                <a:latin typeface="Consolas" panose="020B0609020204030204" pitchFamily="49" charset="0"/>
              </a:rPr>
              <a:t>单元之中。</a:t>
            </a:r>
            <a:endParaRPr lang="zh-CN" altLang="en-US"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1"/>
          <a:stretch>
            <a:fillRect/>
          </a:stretch>
        </p:blipFill>
        <p:spPr>
          <a:xfrm>
            <a:off x="6758849" y="3183121"/>
            <a:ext cx="3999418" cy="3448288"/>
          </a:xfrm>
          <a:prstGeom prst="rect">
            <a:avLst/>
          </a:prstGeom>
        </p:spPr>
      </p:pic>
      <p:pic>
        <p:nvPicPr>
          <p:cNvPr id="15" name="图片 14"/>
          <p:cNvPicPr>
            <a:picLocks noChangeAspect="1"/>
          </p:cNvPicPr>
          <p:nvPr/>
        </p:nvPicPr>
        <p:blipFill>
          <a:blip r:embed="rId2"/>
          <a:stretch>
            <a:fillRect/>
          </a:stretch>
        </p:blipFill>
        <p:spPr>
          <a:xfrm>
            <a:off x="1089784" y="3259016"/>
            <a:ext cx="4013519" cy="3448288"/>
          </a:xfrm>
          <a:prstGeom prst="rect">
            <a:avLst/>
          </a:prstGeom>
        </p:spPr>
      </p:pic>
      <p:sp>
        <p:nvSpPr>
          <p:cNvPr id="16" name="文本框 15"/>
          <p:cNvSpPr txBox="1"/>
          <p:nvPr/>
        </p:nvSpPr>
        <p:spPr>
          <a:xfrm>
            <a:off x="3140537" y="2964213"/>
            <a:ext cx="2292615" cy="338554"/>
          </a:xfrm>
          <a:prstGeom prst="rect">
            <a:avLst/>
          </a:prstGeom>
          <a:noFill/>
        </p:spPr>
        <p:txBody>
          <a:bodyPr wrap="none" rtlCol="0">
            <a:spAutoFit/>
          </a:bodyPr>
          <a:lstStyle/>
          <a:p>
            <a:r>
              <a:rPr lang="en-US" altLang="zh-CN" sz="1600" dirty="0">
                <a:solidFill>
                  <a:srgbClr val="577CCE"/>
                </a:solidFill>
              </a:rPr>
              <a:t>Notebook</a:t>
            </a:r>
            <a:r>
              <a:rPr lang="zh-CN" altLang="en-US" sz="1600" dirty="0">
                <a:solidFill>
                  <a:srgbClr val="577CCE"/>
                </a:solidFill>
              </a:rPr>
              <a:t>模式，可交互</a:t>
            </a:r>
            <a:endParaRPr lang="zh-CN" altLang="en-US" sz="1600" dirty="0">
              <a:solidFill>
                <a:srgbClr val="577CCE"/>
              </a:solidFill>
            </a:endParaRPr>
          </a:p>
        </p:txBody>
      </p:sp>
      <p:sp>
        <p:nvSpPr>
          <p:cNvPr id="17" name="文本框 16"/>
          <p:cNvSpPr txBox="1"/>
          <p:nvPr/>
        </p:nvSpPr>
        <p:spPr>
          <a:xfrm>
            <a:off x="9437400" y="2846465"/>
            <a:ext cx="1071127" cy="338554"/>
          </a:xfrm>
          <a:prstGeom prst="rect">
            <a:avLst/>
          </a:prstGeom>
          <a:noFill/>
        </p:spPr>
        <p:txBody>
          <a:bodyPr wrap="none" rtlCol="0">
            <a:spAutoFit/>
          </a:bodyPr>
          <a:lstStyle/>
          <a:p>
            <a:r>
              <a:rPr lang="en-US" altLang="zh-CN" sz="1600" dirty="0">
                <a:solidFill>
                  <a:srgbClr val="577CCE"/>
                </a:solidFill>
              </a:rPr>
              <a:t>inline</a:t>
            </a:r>
            <a:r>
              <a:rPr lang="zh-CN" altLang="en-US" sz="1600" dirty="0">
                <a:solidFill>
                  <a:srgbClr val="577CCE"/>
                </a:solidFill>
              </a:rPr>
              <a:t>模式</a:t>
            </a:r>
            <a:endParaRPr lang="zh-CN" altLang="en-US" sz="1600" dirty="0">
              <a:solidFill>
                <a:srgbClr val="577CCE"/>
              </a:solidFill>
            </a:endParaRPr>
          </a:p>
        </p:txBody>
      </p:sp>
    </p:spTree>
    <p:custDataLst>
      <p:tags r:id="rId3"/>
    </p:custDataLst>
  </p:cSld>
  <p:clrMapOvr>
    <a:masterClrMapping/>
  </p:clrMapOvr>
  <p:transition spd="slow">
    <p:push di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2.5.2 </a:t>
            </a:r>
            <a:r>
              <a:rPr lang="zh-CN" altLang="en-US" sz="1800" dirty="0">
                <a:solidFill>
                  <a:srgbClr val="577CCE"/>
                </a:solidFill>
                <a:latin typeface="+mn-ea"/>
              </a:rPr>
              <a:t>不同环境下的图形显示</a:t>
            </a:r>
            <a:endParaRPr lang="en-US" altLang="zh-CN" sz="1800" dirty="0">
              <a:solidFill>
                <a:srgbClr val="577CCE"/>
              </a:solidFill>
              <a:latin typeface="+mn-ea"/>
            </a:endParaRPr>
          </a:p>
        </p:txBody>
      </p:sp>
      <p:sp>
        <p:nvSpPr>
          <p:cNvPr id="10" name="文本框 9"/>
          <p:cNvSpPr txBox="1"/>
          <p:nvPr/>
        </p:nvSpPr>
        <p:spPr>
          <a:xfrm>
            <a:off x="740328" y="1688598"/>
            <a:ext cx="10950657"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若想把绘制的图像保存成图像文件，可直接使用 </a:t>
            </a:r>
            <a:r>
              <a:rPr lang="en-US" altLang="zh-CN" b="0" dirty="0" err="1">
                <a:solidFill>
                  <a:srgbClr val="24292E"/>
                </a:solidFill>
                <a:effectLst/>
                <a:latin typeface="Consolas" panose="020B0609020204030204" pitchFamily="49" charset="0"/>
              </a:rPr>
              <a:t>fig.savefig</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函数，函数的参数是文件名， 文件的扩展名可以是 </a:t>
            </a:r>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支持的各种文件类型。例如：</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252057" y="2433915"/>
            <a:ext cx="10626754" cy="1477328"/>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savefig</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"a.jpg"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fig.savefig</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fname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dpi</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None</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facecolor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'w'</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edgecolor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orientation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'portrait'</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papertype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None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format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None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transparent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False</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bbox_inches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None</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pad_inches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frameon</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None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metadata</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None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740327" y="4010229"/>
            <a:ext cx="10950657" cy="1754326"/>
          </a:xfrm>
          <a:prstGeom prst="rect">
            <a:avLst/>
          </a:prstGeom>
          <a:noFill/>
        </p:spPr>
        <p:txBody>
          <a:bodyPr wrap="square">
            <a:spAutoFit/>
          </a:bodyPr>
          <a:lstStyle/>
          <a:p>
            <a:r>
              <a:rPr lang="zh-CN" altLang="en-US" dirty="0"/>
              <a:t>其中，参数 fname 指定了要保存的文件名（必选），文件的扩展名可以是 Matplotlib 支持的各种文件类型，如 </a:t>
            </a:r>
            <a:r>
              <a:rPr lang="zh-CN" altLang="en-US" dirty="0">
                <a:solidFill>
                  <a:srgbClr val="FF0000"/>
                </a:solidFill>
              </a:rPr>
              <a:t>.png、.pdf、.svg、.eps 等等</a:t>
            </a:r>
            <a:r>
              <a:rPr lang="zh-CN" altLang="en-US" dirty="0"/>
              <a:t>。此外，该函数还支持许多其他参数，用于控制输出图像的大小、分辨率、背景颜色、边缘颜色等等。这些参数的具体用法可以参考 Matplotlib 的官方文档。</a:t>
            </a:r>
            <a:endParaRPr lang="zh-CN" altLang="en-US" dirty="0"/>
          </a:p>
          <a:p>
            <a:endParaRPr lang="zh-CN" altLang="en-US" dirty="0"/>
          </a:p>
          <a:p>
            <a:r>
              <a:rPr lang="zh-CN" altLang="en-US" dirty="0"/>
              <a:t>需要注意的是，当使用 fig.savefig() 函数保存图像时，需要在调用该函数之前确保已经完成了所有的绘图操作，否则可能会导致图像不完整或者无法保存。</a:t>
            </a:r>
            <a:endParaRPr lang="zh-CN" altLang="en-US" dirty="0"/>
          </a:p>
        </p:txBody>
      </p:sp>
    </p:spTree>
    <p:custDataLst>
      <p:tags r:id="rId1"/>
    </p:custDataLst>
  </p:cSld>
  <p:clrMapOvr>
    <a:masterClrMapping/>
  </p:clrMapOvr>
  <p:transition spd="slow">
    <p:push dir="u"/>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2.5.3 Matplotlib </a:t>
            </a:r>
            <a:r>
              <a:rPr lang="zh-CN" altLang="en-US" sz="1800" dirty="0">
                <a:solidFill>
                  <a:srgbClr val="577CCE"/>
                </a:solidFill>
                <a:latin typeface="+mn-ea"/>
              </a:rPr>
              <a:t>绘图样式</a:t>
            </a:r>
            <a:endParaRPr lang="en-US" altLang="zh-CN" sz="1800" dirty="0">
              <a:solidFill>
                <a:srgbClr val="577CCE"/>
              </a:solidFill>
              <a:latin typeface="+mn-ea"/>
            </a:endParaRPr>
          </a:p>
        </p:txBody>
      </p:sp>
      <p:sp>
        <p:nvSpPr>
          <p:cNvPr id="10" name="文本框 9"/>
          <p:cNvSpPr txBox="1"/>
          <p:nvPr/>
        </p:nvSpPr>
        <p:spPr>
          <a:xfrm>
            <a:off x="740328" y="1688598"/>
            <a:ext cx="10950657"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在绘制图形时，不但可以设置线条和数据点的样式，也可以设置坐标轴信息、 图例信息等。 </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902278" y="2153589"/>
            <a:ext cx="10626754"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）设置线条样式 前面的例子使用了 </a:t>
            </a:r>
            <a:r>
              <a:rPr lang="en-US" altLang="zh-CN" b="0" dirty="0">
                <a:solidFill>
                  <a:srgbClr val="24292E"/>
                </a:solidFill>
                <a:effectLst/>
                <a:latin typeface="Consolas" panose="020B0609020204030204" pitchFamily="49" charset="0"/>
              </a:rPr>
              <a:t>plot </a:t>
            </a:r>
            <a:r>
              <a:rPr lang="zh-CN" altLang="en-US" b="0" dirty="0">
                <a:solidFill>
                  <a:srgbClr val="24292E"/>
                </a:solidFill>
                <a:effectLst/>
                <a:latin typeface="Consolas" panose="020B0609020204030204" pitchFamily="49" charset="0"/>
              </a:rPr>
              <a:t>函数绘制数据，默认数据点是通过直线顺序连接的。实际上可 以设置各种绘制样式，如连线形状、颜色、线宽、标记点（</a:t>
            </a:r>
            <a:r>
              <a:rPr lang="en-US" altLang="zh-CN" b="0" dirty="0">
                <a:solidFill>
                  <a:srgbClr val="24292E"/>
                </a:solidFill>
                <a:effectLst/>
                <a:latin typeface="Consolas" panose="020B0609020204030204" pitchFamily="49" charset="0"/>
              </a:rPr>
              <a:t>marker</a:t>
            </a:r>
            <a:r>
              <a:rPr lang="zh-CN" altLang="en-US" b="0" dirty="0">
                <a:solidFill>
                  <a:srgbClr val="24292E"/>
                </a:solidFill>
                <a:effectLst/>
                <a:latin typeface="Consolas" panose="020B0609020204030204" pitchFamily="49" charset="0"/>
              </a:rPr>
              <a:t>）等。</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346201" y="2861338"/>
            <a:ext cx="10272552"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figsize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2.7</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y1, y2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arange</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len</a:t>
            </a:r>
            <a:r>
              <a:rPr lang="en-US" altLang="zh-CN" b="0" dirty="0">
                <a:solidFill>
                  <a:srgbClr val="24292E"/>
                </a:solidFill>
                <a:effectLst/>
                <a:latin typeface="Consolas" panose="020B0609020204030204" pitchFamily="49" charset="0"/>
              </a:rPr>
              <a:t>(y1))</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(x, y1, </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'blue'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linewidth</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linestyle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4" name="图片 3"/>
          <p:cNvPicPr>
            <a:picLocks noChangeAspect="1"/>
          </p:cNvPicPr>
          <p:nvPr/>
        </p:nvPicPr>
        <p:blipFill>
          <a:blip r:embed="rId1"/>
          <a:stretch>
            <a:fillRect/>
          </a:stretch>
        </p:blipFill>
        <p:spPr>
          <a:xfrm>
            <a:off x="2283492" y="4154638"/>
            <a:ext cx="4559789" cy="2598500"/>
          </a:xfrm>
          <a:prstGeom prst="rect">
            <a:avLst/>
          </a:prstGeom>
        </p:spPr>
      </p:pic>
    </p:spTree>
    <p:custDataLst>
      <p:tags r:id="rId2"/>
    </p:custDataLst>
  </p:cSld>
  <p:clrMapOvr>
    <a:masterClrMapping/>
  </p:clrMapOvr>
  <p:transition spd="slow">
    <p:push di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2.5.3 Matplotlib </a:t>
            </a:r>
            <a:r>
              <a:rPr lang="zh-CN" altLang="en-US" sz="1800" dirty="0">
                <a:solidFill>
                  <a:srgbClr val="577CCE"/>
                </a:solidFill>
                <a:latin typeface="+mn-ea"/>
              </a:rPr>
              <a:t>绘图样式</a:t>
            </a:r>
            <a:endParaRPr lang="en-US" altLang="zh-CN" sz="1800" dirty="0">
              <a:solidFill>
                <a:srgbClr val="577CCE"/>
              </a:solidFill>
              <a:latin typeface="+mn-ea"/>
            </a:endParaRPr>
          </a:p>
        </p:txBody>
      </p:sp>
      <p:sp>
        <p:nvSpPr>
          <p:cNvPr id="10" name="文本框 9"/>
          <p:cNvSpPr txBox="1"/>
          <p:nvPr/>
        </p:nvSpPr>
        <p:spPr>
          <a:xfrm>
            <a:off x="740328" y="1688598"/>
            <a:ext cx="10950657"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在绘制图形时，不但可以设置线条和数据点的样式，也可以设置坐标轴信息、 图例信息等。 </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902278" y="2153589"/>
            <a:ext cx="10626754"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）设置线条样式 前面的例子使用了 </a:t>
            </a:r>
            <a:r>
              <a:rPr lang="en-US" altLang="zh-CN" b="0" dirty="0">
                <a:solidFill>
                  <a:srgbClr val="24292E"/>
                </a:solidFill>
                <a:effectLst/>
                <a:latin typeface="Consolas" panose="020B0609020204030204" pitchFamily="49" charset="0"/>
              </a:rPr>
              <a:t>plot </a:t>
            </a:r>
            <a:r>
              <a:rPr lang="zh-CN" altLang="en-US" b="0" dirty="0">
                <a:solidFill>
                  <a:srgbClr val="24292E"/>
                </a:solidFill>
                <a:effectLst/>
                <a:latin typeface="Consolas" panose="020B0609020204030204" pitchFamily="49" charset="0"/>
              </a:rPr>
              <a:t>函数绘制数据，默认数据点是通过直线顺序连接的。实际上可 以设置各种绘制样式，如连线形状、颜色、线宽、标记点（</a:t>
            </a:r>
            <a:r>
              <a:rPr lang="en-US" altLang="zh-CN" b="0" dirty="0">
                <a:solidFill>
                  <a:srgbClr val="24292E"/>
                </a:solidFill>
                <a:effectLst/>
                <a:latin typeface="Consolas" panose="020B0609020204030204" pitchFamily="49" charset="0"/>
              </a:rPr>
              <a:t>marker</a:t>
            </a:r>
            <a:r>
              <a:rPr lang="zh-CN" altLang="en-US" b="0" dirty="0">
                <a:solidFill>
                  <a:srgbClr val="24292E"/>
                </a:solidFill>
                <a:effectLst/>
                <a:latin typeface="Consolas" panose="020B0609020204030204" pitchFamily="49" charset="0"/>
              </a:rPr>
              <a:t>）等。</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346201" y="2861338"/>
            <a:ext cx="10272552"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line,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(x, y2, </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'orange'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linewidth</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marker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'o'</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line.</a:t>
            </a:r>
            <a:r>
              <a:rPr lang="en-US" altLang="zh-CN" b="0" dirty="0" err="1">
                <a:solidFill>
                  <a:srgbClr val="6F42C1"/>
                </a:solidFill>
                <a:effectLst/>
                <a:latin typeface="Consolas" panose="020B0609020204030204" pitchFamily="49" charset="0"/>
              </a:rPr>
              <a:t>set_linestyle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设置连线形状为点线</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1712366" y="3801764"/>
            <a:ext cx="5023994" cy="2907142"/>
          </a:xfrm>
          <a:prstGeom prst="rect">
            <a:avLst/>
          </a:prstGeom>
        </p:spPr>
      </p:pic>
    </p:spTree>
    <p:custDataLst>
      <p:tags r:id="rId2"/>
    </p:custDataLst>
  </p:cSld>
  <p:clrMapOvr>
    <a:masterClrMapping/>
  </p:clrMapOvr>
  <p:transition spd="slow">
    <p:push di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2.5.3 Matplotlib </a:t>
            </a:r>
            <a:r>
              <a:rPr lang="zh-CN" altLang="en-US" sz="1800" dirty="0">
                <a:solidFill>
                  <a:srgbClr val="577CCE"/>
                </a:solidFill>
                <a:latin typeface="+mn-ea"/>
              </a:rPr>
              <a:t>绘图样式</a:t>
            </a:r>
            <a:endParaRPr lang="en-US" altLang="zh-CN" sz="1800" dirty="0">
              <a:solidFill>
                <a:srgbClr val="577CCE"/>
              </a:solidFill>
              <a:latin typeface="+mn-ea"/>
            </a:endParaRPr>
          </a:p>
        </p:txBody>
      </p:sp>
      <p:sp>
        <p:nvSpPr>
          <p:cNvPr id="10" name="文本框 9"/>
          <p:cNvSpPr txBox="1"/>
          <p:nvPr/>
        </p:nvSpPr>
        <p:spPr>
          <a:xfrm>
            <a:off x="740328" y="1688598"/>
            <a:ext cx="10950657"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）设置坐标轴上下限 </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033943" y="2156916"/>
            <a:ext cx="10950656"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在绘制图形时，</a:t>
            </a:r>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会自动为图形选择最合适的坐标轴上下限，但是有时为了绘制的图形更美观，也可以自定义坐标轴上下限。调整坐标轴上下限最基础的方法是使用 </a:t>
            </a:r>
            <a:r>
              <a:rPr lang="en-US" altLang="zh-CN" b="0" dirty="0" err="1">
                <a:solidFill>
                  <a:srgbClr val="24292E"/>
                </a:solidFill>
                <a:effectLst/>
                <a:latin typeface="Consolas" panose="020B0609020204030204" pitchFamily="49" charset="0"/>
              </a:rPr>
              <a:t>set_xlim</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和 </a:t>
            </a:r>
            <a:r>
              <a:rPr lang="en-US" altLang="zh-CN" b="0" dirty="0" err="1">
                <a:solidFill>
                  <a:srgbClr val="24292E"/>
                </a:solidFill>
                <a:effectLst/>
                <a:latin typeface="Consolas" panose="020B0609020204030204" pitchFamily="49" charset="0"/>
              </a:rPr>
              <a:t>set_ylim</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函数，也可以直接使用 </a:t>
            </a:r>
            <a:r>
              <a:rPr lang="en-US" altLang="zh-CN" b="0" dirty="0">
                <a:solidFill>
                  <a:srgbClr val="24292E"/>
                </a:solidFill>
                <a:effectLst/>
                <a:latin typeface="Consolas" panose="020B0609020204030204" pitchFamily="49" charset="0"/>
              </a:rPr>
              <a:t>axis </a:t>
            </a:r>
            <a:r>
              <a:rPr lang="zh-CN" altLang="en-US" b="0" dirty="0">
                <a:solidFill>
                  <a:srgbClr val="24292E"/>
                </a:solidFill>
                <a:effectLst/>
                <a:latin typeface="Consolas" panose="020B0609020204030204" pitchFamily="49" charset="0"/>
              </a:rPr>
              <a:t>函数同时设置。例如：</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346200" y="3156492"/>
            <a:ext cx="10272552"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set_xlim</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设置 </a:t>
            </a:r>
            <a:r>
              <a:rPr lang="en-US" altLang="zh-CN" b="0" dirty="0">
                <a:solidFill>
                  <a:srgbClr val="6A737D"/>
                </a:solidFill>
                <a:effectLst/>
                <a:latin typeface="Consolas" panose="020B0609020204030204" pitchFamily="49" charset="0"/>
              </a:rPr>
              <a:t>x </a:t>
            </a:r>
            <a:r>
              <a:rPr lang="zh-CN" altLang="en-US" b="0" dirty="0">
                <a:solidFill>
                  <a:srgbClr val="6A737D"/>
                </a:solidFill>
                <a:effectLst/>
                <a:latin typeface="Consolas" panose="020B0609020204030204" pitchFamily="49" charset="0"/>
              </a:rPr>
              <a:t>坐标轴上下限</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set_ylim</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设置 </a:t>
            </a:r>
            <a:r>
              <a:rPr lang="en-US" altLang="zh-CN" b="0" dirty="0">
                <a:solidFill>
                  <a:srgbClr val="6A737D"/>
                </a:solidFill>
                <a:effectLst/>
                <a:latin typeface="Consolas" panose="020B0609020204030204" pitchFamily="49" charset="0"/>
              </a:rPr>
              <a:t>y </a:t>
            </a:r>
            <a:r>
              <a:rPr lang="zh-CN" altLang="en-US" b="0" dirty="0">
                <a:solidFill>
                  <a:srgbClr val="6A737D"/>
                </a:solidFill>
                <a:effectLst/>
                <a:latin typeface="Consolas" panose="020B0609020204030204" pitchFamily="49" charset="0"/>
              </a:rPr>
              <a:t>坐标轴上下限</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axis</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同时设置两个坐标轴的上下限</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740328" y="4345318"/>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）设置图名和坐标轴名称</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1033942" y="4953138"/>
            <a:ext cx="10950655"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图形的图名、坐标轴名称通常使用 </a:t>
            </a:r>
            <a:r>
              <a:rPr lang="en-US" altLang="zh-CN" b="0" dirty="0" err="1">
                <a:solidFill>
                  <a:srgbClr val="24292E"/>
                </a:solidFill>
                <a:effectLst/>
                <a:latin typeface="Consolas" panose="020B0609020204030204" pitchFamily="49" charset="0"/>
              </a:rPr>
              <a:t>set_title</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set_xlabel</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set_ylabel</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函数设置。例如：</a:t>
            </a:r>
            <a:endParaRPr lang="zh-CN" altLang="en-US" b="0" dirty="0">
              <a:solidFill>
                <a:srgbClr val="24292E"/>
              </a:solidFill>
              <a:effectLst/>
              <a:latin typeface="Consolas" panose="020B0609020204030204" pitchFamily="49" charset="0"/>
            </a:endParaRPr>
          </a:p>
        </p:txBody>
      </p:sp>
      <p:sp>
        <p:nvSpPr>
          <p:cNvPr id="12" name="文本框 11"/>
          <p:cNvSpPr txBox="1"/>
          <p:nvPr/>
        </p:nvSpPr>
        <p:spPr>
          <a:xfrm>
            <a:off x="1346200" y="5560687"/>
            <a:ext cx="6094602"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set_title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'Sine'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set_xlabel</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set_ylabel</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'sin(x)'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2.5.3 Matplotlib </a:t>
            </a:r>
            <a:r>
              <a:rPr lang="zh-CN" altLang="en-US" sz="1800" dirty="0">
                <a:solidFill>
                  <a:srgbClr val="577CCE"/>
                </a:solidFill>
                <a:latin typeface="+mn-ea"/>
              </a:rPr>
              <a:t>绘图样式</a:t>
            </a:r>
            <a:endParaRPr lang="en-US" altLang="zh-CN" sz="1800" dirty="0">
              <a:solidFill>
                <a:srgbClr val="577CCE"/>
              </a:solidFill>
              <a:latin typeface="+mn-ea"/>
            </a:endParaRPr>
          </a:p>
        </p:txBody>
      </p:sp>
      <p:sp>
        <p:nvSpPr>
          <p:cNvPr id="10" name="文本框 9"/>
          <p:cNvSpPr txBox="1"/>
          <p:nvPr/>
        </p:nvSpPr>
        <p:spPr>
          <a:xfrm>
            <a:off x="740328" y="1688598"/>
            <a:ext cx="10950657"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）设置图例 </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033943" y="2156916"/>
            <a:ext cx="10950656" cy="1477328"/>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当一个子图中有多条线时，可以使用 </a:t>
            </a:r>
            <a:r>
              <a:rPr lang="en-US" altLang="zh-CN" b="0" dirty="0">
                <a:solidFill>
                  <a:srgbClr val="24292E"/>
                </a:solidFill>
                <a:effectLst/>
                <a:latin typeface="Consolas" panose="020B0609020204030204" pitchFamily="49" charset="0"/>
              </a:rPr>
              <a:t>legend </a:t>
            </a:r>
            <a:r>
              <a:rPr lang="zh-CN" altLang="en-US" b="0" dirty="0">
                <a:solidFill>
                  <a:srgbClr val="24292E"/>
                </a:solidFill>
                <a:effectLst/>
                <a:latin typeface="Consolas" panose="020B0609020204030204" pitchFamily="49" charset="0"/>
              </a:rPr>
              <a:t>函数来创建图例来明确每条线的含义。在使用 </a:t>
            </a:r>
            <a:r>
              <a:rPr lang="en-US" altLang="zh-CN" b="0" dirty="0">
                <a:solidFill>
                  <a:srgbClr val="24292E"/>
                </a:solidFill>
                <a:effectLst/>
                <a:latin typeface="Consolas" panose="020B0609020204030204" pitchFamily="49" charset="0"/>
              </a:rPr>
              <a:t>plot </a:t>
            </a:r>
            <a:r>
              <a:rPr lang="zh-CN" altLang="en-US" b="0" dirty="0">
                <a:solidFill>
                  <a:srgbClr val="24292E"/>
                </a:solidFill>
                <a:effectLst/>
                <a:latin typeface="Consolas" panose="020B0609020204030204" pitchFamily="49" charset="0"/>
              </a:rPr>
              <a:t>函数绘图时，首先加入 </a:t>
            </a:r>
            <a:r>
              <a:rPr lang="en-US" altLang="zh-CN" b="0" dirty="0">
                <a:solidFill>
                  <a:srgbClr val="24292E"/>
                </a:solidFill>
                <a:effectLst/>
                <a:latin typeface="Consolas" panose="020B0609020204030204" pitchFamily="49" charset="0"/>
              </a:rPr>
              <a:t>label </a:t>
            </a:r>
            <a:r>
              <a:rPr lang="zh-CN" altLang="en-US" b="0" dirty="0">
                <a:solidFill>
                  <a:srgbClr val="24292E"/>
                </a:solidFill>
                <a:effectLst/>
                <a:latin typeface="Consolas" panose="020B0609020204030204" pitchFamily="49" charset="0"/>
              </a:rPr>
              <a:t>参数设置每条线的名称，然后就可以使用 </a:t>
            </a:r>
            <a:r>
              <a:rPr lang="en-US" altLang="zh-CN" b="0" dirty="0">
                <a:solidFill>
                  <a:srgbClr val="24292E"/>
                </a:solidFill>
                <a:effectLst/>
                <a:latin typeface="Consolas" panose="020B0609020204030204" pitchFamily="49" charset="0"/>
              </a:rPr>
              <a:t>legend </a:t>
            </a:r>
            <a:r>
              <a:rPr lang="zh-CN" altLang="en-US" b="0" dirty="0">
                <a:solidFill>
                  <a:srgbClr val="24292E"/>
                </a:solidFill>
                <a:effectLst/>
                <a:latin typeface="Consolas" panose="020B0609020204030204" pitchFamily="49" charset="0"/>
              </a:rPr>
              <a:t>得到每条线对应的图例。</a:t>
            </a:r>
            <a:r>
              <a:rPr lang="en-US" altLang="zh-CN" b="0" dirty="0">
                <a:solidFill>
                  <a:srgbClr val="24292E"/>
                </a:solidFill>
                <a:effectLst/>
                <a:latin typeface="Consolas" panose="020B0609020204030204" pitchFamily="49" charset="0"/>
              </a:rPr>
              <a:t>legend </a:t>
            </a:r>
            <a:r>
              <a:rPr lang="zh-CN" altLang="en-US" b="0" dirty="0">
                <a:solidFill>
                  <a:srgbClr val="24292E"/>
                </a:solidFill>
                <a:effectLst/>
                <a:latin typeface="Consolas" panose="020B0609020204030204" pitchFamily="49" charset="0"/>
              </a:rPr>
              <a:t>函数也有各种参数可以对图例的显示进行配置，例如：</a:t>
            </a:r>
            <a:r>
              <a:rPr lang="en-US" altLang="zh-CN" b="0" dirty="0">
                <a:solidFill>
                  <a:srgbClr val="24292E"/>
                </a:solidFill>
                <a:effectLst/>
                <a:latin typeface="Consolas" panose="020B0609020204030204" pitchFamily="49" charset="0"/>
              </a:rPr>
              <a:t>loc </a:t>
            </a:r>
            <a:r>
              <a:rPr lang="zh-CN" altLang="en-US" b="0" dirty="0">
                <a:solidFill>
                  <a:srgbClr val="24292E"/>
                </a:solidFill>
                <a:effectLst/>
                <a:latin typeface="Consolas" panose="020B0609020204030204" pitchFamily="49" charset="0"/>
              </a:rPr>
              <a:t>参数指定图例的位置、</a:t>
            </a:r>
            <a:r>
              <a:rPr lang="en-US" altLang="zh-CN" b="0" dirty="0" err="1">
                <a:solidFill>
                  <a:srgbClr val="24292E"/>
                </a:solidFill>
                <a:effectLst/>
                <a:latin typeface="Consolas" panose="020B0609020204030204" pitchFamily="49" charset="0"/>
              </a:rPr>
              <a:t>frameon</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参数控制是否显示图例的边框、</a:t>
            </a:r>
            <a:r>
              <a:rPr lang="en-US" altLang="zh-CN" b="0" dirty="0" err="1">
                <a:solidFill>
                  <a:srgbClr val="24292E"/>
                </a:solidFill>
                <a:effectLst/>
                <a:latin typeface="Consolas" panose="020B0609020204030204" pitchFamily="49" charset="0"/>
              </a:rPr>
              <a:t>ncol</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参数指定图例显示的列数、</a:t>
            </a:r>
            <a:r>
              <a:rPr lang="en-US" altLang="zh-CN" b="0" dirty="0" err="1">
                <a:solidFill>
                  <a:srgbClr val="24292E"/>
                </a:solidFill>
                <a:effectLst/>
                <a:latin typeface="Consolas" panose="020B0609020204030204" pitchFamily="49" charset="0"/>
              </a:rPr>
              <a:t>fancybox</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参数指定圆角图例边框、</a:t>
            </a:r>
            <a:r>
              <a:rPr lang="en-US" altLang="zh-CN" b="0" dirty="0" err="1">
                <a:solidFill>
                  <a:srgbClr val="24292E"/>
                </a:solidFill>
                <a:effectLst/>
                <a:latin typeface="Consolas" panose="020B0609020204030204" pitchFamily="49" charset="0"/>
              </a:rPr>
              <a:t>framealpha</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参数改变边框透明度等。例如：</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346199" y="3634244"/>
            <a:ext cx="10638399" cy="147732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.pi</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.pi</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256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(x,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(x), </a:t>
            </a:r>
            <a:r>
              <a:rPr lang="en-US" altLang="zh-CN" b="0" dirty="0">
                <a:solidFill>
                  <a:srgbClr val="032F62"/>
                </a:solidFill>
                <a:effectLst/>
                <a:latin typeface="Consolas" panose="020B0609020204030204" pitchFamily="49" charset="0"/>
              </a:rPr>
              <a:t>'-g'</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'sin(x)'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#'-g'</a:t>
            </a:r>
            <a:r>
              <a:rPr lang="zh-CN" altLang="en-US" b="0" dirty="0">
                <a:solidFill>
                  <a:srgbClr val="6A737D"/>
                </a:solidFill>
                <a:effectLst/>
                <a:latin typeface="Consolas" panose="020B0609020204030204" pitchFamily="49" charset="0"/>
              </a:rPr>
              <a:t>表示线条样式为</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，颜色为</a:t>
            </a:r>
            <a:r>
              <a:rPr lang="en-US" altLang="zh-CN" b="0" dirty="0">
                <a:solidFill>
                  <a:srgbClr val="6A737D"/>
                </a:solidFill>
                <a:effectLst/>
                <a:latin typeface="Consolas" panose="020B0609020204030204" pitchFamily="49" charset="0"/>
              </a:rPr>
              <a:t>'g'</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(x,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.cos</a:t>
            </a:r>
            <a:r>
              <a:rPr lang="en-US" altLang="zh-CN" b="0" dirty="0">
                <a:solidFill>
                  <a:srgbClr val="24292E"/>
                </a:solidFill>
                <a:effectLst/>
                <a:latin typeface="Consolas" panose="020B0609020204030204" pitchFamily="49" charset="0"/>
              </a:rPr>
              <a:t>(x), </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'cos(x)'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#':b'</a:t>
            </a:r>
            <a:r>
              <a:rPr lang="zh-CN" altLang="en-US" b="0" dirty="0">
                <a:solidFill>
                  <a:srgbClr val="6A737D"/>
                </a:solidFill>
                <a:effectLst/>
                <a:latin typeface="Consolas" panose="020B0609020204030204" pitchFamily="49" charset="0"/>
              </a:rPr>
              <a:t>表示线条样式为</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，颜色为</a:t>
            </a:r>
            <a:r>
              <a:rPr lang="en-US" altLang="zh-CN" b="0" dirty="0">
                <a:solidFill>
                  <a:srgbClr val="6A737D"/>
                </a:solidFill>
                <a:effectLst/>
                <a:latin typeface="Consolas" panose="020B0609020204030204" pitchFamily="49" charset="0"/>
              </a:rPr>
              <a:t>'b'</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legend</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fancybox</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1"/>
          <a:stretch>
            <a:fillRect/>
          </a:stretch>
        </p:blipFill>
        <p:spPr>
          <a:xfrm>
            <a:off x="6160557" y="2467078"/>
            <a:ext cx="5530428" cy="4110132"/>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2.5.3 Matplotlib </a:t>
            </a:r>
            <a:r>
              <a:rPr lang="zh-CN" altLang="en-US" sz="1800" dirty="0">
                <a:solidFill>
                  <a:srgbClr val="577CCE"/>
                </a:solidFill>
                <a:latin typeface="+mn-ea"/>
              </a:rPr>
              <a:t>绘图样式</a:t>
            </a:r>
            <a:endParaRPr lang="en-US" altLang="zh-CN" sz="1800" dirty="0">
              <a:solidFill>
                <a:srgbClr val="577CCE"/>
              </a:solidFill>
              <a:latin typeface="+mn-ea"/>
            </a:endParaRPr>
          </a:p>
        </p:txBody>
      </p:sp>
      <p:sp>
        <p:nvSpPr>
          <p:cNvPr id="10" name="文本框 9"/>
          <p:cNvSpPr txBox="1"/>
          <p:nvPr/>
        </p:nvSpPr>
        <p:spPr>
          <a:xfrm>
            <a:off x="740328" y="1688598"/>
            <a:ext cx="10950657" cy="369332"/>
          </a:xfrm>
          <a:prstGeom prst="rect">
            <a:avLst/>
          </a:prstGeom>
          <a:noFill/>
        </p:spPr>
        <p:txBody>
          <a:bodyPr wrap="square">
            <a:spAutoFit/>
          </a:bodyPr>
          <a:lstStyle/>
          <a:p>
            <a:r>
              <a:rPr lang="zh-CN" altLang="en-US" dirty="0"/>
              <a:t>（</a:t>
            </a:r>
            <a:r>
              <a:rPr lang="en-US" altLang="zh-CN" dirty="0"/>
              <a:t>5</a:t>
            </a:r>
            <a:r>
              <a:rPr lang="zh-CN" altLang="en-US" dirty="0"/>
              <a:t>）接口函数的使用 </a:t>
            </a:r>
            <a:endParaRPr lang="zh-CN" altLang="en-US" dirty="0"/>
          </a:p>
        </p:txBody>
      </p:sp>
      <p:sp>
        <p:nvSpPr>
          <p:cNvPr id="5" name="文本框 4"/>
          <p:cNvSpPr txBox="1"/>
          <p:nvPr/>
        </p:nvSpPr>
        <p:spPr>
          <a:xfrm>
            <a:off x="1033943" y="2156916"/>
            <a:ext cx="10950656" cy="646331"/>
          </a:xfrm>
          <a:prstGeom prst="rect">
            <a:avLst/>
          </a:prstGeom>
          <a:noFill/>
        </p:spPr>
        <p:txBody>
          <a:bodyPr wrap="square">
            <a:spAutoFit/>
          </a:bodyPr>
          <a:lstStyle/>
          <a:p>
            <a:r>
              <a:rPr lang="zh-CN" altLang="en-US" dirty="0"/>
              <a:t>上述介绍的接口函数，都是在面向对象方式的绘图中使用，而 </a:t>
            </a:r>
            <a:r>
              <a:rPr lang="en-US" altLang="zh-CN" dirty="0" err="1"/>
              <a:t>pyplot</a:t>
            </a:r>
            <a:r>
              <a:rPr lang="en-US" altLang="zh-CN" dirty="0"/>
              <a:t> </a:t>
            </a:r>
            <a:r>
              <a:rPr lang="zh-CN" altLang="en-US" dirty="0"/>
              <a:t>方式的绘图方法， 通常也都有对应的函数，例如：</a:t>
            </a:r>
            <a:endParaRPr lang="zh-CN" altLang="en-US" dirty="0"/>
          </a:p>
        </p:txBody>
      </p:sp>
      <p:sp>
        <p:nvSpPr>
          <p:cNvPr id="6" name="文本框 5"/>
          <p:cNvSpPr txBox="1"/>
          <p:nvPr/>
        </p:nvSpPr>
        <p:spPr>
          <a:xfrm>
            <a:off x="1033943" y="2951588"/>
            <a:ext cx="6094602" cy="2246769"/>
          </a:xfrm>
          <a:prstGeom prst="rect">
            <a:avLst/>
          </a:prstGeom>
          <a:noFill/>
        </p:spPr>
        <p:txBody>
          <a:bodyPr wrap="square">
            <a:spAutoFit/>
          </a:bodyPr>
          <a:lstStyle/>
          <a:p>
            <a:pPr marL="285750" indent="-285750">
              <a:buFont typeface="Arial" panose="020B0604020202020204" pitchFamily="34" charset="0"/>
              <a:buChar char="•"/>
            </a:pPr>
            <a:r>
              <a:rPr lang="en-US" altLang="zh-CN" sz="2000" dirty="0"/>
              <a:t>plt.plot() → </a:t>
            </a:r>
            <a:r>
              <a:rPr lang="en-US" altLang="zh-CN" sz="2000" dirty="0" err="1"/>
              <a:t>ax.plot</a:t>
            </a:r>
            <a:r>
              <a:rPr lang="en-US" altLang="zh-CN" sz="2000" dirty="0"/>
              <a:t>()</a:t>
            </a:r>
            <a:endParaRPr lang="en-US" altLang="zh-CN" sz="2000" dirty="0"/>
          </a:p>
          <a:p>
            <a:pPr marL="285750" indent="-285750">
              <a:buFont typeface="Arial" panose="020B0604020202020204" pitchFamily="34" charset="0"/>
              <a:buChar char="•"/>
            </a:pPr>
            <a:r>
              <a:rPr lang="en-US" altLang="zh-CN" sz="2000" dirty="0" err="1"/>
              <a:t>plt.legend</a:t>
            </a:r>
            <a:r>
              <a:rPr lang="en-US" altLang="zh-CN" sz="2000" dirty="0"/>
              <a:t>() → </a:t>
            </a:r>
            <a:r>
              <a:rPr lang="en-US" altLang="zh-CN" sz="2000" dirty="0" err="1"/>
              <a:t>ax.legend</a:t>
            </a:r>
            <a:r>
              <a:rPr lang="en-US" altLang="zh-CN" sz="2000" dirty="0"/>
              <a:t>()</a:t>
            </a:r>
            <a:endParaRPr lang="en-US" altLang="zh-CN" sz="2000" dirty="0"/>
          </a:p>
          <a:p>
            <a:pPr marL="285750" indent="-285750">
              <a:buFont typeface="Arial" panose="020B0604020202020204" pitchFamily="34" charset="0"/>
              <a:buChar char="•"/>
            </a:pPr>
            <a:r>
              <a:rPr lang="en-US" altLang="zh-CN" sz="2000" dirty="0" err="1"/>
              <a:t>plt.xlabel</a:t>
            </a:r>
            <a:r>
              <a:rPr lang="en-US" altLang="zh-CN" sz="2000" dirty="0"/>
              <a:t>() → </a:t>
            </a:r>
            <a:r>
              <a:rPr lang="en-US" altLang="zh-CN" sz="2000" dirty="0" err="1"/>
              <a:t>ax.set_xlabel</a:t>
            </a:r>
            <a:r>
              <a:rPr lang="en-US" altLang="zh-CN" sz="2000" dirty="0"/>
              <a:t>()</a:t>
            </a:r>
            <a:endParaRPr lang="en-US" altLang="zh-CN" sz="2000" dirty="0"/>
          </a:p>
          <a:p>
            <a:pPr marL="285750" indent="-285750">
              <a:buFont typeface="Arial" panose="020B0604020202020204" pitchFamily="34" charset="0"/>
              <a:buChar char="•"/>
            </a:pPr>
            <a:r>
              <a:rPr lang="en-US" altLang="zh-CN" sz="2000" dirty="0" err="1"/>
              <a:t>plt.ylabel</a:t>
            </a:r>
            <a:r>
              <a:rPr lang="en-US" altLang="zh-CN" sz="2000" dirty="0"/>
              <a:t>() → </a:t>
            </a:r>
            <a:r>
              <a:rPr lang="en-US" altLang="zh-CN" sz="2000" dirty="0" err="1"/>
              <a:t>ax.set_ylabel</a:t>
            </a:r>
            <a:r>
              <a:rPr lang="en-US" altLang="zh-CN" sz="2000" dirty="0"/>
              <a:t>()</a:t>
            </a:r>
            <a:endParaRPr lang="en-US" altLang="zh-CN" sz="2000" dirty="0"/>
          </a:p>
          <a:p>
            <a:pPr marL="285750" indent="-285750">
              <a:buFont typeface="Arial" panose="020B0604020202020204" pitchFamily="34" charset="0"/>
              <a:buChar char="•"/>
            </a:pPr>
            <a:r>
              <a:rPr lang="en-US" altLang="zh-CN" sz="2000" dirty="0" err="1"/>
              <a:t>plt.xlim</a:t>
            </a:r>
            <a:r>
              <a:rPr lang="en-US" altLang="zh-CN" sz="2000" dirty="0"/>
              <a:t>() → </a:t>
            </a:r>
            <a:r>
              <a:rPr lang="en-US" altLang="zh-CN" sz="2000" dirty="0" err="1"/>
              <a:t>ax.set_xlim</a:t>
            </a:r>
            <a:r>
              <a:rPr lang="en-US" altLang="zh-CN" sz="2000" dirty="0"/>
              <a:t>()</a:t>
            </a:r>
            <a:endParaRPr lang="en-US" altLang="zh-CN" sz="2000" dirty="0"/>
          </a:p>
          <a:p>
            <a:pPr marL="285750" indent="-285750">
              <a:buFont typeface="Arial" panose="020B0604020202020204" pitchFamily="34" charset="0"/>
              <a:buChar char="•"/>
            </a:pPr>
            <a:r>
              <a:rPr lang="en-US" altLang="zh-CN" sz="2000" dirty="0" err="1"/>
              <a:t>plt.ylim</a:t>
            </a:r>
            <a:r>
              <a:rPr lang="en-US" altLang="zh-CN" sz="2000" dirty="0"/>
              <a:t>() → </a:t>
            </a:r>
            <a:r>
              <a:rPr lang="en-US" altLang="zh-CN" sz="2000" dirty="0" err="1"/>
              <a:t>ax.set_ylim</a:t>
            </a:r>
            <a:r>
              <a:rPr lang="en-US" altLang="zh-CN" sz="2000" dirty="0"/>
              <a:t>()</a:t>
            </a:r>
            <a:endParaRPr lang="en-US" altLang="zh-CN" sz="2000" dirty="0"/>
          </a:p>
          <a:p>
            <a:pPr marL="285750" indent="-285750">
              <a:buFont typeface="Arial" panose="020B0604020202020204" pitchFamily="34" charset="0"/>
              <a:buChar char="•"/>
            </a:pPr>
            <a:r>
              <a:rPr lang="en-US" altLang="zh-CN" sz="2000" dirty="0" err="1"/>
              <a:t>plt.title</a:t>
            </a:r>
            <a:r>
              <a:rPr lang="en-US" altLang="zh-CN" sz="2000" dirty="0"/>
              <a:t>() → </a:t>
            </a:r>
            <a:r>
              <a:rPr lang="en-US" altLang="zh-CN" sz="2000" dirty="0" err="1"/>
              <a:t>ax.set_title</a:t>
            </a:r>
            <a:r>
              <a:rPr lang="en-US" altLang="zh-CN" sz="2000" dirty="0"/>
              <a:t>()</a:t>
            </a:r>
            <a:endParaRPr lang="zh-CN" altLang="en-US" sz="2000" dirty="0"/>
          </a:p>
        </p:txBody>
      </p:sp>
      <p:sp>
        <p:nvSpPr>
          <p:cNvPr id="9" name="文本框 8"/>
          <p:cNvSpPr txBox="1"/>
          <p:nvPr/>
        </p:nvSpPr>
        <p:spPr>
          <a:xfrm>
            <a:off x="1033943" y="5228853"/>
            <a:ext cx="10657042" cy="1200329"/>
          </a:xfrm>
          <a:prstGeom prst="rect">
            <a:avLst/>
          </a:prstGeom>
          <a:noFill/>
        </p:spPr>
        <p:txBody>
          <a:bodyPr wrap="square">
            <a:spAutoFit/>
          </a:bodyPr>
          <a:lstStyle/>
          <a:p>
            <a:r>
              <a:rPr lang="zh-CN" altLang="en-US" dirty="0"/>
              <a:t>这些函数的使用方式与面向对象方式的接口函数类似，只不过需要指定相应的 axes 对象。例如，使用 ax.plot() 函数代替 plt.plot() 函数来绘制子图中的线条，使用 ax.legend() 函数代替 plt.legend() 函数来添加图例等等。这些函数也可以接受相应的参数来控制图像的样式、布局、标签等等。需要注意的是，在 pyplot 方式下，如果没有指定 axes 对象，则函数会默认使用当前的 axes 对象进行绘图。</a:t>
            </a:r>
            <a:endParaRPr lang="zh-CN" altLang="en-US" dirty="0"/>
          </a:p>
        </p:txBody>
      </p:sp>
    </p:spTree>
    <p:custDataLst>
      <p:tags r:id="rId1"/>
    </p:custDataLst>
  </p:cSld>
  <p:clrMapOvr>
    <a:masterClrMapping/>
  </p:clrMapOvr>
  <p:transition spd="slow">
    <p:push dir="u"/>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2.5.4 </a:t>
            </a:r>
            <a:r>
              <a:rPr lang="zh-CN" altLang="en-US" sz="1800" dirty="0">
                <a:solidFill>
                  <a:srgbClr val="577CCE"/>
                </a:solidFill>
                <a:latin typeface="+mn-ea"/>
              </a:rPr>
              <a:t>散点图绘制</a:t>
            </a:r>
            <a:endParaRPr lang="en-US" altLang="zh-CN" sz="1800" dirty="0">
              <a:solidFill>
                <a:srgbClr val="577CCE"/>
              </a:solidFill>
              <a:latin typeface="+mn-ea"/>
            </a:endParaRPr>
          </a:p>
        </p:txBody>
      </p:sp>
      <p:sp>
        <p:nvSpPr>
          <p:cNvPr id="10" name="文本框 9"/>
          <p:cNvSpPr txBox="1"/>
          <p:nvPr/>
        </p:nvSpPr>
        <p:spPr>
          <a:xfrm>
            <a:off x="740328" y="1688598"/>
            <a:ext cx="10950657"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绘制散点图既可以使用前面介绍的 </a:t>
            </a:r>
            <a:r>
              <a:rPr lang="en-US" altLang="zh-CN" b="0" dirty="0">
                <a:solidFill>
                  <a:srgbClr val="24292E"/>
                </a:solidFill>
                <a:effectLst/>
                <a:latin typeface="Consolas" panose="020B0609020204030204" pitchFamily="49" charset="0"/>
              </a:rPr>
              <a:t>plot </a:t>
            </a:r>
            <a:r>
              <a:rPr lang="zh-CN" altLang="en-US" b="0" dirty="0">
                <a:solidFill>
                  <a:srgbClr val="24292E"/>
                </a:solidFill>
                <a:effectLst/>
                <a:latin typeface="Consolas" panose="020B0609020204030204" pitchFamily="49" charset="0"/>
              </a:rPr>
              <a:t>函数，也可以使用 </a:t>
            </a:r>
            <a:r>
              <a:rPr lang="en-US" altLang="zh-CN" b="0" dirty="0">
                <a:solidFill>
                  <a:srgbClr val="24292E"/>
                </a:solidFill>
                <a:effectLst/>
                <a:latin typeface="Consolas" panose="020B0609020204030204" pitchFamily="49" charset="0"/>
              </a:rPr>
              <a:t>scatter </a:t>
            </a:r>
            <a:r>
              <a:rPr lang="zh-CN" altLang="en-US" b="0" dirty="0">
                <a:solidFill>
                  <a:srgbClr val="24292E"/>
                </a:solidFill>
                <a:effectLst/>
                <a:latin typeface="Consolas" panose="020B0609020204030204" pitchFamily="49" charset="0"/>
              </a:rPr>
              <a:t>函数，后者 相对前者有更高的灵活性。以下代码给出了使用 </a:t>
            </a:r>
            <a:r>
              <a:rPr lang="en-US" altLang="zh-CN" b="0" dirty="0">
                <a:solidFill>
                  <a:srgbClr val="24292E"/>
                </a:solidFill>
                <a:effectLst/>
                <a:latin typeface="Consolas" panose="020B0609020204030204" pitchFamily="49" charset="0"/>
              </a:rPr>
              <a:t>plot </a:t>
            </a:r>
            <a:r>
              <a:rPr lang="zh-CN" altLang="en-US" b="0" dirty="0">
                <a:solidFill>
                  <a:srgbClr val="24292E"/>
                </a:solidFill>
                <a:effectLst/>
                <a:latin typeface="Consolas" panose="020B0609020204030204" pitchFamily="49" charset="0"/>
              </a:rPr>
              <a:t>函数绘制散点图的示例，示例中，</a:t>
            </a:r>
            <a:r>
              <a:rPr lang="en-US" altLang="zh-CN" b="0" dirty="0">
                <a:solidFill>
                  <a:srgbClr val="24292E"/>
                </a:solidFill>
                <a:effectLst/>
                <a:latin typeface="Consolas" panose="020B0609020204030204" pitchFamily="49" charset="0"/>
              </a:rPr>
              <a:t>plot </a:t>
            </a:r>
            <a:r>
              <a:rPr lang="zh-CN" altLang="en-US" b="0" dirty="0">
                <a:solidFill>
                  <a:srgbClr val="24292E"/>
                </a:solidFill>
                <a:effectLst/>
                <a:latin typeface="Consolas" panose="020B0609020204030204" pitchFamily="49" charset="0"/>
              </a:rPr>
              <a:t>函数的 </a:t>
            </a:r>
            <a:r>
              <a:rPr lang="en-US" altLang="zh-CN" b="0" dirty="0">
                <a:solidFill>
                  <a:srgbClr val="24292E"/>
                </a:solidFill>
                <a:effectLst/>
                <a:latin typeface="Consolas" panose="020B0609020204030204" pitchFamily="49" charset="0"/>
              </a:rPr>
              <a:t>marker </a:t>
            </a:r>
            <a:r>
              <a:rPr lang="zh-CN" altLang="en-US" b="0" dirty="0">
                <a:solidFill>
                  <a:srgbClr val="24292E"/>
                </a:solidFill>
                <a:effectLst/>
                <a:latin typeface="Consolas" panose="020B0609020204030204" pitchFamily="49" charset="0"/>
              </a:rPr>
              <a:t>参数设为散点图形对应的字符。</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33943" y="2710914"/>
            <a:ext cx="10657042"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RandomState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生成伪随机数生成器，随机数种子为 </a:t>
            </a:r>
            <a:r>
              <a:rPr lang="en-US" altLang="zh-CN" b="0" dirty="0">
                <a:solidFill>
                  <a:srgbClr val="6A737D"/>
                </a:solidFill>
                <a:effectLst/>
                <a:latin typeface="Consolas" panose="020B0609020204030204" pitchFamily="49" charset="0"/>
              </a:rPr>
              <a:t>0</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marker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'v'</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'&lt;'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'&gt;'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'd'</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rng.</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rng.</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marker, </a:t>
            </a:r>
            <a:r>
              <a:rPr lang="en-US" altLang="zh-CN" b="0" dirty="0">
                <a:solidFill>
                  <a:srgbClr val="E36209"/>
                </a:solidFill>
                <a:effectLst/>
                <a:latin typeface="Consolas" panose="020B0609020204030204" pitchFamily="49" charset="0"/>
              </a:rPr>
              <a:t>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'marker=</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format</a:t>
            </a:r>
            <a:r>
              <a:rPr lang="en-US" altLang="zh-CN" b="0" dirty="0">
                <a:solidFill>
                  <a:srgbClr val="24292E"/>
                </a:solidFill>
                <a:effectLst/>
                <a:latin typeface="Consolas" panose="020B0609020204030204" pitchFamily="49" charset="0"/>
              </a:rPr>
              <a:t>(marker)) </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7810100" y="3911243"/>
            <a:ext cx="3880885" cy="2865797"/>
          </a:xfrm>
          <a:prstGeom prst="rect">
            <a:avLst/>
          </a:prstGeom>
        </p:spPr>
      </p:pic>
    </p:spTree>
    <p:custDataLst>
      <p:tags r:id="rId2"/>
    </p:custDataLst>
  </p:cSld>
  <p:clrMapOvr>
    <a:masterClrMapping/>
  </p:clrMapOvr>
  <p:transition spd="slow">
    <p:push dir="u"/>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2.5.4 </a:t>
            </a:r>
            <a:r>
              <a:rPr lang="zh-CN" altLang="en-US" sz="1800" dirty="0">
                <a:solidFill>
                  <a:srgbClr val="577CCE"/>
                </a:solidFill>
                <a:latin typeface="+mn-ea"/>
              </a:rPr>
              <a:t>散点图绘制</a:t>
            </a:r>
            <a:endParaRPr lang="en-US" altLang="zh-CN" sz="1800" dirty="0">
              <a:solidFill>
                <a:srgbClr val="577CCE"/>
              </a:solidFill>
              <a:latin typeface="+mn-ea"/>
            </a:endParaRPr>
          </a:p>
        </p:txBody>
      </p:sp>
      <p:sp>
        <p:nvSpPr>
          <p:cNvPr id="10" name="文本框 9"/>
          <p:cNvSpPr txBox="1"/>
          <p:nvPr/>
        </p:nvSpPr>
        <p:spPr>
          <a:xfrm>
            <a:off x="740328" y="1688598"/>
            <a:ext cx="10950657"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使用 </a:t>
            </a:r>
            <a:r>
              <a:rPr lang="en-US" altLang="zh-CN" b="0" dirty="0">
                <a:solidFill>
                  <a:srgbClr val="24292E"/>
                </a:solidFill>
                <a:effectLst/>
                <a:latin typeface="Consolas" panose="020B0609020204030204" pitchFamily="49" charset="0"/>
              </a:rPr>
              <a:t>scatter </a:t>
            </a:r>
            <a:r>
              <a:rPr lang="zh-CN" altLang="en-US" b="0" dirty="0">
                <a:solidFill>
                  <a:srgbClr val="24292E"/>
                </a:solidFill>
                <a:effectLst/>
                <a:latin typeface="Consolas" panose="020B0609020204030204" pitchFamily="49" charset="0"/>
              </a:rPr>
              <a:t>函数是更为常见创建散点图的方式，可以设置每个散点具有不同的属性，如大小、表面颜色、边框颜色等。示例如下：</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33943" y="2710914"/>
            <a:ext cx="10657042" cy="2585323"/>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RandomState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rng.</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rng.</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colors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rng.</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sizes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1000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rng.</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scatter</a:t>
            </a:r>
            <a:r>
              <a:rPr lang="en-US" altLang="zh-CN" b="0" dirty="0">
                <a:solidFill>
                  <a:srgbClr val="24292E"/>
                </a:solidFill>
                <a:effectLst/>
                <a:latin typeface="Consolas" panose="020B0609020204030204" pitchFamily="49" charset="0"/>
              </a:rPr>
              <a:t>(x, y,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colors, </a:t>
            </a:r>
            <a:r>
              <a:rPr lang="en-US" altLang="zh-CN" b="0" dirty="0">
                <a:solidFill>
                  <a:srgbClr val="E36209"/>
                </a:solidFill>
                <a:effectLst/>
                <a:latin typeface="Consolas" panose="020B0609020204030204" pitchFamily="49" charset="0"/>
              </a:rPr>
              <a:t>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sizes, </a:t>
            </a:r>
            <a:r>
              <a:rPr lang="en-US" altLang="zh-CN" b="0" dirty="0">
                <a:solidFill>
                  <a:srgbClr val="E36209"/>
                </a:solidFill>
                <a:effectLst/>
                <a:latin typeface="Consolas" panose="020B0609020204030204" pitchFamily="49" charset="0"/>
              </a:rPr>
              <a:t>alpha</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colorbar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axs</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ax</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ax)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设置右侧的颜色条</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7838161" y="2660843"/>
            <a:ext cx="4103760" cy="3052580"/>
          </a:xfrm>
          <a:prstGeom prst="rect">
            <a:avLst/>
          </a:prstGeom>
        </p:spPr>
      </p:pic>
    </p:spTree>
    <p:custDataLst>
      <p:tags r:id="rId2"/>
    </p:custDataLst>
  </p:cSld>
  <p:clrMapOvr>
    <a:masterClrMapping/>
  </p:clrMapOvr>
  <p:transition spd="slow">
    <p:push di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2.5.5 </a:t>
            </a:r>
            <a:r>
              <a:rPr lang="zh-CN" altLang="en-US" sz="1800" dirty="0">
                <a:solidFill>
                  <a:srgbClr val="577CCE"/>
                </a:solidFill>
                <a:latin typeface="+mn-ea"/>
              </a:rPr>
              <a:t>可视化误差</a:t>
            </a:r>
            <a:endParaRPr lang="en-US" altLang="zh-CN" sz="1800" dirty="0">
              <a:solidFill>
                <a:srgbClr val="577CCE"/>
              </a:solidFill>
              <a:latin typeface="+mn-ea"/>
            </a:endParaRPr>
          </a:p>
        </p:txBody>
      </p:sp>
      <p:sp>
        <p:nvSpPr>
          <p:cNvPr id="10" name="文本框 9"/>
          <p:cNvSpPr txBox="1"/>
          <p:nvPr/>
        </p:nvSpPr>
        <p:spPr>
          <a:xfrm>
            <a:off x="740328" y="1688598"/>
            <a:ext cx="10950657" cy="1754326"/>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有时，我们需要展示多组数据的均值和方差。例如某个识别算法在不同超参数设定下训练后在验证集下测试有不同的准确率，由于训练时的初始化参数是随机设置的，因此每次训练得到的模型在验证集下测试准确率也不同。假定超参数取值从 </a:t>
            </a:r>
            <a:r>
              <a:rPr lang="en-US" altLang="zh-CN" b="0" dirty="0">
                <a:solidFill>
                  <a:srgbClr val="24292E"/>
                </a:solidFill>
                <a:effectLst/>
                <a:latin typeface="Consolas" panose="020B0609020204030204" pitchFamily="49" charset="0"/>
              </a:rPr>
              <a:t>0 </a:t>
            </a:r>
            <a:r>
              <a:rPr lang="zh-CN" altLang="en-US" b="0" dirty="0">
                <a:solidFill>
                  <a:srgbClr val="24292E"/>
                </a:solidFill>
                <a:effectLst/>
                <a:latin typeface="Consolas" panose="020B0609020204030204" pitchFamily="49" charset="0"/>
              </a:rPr>
              <a:t>到 </a:t>
            </a:r>
            <a:r>
              <a:rPr lang="en-US" altLang="zh-CN" b="0" dirty="0">
                <a:solidFill>
                  <a:srgbClr val="24292E"/>
                </a:solidFill>
                <a:effectLst/>
                <a:latin typeface="Consolas" panose="020B0609020204030204" pitchFamily="49" charset="0"/>
              </a:rPr>
              <a:t>10 </a:t>
            </a:r>
            <a:r>
              <a:rPr lang="zh-CN" altLang="en-US" b="0" dirty="0">
                <a:solidFill>
                  <a:srgbClr val="24292E"/>
                </a:solidFill>
                <a:effectLst/>
                <a:latin typeface="Consolas" panose="020B0609020204030204" pitchFamily="49" charset="0"/>
              </a:rPr>
              <a:t>共 </a:t>
            </a:r>
            <a:r>
              <a:rPr lang="en-US" altLang="zh-CN" b="0" dirty="0">
                <a:solidFill>
                  <a:srgbClr val="24292E"/>
                </a:solidFill>
                <a:effectLst/>
                <a:latin typeface="Consolas" panose="020B0609020204030204" pitchFamily="49" charset="0"/>
              </a:rPr>
              <a:t>11 </a:t>
            </a:r>
            <a:r>
              <a:rPr lang="zh-CN" altLang="en-US" b="0" dirty="0">
                <a:solidFill>
                  <a:srgbClr val="24292E"/>
                </a:solidFill>
                <a:effectLst/>
                <a:latin typeface="Consolas" panose="020B0609020204030204" pitchFamily="49" charset="0"/>
              </a:rPr>
              <a:t>个整数值，实验共重复了 </a:t>
            </a:r>
            <a:r>
              <a:rPr lang="en-US" altLang="zh-CN" b="0" dirty="0">
                <a:solidFill>
                  <a:srgbClr val="24292E"/>
                </a:solidFill>
                <a:effectLst/>
                <a:latin typeface="Consolas" panose="020B0609020204030204" pitchFamily="49" charset="0"/>
              </a:rPr>
              <a:t>10 </a:t>
            </a:r>
            <a:r>
              <a:rPr lang="zh-CN" altLang="en-US" b="0" dirty="0">
                <a:solidFill>
                  <a:srgbClr val="24292E"/>
                </a:solidFill>
                <a:effectLst/>
                <a:latin typeface="Consolas" panose="020B0609020204030204" pitchFamily="49" charset="0"/>
              </a:rPr>
              <a:t>次，则可采用 </a:t>
            </a:r>
            <a:r>
              <a:rPr lang="en-US" altLang="zh-CN" b="0" dirty="0" err="1">
                <a:solidFill>
                  <a:srgbClr val="24292E"/>
                </a:solidFill>
                <a:effectLst/>
                <a:latin typeface="Consolas" panose="020B0609020204030204" pitchFamily="49" charset="0"/>
              </a:rPr>
              <a:t>errorbar</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函数绘制误差线方法，将不同超参数下，算法准确率的均值和方差数据的可视化结果显示出来。</a:t>
            </a:r>
            <a:endParaRPr lang="zh-CN" altLang="en-US" b="0" dirty="0">
              <a:solidFill>
                <a:srgbClr val="24292E"/>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具体代码如下：</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983610" y="3623287"/>
            <a:ext cx="5786306" cy="2585323"/>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#11 </a:t>
            </a:r>
            <a:r>
              <a:rPr lang="zh-CN" altLang="en-US" b="0" dirty="0">
                <a:solidFill>
                  <a:srgbClr val="6A737D"/>
                </a:solidFill>
                <a:effectLst/>
                <a:latin typeface="Consolas" panose="020B0609020204030204" pitchFamily="49" charset="0"/>
              </a:rPr>
              <a:t>个超参数值</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模拟 </a:t>
            </a:r>
            <a:r>
              <a:rPr lang="en-US" altLang="zh-CN" b="0" dirty="0">
                <a:solidFill>
                  <a:srgbClr val="6A737D"/>
                </a:solidFill>
                <a:effectLst/>
                <a:latin typeface="Consolas" panose="020B0609020204030204" pitchFamily="49" charset="0"/>
              </a:rPr>
              <a:t>10 </a:t>
            </a:r>
            <a:r>
              <a:rPr lang="zh-CN" altLang="en-US" b="0" dirty="0">
                <a:solidFill>
                  <a:srgbClr val="6A737D"/>
                </a:solidFill>
                <a:effectLst/>
                <a:latin typeface="Consolas" panose="020B0609020204030204" pitchFamily="49" charset="0"/>
              </a:rPr>
              <a:t>次实验不同超参数值下的准确率</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mean</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a:t>
            </a:r>
            <a:r>
              <a:rPr lang="en-US" altLang="zh-CN" b="0" dirty="0" err="1">
                <a:solidFill>
                  <a:srgbClr val="6F42C1"/>
                </a:solidFill>
                <a:effectLst/>
                <a:latin typeface="Consolas" panose="020B0609020204030204" pitchFamily="49" charset="0"/>
              </a:rPr>
              <a:t>mean</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按列求平均</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std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a:t>
            </a:r>
            <a:r>
              <a:rPr lang="en-US" altLang="zh-CN" b="0" dirty="0" err="1">
                <a:solidFill>
                  <a:srgbClr val="6F42C1"/>
                </a:solidFill>
                <a:effectLst/>
                <a:latin typeface="Consolas" panose="020B0609020204030204" pitchFamily="49" charset="0"/>
              </a:rPr>
              <a:t>std</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按列求方差</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errorbar</a:t>
            </a:r>
            <a:r>
              <a:rPr lang="en-US" altLang="zh-CN" b="0" dirty="0">
                <a:solidFill>
                  <a:srgbClr val="24292E"/>
                </a:solidFill>
                <a:effectLst/>
                <a:latin typeface="Consolas" panose="020B0609020204030204" pitchFamily="49" charset="0"/>
              </a:rPr>
              <a:t>(x, mean, </a:t>
            </a:r>
            <a:r>
              <a:rPr lang="en-US" altLang="zh-CN" b="0" dirty="0" err="1">
                <a:solidFill>
                  <a:srgbClr val="E36209"/>
                </a:solidFill>
                <a:effectLst/>
                <a:latin typeface="Consolas" panose="020B0609020204030204" pitchFamily="49" charset="0"/>
              </a:rPr>
              <a:t>yerr</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std, </a:t>
            </a:r>
            <a:r>
              <a:rPr lang="en-US" altLang="zh-CN" b="0" dirty="0" err="1">
                <a:solidFill>
                  <a:srgbClr val="E36209"/>
                </a:solidFill>
                <a:effectLst/>
                <a:latin typeface="Consolas" panose="020B0609020204030204" pitchFamily="49" charset="0"/>
              </a:rPr>
              <a:t>fmt</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ecolor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'r'</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elinewidth</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capsize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7105765" y="3322041"/>
            <a:ext cx="4585220" cy="3350490"/>
          </a:xfrm>
          <a:prstGeom prst="rect">
            <a:avLst/>
          </a:prstGeom>
        </p:spPr>
      </p:pic>
      <p:sp>
        <p:nvSpPr>
          <p:cNvPr id="9" name="文本框 8"/>
          <p:cNvSpPr txBox="1"/>
          <p:nvPr/>
        </p:nvSpPr>
        <p:spPr>
          <a:xfrm>
            <a:off x="6999321" y="3025275"/>
            <a:ext cx="4798108" cy="338554"/>
          </a:xfrm>
          <a:prstGeom prst="rect">
            <a:avLst/>
          </a:prstGeom>
          <a:noFill/>
        </p:spPr>
        <p:txBody>
          <a:bodyPr wrap="none" rtlCol="0">
            <a:spAutoFit/>
          </a:bodyPr>
          <a:lstStyle/>
          <a:p>
            <a:r>
              <a:rPr lang="zh-CN" altLang="en-US" sz="1600" dirty="0">
                <a:solidFill>
                  <a:srgbClr val="577CCE"/>
                </a:solidFill>
              </a:rPr>
              <a:t>（均值 </a:t>
            </a:r>
            <a:r>
              <a:rPr lang="en-US" altLang="zh-CN" sz="1600" dirty="0">
                <a:solidFill>
                  <a:srgbClr val="577CCE"/>
                </a:solidFill>
              </a:rPr>
              <a:t>+- </a:t>
            </a:r>
            <a:r>
              <a:rPr lang="zh-CN" altLang="en-US" sz="1600" dirty="0">
                <a:solidFill>
                  <a:srgbClr val="577CCE"/>
                </a:solidFill>
              </a:rPr>
              <a:t>误差，描述数据的基础分布的一种方法）</a:t>
            </a:r>
            <a:endParaRPr lang="zh-CN" altLang="en-US" sz="1600" dirty="0">
              <a:solidFill>
                <a:srgbClr val="577CCE"/>
              </a:solidFill>
            </a:endParaRPr>
          </a:p>
        </p:txBody>
      </p:sp>
    </p:spTree>
    <p:custDataLst>
      <p:tags r:id="rId2"/>
    </p:custDataLst>
  </p:cSld>
  <p:clrMapOvr>
    <a:masterClrMapping/>
  </p:clrMapOvr>
  <p:transition spd="slow">
    <p:push dir="u"/>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2.5.6 </a:t>
            </a:r>
            <a:r>
              <a:rPr lang="zh-CN" altLang="en-US" sz="1800" dirty="0">
                <a:solidFill>
                  <a:srgbClr val="577CCE"/>
                </a:solidFill>
                <a:latin typeface="+mn-ea"/>
              </a:rPr>
              <a:t>二维平面常见绘图形式 </a:t>
            </a:r>
            <a:endParaRPr lang="en-US" altLang="zh-CN" sz="1800" dirty="0">
              <a:solidFill>
                <a:srgbClr val="577CCE"/>
              </a:solidFill>
              <a:latin typeface="+mn-ea"/>
            </a:endParaRPr>
          </a:p>
        </p:txBody>
      </p:sp>
      <p:sp>
        <p:nvSpPr>
          <p:cNvPr id="10" name="文本框 9"/>
          <p:cNvSpPr txBox="1"/>
          <p:nvPr/>
        </p:nvSpPr>
        <p:spPr>
          <a:xfrm>
            <a:off x="740328" y="1688598"/>
            <a:ext cx="10950657" cy="1200329"/>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除了绘制散点、连线、误差线外，在二维平面上还可以绘制各种形式的图像。例如使用 </a:t>
            </a:r>
            <a:r>
              <a:rPr lang="en-US" altLang="zh-CN" b="0" dirty="0">
                <a:solidFill>
                  <a:srgbClr val="24292E"/>
                </a:solidFill>
                <a:effectLst/>
                <a:latin typeface="Consolas" panose="020B0609020204030204" pitchFamily="49" charset="0"/>
              </a:rPr>
              <a:t>bar </a:t>
            </a:r>
            <a:r>
              <a:rPr lang="zh-CN" altLang="en-US" b="0" dirty="0">
                <a:solidFill>
                  <a:srgbClr val="24292E"/>
                </a:solidFill>
                <a:effectLst/>
                <a:latin typeface="Consolas" panose="020B0609020204030204" pitchFamily="49" charset="0"/>
              </a:rPr>
              <a:t>函数绘制柱形图，使用 </a:t>
            </a:r>
            <a:r>
              <a:rPr lang="en-US" altLang="zh-CN" b="0" dirty="0">
                <a:solidFill>
                  <a:srgbClr val="24292E"/>
                </a:solidFill>
                <a:effectLst/>
                <a:latin typeface="Consolas" panose="020B0609020204030204" pitchFamily="49" charset="0"/>
              </a:rPr>
              <a:t>contour </a:t>
            </a:r>
            <a:r>
              <a:rPr lang="zh-CN" altLang="en-US" b="0" dirty="0">
                <a:solidFill>
                  <a:srgbClr val="24292E"/>
                </a:solidFill>
                <a:effectLst/>
                <a:latin typeface="Consolas" panose="020B0609020204030204" pitchFamily="49" charset="0"/>
              </a:rPr>
              <a:t>函数或 </a:t>
            </a:r>
            <a:r>
              <a:rPr lang="en-US" altLang="zh-CN" b="0" dirty="0" err="1">
                <a:solidFill>
                  <a:srgbClr val="24292E"/>
                </a:solidFill>
                <a:effectLst/>
                <a:latin typeface="Consolas" panose="020B0609020204030204" pitchFamily="49" charset="0"/>
              </a:rPr>
              <a:t>contourf</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函数绘制等高线图、使用 </a:t>
            </a:r>
            <a:r>
              <a:rPr lang="en-US" altLang="zh-CN" b="0" dirty="0">
                <a:solidFill>
                  <a:srgbClr val="24292E"/>
                </a:solidFill>
                <a:effectLst/>
                <a:latin typeface="Consolas" panose="020B0609020204030204" pitchFamily="49" charset="0"/>
              </a:rPr>
              <a:t>hist </a:t>
            </a:r>
            <a:r>
              <a:rPr lang="zh-CN" altLang="en-US" b="0" dirty="0">
                <a:solidFill>
                  <a:srgbClr val="24292E"/>
                </a:solidFill>
                <a:effectLst/>
                <a:latin typeface="Consolas" panose="020B0609020204030204" pitchFamily="49" charset="0"/>
              </a:rPr>
              <a:t>函数、</a:t>
            </a:r>
            <a:r>
              <a:rPr lang="en-US" altLang="zh-CN" b="0" dirty="0">
                <a:solidFill>
                  <a:srgbClr val="24292E"/>
                </a:solidFill>
                <a:effectLst/>
                <a:latin typeface="Consolas" panose="020B0609020204030204" pitchFamily="49" charset="0"/>
              </a:rPr>
              <a:t>hist2d </a:t>
            </a:r>
            <a:r>
              <a:rPr lang="zh-CN" altLang="en-US" b="0" dirty="0">
                <a:solidFill>
                  <a:srgbClr val="24292E"/>
                </a:solidFill>
                <a:effectLst/>
                <a:latin typeface="Consolas" panose="020B0609020204030204" pitchFamily="49" charset="0"/>
              </a:rPr>
              <a:t>函数或 </a:t>
            </a:r>
            <a:r>
              <a:rPr lang="en-US" altLang="zh-CN" b="0" dirty="0" err="1">
                <a:solidFill>
                  <a:srgbClr val="24292E"/>
                </a:solidFill>
                <a:effectLst/>
                <a:latin typeface="Consolas" panose="020B0609020204030204" pitchFamily="49" charset="0"/>
              </a:rPr>
              <a:t>hexbin</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函数绘制直方图，使用 </a:t>
            </a:r>
            <a:r>
              <a:rPr lang="en-US" altLang="zh-CN" b="0" dirty="0" err="1">
                <a:solidFill>
                  <a:srgbClr val="24292E"/>
                </a:solidFill>
                <a:effectLst/>
                <a:latin typeface="Consolas" panose="020B0609020204030204" pitchFamily="49" charset="0"/>
              </a:rPr>
              <a:t>pcolormesh</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函数绘制伪彩色分类图等。关于这些函 数的使用不再详细介绍，以下代码给出了一些简单的示例。</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740328" y="2888927"/>
            <a:ext cx="8193947" cy="397031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列四个子图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meshgrid</a:t>
            </a:r>
            <a:r>
              <a:rPr lang="en-US" altLang="zh-CN" b="0" dirty="0">
                <a:solidFill>
                  <a:srgbClr val="24292E"/>
                </a:solidFill>
                <a:effectLst/>
                <a:latin typeface="Consolas" panose="020B0609020204030204" pitchFamily="49" charset="0"/>
              </a:rPr>
              <a:t>(x, y) </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Z</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.cos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.cos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h</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].hist(</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左上子图绘制直方图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axs01</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pcolormesh</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vmin</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vmax</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RdBu_r</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右上子图 </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colorbar</a:t>
            </a:r>
            <a:r>
              <a:rPr lang="en-US" altLang="zh-CN" b="0" dirty="0">
                <a:solidFill>
                  <a:srgbClr val="24292E"/>
                </a:solidFill>
                <a:effectLst/>
                <a:latin typeface="Consolas" panose="020B0609020204030204" pitchFamily="49" charset="0"/>
              </a:rPr>
              <a:t>(axs01,</a:t>
            </a:r>
            <a:r>
              <a:rPr lang="en-US" altLang="zh-CN" b="0" dirty="0">
                <a:solidFill>
                  <a:srgbClr val="E36209"/>
                </a:solidFill>
                <a:effectLst/>
                <a:latin typeface="Consolas" panose="020B0609020204030204" pitchFamily="49" charset="0"/>
              </a:rPr>
              <a:t>ax</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子图旁绘制色条</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axs10</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contourf</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左下子图绘制带有填充色的等高线图 </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colorbar</a:t>
            </a:r>
            <a:r>
              <a:rPr lang="en-US" altLang="zh-CN" b="0" dirty="0">
                <a:solidFill>
                  <a:srgbClr val="24292E"/>
                </a:solidFill>
                <a:effectLst/>
                <a:latin typeface="Consolas" panose="020B0609020204030204" pitchFamily="49" charset="0"/>
              </a:rPr>
              <a:t>(axs10,</a:t>
            </a:r>
            <a:r>
              <a:rPr lang="en-US" altLang="zh-CN" b="0" dirty="0">
                <a:solidFill>
                  <a:srgbClr val="E36209"/>
                </a:solidFill>
                <a:effectLst/>
                <a:latin typeface="Consolas" panose="020B0609020204030204" pitchFamily="49" charset="0"/>
              </a:rPr>
              <a:t>ax</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子图旁绘制色条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].contour(</a:t>
            </a:r>
            <a:r>
              <a:rPr lang="en-US" altLang="zh-CN" b="0" dirty="0" err="1">
                <a:solidFill>
                  <a:srgbClr val="005CC5"/>
                </a:solidFill>
                <a:effectLst/>
                <a:latin typeface="Consolas" panose="020B0609020204030204" pitchFamily="49" charset="0"/>
              </a:rPr>
              <a:t>X</a:t>
            </a:r>
            <a:r>
              <a:rPr lang="en-US" altLang="zh-CN" b="0" dirty="0" err="1">
                <a:solidFill>
                  <a:srgbClr val="24292E"/>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Y</a:t>
            </a:r>
            <a:r>
              <a:rPr lang="en-US" altLang="zh-CN" b="0" dirty="0" err="1">
                <a:solidFill>
                  <a:srgbClr val="24292E"/>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Z</a:t>
            </a:r>
            <a:r>
              <a:rPr lang="en-US" altLang="zh-CN" b="0" dirty="0" err="1">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colors</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右下子图绘制等高线</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7894040" y="2667471"/>
            <a:ext cx="3557632" cy="2602900"/>
          </a:xfrm>
          <a:prstGeom prst="rect">
            <a:avLst/>
          </a:prstGeom>
        </p:spPr>
      </p:pic>
    </p:spTree>
    <p:custDataLst>
      <p:tags r:id="rId2"/>
    </p:custDataLst>
  </p:cSld>
  <p:clrMapOvr>
    <a:masterClrMapping/>
  </p:clrMapOvr>
  <p:transition spd="slow">
    <p:push dir="u"/>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2.5.7 </a:t>
            </a:r>
            <a:r>
              <a:rPr lang="zh-CN" altLang="en-US" sz="1800" dirty="0">
                <a:solidFill>
                  <a:srgbClr val="577CCE"/>
                </a:solidFill>
                <a:latin typeface="+mn-ea"/>
              </a:rPr>
              <a:t>绘制三维图形</a:t>
            </a:r>
            <a:endParaRPr lang="en-US" altLang="zh-CN" sz="1800" dirty="0">
              <a:solidFill>
                <a:srgbClr val="577CCE"/>
              </a:solidFill>
              <a:latin typeface="+mn-ea"/>
            </a:endParaRPr>
          </a:p>
        </p:txBody>
      </p:sp>
      <p:sp>
        <p:nvSpPr>
          <p:cNvPr id="10" name="文本框 9"/>
          <p:cNvSpPr txBox="1"/>
          <p:nvPr/>
        </p:nvSpPr>
        <p:spPr>
          <a:xfrm>
            <a:off x="740328" y="1688598"/>
            <a:ext cx="10950657"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创建三维坐标轴的常用方法是在调用 </a:t>
            </a:r>
            <a:r>
              <a:rPr lang="en-US" altLang="zh-CN" b="0" dirty="0" err="1">
                <a:solidFill>
                  <a:srgbClr val="24292E"/>
                </a:solidFill>
                <a:effectLst/>
                <a:latin typeface="Consolas" panose="020B0609020204030204" pitchFamily="49" charset="0"/>
              </a:rPr>
              <a:t>plt.axes</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a:t>
            </a:r>
            <a:r>
              <a:rPr lang="en-US" altLang="zh-CN" b="0" dirty="0" err="1">
                <a:solidFill>
                  <a:srgbClr val="24292E"/>
                </a:solidFill>
                <a:effectLst/>
                <a:latin typeface="Consolas" panose="020B0609020204030204" pitchFamily="49" charset="0"/>
              </a:rPr>
              <a:t>fig.add_subplot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函数或 </a:t>
            </a:r>
            <a:r>
              <a:rPr lang="en-US" altLang="zh-CN" b="0" dirty="0" err="1">
                <a:solidFill>
                  <a:srgbClr val="24292E"/>
                </a:solidFill>
                <a:effectLst/>
                <a:latin typeface="Consolas" panose="020B0609020204030204" pitchFamily="49" charset="0"/>
              </a:rPr>
              <a:t>fig.gca</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 时，加入 </a:t>
            </a:r>
            <a:r>
              <a:rPr lang="en-US" altLang="zh-CN" b="0" dirty="0">
                <a:solidFill>
                  <a:srgbClr val="24292E"/>
                </a:solidFill>
                <a:effectLst/>
                <a:latin typeface="Consolas" panose="020B0609020204030204" pitchFamily="49" charset="0"/>
              </a:rPr>
              <a:t>projection='3d'</a:t>
            </a:r>
            <a:r>
              <a:rPr lang="zh-CN" altLang="en-US" b="0" dirty="0">
                <a:solidFill>
                  <a:srgbClr val="24292E"/>
                </a:solidFill>
                <a:effectLst/>
                <a:latin typeface="Consolas" panose="020B0609020204030204" pitchFamily="49" charset="0"/>
              </a:rPr>
              <a:t>参数。下面是绘制螺旋线的示例，在螺旋线的附近加入了一些随机的点。</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740328" y="2334929"/>
            <a:ext cx="8193947" cy="3970318"/>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zline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1000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xline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zline</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yline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.cos</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zline</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zdata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.random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zdata</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.cos</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zdata</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axes</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projection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'3d'</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ax.plot3D(</a:t>
            </a:r>
            <a:r>
              <a:rPr lang="en-US" altLang="zh-CN" b="0" dirty="0" err="1">
                <a:solidFill>
                  <a:srgbClr val="24292E"/>
                </a:solidFill>
                <a:effectLst/>
                <a:latin typeface="Consolas" panose="020B0609020204030204" pitchFamily="49" charset="0"/>
              </a:rPr>
              <a:t>xline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yline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zline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'gray'</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axes</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projection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'3d'</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xlabel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ylabel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zlabel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ax.plot3D(</a:t>
            </a:r>
            <a:r>
              <a:rPr lang="en-US" altLang="zh-CN" b="0" dirty="0" err="1">
                <a:solidFill>
                  <a:srgbClr val="24292E"/>
                </a:solidFill>
                <a:effectLst/>
                <a:latin typeface="Consolas" panose="020B0609020204030204" pitchFamily="49" charset="0"/>
              </a:rPr>
              <a:t>xline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yline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zline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'gray'</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ax.scatter3D(</a:t>
            </a:r>
            <a:r>
              <a:rPr lang="en-US" altLang="zh-CN" b="0" dirty="0" err="1">
                <a:solidFill>
                  <a:srgbClr val="24292E"/>
                </a:solidFill>
                <a:effectLst/>
                <a:latin typeface="Consolas" panose="020B0609020204030204" pitchFamily="49" charset="0"/>
              </a:rPr>
              <a:t>xdata</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ydata</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zdata</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zdata</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'Greens'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7899875" y="2334929"/>
            <a:ext cx="3551797" cy="3111161"/>
          </a:xfrm>
          <a:prstGeom prst="rect">
            <a:avLst/>
          </a:prstGeom>
        </p:spPr>
      </p:pic>
    </p:spTree>
    <p:custDataLst>
      <p:tags r:id="rId2"/>
    </p:custDataLst>
  </p:cSld>
  <p:clrMapOvr>
    <a:masterClrMapping/>
  </p:clrMapOvr>
  <p:transition spd="slow">
    <p:push dir="u"/>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2.5.7 </a:t>
            </a:r>
            <a:r>
              <a:rPr lang="zh-CN" altLang="en-US" sz="1800" dirty="0">
                <a:solidFill>
                  <a:srgbClr val="577CCE"/>
                </a:solidFill>
                <a:latin typeface="+mn-ea"/>
              </a:rPr>
              <a:t>绘制三维图形</a:t>
            </a:r>
            <a:endParaRPr lang="en-US" altLang="zh-CN" sz="1800" dirty="0">
              <a:solidFill>
                <a:srgbClr val="577CCE"/>
              </a:solidFill>
              <a:latin typeface="+mn-ea"/>
            </a:endParaRPr>
          </a:p>
        </p:txBody>
      </p:sp>
      <p:sp>
        <p:nvSpPr>
          <p:cNvPr id="10" name="文本框 9"/>
          <p:cNvSpPr txBox="1"/>
          <p:nvPr/>
        </p:nvSpPr>
        <p:spPr>
          <a:xfrm>
            <a:off x="740328" y="1688598"/>
            <a:ext cx="10950657"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在三维曲面上也可以绘制其等高线、网格图和曲面图等。与绘制二维等高线相对应， </a:t>
            </a:r>
            <a:r>
              <a:rPr lang="en-US" altLang="zh-CN" b="0" dirty="0">
                <a:solidFill>
                  <a:srgbClr val="24292E"/>
                </a:solidFill>
                <a:effectLst/>
                <a:latin typeface="Consolas" panose="020B0609020204030204" pitchFamily="49" charset="0"/>
              </a:rPr>
              <a:t>Matplotlib </a:t>
            </a:r>
            <a:r>
              <a:rPr lang="zh-CN" altLang="en-US" b="0" dirty="0">
                <a:solidFill>
                  <a:srgbClr val="24292E"/>
                </a:solidFill>
                <a:effectLst/>
                <a:latin typeface="Consolas" panose="020B0609020204030204" pitchFamily="49" charset="0"/>
              </a:rPr>
              <a:t>提供 </a:t>
            </a:r>
            <a:r>
              <a:rPr lang="en-US" altLang="zh-CN" b="0" dirty="0">
                <a:solidFill>
                  <a:srgbClr val="24292E"/>
                </a:solidFill>
                <a:effectLst/>
                <a:latin typeface="Consolas" panose="020B0609020204030204" pitchFamily="49" charset="0"/>
              </a:rPr>
              <a:t>contour3D </a:t>
            </a:r>
            <a:r>
              <a:rPr lang="zh-CN" altLang="en-US" b="0" dirty="0">
                <a:solidFill>
                  <a:srgbClr val="24292E"/>
                </a:solidFill>
                <a:effectLst/>
                <a:latin typeface="Consolas" panose="020B0609020204030204" pitchFamily="49" charset="0"/>
              </a:rPr>
              <a:t>函数绘制三维的等高线图。绘制网格图和曲面图分别使用 </a:t>
            </a:r>
            <a:r>
              <a:rPr lang="en-US" altLang="zh-CN" b="0" dirty="0" err="1">
                <a:solidFill>
                  <a:srgbClr val="24292E"/>
                </a:solidFill>
                <a:effectLst/>
                <a:latin typeface="Consolas" panose="020B0609020204030204" pitchFamily="49" charset="0"/>
              </a:rPr>
              <a:t>plot_wireframe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函数和 </a:t>
            </a:r>
            <a:r>
              <a:rPr lang="en-US" altLang="zh-CN" b="0" dirty="0" err="1">
                <a:solidFill>
                  <a:srgbClr val="24292E"/>
                </a:solidFill>
                <a:effectLst/>
                <a:latin typeface="Consolas" panose="020B0609020204030204" pitchFamily="49" charset="0"/>
              </a:rPr>
              <a:t>plot_surface</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函数，下面给出一些简单的绘制示例。</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740328" y="2611928"/>
            <a:ext cx="10950656" cy="397031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meshgrid</a:t>
            </a:r>
            <a:r>
              <a:rPr lang="en-US" altLang="zh-CN" b="0" dirty="0">
                <a:solidFill>
                  <a:srgbClr val="24292E"/>
                </a:solidFill>
                <a:effectLst/>
                <a:latin typeface="Consolas" panose="020B0609020204030204" pitchFamily="49" charset="0"/>
              </a:rPr>
              <a:t>(x, y) </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.sqrt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#221 </a:t>
            </a:r>
            <a:r>
              <a:rPr lang="zh-CN" altLang="en-US" b="0" dirty="0">
                <a:solidFill>
                  <a:srgbClr val="6A737D"/>
                </a:solidFill>
                <a:effectLst/>
                <a:latin typeface="Consolas" panose="020B0609020204030204" pitchFamily="49" charset="0"/>
              </a:rPr>
              <a:t>表示当作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行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列，生成第 </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个二维子图，即左上子图 </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contourf</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绘制二维等高线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projection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'3d'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生成第 </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个三维子图，即右上子图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ax.contour3D(</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绘制三维等高线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223</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projection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'3d'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生成第 </a:t>
            </a:r>
            <a:r>
              <a:rPr lang="en-US" altLang="zh-CN" b="0" dirty="0">
                <a:solidFill>
                  <a:srgbClr val="6A737D"/>
                </a:solidFill>
                <a:effectLst/>
                <a:latin typeface="Consolas" panose="020B0609020204030204" pitchFamily="49" charset="0"/>
              </a:rPr>
              <a:t>3 </a:t>
            </a:r>
            <a:r>
              <a:rPr lang="zh-CN" altLang="en-US" b="0" dirty="0">
                <a:solidFill>
                  <a:srgbClr val="6A737D"/>
                </a:solidFill>
                <a:effectLst/>
                <a:latin typeface="Consolas" panose="020B0609020204030204" pitchFamily="49" charset="0"/>
              </a:rPr>
              <a:t>个三维子图，即左下子图 </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plot_wireframe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'black'</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绘制网格图 </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224</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projection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'3d'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生成第 </a:t>
            </a:r>
            <a:r>
              <a:rPr lang="en-US" altLang="zh-CN" b="0" dirty="0">
                <a:solidFill>
                  <a:srgbClr val="6A737D"/>
                </a:solidFill>
                <a:effectLst/>
                <a:latin typeface="Consolas" panose="020B0609020204030204" pitchFamily="49" charset="0"/>
              </a:rPr>
              <a:t>4 </a:t>
            </a:r>
            <a:r>
              <a:rPr lang="zh-CN" altLang="en-US" b="0" dirty="0">
                <a:solidFill>
                  <a:srgbClr val="6A737D"/>
                </a:solidFill>
                <a:effectLst/>
                <a:latin typeface="Consolas" panose="020B0609020204030204" pitchFamily="49" charset="0"/>
              </a:rPr>
              <a:t>个三维子图，即右下子图 </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plot_surface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Z</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绘制曲面图 </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5946972" y="2611928"/>
            <a:ext cx="5281118" cy="4061812"/>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2.5.7 </a:t>
            </a:r>
            <a:r>
              <a:rPr lang="zh-CN" altLang="en-US" sz="1800" dirty="0">
                <a:solidFill>
                  <a:srgbClr val="577CCE"/>
                </a:solidFill>
                <a:latin typeface="+mn-ea"/>
              </a:rPr>
              <a:t>绘制三维图形</a:t>
            </a:r>
            <a:endParaRPr lang="en-US" altLang="zh-CN" sz="1800" dirty="0">
              <a:solidFill>
                <a:srgbClr val="577CCE"/>
              </a:solidFill>
              <a:latin typeface="+mn-ea"/>
            </a:endParaRPr>
          </a:p>
        </p:txBody>
      </p:sp>
      <p:sp>
        <p:nvSpPr>
          <p:cNvPr id="10" name="文本框 9"/>
          <p:cNvSpPr txBox="1"/>
          <p:nvPr/>
        </p:nvSpPr>
        <p:spPr>
          <a:xfrm>
            <a:off x="740328" y="1688598"/>
            <a:ext cx="10950657"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在进行三维展示时，若呈现的效果因视角和遮挡不佳时，可以通过轴对象的 </a:t>
            </a:r>
            <a:r>
              <a:rPr lang="en-US" altLang="zh-CN" b="0" dirty="0" err="1">
                <a:solidFill>
                  <a:srgbClr val="24292E"/>
                </a:solidFill>
                <a:effectLst/>
                <a:latin typeface="Consolas" panose="020B0609020204030204" pitchFamily="49" charset="0"/>
              </a:rPr>
              <a:t>dist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控制观测距离，轴对象的 </a:t>
            </a:r>
            <a:r>
              <a:rPr lang="en-US" altLang="zh-CN" b="0" dirty="0" err="1">
                <a:solidFill>
                  <a:srgbClr val="24292E"/>
                </a:solidFill>
                <a:effectLst/>
                <a:latin typeface="Consolas" panose="020B0609020204030204" pitchFamily="49" charset="0"/>
              </a:rPr>
              <a:t>view_init</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函数控制视角的变换。该函数有两个参数 </a:t>
            </a:r>
            <a:r>
              <a:rPr lang="en-US" altLang="zh-CN" b="0" dirty="0" err="1">
                <a:solidFill>
                  <a:srgbClr val="24292E"/>
                </a:solidFill>
                <a:effectLst/>
                <a:latin typeface="Consolas" panose="020B0609020204030204" pitchFamily="49" charset="0"/>
              </a:rPr>
              <a:t>elev</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和 </a:t>
            </a:r>
            <a:r>
              <a:rPr lang="en-US" altLang="zh-CN" b="0" dirty="0" err="1">
                <a:solidFill>
                  <a:srgbClr val="24292E"/>
                </a:solidFill>
                <a:effectLst/>
                <a:latin typeface="Consolas" panose="020B0609020204030204" pitchFamily="49" charset="0"/>
              </a:rPr>
              <a:t>azim</a:t>
            </a:r>
            <a:r>
              <a:rPr lang="zh-CN" altLang="en-US" b="0" dirty="0">
                <a:solidFill>
                  <a:srgbClr val="24292E"/>
                </a:solidFill>
                <a:effectLst/>
                <a:latin typeface="Consolas" panose="020B0609020204030204" pitchFamily="49" charset="0"/>
              </a:rPr>
              <a:t>，分别表 示仰角（沿着 </a:t>
            </a:r>
            <a:r>
              <a:rPr lang="en-US" altLang="zh-CN" b="0" dirty="0">
                <a:solidFill>
                  <a:srgbClr val="24292E"/>
                </a:solidFill>
                <a:effectLst/>
                <a:latin typeface="Consolas" panose="020B0609020204030204" pitchFamily="49" charset="0"/>
              </a:rPr>
              <a:t>y </a:t>
            </a:r>
            <a:r>
              <a:rPr lang="zh-CN" altLang="en-US" b="0" dirty="0">
                <a:solidFill>
                  <a:srgbClr val="24292E"/>
                </a:solidFill>
                <a:effectLst/>
                <a:latin typeface="Consolas" panose="020B0609020204030204" pitchFamily="49" charset="0"/>
              </a:rPr>
              <a:t>轴的旋转角度）和方位角（沿着 </a:t>
            </a:r>
            <a:r>
              <a:rPr lang="en-US" altLang="zh-CN" b="0" dirty="0">
                <a:solidFill>
                  <a:srgbClr val="24292E"/>
                </a:solidFill>
                <a:effectLst/>
                <a:latin typeface="Consolas" panose="020B0609020204030204" pitchFamily="49" charset="0"/>
              </a:rPr>
              <a:t>z </a:t>
            </a:r>
            <a:r>
              <a:rPr lang="zh-CN" altLang="en-US" b="0" dirty="0">
                <a:solidFill>
                  <a:srgbClr val="24292E"/>
                </a:solidFill>
                <a:effectLst/>
                <a:latin typeface="Consolas" panose="020B0609020204030204" pitchFamily="49" charset="0"/>
              </a:rPr>
              <a:t>轴的旋转角度）。示例如下：</a:t>
            </a:r>
            <a:endParaRPr lang="zh-CN" altLang="en-US" b="0" dirty="0">
              <a:solidFill>
                <a:srgbClr val="24292E"/>
              </a:solidFill>
              <a:effectLst/>
              <a:latin typeface="Consolas" panose="020B0609020204030204" pitchFamily="49" charset="0"/>
            </a:endParaRPr>
          </a:p>
        </p:txBody>
      </p:sp>
      <p:pic>
        <p:nvPicPr>
          <p:cNvPr id="4" name="图片 3"/>
          <p:cNvPicPr>
            <a:picLocks noChangeAspect="1"/>
          </p:cNvPicPr>
          <p:nvPr/>
        </p:nvPicPr>
        <p:blipFill>
          <a:blip r:embed="rId1"/>
          <a:stretch>
            <a:fillRect/>
          </a:stretch>
        </p:blipFill>
        <p:spPr>
          <a:xfrm>
            <a:off x="3471291" y="2611928"/>
            <a:ext cx="5092255" cy="3897627"/>
          </a:xfrm>
          <a:prstGeom prst="rect">
            <a:avLst/>
          </a:prstGeom>
        </p:spPr>
      </p:pic>
    </p:spTree>
    <p:custDataLst>
      <p:tags r:id="rId2"/>
    </p:custDataLst>
  </p:cSld>
  <p:clrMapOvr>
    <a:masterClrMapping/>
  </p:clrMapOvr>
  <p:transition spd="slow">
    <p:push di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10" name="文本框 9"/>
          <p:cNvSpPr txBox="1"/>
          <p:nvPr/>
        </p:nvSpPr>
        <p:spPr>
          <a:xfrm>
            <a:off x="620671" y="1218815"/>
            <a:ext cx="10950657" cy="3477875"/>
          </a:xfrm>
          <a:prstGeom prst="rect">
            <a:avLst/>
          </a:prstGeom>
          <a:noFill/>
        </p:spPr>
        <p:txBody>
          <a:bodyPr wrap="square">
            <a:spAutoFit/>
          </a:bodyPr>
          <a:lstStyle/>
          <a:p>
            <a:r>
              <a:rPr lang="zh-CN" altLang="en-US" sz="2000" b="0" dirty="0">
                <a:solidFill>
                  <a:srgbClr val="577CCE"/>
                </a:solidFill>
                <a:effectLst/>
                <a:latin typeface="Consolas" panose="020B0609020204030204" pitchFamily="49" charset="0"/>
              </a:rPr>
              <a:t>本章介绍了 </a:t>
            </a:r>
            <a:r>
              <a:rPr lang="en-US" altLang="zh-CN" sz="2000" b="0" dirty="0">
                <a:solidFill>
                  <a:srgbClr val="577CCE"/>
                </a:solidFill>
                <a:effectLst/>
                <a:latin typeface="Consolas" panose="020B0609020204030204" pitchFamily="49" charset="0"/>
              </a:rPr>
              <a:t>Python </a:t>
            </a:r>
            <a:r>
              <a:rPr lang="zh-CN" altLang="en-US" sz="2000" b="0" dirty="0">
                <a:solidFill>
                  <a:srgbClr val="577CCE"/>
                </a:solidFill>
                <a:effectLst/>
                <a:latin typeface="Consolas" panose="020B0609020204030204" pitchFamily="49" charset="0"/>
              </a:rPr>
              <a:t>的常见数据处理方法，包括基于 </a:t>
            </a:r>
            <a:r>
              <a:rPr lang="en-US" altLang="zh-CN" sz="2000" b="0" dirty="0">
                <a:solidFill>
                  <a:srgbClr val="577CCE"/>
                </a:solidFill>
                <a:effectLst/>
                <a:latin typeface="Consolas" panose="020B0609020204030204" pitchFamily="49" charset="0"/>
              </a:rPr>
              <a:t>NumPy </a:t>
            </a:r>
            <a:r>
              <a:rPr lang="zh-CN" altLang="en-US" sz="2000" b="0" dirty="0">
                <a:solidFill>
                  <a:srgbClr val="577CCE"/>
                </a:solidFill>
                <a:effectLst/>
                <a:latin typeface="Consolas" panose="020B0609020204030204" pitchFamily="49" charset="0"/>
              </a:rPr>
              <a:t>和 </a:t>
            </a:r>
            <a:r>
              <a:rPr lang="en-US" altLang="zh-CN" sz="2000" b="0" dirty="0">
                <a:solidFill>
                  <a:srgbClr val="577CCE"/>
                </a:solidFill>
                <a:effectLst/>
                <a:latin typeface="Consolas" panose="020B0609020204030204" pitchFamily="49" charset="0"/>
              </a:rPr>
              <a:t>Pandas </a:t>
            </a:r>
            <a:r>
              <a:rPr lang="zh-CN" altLang="en-US" sz="2000" b="0" dirty="0">
                <a:solidFill>
                  <a:srgbClr val="577CCE"/>
                </a:solidFill>
                <a:effectLst/>
                <a:latin typeface="Consolas" panose="020B0609020204030204" pitchFamily="49" charset="0"/>
              </a:rPr>
              <a:t>工具包的常见数据处理方法，以及使用 </a:t>
            </a:r>
            <a:r>
              <a:rPr lang="en-US" altLang="zh-CN" sz="2000" b="0" dirty="0">
                <a:solidFill>
                  <a:srgbClr val="577CCE"/>
                </a:solidFill>
                <a:effectLst/>
                <a:latin typeface="Consolas" panose="020B0609020204030204" pitchFamily="49" charset="0"/>
              </a:rPr>
              <a:t>Matplotlib </a:t>
            </a:r>
            <a:r>
              <a:rPr lang="zh-CN" altLang="en-US" sz="2000" b="0" dirty="0">
                <a:solidFill>
                  <a:srgbClr val="577CCE"/>
                </a:solidFill>
                <a:effectLst/>
                <a:latin typeface="Consolas" panose="020B0609020204030204" pitchFamily="49" charset="0"/>
              </a:rPr>
              <a:t>进行数据可视化的方法。这些方法可以帮助我们对数据进行基本的处理和展示，以便观察数据的规律，从而寻找合适的方法进行数据的进一步挖掘和分析。</a:t>
            </a:r>
            <a:endParaRPr lang="zh-CN" altLang="en-US" sz="2000" b="0" dirty="0">
              <a:solidFill>
                <a:srgbClr val="577CCE"/>
              </a:solidFill>
              <a:effectLst/>
              <a:latin typeface="Consolas" panose="020B0609020204030204" pitchFamily="49" charset="0"/>
            </a:endParaRPr>
          </a:p>
          <a:p>
            <a:endParaRPr lang="zh-CN" altLang="en-US" sz="2000" b="0" dirty="0">
              <a:solidFill>
                <a:srgbClr val="577CCE"/>
              </a:solidFill>
              <a:effectLst/>
              <a:latin typeface="Consolas" panose="020B0609020204030204" pitchFamily="49" charset="0"/>
            </a:endParaRPr>
          </a:p>
          <a:p>
            <a:r>
              <a:rPr lang="zh-CN" altLang="en-US" sz="2000" b="0" dirty="0">
                <a:solidFill>
                  <a:srgbClr val="577CCE"/>
                </a:solidFill>
                <a:effectLst/>
                <a:latin typeface="Consolas" panose="020B0609020204030204" pitchFamily="49" charset="0"/>
              </a:rPr>
              <a:t>本章中介绍的各种处理技术用到了大量的函数，示例中仅仅给出了这些函数的基本使用方法。实际上，每个函数根据设置的参数可以提供更多更细化的功能。在解决实际问题时，</a:t>
            </a:r>
            <a:r>
              <a:rPr lang="zh-CN" altLang="en-US" sz="2000" dirty="0">
                <a:solidFill>
                  <a:srgbClr val="577CCE"/>
                </a:solidFill>
                <a:latin typeface="Consolas" panose="020B0609020204030204" pitchFamily="49" charset="0"/>
              </a:rPr>
              <a:t>应当</a:t>
            </a:r>
            <a:r>
              <a:rPr lang="zh-CN" altLang="en-US" sz="2000" b="0" dirty="0">
                <a:solidFill>
                  <a:srgbClr val="577CCE"/>
                </a:solidFill>
                <a:effectLst/>
                <a:latin typeface="Consolas" panose="020B0609020204030204" pitchFamily="49" charset="0"/>
              </a:rPr>
              <a:t>参考示例举一反三，还可以通过 </a:t>
            </a:r>
            <a:r>
              <a:rPr lang="en-US" altLang="zh-CN" sz="2000" b="0" dirty="0">
                <a:solidFill>
                  <a:srgbClr val="577CCE"/>
                </a:solidFill>
                <a:effectLst/>
                <a:latin typeface="Consolas" panose="020B0609020204030204" pitchFamily="49" charset="0"/>
              </a:rPr>
              <a:t>Python </a:t>
            </a:r>
            <a:r>
              <a:rPr lang="zh-CN" altLang="en-US" sz="2000" b="0" dirty="0">
                <a:solidFill>
                  <a:srgbClr val="577CCE"/>
                </a:solidFill>
                <a:effectLst/>
                <a:latin typeface="Consolas" panose="020B0609020204030204" pitchFamily="49" charset="0"/>
              </a:rPr>
              <a:t>的 </a:t>
            </a:r>
            <a:r>
              <a:rPr lang="en-US" altLang="zh-CN" sz="2000" b="0" dirty="0" err="1">
                <a:solidFill>
                  <a:srgbClr val="577CCE"/>
                </a:solidFill>
                <a:effectLst/>
                <a:latin typeface="Consolas" panose="020B0609020204030204" pitchFamily="49" charset="0"/>
              </a:rPr>
              <a:t>dir</a:t>
            </a:r>
            <a:r>
              <a:rPr lang="en-US" altLang="zh-CN" sz="2000" b="0" dirty="0">
                <a:solidFill>
                  <a:srgbClr val="577CCE"/>
                </a:solidFill>
                <a:effectLst/>
                <a:latin typeface="Consolas" panose="020B0609020204030204" pitchFamily="49" charset="0"/>
              </a:rPr>
              <a:t> </a:t>
            </a:r>
            <a:r>
              <a:rPr lang="zh-CN" altLang="en-US" sz="2000" b="0" dirty="0">
                <a:solidFill>
                  <a:srgbClr val="577CCE"/>
                </a:solidFill>
                <a:effectLst/>
                <a:latin typeface="Consolas" panose="020B0609020204030204" pitchFamily="49" charset="0"/>
              </a:rPr>
              <a:t>函数和 </a:t>
            </a:r>
            <a:r>
              <a:rPr lang="en-US" altLang="zh-CN" sz="2000" b="0" dirty="0">
                <a:solidFill>
                  <a:srgbClr val="577CCE"/>
                </a:solidFill>
                <a:effectLst/>
                <a:latin typeface="Consolas" panose="020B0609020204030204" pitchFamily="49" charset="0"/>
              </a:rPr>
              <a:t>help </a:t>
            </a:r>
            <a:r>
              <a:rPr lang="zh-CN" altLang="en-US" sz="2000" b="0" dirty="0">
                <a:solidFill>
                  <a:srgbClr val="577CCE"/>
                </a:solidFill>
                <a:effectLst/>
                <a:latin typeface="Consolas" panose="020B0609020204030204" pitchFamily="49" charset="0"/>
              </a:rPr>
              <a:t>函数，进一步学习相关数据包块、类以及各种函数的使用。</a:t>
            </a:r>
            <a:endParaRPr lang="zh-CN" altLang="en-US" sz="2000" b="0" dirty="0">
              <a:solidFill>
                <a:srgbClr val="577CCE"/>
              </a:solidFill>
              <a:effectLst/>
              <a:latin typeface="Consolas" panose="020B0609020204030204" pitchFamily="49" charset="0"/>
            </a:endParaRPr>
          </a:p>
          <a:p>
            <a:endParaRPr lang="zh-CN" altLang="en-US" sz="2000" b="0" dirty="0">
              <a:solidFill>
                <a:srgbClr val="577CCE"/>
              </a:solidFill>
              <a:effectLst/>
              <a:latin typeface="Consolas" panose="020B0609020204030204" pitchFamily="49" charset="0"/>
            </a:endParaRPr>
          </a:p>
          <a:p>
            <a:r>
              <a:rPr lang="zh-CN" altLang="en-US" sz="2000" b="0" dirty="0">
                <a:solidFill>
                  <a:srgbClr val="577CCE"/>
                </a:solidFill>
                <a:effectLst/>
                <a:latin typeface="Consolas" panose="020B0609020204030204" pitchFamily="49" charset="0"/>
              </a:rPr>
              <a:t>本章给出的例子都是直接在原始 </a:t>
            </a:r>
            <a:r>
              <a:rPr lang="en-US" altLang="zh-CN" sz="2000" b="0" dirty="0">
                <a:solidFill>
                  <a:srgbClr val="577CCE"/>
                </a:solidFill>
                <a:effectLst/>
                <a:latin typeface="Consolas" panose="020B0609020204030204" pitchFamily="49" charset="0"/>
              </a:rPr>
              <a:t>Python </a:t>
            </a:r>
            <a:r>
              <a:rPr lang="zh-CN" altLang="en-US" sz="2000" b="0" dirty="0">
                <a:solidFill>
                  <a:srgbClr val="577CCE"/>
                </a:solidFill>
                <a:effectLst/>
                <a:latin typeface="Consolas" panose="020B0609020204030204" pitchFamily="49" charset="0"/>
              </a:rPr>
              <a:t>环境中运行的，在后续的章节中，我们将继续使用原始 </a:t>
            </a:r>
            <a:r>
              <a:rPr lang="en-US" altLang="zh-CN" sz="2000" b="0" dirty="0">
                <a:solidFill>
                  <a:srgbClr val="577CCE"/>
                </a:solidFill>
                <a:effectLst/>
                <a:latin typeface="Consolas" panose="020B0609020204030204" pitchFamily="49" charset="0"/>
              </a:rPr>
              <a:t>Python </a:t>
            </a:r>
            <a:r>
              <a:rPr lang="zh-CN" altLang="en-US" sz="2000" b="0" dirty="0">
                <a:solidFill>
                  <a:srgbClr val="577CCE"/>
                </a:solidFill>
                <a:effectLst/>
                <a:latin typeface="Consolas" panose="020B0609020204030204" pitchFamily="49" charset="0"/>
              </a:rPr>
              <a:t>环境中运行的示例。</a:t>
            </a:r>
            <a:endParaRPr lang="zh-CN" altLang="en-US" sz="2000" b="0" dirty="0">
              <a:solidFill>
                <a:srgbClr val="577CC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标题 1"/>
          <p:cNvSpPr>
            <a:spLocks noGrp="1"/>
          </p:cNvSpPr>
          <p:nvPr>
            <p:ph type="title"/>
          </p:nvPr>
        </p:nvSpPr>
        <p:spPr>
          <a:xfrm>
            <a:off x="456967" y="485174"/>
            <a:ext cx="9832340" cy="441960"/>
          </a:xfrm>
        </p:spPr>
        <p:txBody>
          <a:bodyPr/>
          <a:lstStyle/>
          <a:p>
            <a:r>
              <a:rPr lang="zh-CN" altLang="en-US" sz="3600" dirty="0"/>
              <a:t>习题</a:t>
            </a:r>
            <a:endParaRPr sz="3600" dirty="0"/>
          </a:p>
        </p:txBody>
      </p:sp>
      <p:sp>
        <p:nvSpPr>
          <p:cNvPr id="1048668" name="文本框 8"/>
          <p:cNvSpPr txBox="1"/>
          <p:nvPr/>
        </p:nvSpPr>
        <p:spPr>
          <a:xfrm>
            <a:off x="456967" y="1191236"/>
            <a:ext cx="10666835" cy="5016758"/>
          </a:xfrm>
          <a:prstGeom prst="rect">
            <a:avLst/>
          </a:prstGeom>
          <a:noFill/>
        </p:spPr>
        <p:txBody>
          <a:bodyPr wrap="square" rtlCol="0">
            <a:spAutoFit/>
          </a:bodyPr>
          <a:lstStyle/>
          <a:p>
            <a:pPr marL="457200" indent="-457200">
              <a:buFont typeface="+mj-lt"/>
              <a:buAutoNum type="arabicPeriod"/>
            </a:pPr>
            <a:r>
              <a:rPr lang="zh-CN" altLang="en-US" sz="2000" b="1" dirty="0">
                <a:solidFill>
                  <a:srgbClr val="577CCE"/>
                </a:solidFill>
                <a:latin typeface="+mj-ea"/>
                <a:ea typeface="+mj-ea"/>
              </a:rPr>
              <a:t>两个列表</a:t>
            </a:r>
            <a:r>
              <a:rPr lang="en-US" altLang="zh-CN" sz="2000" b="1" dirty="0">
                <a:solidFill>
                  <a:srgbClr val="577CCE"/>
                </a:solidFill>
                <a:latin typeface="+mj-ea"/>
                <a:ea typeface="+mj-ea"/>
              </a:rPr>
              <a:t>a=[1, 2, 3]</a:t>
            </a:r>
            <a:r>
              <a:rPr lang="zh-CN" altLang="en-US" sz="2000" b="1" dirty="0">
                <a:solidFill>
                  <a:srgbClr val="577CCE"/>
                </a:solidFill>
                <a:latin typeface="+mj-ea"/>
                <a:ea typeface="+mj-ea"/>
              </a:rPr>
              <a:t>和</a:t>
            </a:r>
            <a:r>
              <a:rPr lang="en-US" altLang="zh-CN" sz="2000" b="1" dirty="0">
                <a:solidFill>
                  <a:srgbClr val="577CCE"/>
                </a:solidFill>
                <a:latin typeface="+mj-ea"/>
                <a:ea typeface="+mj-ea"/>
              </a:rPr>
              <a:t>b=[4, 5, 6], </a:t>
            </a:r>
            <a:r>
              <a:rPr lang="zh-CN" altLang="en-US" sz="2000" b="1" dirty="0">
                <a:solidFill>
                  <a:srgbClr val="577CCE"/>
                </a:solidFill>
                <a:latin typeface="+mj-ea"/>
                <a:ea typeface="+mj-ea"/>
              </a:rPr>
              <a:t>如何操作分别得到如下结果</a:t>
            </a:r>
            <a:r>
              <a:rPr lang="en-US" altLang="zh-CN" sz="2000" b="1" dirty="0">
                <a:solidFill>
                  <a:srgbClr val="577CCE"/>
                </a:solidFill>
                <a:latin typeface="+mj-ea"/>
                <a:ea typeface="+mj-ea"/>
              </a:rPr>
              <a:t>:</a:t>
            </a:r>
            <a:endParaRPr lang="en-US" altLang="zh-CN" sz="2000" b="1" dirty="0">
              <a:solidFill>
                <a:srgbClr val="577CCE"/>
              </a:solidFill>
              <a:latin typeface="+mj-ea"/>
              <a:ea typeface="+mj-ea"/>
            </a:endParaRPr>
          </a:p>
          <a:p>
            <a:r>
              <a:rPr lang="en-US" altLang="zh-CN" sz="2000" b="1" dirty="0">
                <a:solidFill>
                  <a:srgbClr val="577CCE"/>
                </a:solidFill>
                <a:latin typeface="+mj-ea"/>
                <a:ea typeface="+mj-ea"/>
              </a:rPr>
              <a:t>	[1, 2, 3, 4, 5, 6]</a:t>
            </a:r>
            <a:endParaRPr lang="en-US" altLang="zh-CN" sz="2000" b="1" dirty="0">
              <a:solidFill>
                <a:srgbClr val="577CCE"/>
              </a:solidFill>
              <a:latin typeface="+mj-ea"/>
              <a:ea typeface="+mj-ea"/>
            </a:endParaRPr>
          </a:p>
          <a:p>
            <a:r>
              <a:rPr lang="en-US" altLang="zh-CN" sz="2000" b="1" dirty="0">
                <a:solidFill>
                  <a:srgbClr val="577CCE"/>
                </a:solidFill>
                <a:latin typeface="+mj-ea"/>
                <a:ea typeface="+mj-ea"/>
              </a:rPr>
              <a:t>	[1, 2, 3, [4, 5, 6]]</a:t>
            </a:r>
            <a:endParaRPr lang="en-US" altLang="zh-CN" sz="2000" b="1" dirty="0">
              <a:solidFill>
                <a:srgbClr val="577CCE"/>
              </a:solidFill>
              <a:latin typeface="+mj-ea"/>
              <a:ea typeface="+mj-ea"/>
            </a:endParaRPr>
          </a:p>
          <a:p>
            <a:r>
              <a:rPr lang="en-US" altLang="zh-CN" sz="2000" b="1" dirty="0">
                <a:solidFill>
                  <a:srgbClr val="577CCE"/>
                </a:solidFill>
                <a:latin typeface="+mj-ea"/>
                <a:ea typeface="+mj-ea"/>
              </a:rPr>
              <a:t>	[[1, 2, 3], [4, 5, 6]]</a:t>
            </a:r>
            <a:endParaRPr lang="en-US" altLang="zh-CN" sz="2000" b="1" dirty="0">
              <a:solidFill>
                <a:srgbClr val="577CCE"/>
              </a:solidFill>
              <a:latin typeface="+mj-ea"/>
              <a:ea typeface="+mj-ea"/>
            </a:endParaRPr>
          </a:p>
          <a:p>
            <a:r>
              <a:rPr lang="en-US" altLang="zh-CN" sz="2000" b="1" dirty="0">
                <a:solidFill>
                  <a:srgbClr val="577CCE"/>
                </a:solidFill>
                <a:latin typeface="+mj-ea"/>
                <a:ea typeface="+mj-ea"/>
              </a:rPr>
              <a:t>	[1, 4, 2, 5, 3, 6]</a:t>
            </a:r>
            <a:endParaRPr lang="en-US" altLang="zh-CN" sz="2000" b="1" dirty="0">
              <a:solidFill>
                <a:srgbClr val="577CCE"/>
              </a:solidFill>
              <a:latin typeface="+mj-ea"/>
              <a:ea typeface="+mj-ea"/>
            </a:endParaRPr>
          </a:p>
          <a:p>
            <a:r>
              <a:rPr lang="en-US" altLang="zh-CN" sz="2000" b="1" dirty="0">
                <a:solidFill>
                  <a:srgbClr val="577CCE"/>
                </a:solidFill>
                <a:latin typeface="+mj-ea"/>
                <a:ea typeface="+mj-ea"/>
              </a:rPr>
              <a:t>	{1:4, 2:5, 3:6}</a:t>
            </a:r>
            <a:endParaRPr lang="en-US" altLang="zh-CN"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举例说明 </a:t>
            </a:r>
            <a:r>
              <a:rPr lang="en-US" altLang="zh-CN" sz="2000" b="1" dirty="0">
                <a:solidFill>
                  <a:srgbClr val="577CCE"/>
                </a:solidFill>
                <a:latin typeface="+mj-ea"/>
                <a:ea typeface="+mj-ea"/>
              </a:rPr>
              <a:t>list </a:t>
            </a:r>
            <a:r>
              <a:rPr lang="zh-CN" altLang="en-US" sz="2000" b="1" dirty="0">
                <a:solidFill>
                  <a:srgbClr val="577CCE"/>
                </a:solidFill>
                <a:latin typeface="+mj-ea"/>
                <a:ea typeface="+mj-ea"/>
              </a:rPr>
              <a:t>对象进行一维数据和二维数据的转换方法。</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举例说明 </a:t>
            </a:r>
            <a:r>
              <a:rPr lang="en-US" altLang="zh-CN" sz="2000" b="1" dirty="0" err="1">
                <a:solidFill>
                  <a:srgbClr val="577CCE"/>
                </a:solidFill>
                <a:latin typeface="+mj-ea"/>
                <a:ea typeface="+mj-ea"/>
              </a:rPr>
              <a:t>Numpy</a:t>
            </a:r>
            <a:r>
              <a:rPr lang="en-US" altLang="zh-CN" sz="2000" b="1" dirty="0">
                <a:solidFill>
                  <a:srgbClr val="577CCE"/>
                </a:solidFill>
                <a:latin typeface="+mj-ea"/>
                <a:ea typeface="+mj-ea"/>
              </a:rPr>
              <a:t> </a:t>
            </a:r>
            <a:r>
              <a:rPr lang="zh-CN" altLang="en-US" sz="2000" b="1" dirty="0">
                <a:solidFill>
                  <a:srgbClr val="577CCE"/>
                </a:solidFill>
                <a:latin typeface="+mj-ea"/>
                <a:ea typeface="+mj-ea"/>
              </a:rPr>
              <a:t>对象进行一维数据和二维数据的转换方法。</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举例分析 </a:t>
            </a:r>
            <a:r>
              <a:rPr lang="en-US" altLang="zh-CN" sz="2000" b="1" dirty="0" err="1">
                <a:solidFill>
                  <a:srgbClr val="577CCE"/>
                </a:solidFill>
                <a:latin typeface="+mj-ea"/>
                <a:ea typeface="+mj-ea"/>
              </a:rPr>
              <a:t>Numpy</a:t>
            </a:r>
            <a:r>
              <a:rPr lang="en-US" altLang="zh-CN" sz="2000" b="1" dirty="0">
                <a:solidFill>
                  <a:srgbClr val="577CCE"/>
                </a:solidFill>
                <a:latin typeface="+mj-ea"/>
                <a:ea typeface="+mj-ea"/>
              </a:rPr>
              <a:t> </a:t>
            </a:r>
            <a:r>
              <a:rPr lang="zh-CN" altLang="en-US" sz="2000" b="1" dirty="0">
                <a:solidFill>
                  <a:srgbClr val="577CCE"/>
                </a:solidFill>
                <a:latin typeface="+mj-ea"/>
                <a:ea typeface="+mj-ea"/>
              </a:rPr>
              <a:t>对象 </a:t>
            </a:r>
            <a:r>
              <a:rPr lang="en-US" altLang="zh-CN" sz="2000" b="1" dirty="0">
                <a:solidFill>
                  <a:srgbClr val="577CCE"/>
                </a:solidFill>
                <a:latin typeface="+mj-ea"/>
                <a:ea typeface="+mj-ea"/>
              </a:rPr>
              <a:t>shape </a:t>
            </a:r>
            <a:r>
              <a:rPr lang="zh-CN" altLang="en-US" sz="2000" b="1" dirty="0">
                <a:solidFill>
                  <a:srgbClr val="577CCE"/>
                </a:solidFill>
                <a:latin typeface="+mj-ea"/>
                <a:ea typeface="+mj-ea"/>
              </a:rPr>
              <a:t>和 </a:t>
            </a:r>
            <a:r>
              <a:rPr lang="en-US" altLang="zh-CN" sz="2000" b="1" dirty="0">
                <a:solidFill>
                  <a:srgbClr val="577CCE"/>
                </a:solidFill>
                <a:latin typeface="+mj-ea"/>
                <a:ea typeface="+mj-ea"/>
              </a:rPr>
              <a:t>size </a:t>
            </a:r>
            <a:r>
              <a:rPr lang="zh-CN" altLang="en-US" sz="2000" b="1" dirty="0">
                <a:solidFill>
                  <a:srgbClr val="577CCE"/>
                </a:solidFill>
                <a:latin typeface="+mj-ea"/>
                <a:ea typeface="+mj-ea"/>
              </a:rPr>
              <a:t>接口的区别。</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分别举例说明使用 </a:t>
            </a:r>
            <a:r>
              <a:rPr lang="en-US" altLang="zh-CN" sz="2000" b="1" dirty="0">
                <a:solidFill>
                  <a:srgbClr val="577CCE"/>
                </a:solidFill>
                <a:latin typeface="+mj-ea"/>
                <a:ea typeface="+mj-ea"/>
              </a:rPr>
              <a:t>Pandas </a:t>
            </a:r>
            <a:r>
              <a:rPr lang="zh-CN" altLang="en-US" sz="2000" b="1" dirty="0">
                <a:solidFill>
                  <a:srgbClr val="577CCE"/>
                </a:solidFill>
                <a:latin typeface="+mj-ea"/>
                <a:ea typeface="+mj-ea"/>
              </a:rPr>
              <a:t>获得一行数据和一列数据的操作方法。</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分别举例说明 </a:t>
            </a:r>
            <a:r>
              <a:rPr lang="en-US" altLang="zh-CN" sz="2000" b="1" dirty="0">
                <a:solidFill>
                  <a:srgbClr val="577CCE"/>
                </a:solidFill>
                <a:latin typeface="+mj-ea"/>
                <a:ea typeface="+mj-ea"/>
              </a:rPr>
              <a:t>list </a:t>
            </a:r>
            <a:r>
              <a:rPr lang="zh-CN" altLang="en-US" sz="2000" b="1" dirty="0">
                <a:solidFill>
                  <a:srgbClr val="577CCE"/>
                </a:solidFill>
                <a:latin typeface="+mj-ea"/>
                <a:ea typeface="+mj-ea"/>
              </a:rPr>
              <a:t>对象、</a:t>
            </a:r>
            <a:r>
              <a:rPr lang="en-US" altLang="zh-CN" sz="2000" b="1" dirty="0" err="1">
                <a:solidFill>
                  <a:srgbClr val="577CCE"/>
                </a:solidFill>
                <a:latin typeface="+mj-ea"/>
                <a:ea typeface="+mj-ea"/>
              </a:rPr>
              <a:t>Numpy</a:t>
            </a:r>
            <a:r>
              <a:rPr lang="en-US" altLang="zh-CN" sz="2000" b="1" dirty="0">
                <a:solidFill>
                  <a:srgbClr val="577CCE"/>
                </a:solidFill>
                <a:latin typeface="+mj-ea"/>
                <a:ea typeface="+mj-ea"/>
              </a:rPr>
              <a:t> </a:t>
            </a:r>
            <a:r>
              <a:rPr lang="zh-CN" altLang="en-US" sz="2000" b="1" dirty="0">
                <a:solidFill>
                  <a:srgbClr val="577CCE"/>
                </a:solidFill>
                <a:latin typeface="+mj-ea"/>
                <a:ea typeface="+mj-ea"/>
              </a:rPr>
              <a:t>对象、</a:t>
            </a:r>
            <a:r>
              <a:rPr lang="en-US" altLang="zh-CN" sz="2000" b="1" dirty="0">
                <a:solidFill>
                  <a:srgbClr val="577CCE"/>
                </a:solidFill>
                <a:latin typeface="+mj-ea"/>
                <a:ea typeface="+mj-ea"/>
              </a:rPr>
              <a:t>Pandas </a:t>
            </a:r>
            <a:r>
              <a:rPr lang="zh-CN" altLang="en-US" sz="2000" b="1" dirty="0">
                <a:solidFill>
                  <a:srgbClr val="577CCE"/>
                </a:solidFill>
                <a:latin typeface="+mj-ea"/>
                <a:ea typeface="+mj-ea"/>
              </a:rPr>
              <a:t>对象求均值的操作方法。</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使用 </a:t>
            </a:r>
            <a:r>
              <a:rPr lang="en-US" altLang="zh-CN" sz="2000" b="1" dirty="0">
                <a:solidFill>
                  <a:srgbClr val="577CCE"/>
                </a:solidFill>
                <a:latin typeface="+mj-ea"/>
                <a:ea typeface="+mj-ea"/>
              </a:rPr>
              <a:t>Pandas </a:t>
            </a:r>
            <a:r>
              <a:rPr lang="zh-CN" altLang="en-US" sz="2000" b="1" dirty="0">
                <a:solidFill>
                  <a:srgbClr val="577CCE"/>
                </a:solidFill>
                <a:latin typeface="+mj-ea"/>
                <a:ea typeface="+mj-ea"/>
              </a:rPr>
              <a:t>打开含有多个 </a:t>
            </a:r>
            <a:r>
              <a:rPr lang="en-US" altLang="zh-CN" sz="2000" b="1" dirty="0">
                <a:solidFill>
                  <a:srgbClr val="577CCE"/>
                </a:solidFill>
                <a:latin typeface="+mj-ea"/>
                <a:ea typeface="+mj-ea"/>
              </a:rPr>
              <a:t>sheet </a:t>
            </a:r>
            <a:r>
              <a:rPr lang="zh-CN" altLang="en-US" sz="2000" b="1" dirty="0">
                <a:solidFill>
                  <a:srgbClr val="577CCE"/>
                </a:solidFill>
                <a:latin typeface="+mj-ea"/>
                <a:ea typeface="+mj-ea"/>
              </a:rPr>
              <a:t>的 </a:t>
            </a:r>
            <a:r>
              <a:rPr lang="en-US" altLang="zh-CN" sz="2000" b="1" dirty="0">
                <a:solidFill>
                  <a:srgbClr val="577CCE"/>
                </a:solidFill>
                <a:latin typeface="+mj-ea"/>
                <a:ea typeface="+mj-ea"/>
              </a:rPr>
              <a:t>excel </a:t>
            </a:r>
            <a:r>
              <a:rPr lang="zh-CN" altLang="en-US" sz="2000" b="1" dirty="0">
                <a:solidFill>
                  <a:srgbClr val="577CCE"/>
                </a:solidFill>
                <a:latin typeface="+mj-ea"/>
                <a:ea typeface="+mj-ea"/>
              </a:rPr>
              <a:t>文件并将每个 </a:t>
            </a:r>
            <a:r>
              <a:rPr lang="en-US" altLang="zh-CN" sz="2000" b="1" dirty="0">
                <a:solidFill>
                  <a:srgbClr val="577CCE"/>
                </a:solidFill>
                <a:latin typeface="+mj-ea"/>
                <a:ea typeface="+mj-ea"/>
              </a:rPr>
              <a:t>sheet </a:t>
            </a:r>
            <a:r>
              <a:rPr lang="zh-CN" altLang="en-US" sz="2000" b="1" dirty="0">
                <a:solidFill>
                  <a:srgbClr val="577CCE"/>
                </a:solidFill>
                <a:latin typeface="+mj-ea"/>
                <a:ea typeface="+mj-ea"/>
              </a:rPr>
              <a:t>的内容分别输出为 </a:t>
            </a:r>
            <a:r>
              <a:rPr lang="en-US" altLang="zh-CN" sz="2000" b="1" dirty="0">
                <a:solidFill>
                  <a:srgbClr val="577CCE"/>
                </a:solidFill>
                <a:latin typeface="+mj-ea"/>
                <a:ea typeface="+mj-ea"/>
              </a:rPr>
              <a:t>txt </a:t>
            </a:r>
            <a:r>
              <a:rPr lang="zh-CN" altLang="en-US" sz="2000" b="1" dirty="0">
                <a:solidFill>
                  <a:srgbClr val="577CCE"/>
                </a:solidFill>
                <a:latin typeface="+mj-ea"/>
                <a:ea typeface="+mj-ea"/>
              </a:rPr>
              <a:t>文件。</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使用 </a:t>
            </a:r>
            <a:r>
              <a:rPr lang="en-US" altLang="zh-CN" sz="2000" b="1" dirty="0">
                <a:solidFill>
                  <a:srgbClr val="577CCE"/>
                </a:solidFill>
                <a:latin typeface="+mj-ea"/>
                <a:ea typeface="+mj-ea"/>
              </a:rPr>
              <a:t>Matplotlib </a:t>
            </a:r>
            <a:r>
              <a:rPr lang="zh-CN" altLang="en-US" sz="2000" b="1" dirty="0">
                <a:solidFill>
                  <a:srgbClr val="577CCE"/>
                </a:solidFill>
                <a:latin typeface="+mj-ea"/>
                <a:ea typeface="+mj-ea"/>
              </a:rPr>
              <a:t>在一个子图中使用不同颜色同时绘制一个正弦函数和一个余弦函数。</a:t>
            </a:r>
            <a:endParaRPr lang="zh-CN" altLang="en-US" sz="2000" b="1" dirty="0">
              <a:solidFill>
                <a:srgbClr val="577CCE"/>
              </a:solidFill>
              <a:latin typeface="+mj-ea"/>
              <a:ea typeface="+mj-ea"/>
            </a:endParaRPr>
          </a:p>
          <a:p>
            <a:pPr marL="457200" indent="-457200">
              <a:buFont typeface="+mj-lt"/>
              <a:buAutoNum type="arabicPeriod" startAt="2"/>
            </a:pPr>
            <a:r>
              <a:rPr lang="zh-CN" altLang="en-US" sz="2000" b="1" dirty="0">
                <a:solidFill>
                  <a:srgbClr val="577CCE"/>
                </a:solidFill>
                <a:latin typeface="+mj-ea"/>
                <a:ea typeface="+mj-ea"/>
              </a:rPr>
              <a:t>使用 </a:t>
            </a:r>
            <a:r>
              <a:rPr lang="en-US" altLang="zh-CN" sz="2000" b="1" dirty="0">
                <a:solidFill>
                  <a:srgbClr val="577CCE"/>
                </a:solidFill>
                <a:latin typeface="+mj-ea"/>
                <a:ea typeface="+mj-ea"/>
              </a:rPr>
              <a:t>Matplotlib </a:t>
            </a:r>
            <a:r>
              <a:rPr lang="zh-CN" altLang="en-US" sz="2000" b="1" dirty="0">
                <a:solidFill>
                  <a:srgbClr val="577CCE"/>
                </a:solidFill>
                <a:latin typeface="+mj-ea"/>
                <a:ea typeface="+mj-ea"/>
              </a:rPr>
              <a:t>绘制并显示三维图像时，沿 </a:t>
            </a:r>
            <a:r>
              <a:rPr lang="en-US" altLang="zh-CN" sz="2000" b="1" dirty="0">
                <a:solidFill>
                  <a:srgbClr val="577CCE"/>
                </a:solidFill>
                <a:latin typeface="+mj-ea"/>
                <a:ea typeface="+mj-ea"/>
              </a:rPr>
              <a:t>y </a:t>
            </a:r>
            <a:r>
              <a:rPr lang="zh-CN" altLang="en-US" sz="2000" b="1" dirty="0">
                <a:solidFill>
                  <a:srgbClr val="577CCE"/>
                </a:solidFill>
                <a:latin typeface="+mj-ea"/>
                <a:ea typeface="+mj-ea"/>
              </a:rPr>
              <a:t>轴为正弦函数，沿 </a:t>
            </a:r>
            <a:r>
              <a:rPr lang="en-US" altLang="zh-CN" sz="2000" b="1" dirty="0">
                <a:solidFill>
                  <a:srgbClr val="577CCE"/>
                </a:solidFill>
                <a:latin typeface="+mj-ea"/>
                <a:ea typeface="+mj-ea"/>
              </a:rPr>
              <a:t>z </a:t>
            </a:r>
            <a:r>
              <a:rPr lang="zh-CN" altLang="en-US" sz="2000" b="1" dirty="0">
                <a:solidFill>
                  <a:srgbClr val="577CCE"/>
                </a:solidFill>
                <a:latin typeface="+mj-ea"/>
                <a:ea typeface="+mj-ea"/>
              </a:rPr>
              <a:t>轴为余弦函数，问绘制的图形是什么形状？</a:t>
            </a:r>
            <a:endParaRPr lang="zh-CN" altLang="en-US" sz="2000" b="1" dirty="0">
              <a:solidFill>
                <a:srgbClr val="577CCE"/>
              </a:solidFill>
              <a:latin typeface="+mj-ea"/>
              <a:ea typeface="+mj-ea"/>
            </a:endParaRPr>
          </a:p>
        </p:txBody>
      </p:sp>
    </p:spTree>
    <p:custDataLst>
      <p:tags r:id="rId1"/>
    </p:custDataLst>
  </p:cSld>
  <p:clrMapOvr>
    <a:masterClrMapping/>
  </p:clrMapOvr>
  <p:transition spd="slow">
    <p:push dir="u"/>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4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5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6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7.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6"/>
  <p:tag name="KSO_WM_TEMPLATE_MASTER_THUMB_INDEX" val="12"/>
  <p:tag name="KSO_WM_TEMPLATE_THUMBS_INDEX" val="1、4、7、8、10、11、12、13、15"/>
</p:tagLst>
</file>

<file path=ppt/tags/tag188.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6_1*a*1"/>
  <p:tag name="KSO_WM_TEMPLATE_CATEGORY" val="custom"/>
  <p:tag name="KSO_WM_TEMPLATE_INDEX" val="20206916"/>
  <p:tag name="KSO_WM_UNIT_LAYERLEVEL" val="1"/>
  <p:tag name="KSO_WM_TAG_VERSION" val="1.0"/>
  <p:tag name="KSO_WM_BEAUTIFY_FLAG" val="#wm#"/>
  <p:tag name="KSO_WM_UNIT_PRESET_TEXT" val="空白演示经典风格"/>
</p:tagLst>
</file>

<file path=ppt/tags/tag189.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6_1*f*1"/>
  <p:tag name="KSO_WM_TEMPLATE_CATEGORY" val="custom"/>
  <p:tag name="KSO_WM_TEMPLATE_INDEX" val="20206916"/>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90.xml><?xml version="1.0" encoding="utf-8"?>
<p:tagLst xmlns:p="http://schemas.openxmlformats.org/presentationml/2006/main">
  <p:tag name="KSO_WM_SLIDE_ID" val="custom20206916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6"/>
  <p:tag name="KSO_WM_SLIDE_LAYOUT" val="a_b_f"/>
  <p:tag name="KSO_WM_SLIDE_LAYOUT_CNT" val="1_1_1"/>
  <p:tag name="KSO_WM_TEMPLATE_MASTER_THUMB_INDEX" val="12"/>
  <p:tag name="KSO_WM_TEMPLATE_THUMBS_INDEX" val="1、4、7、8、10、11、12、13、15"/>
</p:tagLst>
</file>

<file path=ppt/tags/tag191.xml><?xml version="1.0" encoding="utf-8"?>
<p:tagLst xmlns:p="http://schemas.openxmlformats.org/presentationml/2006/main">
  <p:tag name="KSO_WM_BEAUTIFY_FLAG" val="#wm#"/>
  <p:tag name="KSO_WM_TEMPLATE_CATEGORY" val="custom"/>
  <p:tag name="KSO_WM_TEMPLATE_INDEX" val="20206916"/>
</p:tagLst>
</file>

<file path=ppt/tags/tag192.xml><?xml version="1.0" encoding="utf-8"?>
<p:tagLst xmlns:p="http://schemas.openxmlformats.org/presentationml/2006/main">
  <p:tag name="KSO_WM_BEAUTIFY_FLAG" val="#wm#"/>
  <p:tag name="KSO_WM_TEMPLATE_CATEGORY" val="custom"/>
  <p:tag name="KSO_WM_TEMPLATE_INDEX" val="20206916"/>
</p:tagLst>
</file>

<file path=ppt/tags/tag193.xml><?xml version="1.0" encoding="utf-8"?>
<p:tagLst xmlns:p="http://schemas.openxmlformats.org/presentationml/2006/main">
  <p:tag name="KSO_WM_BEAUTIFY_FLAG" val="#wm#"/>
  <p:tag name="KSO_WM_TEMPLATE_CATEGORY" val="custom"/>
  <p:tag name="KSO_WM_TEMPLATE_INDEX" val="20206916"/>
</p:tagLst>
</file>

<file path=ppt/tags/tag194.xml><?xml version="1.0" encoding="utf-8"?>
<p:tagLst xmlns:p="http://schemas.openxmlformats.org/presentationml/2006/main">
  <p:tag name="KSO_WM_BEAUTIFY_FLAG" val="#wm#"/>
  <p:tag name="KSO_WM_TEMPLATE_CATEGORY" val="custom"/>
  <p:tag name="KSO_WM_TEMPLATE_INDEX" val="20206916"/>
</p:tagLst>
</file>

<file path=ppt/tags/tag195.xml><?xml version="1.0" encoding="utf-8"?>
<p:tagLst xmlns:p="http://schemas.openxmlformats.org/presentationml/2006/main">
  <p:tag name="KSO_WM_BEAUTIFY_FLAG" val="#wm#"/>
  <p:tag name="KSO_WM_TEMPLATE_CATEGORY" val="custom"/>
  <p:tag name="KSO_WM_TEMPLATE_INDEX" val="20206916"/>
</p:tagLst>
</file>

<file path=ppt/tags/tag196.xml><?xml version="1.0" encoding="utf-8"?>
<p:tagLst xmlns:p="http://schemas.openxmlformats.org/presentationml/2006/main">
  <p:tag name="KSO_WM_BEAUTIFY_FLAG" val="#wm#"/>
  <p:tag name="KSO_WM_TEMPLATE_CATEGORY" val="custom"/>
  <p:tag name="KSO_WM_TEMPLATE_INDEX" val="20206916"/>
</p:tagLst>
</file>

<file path=ppt/tags/tag197.xml><?xml version="1.0" encoding="utf-8"?>
<p:tagLst xmlns:p="http://schemas.openxmlformats.org/presentationml/2006/main">
  <p:tag name="KSO_WM_BEAUTIFY_FLAG" val="#wm#"/>
  <p:tag name="KSO_WM_TEMPLATE_CATEGORY" val="custom"/>
  <p:tag name="KSO_WM_TEMPLATE_INDEX" val="20206916"/>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wm#"/>
  <p:tag name="KSO_WM_TEMPLATE_CATEGORY" val="custom"/>
  <p:tag name="KSO_WM_TEMPLATE_INDEX" val="20206916"/>
</p:tagLst>
</file>

<file path=ppt/tags/tag200.xml><?xml version="1.0" encoding="utf-8"?>
<p:tagLst xmlns:p="http://schemas.openxmlformats.org/presentationml/2006/main">
  <p:tag name="KSO_WM_BEAUTIFY_FLAG" val="#wm#"/>
  <p:tag name="KSO_WM_TEMPLATE_CATEGORY" val="custom"/>
  <p:tag name="KSO_WM_TEMPLATE_INDEX" val="20206916"/>
</p:tagLst>
</file>

<file path=ppt/tags/tag201.xml><?xml version="1.0" encoding="utf-8"?>
<p:tagLst xmlns:p="http://schemas.openxmlformats.org/presentationml/2006/main">
  <p:tag name="KSO_WM_BEAUTIFY_FLAG" val="#wm#"/>
  <p:tag name="KSO_WM_TEMPLATE_CATEGORY" val="custom"/>
  <p:tag name="KSO_WM_TEMPLATE_INDEX" val="20206916"/>
</p:tagLst>
</file>

<file path=ppt/tags/tag202.xml><?xml version="1.0" encoding="utf-8"?>
<p:tagLst xmlns:p="http://schemas.openxmlformats.org/presentationml/2006/main">
  <p:tag name="KSO_WM_BEAUTIFY_FLAG" val="#wm#"/>
  <p:tag name="KSO_WM_TEMPLATE_CATEGORY" val="custom"/>
  <p:tag name="KSO_WM_TEMPLATE_INDEX" val="20206916"/>
</p:tagLst>
</file>

<file path=ppt/tags/tag203.xml><?xml version="1.0" encoding="utf-8"?>
<p:tagLst xmlns:p="http://schemas.openxmlformats.org/presentationml/2006/main">
  <p:tag name="KSO_WM_BEAUTIFY_FLAG" val="#wm#"/>
  <p:tag name="KSO_WM_TEMPLATE_CATEGORY" val="custom"/>
  <p:tag name="KSO_WM_TEMPLATE_INDEX" val="20206916"/>
</p:tagLst>
</file>

<file path=ppt/tags/tag204.xml><?xml version="1.0" encoding="utf-8"?>
<p:tagLst xmlns:p="http://schemas.openxmlformats.org/presentationml/2006/main">
  <p:tag name="KSO_WM_BEAUTIFY_FLAG" val="#wm#"/>
  <p:tag name="KSO_WM_TEMPLATE_CATEGORY" val="custom"/>
  <p:tag name="KSO_WM_TEMPLATE_INDEX" val="20206916"/>
</p:tagLst>
</file>

<file path=ppt/tags/tag205.xml><?xml version="1.0" encoding="utf-8"?>
<p:tagLst xmlns:p="http://schemas.openxmlformats.org/presentationml/2006/main">
  <p:tag name="KSO_WM_BEAUTIFY_FLAG" val="#wm#"/>
  <p:tag name="KSO_WM_TEMPLATE_CATEGORY" val="custom"/>
  <p:tag name="KSO_WM_TEMPLATE_INDEX" val="20206916"/>
</p:tagLst>
</file>

<file path=ppt/tags/tag206.xml><?xml version="1.0" encoding="utf-8"?>
<p:tagLst xmlns:p="http://schemas.openxmlformats.org/presentationml/2006/main">
  <p:tag name="KSO_WM_BEAUTIFY_FLAG" val="#wm#"/>
  <p:tag name="KSO_WM_TEMPLATE_CATEGORY" val="custom"/>
  <p:tag name="KSO_WM_TEMPLATE_INDEX" val="20206916"/>
</p:tagLst>
</file>

<file path=ppt/tags/tag207.xml><?xml version="1.0" encoding="utf-8"?>
<p:tagLst xmlns:p="http://schemas.openxmlformats.org/presentationml/2006/main">
  <p:tag name="KSO_WM_BEAUTIFY_FLAG" val="#wm#"/>
  <p:tag name="KSO_WM_TEMPLATE_CATEGORY" val="custom"/>
  <p:tag name="KSO_WM_TEMPLATE_INDEX" val="20206916"/>
</p:tagLst>
</file>

<file path=ppt/tags/tag208.xml><?xml version="1.0" encoding="utf-8"?>
<p:tagLst xmlns:p="http://schemas.openxmlformats.org/presentationml/2006/main">
  <p:tag name="KSO_WM_BEAUTIFY_FLAG" val="#wm#"/>
  <p:tag name="KSO_WM_TEMPLATE_CATEGORY" val="custom"/>
  <p:tag name="KSO_WM_TEMPLATE_INDEX" val="20206916"/>
</p:tagLst>
</file>

<file path=ppt/tags/tag209.xml><?xml version="1.0" encoding="utf-8"?>
<p:tagLst xmlns:p="http://schemas.openxmlformats.org/presentationml/2006/main">
  <p:tag name="KSO_WM_BEAUTIFY_FLAG" val="#wm#"/>
  <p:tag name="KSO_WM_TEMPLATE_CATEGORY" val="custom"/>
  <p:tag name="KSO_WM_TEMPLATE_INDEX" val="20206916"/>
</p:tagLst>
</file>

<file path=ppt/tags/tag210.xml><?xml version="1.0" encoding="utf-8"?>
<p:tagLst xmlns:p="http://schemas.openxmlformats.org/presentationml/2006/main">
  <p:tag name="KSO_WM_BEAUTIFY_FLAG" val="#wm#"/>
  <p:tag name="KSO_WM_TEMPLATE_CATEGORY" val="custom"/>
  <p:tag name="KSO_WM_TEMPLATE_INDEX" val="20206916"/>
</p:tagLst>
</file>

<file path=ppt/tags/tag211.xml><?xml version="1.0" encoding="utf-8"?>
<p:tagLst xmlns:p="http://schemas.openxmlformats.org/presentationml/2006/main">
  <p:tag name="KSO_WM_BEAUTIFY_FLAG" val="#wm#"/>
  <p:tag name="KSO_WM_TEMPLATE_CATEGORY" val="custom"/>
  <p:tag name="KSO_WM_TEMPLATE_INDEX" val="20206916"/>
</p:tagLst>
</file>

<file path=ppt/tags/tag212.xml><?xml version="1.0" encoding="utf-8"?>
<p:tagLst xmlns:p="http://schemas.openxmlformats.org/presentationml/2006/main">
  <p:tag name="KSO_WM_BEAUTIFY_FLAG" val="#wm#"/>
  <p:tag name="KSO_WM_TEMPLATE_CATEGORY" val="custom"/>
  <p:tag name="KSO_WM_TEMPLATE_INDEX" val="20206916"/>
</p:tagLst>
</file>

<file path=ppt/tags/tag213.xml><?xml version="1.0" encoding="utf-8"?>
<p:tagLst xmlns:p="http://schemas.openxmlformats.org/presentationml/2006/main">
  <p:tag name="KSO_WM_BEAUTIFY_FLAG" val="#wm#"/>
  <p:tag name="KSO_WM_TEMPLATE_CATEGORY" val="custom"/>
  <p:tag name="KSO_WM_TEMPLATE_INDEX" val="20206916"/>
</p:tagLst>
</file>

<file path=ppt/tags/tag214.xml><?xml version="1.0" encoding="utf-8"?>
<p:tagLst xmlns:p="http://schemas.openxmlformats.org/presentationml/2006/main">
  <p:tag name="KSO_WM_BEAUTIFY_FLAG" val="#wm#"/>
  <p:tag name="KSO_WM_TEMPLATE_CATEGORY" val="custom"/>
  <p:tag name="KSO_WM_TEMPLATE_INDEX" val="20206916"/>
</p:tagLst>
</file>

<file path=ppt/tags/tag215.xml><?xml version="1.0" encoding="utf-8"?>
<p:tagLst xmlns:p="http://schemas.openxmlformats.org/presentationml/2006/main">
  <p:tag name="KSO_WM_BEAUTIFY_FLAG" val="#wm#"/>
  <p:tag name="KSO_WM_TEMPLATE_CATEGORY" val="custom"/>
  <p:tag name="KSO_WM_TEMPLATE_INDEX" val="20206916"/>
</p:tagLst>
</file>

<file path=ppt/tags/tag216.xml><?xml version="1.0" encoding="utf-8"?>
<p:tagLst xmlns:p="http://schemas.openxmlformats.org/presentationml/2006/main">
  <p:tag name="KSO_WM_BEAUTIFY_FLAG" val="#wm#"/>
  <p:tag name="KSO_WM_TEMPLATE_CATEGORY" val="custom"/>
  <p:tag name="KSO_WM_TEMPLATE_INDEX" val="20206916"/>
</p:tagLst>
</file>

<file path=ppt/tags/tag217.xml><?xml version="1.0" encoding="utf-8"?>
<p:tagLst xmlns:p="http://schemas.openxmlformats.org/presentationml/2006/main">
  <p:tag name="KSO_WM_BEAUTIFY_FLAG" val="#wm#"/>
  <p:tag name="KSO_WM_TEMPLATE_CATEGORY" val="custom"/>
  <p:tag name="KSO_WM_TEMPLATE_INDEX" val="20206916"/>
</p:tagLst>
</file>

<file path=ppt/tags/tag218.xml><?xml version="1.0" encoding="utf-8"?>
<p:tagLst xmlns:p="http://schemas.openxmlformats.org/presentationml/2006/main">
  <p:tag name="KSO_WM_BEAUTIFY_FLAG" val="#wm#"/>
  <p:tag name="KSO_WM_TEMPLATE_CATEGORY" val="custom"/>
  <p:tag name="KSO_WM_TEMPLATE_INDEX" val="20206916"/>
</p:tagLst>
</file>

<file path=ppt/tags/tag219.xml><?xml version="1.0" encoding="utf-8"?>
<p:tagLst xmlns:p="http://schemas.openxmlformats.org/presentationml/2006/main">
  <p:tag name="KSO_WM_BEAUTIFY_FLAG" val="#wm#"/>
  <p:tag name="KSO_WM_TEMPLATE_CATEGORY" val="custom"/>
  <p:tag name="KSO_WM_TEMPLATE_INDEX" val="20206916"/>
</p:tagLst>
</file>

<file path=ppt/tags/tag220.xml><?xml version="1.0" encoding="utf-8"?>
<p:tagLst xmlns:p="http://schemas.openxmlformats.org/presentationml/2006/main">
  <p:tag name="KSO_WM_BEAUTIFY_FLAG" val="#wm#"/>
  <p:tag name="KSO_WM_TEMPLATE_CATEGORY" val="custom"/>
  <p:tag name="KSO_WM_TEMPLATE_INDEX" val="20206916"/>
</p:tagLst>
</file>

<file path=ppt/tags/tag221.xml><?xml version="1.0" encoding="utf-8"?>
<p:tagLst xmlns:p="http://schemas.openxmlformats.org/presentationml/2006/main">
  <p:tag name="KSO_WM_BEAUTIFY_FLAG" val="#wm#"/>
  <p:tag name="KSO_WM_TEMPLATE_CATEGORY" val="custom"/>
  <p:tag name="KSO_WM_TEMPLATE_INDEX" val="20206916"/>
</p:tagLst>
</file>

<file path=ppt/tags/tag222.xml><?xml version="1.0" encoding="utf-8"?>
<p:tagLst xmlns:p="http://schemas.openxmlformats.org/presentationml/2006/main">
  <p:tag name="KSO_WM_BEAUTIFY_FLAG" val="#wm#"/>
  <p:tag name="KSO_WM_TEMPLATE_CATEGORY" val="custom"/>
  <p:tag name="KSO_WM_TEMPLATE_INDEX" val="20206916"/>
</p:tagLst>
</file>

<file path=ppt/tags/tag223.xml><?xml version="1.0" encoding="utf-8"?>
<p:tagLst xmlns:p="http://schemas.openxmlformats.org/presentationml/2006/main">
  <p:tag name="KSO_WM_BEAUTIFY_FLAG" val="#wm#"/>
  <p:tag name="KSO_WM_TEMPLATE_CATEGORY" val="custom"/>
  <p:tag name="KSO_WM_TEMPLATE_INDEX" val="20206916"/>
</p:tagLst>
</file>

<file path=ppt/tags/tag224.xml><?xml version="1.0" encoding="utf-8"?>
<p:tagLst xmlns:p="http://schemas.openxmlformats.org/presentationml/2006/main">
  <p:tag name="KSO_WM_BEAUTIFY_FLAG" val="#wm#"/>
  <p:tag name="KSO_WM_TEMPLATE_CATEGORY" val="custom"/>
  <p:tag name="KSO_WM_TEMPLATE_INDEX" val="20206916"/>
</p:tagLst>
</file>

<file path=ppt/tags/tag225.xml><?xml version="1.0" encoding="utf-8"?>
<p:tagLst xmlns:p="http://schemas.openxmlformats.org/presentationml/2006/main">
  <p:tag name="KSO_WM_BEAUTIFY_FLAG" val="#wm#"/>
  <p:tag name="KSO_WM_TEMPLATE_CATEGORY" val="custom"/>
  <p:tag name="KSO_WM_TEMPLATE_INDEX" val="20206916"/>
</p:tagLst>
</file>

<file path=ppt/tags/tag226.xml><?xml version="1.0" encoding="utf-8"?>
<p:tagLst xmlns:p="http://schemas.openxmlformats.org/presentationml/2006/main">
  <p:tag name="KSO_WM_BEAUTIFY_FLAG" val="#wm#"/>
  <p:tag name="KSO_WM_TEMPLATE_CATEGORY" val="custom"/>
  <p:tag name="KSO_WM_TEMPLATE_INDEX" val="20206916"/>
</p:tagLst>
</file>

<file path=ppt/tags/tag227.xml><?xml version="1.0" encoding="utf-8"?>
<p:tagLst xmlns:p="http://schemas.openxmlformats.org/presentationml/2006/main">
  <p:tag name="KSO_WM_BEAUTIFY_FLAG" val="#wm#"/>
  <p:tag name="KSO_WM_TEMPLATE_CATEGORY" val="custom"/>
  <p:tag name="KSO_WM_TEMPLATE_INDEX" val="20206916"/>
</p:tagLst>
</file>

<file path=ppt/tags/tag228.xml><?xml version="1.0" encoding="utf-8"?>
<p:tagLst xmlns:p="http://schemas.openxmlformats.org/presentationml/2006/main">
  <p:tag name="KSO_WM_BEAUTIFY_FLAG" val="#wm#"/>
  <p:tag name="KSO_WM_TEMPLATE_CATEGORY" val="custom"/>
  <p:tag name="KSO_WM_TEMPLATE_INDEX" val="20206916"/>
</p:tagLst>
</file>

<file path=ppt/tags/tag229.xml><?xml version="1.0" encoding="utf-8"?>
<p:tagLst xmlns:p="http://schemas.openxmlformats.org/presentationml/2006/main">
  <p:tag name="KSO_WM_BEAUTIFY_FLAG" val="#wm#"/>
  <p:tag name="KSO_WM_TEMPLATE_CATEGORY" val="custom"/>
  <p:tag name="KSO_WM_TEMPLATE_INDEX" val="20206916"/>
</p:tagLst>
</file>

<file path=ppt/tags/tag230.xml><?xml version="1.0" encoding="utf-8"?>
<p:tagLst xmlns:p="http://schemas.openxmlformats.org/presentationml/2006/main">
  <p:tag name="KSO_WM_BEAUTIFY_FLAG" val="#wm#"/>
  <p:tag name="KSO_WM_TEMPLATE_CATEGORY" val="custom"/>
  <p:tag name="KSO_WM_TEMPLATE_INDEX" val="20206916"/>
</p:tagLst>
</file>

<file path=ppt/tags/tag231.xml><?xml version="1.0" encoding="utf-8"?>
<p:tagLst xmlns:p="http://schemas.openxmlformats.org/presentationml/2006/main">
  <p:tag name="KSO_WM_BEAUTIFY_FLAG" val="#wm#"/>
  <p:tag name="KSO_WM_TEMPLATE_CATEGORY" val="custom"/>
  <p:tag name="KSO_WM_TEMPLATE_INDEX" val="20206916"/>
</p:tagLst>
</file>

<file path=ppt/tags/tag232.xml><?xml version="1.0" encoding="utf-8"?>
<p:tagLst xmlns:p="http://schemas.openxmlformats.org/presentationml/2006/main">
  <p:tag name="KSO_WM_BEAUTIFY_FLAG" val="#wm#"/>
  <p:tag name="KSO_WM_TEMPLATE_CATEGORY" val="custom"/>
  <p:tag name="KSO_WM_TEMPLATE_INDEX" val="20206916"/>
</p:tagLst>
</file>

<file path=ppt/tags/tag233.xml><?xml version="1.0" encoding="utf-8"?>
<p:tagLst xmlns:p="http://schemas.openxmlformats.org/presentationml/2006/main">
  <p:tag name="KSO_WM_BEAUTIFY_FLAG" val="#wm#"/>
  <p:tag name="KSO_WM_TEMPLATE_CATEGORY" val="custom"/>
  <p:tag name="KSO_WM_TEMPLATE_INDEX" val="20206916"/>
</p:tagLst>
</file>

<file path=ppt/tags/tag234.xml><?xml version="1.0" encoding="utf-8"?>
<p:tagLst xmlns:p="http://schemas.openxmlformats.org/presentationml/2006/main">
  <p:tag name="KSO_WM_BEAUTIFY_FLAG" val="#wm#"/>
  <p:tag name="KSO_WM_TEMPLATE_CATEGORY" val="custom"/>
  <p:tag name="KSO_WM_TEMPLATE_INDEX" val="20206916"/>
</p:tagLst>
</file>

<file path=ppt/tags/tag235.xml><?xml version="1.0" encoding="utf-8"?>
<p:tagLst xmlns:p="http://schemas.openxmlformats.org/presentationml/2006/main">
  <p:tag name="KSO_WM_BEAUTIFY_FLAG" val="#wm#"/>
  <p:tag name="KSO_WM_TEMPLATE_CATEGORY" val="custom"/>
  <p:tag name="KSO_WM_TEMPLATE_INDEX" val="20206916"/>
</p:tagLst>
</file>

<file path=ppt/tags/tag236.xml><?xml version="1.0" encoding="utf-8"?>
<p:tagLst xmlns:p="http://schemas.openxmlformats.org/presentationml/2006/main">
  <p:tag name="KSO_WM_BEAUTIFY_FLAG" val="#wm#"/>
  <p:tag name="KSO_WM_TEMPLATE_CATEGORY" val="custom"/>
  <p:tag name="KSO_WM_TEMPLATE_INDEX" val="20206916"/>
</p:tagLst>
</file>

<file path=ppt/tags/tag237.xml><?xml version="1.0" encoding="utf-8"?>
<p:tagLst xmlns:p="http://schemas.openxmlformats.org/presentationml/2006/main">
  <p:tag name="KSO_WM_BEAUTIFY_FLAG" val="#wm#"/>
  <p:tag name="KSO_WM_TEMPLATE_CATEGORY" val="custom"/>
  <p:tag name="KSO_WM_TEMPLATE_INDEX" val="20206916"/>
</p:tagLst>
</file>

<file path=ppt/tags/tag238.xml><?xml version="1.0" encoding="utf-8"?>
<p:tagLst xmlns:p="http://schemas.openxmlformats.org/presentationml/2006/main">
  <p:tag name="KSO_WM_BEAUTIFY_FLAG" val="#wm#"/>
  <p:tag name="KSO_WM_TEMPLATE_CATEGORY" val="custom"/>
  <p:tag name="KSO_WM_TEMPLATE_INDEX" val="20206916"/>
</p:tagLst>
</file>

<file path=ppt/tags/tag239.xml><?xml version="1.0" encoding="utf-8"?>
<p:tagLst xmlns:p="http://schemas.openxmlformats.org/presentationml/2006/main">
  <p:tag name="KSO_WM_BEAUTIFY_FLAG" val="#wm#"/>
  <p:tag name="KSO_WM_TEMPLATE_CATEGORY" val="custom"/>
  <p:tag name="KSO_WM_TEMPLATE_INDEX" val="20206916"/>
</p:tagLst>
</file>

<file path=ppt/tags/tag240.xml><?xml version="1.0" encoding="utf-8"?>
<p:tagLst xmlns:p="http://schemas.openxmlformats.org/presentationml/2006/main">
  <p:tag name="KSO_WM_BEAUTIFY_FLAG" val="#wm#"/>
  <p:tag name="KSO_WM_TEMPLATE_CATEGORY" val="custom"/>
  <p:tag name="KSO_WM_TEMPLATE_INDEX" val="20206916"/>
</p:tagLst>
</file>

<file path=ppt/tags/tag241.xml><?xml version="1.0" encoding="utf-8"?>
<p:tagLst xmlns:p="http://schemas.openxmlformats.org/presentationml/2006/main">
  <p:tag name="KSO_WM_BEAUTIFY_FLAG" val="#wm#"/>
  <p:tag name="KSO_WM_TEMPLATE_CATEGORY" val="custom"/>
  <p:tag name="KSO_WM_TEMPLATE_INDEX" val="20206916"/>
</p:tagLst>
</file>

<file path=ppt/tags/tag242.xml><?xml version="1.0" encoding="utf-8"?>
<p:tagLst xmlns:p="http://schemas.openxmlformats.org/presentationml/2006/main">
  <p:tag name="KSO_WM_BEAUTIFY_FLAG" val="#wm#"/>
  <p:tag name="KSO_WM_TEMPLATE_CATEGORY" val="custom"/>
  <p:tag name="KSO_WM_TEMPLATE_INDEX" val="20206916"/>
</p:tagLst>
</file>

<file path=ppt/tags/tag243.xml><?xml version="1.0" encoding="utf-8"?>
<p:tagLst xmlns:p="http://schemas.openxmlformats.org/presentationml/2006/main">
  <p:tag name="KSO_WM_BEAUTIFY_FLAG" val="#wm#"/>
  <p:tag name="KSO_WM_TEMPLATE_CATEGORY" val="custom"/>
  <p:tag name="KSO_WM_TEMPLATE_INDEX" val="20206916"/>
</p:tagLst>
</file>

<file path=ppt/tags/tag244.xml><?xml version="1.0" encoding="utf-8"?>
<p:tagLst xmlns:p="http://schemas.openxmlformats.org/presentationml/2006/main">
  <p:tag name="KSO_WM_BEAUTIFY_FLAG" val="#wm#"/>
  <p:tag name="KSO_WM_TEMPLATE_CATEGORY" val="custom"/>
  <p:tag name="KSO_WM_TEMPLATE_INDEX" val="20206916"/>
</p:tagLst>
</file>

<file path=ppt/tags/tag245.xml><?xml version="1.0" encoding="utf-8"?>
<p:tagLst xmlns:p="http://schemas.openxmlformats.org/presentationml/2006/main">
  <p:tag name="KSO_WM_BEAUTIFY_FLAG" val="#wm#"/>
  <p:tag name="KSO_WM_TEMPLATE_CATEGORY" val="custom"/>
  <p:tag name="KSO_WM_TEMPLATE_INDEX" val="20206916"/>
</p:tagLst>
</file>

<file path=ppt/tags/tag246.xml><?xml version="1.0" encoding="utf-8"?>
<p:tagLst xmlns:p="http://schemas.openxmlformats.org/presentationml/2006/main">
  <p:tag name="KSO_WM_BEAUTIFY_FLAG" val="#wm#"/>
  <p:tag name="KSO_WM_TEMPLATE_CATEGORY" val="custom"/>
  <p:tag name="KSO_WM_TEMPLATE_INDEX" val="20206916"/>
</p:tagLst>
</file>

<file path=ppt/tags/tag247.xml><?xml version="1.0" encoding="utf-8"?>
<p:tagLst xmlns:p="http://schemas.openxmlformats.org/presentationml/2006/main">
  <p:tag name="KSO_WM_BEAUTIFY_FLAG" val="#wm#"/>
  <p:tag name="KSO_WM_TEMPLATE_CATEGORY" val="custom"/>
  <p:tag name="KSO_WM_TEMPLATE_INDEX" val="20206916"/>
</p:tagLst>
</file>

<file path=ppt/tags/tag248.xml><?xml version="1.0" encoding="utf-8"?>
<p:tagLst xmlns:p="http://schemas.openxmlformats.org/presentationml/2006/main">
  <p:tag name="KSO_WM_BEAUTIFY_FLAG" val="#wm#"/>
  <p:tag name="KSO_WM_TEMPLATE_CATEGORY" val="custom"/>
  <p:tag name="KSO_WM_TEMPLATE_INDEX" val="20206916"/>
</p:tagLst>
</file>

<file path=ppt/tags/tag249.xml><?xml version="1.0" encoding="utf-8"?>
<p:tagLst xmlns:p="http://schemas.openxmlformats.org/presentationml/2006/main">
  <p:tag name="KSO_WM_BEAUTIFY_FLAG" val="#wm#"/>
  <p:tag name="KSO_WM_TEMPLATE_CATEGORY" val="custom"/>
  <p:tag name="KSO_WM_TEMPLATE_INDEX" val="20206916"/>
</p:tagLst>
</file>

<file path=ppt/tags/tag250.xml><?xml version="1.0" encoding="utf-8"?>
<p:tagLst xmlns:p="http://schemas.openxmlformats.org/presentationml/2006/main">
  <p:tag name="KSO_WM_BEAUTIFY_FLAG" val="#wm#"/>
  <p:tag name="KSO_WM_TEMPLATE_CATEGORY" val="custom"/>
  <p:tag name="KSO_WM_TEMPLATE_INDEX" val="20206916"/>
</p:tagLst>
</file>

<file path=ppt/tags/tag251.xml><?xml version="1.0" encoding="utf-8"?>
<p:tagLst xmlns:p="http://schemas.openxmlformats.org/presentationml/2006/main">
  <p:tag name="KSO_WM_BEAUTIFY_FLAG" val="#wm#"/>
  <p:tag name="KSO_WM_TEMPLATE_CATEGORY" val="custom"/>
  <p:tag name="KSO_WM_TEMPLATE_INDEX" val="20206916"/>
</p:tagLst>
</file>

<file path=ppt/tags/tag252.xml><?xml version="1.0" encoding="utf-8"?>
<p:tagLst xmlns:p="http://schemas.openxmlformats.org/presentationml/2006/main">
  <p:tag name="KSO_WM_BEAUTIFY_FLAG" val="#wm#"/>
  <p:tag name="KSO_WM_TEMPLATE_CATEGORY" val="custom"/>
  <p:tag name="KSO_WM_TEMPLATE_INDEX" val="20206916"/>
</p:tagLst>
</file>

<file path=ppt/tags/tag253.xml><?xml version="1.0" encoding="utf-8"?>
<p:tagLst xmlns:p="http://schemas.openxmlformats.org/presentationml/2006/main">
  <p:tag name="KSO_WM_BEAUTIFY_FLAG" val="#wm#"/>
  <p:tag name="KSO_WM_TEMPLATE_CATEGORY" val="custom"/>
  <p:tag name="KSO_WM_TEMPLATE_INDEX" val="20206916"/>
</p:tagLst>
</file>

<file path=ppt/tags/tag254.xml><?xml version="1.0" encoding="utf-8"?>
<p:tagLst xmlns:p="http://schemas.openxmlformats.org/presentationml/2006/main">
  <p:tag name="KSO_WM_BEAUTIFY_FLAG" val="#wm#"/>
  <p:tag name="KSO_WM_TEMPLATE_CATEGORY" val="custom"/>
  <p:tag name="KSO_WM_TEMPLATE_INDEX" val="20206916"/>
</p:tagLst>
</file>

<file path=ppt/tags/tag255.xml><?xml version="1.0" encoding="utf-8"?>
<p:tagLst xmlns:p="http://schemas.openxmlformats.org/presentationml/2006/main">
  <p:tag name="KSO_WM_BEAUTIFY_FLAG" val="#wm#"/>
  <p:tag name="KSO_WM_TEMPLATE_CATEGORY" val="custom"/>
  <p:tag name="KSO_WM_TEMPLATE_INDEX" val="20206916"/>
</p:tagLst>
</file>

<file path=ppt/tags/tag256.xml><?xml version="1.0" encoding="utf-8"?>
<p:tagLst xmlns:p="http://schemas.openxmlformats.org/presentationml/2006/main">
  <p:tag name="KSO_WM_BEAUTIFY_FLAG" val="#wm#"/>
  <p:tag name="KSO_WM_TEMPLATE_CATEGORY" val="custom"/>
  <p:tag name="KSO_WM_TEMPLATE_INDEX" val="20206916"/>
</p:tagLst>
</file>

<file path=ppt/tags/tag257.xml><?xml version="1.0" encoding="utf-8"?>
<p:tagLst xmlns:p="http://schemas.openxmlformats.org/presentationml/2006/main">
  <p:tag name="KSO_WM_BEAUTIFY_FLAG" val="#wm#"/>
  <p:tag name="KSO_WM_TEMPLATE_CATEGORY" val="custom"/>
  <p:tag name="KSO_WM_TEMPLATE_INDEX" val="20206916"/>
</p:tagLst>
</file>

<file path=ppt/tags/tag258.xml><?xml version="1.0" encoding="utf-8"?>
<p:tagLst xmlns:p="http://schemas.openxmlformats.org/presentationml/2006/main">
  <p:tag name="KSO_WM_BEAUTIFY_FLAG" val="#wm#"/>
  <p:tag name="KSO_WM_TEMPLATE_CATEGORY" val="custom"/>
  <p:tag name="KSO_WM_TEMPLATE_INDEX" val="20206916"/>
</p:tagLst>
</file>

<file path=ppt/tags/tag259.xml><?xml version="1.0" encoding="utf-8"?>
<p:tagLst xmlns:p="http://schemas.openxmlformats.org/presentationml/2006/main">
  <p:tag name="KSO_WM_BEAUTIFY_FLAG" val="#wm#"/>
  <p:tag name="KSO_WM_TEMPLATE_CATEGORY" val="custom"/>
  <p:tag name="KSO_WM_TEMPLATE_INDEX" val="20206916"/>
</p:tagLst>
</file>

<file path=ppt/tags/tag260.xml><?xml version="1.0" encoding="utf-8"?>
<p:tagLst xmlns:p="http://schemas.openxmlformats.org/presentationml/2006/main">
  <p:tag name="KSO_WM_BEAUTIFY_FLAG" val="#wm#"/>
  <p:tag name="KSO_WM_TEMPLATE_CATEGORY" val="custom"/>
  <p:tag name="KSO_WM_TEMPLATE_INDEX" val="20206916"/>
</p:tagLst>
</file>

<file path=ppt/tags/tag261.xml><?xml version="1.0" encoding="utf-8"?>
<p:tagLst xmlns:p="http://schemas.openxmlformats.org/presentationml/2006/main">
  <p:tag name="KSO_WM_BEAUTIFY_FLAG" val="#wm#"/>
  <p:tag name="KSO_WM_TEMPLATE_CATEGORY" val="custom"/>
  <p:tag name="KSO_WM_TEMPLATE_INDEX" val="20206916"/>
</p:tagLst>
</file>

<file path=ppt/tags/tag262.xml><?xml version="1.0" encoding="utf-8"?>
<p:tagLst xmlns:p="http://schemas.openxmlformats.org/presentationml/2006/main">
  <p:tag name="KSO_WM_BEAUTIFY_FLAG" val="#wm#"/>
  <p:tag name="KSO_WM_TEMPLATE_CATEGORY" val="custom"/>
  <p:tag name="KSO_WM_TEMPLATE_INDEX" val="20206916"/>
</p:tagLst>
</file>

<file path=ppt/tags/tag263.xml><?xml version="1.0" encoding="utf-8"?>
<p:tagLst xmlns:p="http://schemas.openxmlformats.org/presentationml/2006/main">
  <p:tag name="KSO_WM_BEAUTIFY_FLAG" val="#wm#"/>
  <p:tag name="KSO_WM_TEMPLATE_CATEGORY" val="custom"/>
  <p:tag name="KSO_WM_TEMPLATE_INDEX" val="20206916"/>
</p:tagLst>
</file>

<file path=ppt/tags/tag264.xml><?xml version="1.0" encoding="utf-8"?>
<p:tagLst xmlns:p="http://schemas.openxmlformats.org/presentationml/2006/main">
  <p:tag name="KSO_WM_BEAUTIFY_FLAG" val="#wm#"/>
  <p:tag name="KSO_WM_TEMPLATE_CATEGORY" val="custom"/>
  <p:tag name="KSO_WM_TEMPLATE_INDEX" val="20206916"/>
</p:tagLst>
</file>

<file path=ppt/tags/tag265.xml><?xml version="1.0" encoding="utf-8"?>
<p:tagLst xmlns:p="http://schemas.openxmlformats.org/presentationml/2006/main">
  <p:tag name="KSO_WM_BEAUTIFY_FLAG" val="#wm#"/>
  <p:tag name="KSO_WM_TEMPLATE_CATEGORY" val="custom"/>
  <p:tag name="KSO_WM_TEMPLATE_INDEX" val="20206916"/>
</p:tagLst>
</file>

<file path=ppt/tags/tag266.xml><?xml version="1.0" encoding="utf-8"?>
<p:tagLst xmlns:p="http://schemas.openxmlformats.org/presentationml/2006/main">
  <p:tag name="KSO_WM_BEAUTIFY_FLAG" val="#wm#"/>
  <p:tag name="KSO_WM_TEMPLATE_CATEGORY" val="custom"/>
  <p:tag name="KSO_WM_TEMPLATE_INDEX" val="20206916"/>
</p:tagLst>
</file>

<file path=ppt/tags/tag267.xml><?xml version="1.0" encoding="utf-8"?>
<p:tagLst xmlns:p="http://schemas.openxmlformats.org/presentationml/2006/main">
  <p:tag name="KSO_WM_BEAUTIFY_FLAG" val="#wm#"/>
  <p:tag name="KSO_WM_TEMPLATE_CATEGORY" val="custom"/>
  <p:tag name="KSO_WM_TEMPLATE_INDEX" val="20206916"/>
</p:tagLst>
</file>

<file path=ppt/tags/tag268.xml><?xml version="1.0" encoding="utf-8"?>
<p:tagLst xmlns:p="http://schemas.openxmlformats.org/presentationml/2006/main">
  <p:tag name="KSO_WM_BEAUTIFY_FLAG" val="#wm#"/>
  <p:tag name="KSO_WM_TEMPLATE_CATEGORY" val="custom"/>
  <p:tag name="KSO_WM_TEMPLATE_INDEX" val="20206916"/>
</p:tagLst>
</file>

<file path=ppt/tags/tag269.xml><?xml version="1.0" encoding="utf-8"?>
<p:tagLst xmlns:p="http://schemas.openxmlformats.org/presentationml/2006/main">
  <p:tag name="KSO_WM_BEAUTIFY_FLAG" val="#wm#"/>
  <p:tag name="KSO_WM_TEMPLATE_CATEGORY" val="custom"/>
  <p:tag name="KSO_WM_TEMPLATE_INDEX" val="20206916"/>
</p:tagLst>
</file>

<file path=ppt/tags/tag270.xml><?xml version="1.0" encoding="utf-8"?>
<p:tagLst xmlns:p="http://schemas.openxmlformats.org/presentationml/2006/main">
  <p:tag name="KSO_WM_BEAUTIFY_FLAG" val="#wm#"/>
  <p:tag name="KSO_WM_TEMPLATE_CATEGORY" val="custom"/>
  <p:tag name="KSO_WM_TEMPLATE_INDEX" val="20206916"/>
</p:tagLst>
</file>

<file path=ppt/tags/tag271.xml><?xml version="1.0" encoding="utf-8"?>
<p:tagLst xmlns:p="http://schemas.openxmlformats.org/presentationml/2006/main">
  <p:tag name="KSO_WM_BEAUTIFY_FLAG" val="#wm#"/>
  <p:tag name="KSO_WM_TEMPLATE_CATEGORY" val="custom"/>
  <p:tag name="KSO_WM_TEMPLATE_INDEX" val="20206916"/>
</p:tagLst>
</file>

<file path=ppt/tags/tag272.xml><?xml version="1.0" encoding="utf-8"?>
<p:tagLst xmlns:p="http://schemas.openxmlformats.org/presentationml/2006/main">
  <p:tag name="KSO_WM_BEAUTIFY_FLAG" val="#wm#"/>
  <p:tag name="KSO_WM_TEMPLATE_CATEGORY" val="custom"/>
  <p:tag name="KSO_WM_TEMPLATE_INDEX" val="20206916"/>
</p:tagLst>
</file>

<file path=ppt/tags/tag273.xml><?xml version="1.0" encoding="utf-8"?>
<p:tagLst xmlns:p="http://schemas.openxmlformats.org/presentationml/2006/main">
  <p:tag name="KSO_WM_BEAUTIFY_FLAG" val="#wm#"/>
  <p:tag name="KSO_WM_TEMPLATE_CATEGORY" val="custom"/>
  <p:tag name="KSO_WM_TEMPLATE_INDEX" val="20206916"/>
</p:tagLst>
</file>

<file path=ppt/tags/tag274.xml><?xml version="1.0" encoding="utf-8"?>
<p:tagLst xmlns:p="http://schemas.openxmlformats.org/presentationml/2006/main">
  <p:tag name="KSO_WM_BEAUTIFY_FLAG" val="#wm#"/>
  <p:tag name="KSO_WM_TEMPLATE_CATEGORY" val="custom"/>
  <p:tag name="KSO_WM_TEMPLATE_INDEX" val="20206916"/>
</p:tagLst>
</file>

<file path=ppt/tags/tag275.xml><?xml version="1.0" encoding="utf-8"?>
<p:tagLst xmlns:p="http://schemas.openxmlformats.org/presentationml/2006/main">
  <p:tag name="KSO_WM_BEAUTIFY_FLAG" val="#wm#"/>
  <p:tag name="KSO_WM_TEMPLATE_CATEGORY" val="custom"/>
  <p:tag name="KSO_WM_TEMPLATE_INDEX" val="20206916"/>
</p:tagLst>
</file>

<file path=ppt/tags/tag276.xml><?xml version="1.0" encoding="utf-8"?>
<p:tagLst xmlns:p="http://schemas.openxmlformats.org/presentationml/2006/main">
  <p:tag name="KSO_WM_BEAUTIFY_FLAG" val="#wm#"/>
  <p:tag name="KSO_WM_TEMPLATE_CATEGORY" val="custom"/>
  <p:tag name="KSO_WM_TEMPLATE_INDEX" val="20206916"/>
</p:tagLst>
</file>

<file path=ppt/tags/tag277.xml><?xml version="1.0" encoding="utf-8"?>
<p:tagLst xmlns:p="http://schemas.openxmlformats.org/presentationml/2006/main">
  <p:tag name="KSO_WM_BEAUTIFY_FLAG" val="#wm#"/>
  <p:tag name="KSO_WM_TEMPLATE_CATEGORY" val="custom"/>
  <p:tag name="KSO_WM_TEMPLATE_INDEX" val="20206916"/>
</p:tagLst>
</file>

<file path=ppt/tags/tag278.xml><?xml version="1.0" encoding="utf-8"?>
<p:tagLst xmlns:p="http://schemas.openxmlformats.org/presentationml/2006/main">
  <p:tag name="KSO_WM_BEAUTIFY_FLAG" val="#wm#"/>
  <p:tag name="KSO_WM_TEMPLATE_CATEGORY" val="custom"/>
  <p:tag name="KSO_WM_TEMPLATE_INDEX" val="20206916"/>
</p:tagLst>
</file>

<file path=ppt/tags/tag279.xml><?xml version="1.0" encoding="utf-8"?>
<p:tagLst xmlns:p="http://schemas.openxmlformats.org/presentationml/2006/main">
  <p:tag name="KSO_WM_BEAUTIFY_FLAG" val="#wm#"/>
  <p:tag name="KSO_WM_TEMPLATE_CATEGORY" val="custom"/>
  <p:tag name="KSO_WM_TEMPLATE_INDEX" val="20206916"/>
</p:tagLst>
</file>

<file path=ppt/tags/tag280.xml><?xml version="1.0" encoding="utf-8"?>
<p:tagLst xmlns:p="http://schemas.openxmlformats.org/presentationml/2006/main">
  <p:tag name="KSO_WM_BEAUTIFY_FLAG" val="#wm#"/>
  <p:tag name="KSO_WM_TEMPLATE_CATEGORY" val="custom"/>
  <p:tag name="KSO_WM_TEMPLATE_INDEX" val="20206916"/>
</p:tagLst>
</file>

<file path=ppt/tags/tag281.xml><?xml version="1.0" encoding="utf-8"?>
<p:tagLst xmlns:p="http://schemas.openxmlformats.org/presentationml/2006/main">
  <p:tag name="KSO_WM_BEAUTIFY_FLAG" val="#wm#"/>
  <p:tag name="KSO_WM_TEMPLATE_CATEGORY" val="custom"/>
  <p:tag name="KSO_WM_TEMPLATE_INDEX" val="20206916"/>
</p:tagLst>
</file>

<file path=ppt/tags/tag282.xml><?xml version="1.0" encoding="utf-8"?>
<p:tagLst xmlns:p="http://schemas.openxmlformats.org/presentationml/2006/main">
  <p:tag name="KSO_WM_BEAUTIFY_FLAG" val="#wm#"/>
  <p:tag name="KSO_WM_TEMPLATE_CATEGORY" val="custom"/>
  <p:tag name="KSO_WM_TEMPLATE_INDEX" val="20206916"/>
</p:tagLst>
</file>

<file path=ppt/tags/tag283.xml><?xml version="1.0" encoding="utf-8"?>
<p:tagLst xmlns:p="http://schemas.openxmlformats.org/presentationml/2006/main">
  <p:tag name="KSO_WM_BEAUTIFY_FLAG" val="#wm#"/>
  <p:tag name="KSO_WM_TEMPLATE_CATEGORY" val="custom"/>
  <p:tag name="KSO_WM_TEMPLATE_INDEX" val="20206916"/>
</p:tagLst>
</file>

<file path=ppt/tags/tag284.xml><?xml version="1.0" encoding="utf-8"?>
<p:tagLst xmlns:p="http://schemas.openxmlformats.org/presentationml/2006/main">
  <p:tag name="KSO_WM_BEAUTIFY_FLAG" val="#wm#"/>
  <p:tag name="KSO_WM_TEMPLATE_CATEGORY" val="custom"/>
  <p:tag name="KSO_WM_TEMPLATE_INDEX" val="20206916"/>
</p:tagLst>
</file>

<file path=ppt/tags/tag285.xml><?xml version="1.0" encoding="utf-8"?>
<p:tagLst xmlns:p="http://schemas.openxmlformats.org/presentationml/2006/main">
  <p:tag name="KSO_WM_BEAUTIFY_FLAG" val="#wm#"/>
  <p:tag name="KSO_WM_TEMPLATE_CATEGORY" val="custom"/>
  <p:tag name="KSO_WM_TEMPLATE_INDEX" val="20206916"/>
</p:tagLst>
</file>

<file path=ppt/tags/tag286.xml><?xml version="1.0" encoding="utf-8"?>
<p:tagLst xmlns:p="http://schemas.openxmlformats.org/presentationml/2006/main">
  <p:tag name="KSO_WM_BEAUTIFY_FLAG" val="#wm#"/>
  <p:tag name="KSO_WM_TEMPLATE_CATEGORY" val="custom"/>
  <p:tag name="KSO_WM_TEMPLATE_INDEX" val="20206916"/>
</p:tagLst>
</file>

<file path=ppt/tags/tag287.xml><?xml version="1.0" encoding="utf-8"?>
<p:tagLst xmlns:p="http://schemas.openxmlformats.org/presentationml/2006/main">
  <p:tag name="KSO_WM_BEAUTIFY_FLAG" val="#wm#"/>
  <p:tag name="KSO_WM_TEMPLATE_CATEGORY" val="custom"/>
  <p:tag name="KSO_WM_TEMPLATE_INDEX" val="20206916"/>
</p:tagLst>
</file>

<file path=ppt/tags/tag288.xml><?xml version="1.0" encoding="utf-8"?>
<p:tagLst xmlns:p="http://schemas.openxmlformats.org/presentationml/2006/main">
  <p:tag name="KSO_WM_BEAUTIFY_FLAG" val="#wm#"/>
  <p:tag name="KSO_WM_TEMPLATE_CATEGORY" val="custom"/>
  <p:tag name="KSO_WM_TEMPLATE_INDEX" val="20206916"/>
</p:tagLst>
</file>

<file path=ppt/tags/tag289.xml><?xml version="1.0" encoding="utf-8"?>
<p:tagLst xmlns:p="http://schemas.openxmlformats.org/presentationml/2006/main">
  <p:tag name="KSO_WM_BEAUTIFY_FLAG" val="#wm#"/>
  <p:tag name="KSO_WM_TEMPLATE_CATEGORY" val="custom"/>
  <p:tag name="KSO_WM_TEMPLATE_INDEX" val="20206916"/>
</p:tagLst>
</file>

<file path=ppt/tags/tag290.xml><?xml version="1.0" encoding="utf-8"?>
<p:tagLst xmlns:p="http://schemas.openxmlformats.org/presentationml/2006/main">
  <p:tag name="KSO_WM_BEAUTIFY_FLAG" val="#wm#"/>
  <p:tag name="KSO_WM_TEMPLATE_CATEGORY" val="custom"/>
  <p:tag name="KSO_WM_TEMPLATE_INDEX" val="20206916"/>
</p:tagLst>
</file>

<file path=ppt/tags/tag291.xml><?xml version="1.0" encoding="utf-8"?>
<p:tagLst xmlns:p="http://schemas.openxmlformats.org/presentationml/2006/main">
  <p:tag name="KSO_WM_BEAUTIFY_FLAG" val="#wm#"/>
  <p:tag name="KSO_WM_TEMPLATE_CATEGORY" val="custom"/>
  <p:tag name="KSO_WM_TEMPLATE_INDEX" val="20206916"/>
</p:tagLst>
</file>

<file path=ppt/tags/tag292.xml><?xml version="1.0" encoding="utf-8"?>
<p:tagLst xmlns:p="http://schemas.openxmlformats.org/presentationml/2006/main">
  <p:tag name="KSO_WM_BEAUTIFY_FLAG" val="#wm#"/>
  <p:tag name="KSO_WM_TEMPLATE_CATEGORY" val="custom"/>
  <p:tag name="KSO_WM_TEMPLATE_INDEX" val="20206916"/>
</p:tagLst>
</file>

<file path=ppt/tags/tag293.xml><?xml version="1.0" encoding="utf-8"?>
<p:tagLst xmlns:p="http://schemas.openxmlformats.org/presentationml/2006/main">
  <p:tag name="KSO_WPP_MARK_KEY" val="9586d468-64bb-42c4-9ba6-c2126fb607fc"/>
  <p:tag name="COMMONDATA" val="eyJoZGlkIjoiZTI0MjI4OTA3Njg4MjI2NWFiNWQ4ZWQyODE5ZDFhZjg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灰色">
      <a:dk1>
        <a:srgbClr val="000000"/>
      </a:dk1>
      <a:lt1>
        <a:srgbClr val="FFFFFF"/>
      </a:lt1>
      <a:dk2>
        <a:srgbClr val="D9D9D9"/>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36533</Words>
  <Application>WPS 演示</Application>
  <PresentationFormat>宽屏</PresentationFormat>
  <Paragraphs>1785</Paragraphs>
  <Slides>102</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102</vt:i4>
      </vt:variant>
    </vt:vector>
  </HeadingPairs>
  <TitlesOfParts>
    <vt:vector size="119" baseType="lpstr">
      <vt:lpstr>Arial</vt:lpstr>
      <vt:lpstr>宋体</vt:lpstr>
      <vt:lpstr>Wingdings</vt:lpstr>
      <vt:lpstr>Wingdings</vt:lpstr>
      <vt:lpstr>微软雅黑</vt:lpstr>
      <vt:lpstr>Consolas</vt:lpstr>
      <vt:lpstr>-apple-system</vt:lpstr>
      <vt:lpstr>Segoe Print</vt:lpstr>
      <vt:lpstr>Arial Unicode MS</vt:lpstr>
      <vt:lpstr>__Karla_fd2630</vt:lpstr>
      <vt:lpstr>Segoe UI</vt:lpstr>
      <vt:lpstr>等线</vt:lpstr>
      <vt:lpstr>var(--notebook-cell-output-font-family)</vt:lpstr>
      <vt:lpstr>Calibri</vt:lpstr>
      <vt:lpstr>Office 主题​​</vt:lpstr>
      <vt:lpstr>1_Office 主题​​</vt:lpstr>
      <vt:lpstr>Paint.Picture</vt:lpstr>
      <vt:lpstr>人工智能入门实践 </vt:lpstr>
      <vt:lpstr>第二章 数据处理用</vt:lpstr>
      <vt:lpstr>2.1 概述</vt:lpstr>
      <vt:lpstr>2.1 概述</vt:lpstr>
      <vt:lpstr>2.2 基于Python的常见数据处理</vt:lpstr>
      <vt:lpstr>2.2 基于Python的常见数据处理</vt:lpstr>
      <vt:lpstr>2.2 基于Python的常见数据处理</vt:lpstr>
      <vt:lpstr>2.2 基于Python的常见数据处理</vt:lpstr>
      <vt:lpstr>2.2 基于Python的常见数据处理</vt:lpstr>
      <vt:lpstr>2.2 基于Python的常见数据处理</vt:lpstr>
      <vt:lpstr>2.2 基于Python的常见数据处理</vt:lpstr>
      <vt:lpstr>2.2 基于Python的常见数据处理</vt:lpstr>
      <vt:lpstr>2.2 基于Python的常见数据处理</vt:lpstr>
      <vt:lpstr>2.2 基于Python的常见数据处理</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2.3 NumPy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2.4 Pandas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2.5 Matplotlib 基础</vt:lpstr>
      <vt:lpstr>习题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人工智能入门实践 </dc:title>
  <dc:creator>DBY-W09</dc:creator>
  <cp:lastModifiedBy>肖波_flycity</cp:lastModifiedBy>
  <cp:revision>535</cp:revision>
  <dcterms:created xsi:type="dcterms:W3CDTF">2019-06-18T10:08:00Z</dcterms:created>
  <dcterms:modified xsi:type="dcterms:W3CDTF">2023-09-04T08:50:20Z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519490E61755474BADA5B2563F55450F</vt:lpwstr>
  </property>
</Properties>
</file>