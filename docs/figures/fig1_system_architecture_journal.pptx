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000" cy="36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4000" y="144000"/>
            <a:ext cx="5472000" cy="33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468000" cy="576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交互层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44000"/>
            <a:ext cx="5004000" cy="576000"/>
          </a:xfrm>
          <a:prstGeom prst="rect">
            <a:avLst/>
          </a:prstGeom>
          <a:solidFill>
            <a:srgbClr val="F4F7FA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4000" y="720000"/>
            <a:ext cx="468000" cy="900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调度层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" y="720000"/>
            <a:ext cx="5004000" cy="900000"/>
          </a:xfrm>
          <a:prstGeom prst="rect">
            <a:avLst/>
          </a:prstGeom>
          <a:solidFill>
            <a:srgbClr val="F4F7FA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4000" y="1620000"/>
            <a:ext cx="468000" cy="1368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子系统层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000" y="1620000"/>
            <a:ext cx="5004000" cy="1368000"/>
          </a:xfrm>
          <a:prstGeom prst="rect">
            <a:avLst/>
          </a:prstGeom>
          <a:solidFill>
            <a:srgbClr val="F4F7FA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000" y="2988000"/>
            <a:ext cx="468000" cy="540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数据层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" y="2988000"/>
            <a:ext cx="5004000" cy="540000"/>
          </a:xfrm>
          <a:prstGeom prst="rect">
            <a:avLst/>
          </a:prstGeom>
          <a:solidFill>
            <a:srgbClr val="F4F7FA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2000" y="252000"/>
            <a:ext cx="2232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教师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252000"/>
            <a:ext cx="2232000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学生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828000"/>
            <a:ext cx="46800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842400"/>
            <a:ext cx="4680000" cy="22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统一调度内核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10368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工具调用 · 推理—行动循环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000" y="1231200"/>
            <a:ext cx="1062000" cy="2592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  <a:latin typeface="Times New Roman"/>
                <a:ea typeface="宋体"/>
              </a:rPr>
              <a:t>问答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6000" y="1231200"/>
            <a:ext cx="1062000" cy="2592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  <a:latin typeface="Times New Roman"/>
                <a:ea typeface="宋体"/>
              </a:rPr>
              <a:t>解题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0000" y="1231200"/>
            <a:ext cx="1062000" cy="2592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  <a:latin typeface="Times New Roman"/>
                <a:ea typeface="宋体"/>
              </a:rPr>
              <a:t>出题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4000" y="1231200"/>
            <a:ext cx="1062000" cy="2592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  <a:latin typeface="Times New Roman"/>
                <a:ea typeface="宋体"/>
              </a:rPr>
              <a:t>研究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1710000"/>
            <a:ext cx="1512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000" y="1710000"/>
            <a:ext cx="1512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① 索引子系统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19404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标题层级结构化切分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21798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拼接上下文摘要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24192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知识图谱后端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26586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向量索引后端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6000" y="1710000"/>
            <a:ext cx="1512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6000" y="1710000"/>
            <a:ext cx="1512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② 上下文治理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6000" y="19404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提示词按稳定性分层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6000" y="21798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有效上下文窗口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6000" y="24192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轮前预算规划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6000" y="26586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轮内优先级驱逐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60000" y="1710000"/>
            <a:ext cx="151200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60000" y="1710000"/>
            <a:ext cx="1512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③ 记忆子系统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60000" y="19404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短期记忆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0000" y="21798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中期记忆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60000" y="24192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长期记忆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60000" y="2658600"/>
            <a:ext cx="1512000" cy="239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按学生个性化读写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000" y="3096000"/>
            <a:ext cx="4680000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A1A1A"/>
                </a:solidFill>
                <a:latin typeface="Times New Roman"/>
                <a:ea typeface="宋体"/>
              </a:rPr>
              <a:t>PostgreSQL　Redis　外部模型接口（本地无 GPU）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908000" y="612000"/>
            <a:ext cx="0" cy="216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356000" y="612000"/>
            <a:ext cx="0" cy="216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48000" y="1548000"/>
            <a:ext cx="3168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548000" y="1548000"/>
            <a:ext cx="0" cy="162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132000" y="1548000"/>
            <a:ext cx="0" cy="162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16000" y="1548000"/>
            <a:ext cx="0" cy="162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