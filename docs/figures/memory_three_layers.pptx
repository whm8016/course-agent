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760000" cy="38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60000" y="162000"/>
            <a:ext cx="1440000" cy="360000"/>
          </a:xfrm>
          <a:prstGeom prst="rect">
            <a:avLst/>
          </a:prstGeom>
          <a:solidFill>
            <a:srgbClr val="E8EEF4"/>
          </a:solidFill>
          <a:ln w="6350">
            <a:solidFill>
              <a:srgbClr val="2F4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1A1A1A"/>
                </a:solidFill>
                <a:latin typeface="Times New Roman"/>
                <a:ea typeface="黑体"/>
              </a:rPr>
              <a:t>每轮对话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694800"/>
            <a:ext cx="230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1A1A1A"/>
                </a:solidFill>
                <a:latin typeface="Times New Roman"/>
                <a:ea typeface="黑体"/>
              </a:rPr>
              <a:t>会话内：直接拼入提示词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96000" y="694800"/>
            <a:ext cx="230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1A1A1A"/>
                </a:solidFill>
                <a:latin typeface="Times New Roman"/>
                <a:ea typeface="黑体"/>
              </a:rPr>
              <a:t>跨会话：先落库，再检索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82000"/>
            <a:ext cx="2304000" cy="590400"/>
          </a:xfrm>
          <a:prstGeom prst="rect">
            <a:avLst/>
          </a:prstGeom>
          <a:solidFill>
            <a:srgbClr val="FFFFFF"/>
          </a:solidFill>
          <a:ln w="6350">
            <a:solidFill>
              <a:srgbClr val="2F4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0000" y="882000"/>
            <a:ext cx="2304000" cy="230400"/>
          </a:xfrm>
          <a:prstGeom prst="rect">
            <a:avLst/>
          </a:prstGeom>
          <a:solidFill>
            <a:srgbClr val="2F4A6D"/>
          </a:solidFill>
          <a:ln w="6350">
            <a:solidFill>
              <a:srgbClr val="2F4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Times New Roman"/>
                <a:ea typeface="黑体"/>
              </a:rPr>
              <a:t>L1 短期记忆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1112400"/>
            <a:ext cx="2304000" cy="35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A1A1A"/>
                </a:solidFill>
                <a:latin typeface="Times New Roman"/>
                <a:ea typeface="宋体"/>
              </a:rPr>
              <a:t>最近原文，按 token 预算滑动</a:t>
            </a:r>
          </a:p>
        </p:txBody>
      </p:sp>
      <p:sp>
        <p:nvSpPr>
          <p:cNvPr id="8" name="Rectangle 7"/>
          <p:cNvSpPr/>
          <p:nvPr/>
        </p:nvSpPr>
        <p:spPr>
          <a:xfrm>
            <a:off x="3096000" y="882000"/>
            <a:ext cx="2304000" cy="590400"/>
          </a:xfrm>
          <a:prstGeom prst="rect">
            <a:avLst/>
          </a:prstGeom>
          <a:solidFill>
            <a:srgbClr val="FFFFFF"/>
          </a:solidFill>
          <a:ln w="6350">
            <a:solidFill>
              <a:srgbClr val="2F4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96000" y="936000"/>
            <a:ext cx="2304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Times New Roman"/>
                <a:ea typeface="黑体"/>
              </a:rPr>
              <a:t>缓冲队列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6000" y="1188000"/>
            <a:ext cx="2304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A1A1A"/>
                </a:solidFill>
                <a:latin typeface="Times New Roman"/>
                <a:ea typeface="宋体"/>
              </a:rPr>
              <a:t>攒够轮数或静默超时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0000" y="1818000"/>
            <a:ext cx="2304000" cy="590400"/>
          </a:xfrm>
          <a:prstGeom prst="rect">
            <a:avLst/>
          </a:prstGeom>
          <a:solidFill>
            <a:srgbClr val="FFFFFF"/>
          </a:solidFill>
          <a:ln w="6350">
            <a:solidFill>
              <a:srgbClr val="2F4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0000" y="1818000"/>
            <a:ext cx="2304000" cy="230400"/>
          </a:xfrm>
          <a:prstGeom prst="rect">
            <a:avLst/>
          </a:prstGeom>
          <a:solidFill>
            <a:srgbClr val="2F4A6D"/>
          </a:solidFill>
          <a:ln w="6350">
            <a:solidFill>
              <a:srgbClr val="2F4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Times New Roman"/>
                <a:ea typeface="黑体"/>
              </a:rPr>
              <a:t>L2 会话摘要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000" y="2048400"/>
            <a:ext cx="2304000" cy="35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A1A1A"/>
                </a:solidFill>
                <a:latin typeface="Times New Roman"/>
                <a:ea typeface="宋体"/>
              </a:rPr>
              <a:t>滑出窗口的历史，增量结构化压缩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96000" y="1818000"/>
            <a:ext cx="2304000" cy="590400"/>
          </a:xfrm>
          <a:prstGeom prst="rect">
            <a:avLst/>
          </a:prstGeom>
          <a:solidFill>
            <a:srgbClr val="FFFFFF"/>
          </a:solidFill>
          <a:ln w="6350">
            <a:solidFill>
              <a:srgbClr val="2F4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1A1A1A"/>
                </a:solidFill>
                <a:latin typeface="Times New Roman"/>
                <a:ea typeface="黑体"/>
              </a:rPr>
              <a:t>后台批量抽取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96000" y="2754000"/>
            <a:ext cx="2304000" cy="590400"/>
          </a:xfrm>
          <a:prstGeom prst="rect">
            <a:avLst/>
          </a:prstGeom>
          <a:solidFill>
            <a:srgbClr val="FFFFFF"/>
          </a:solidFill>
          <a:ln w="6350">
            <a:solidFill>
              <a:srgbClr val="2F4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096000" y="2754000"/>
            <a:ext cx="2304000" cy="230400"/>
          </a:xfrm>
          <a:prstGeom prst="rect">
            <a:avLst/>
          </a:prstGeom>
          <a:solidFill>
            <a:srgbClr val="2F4A6D"/>
          </a:solidFill>
          <a:ln w="6350">
            <a:solidFill>
              <a:srgbClr val="2F4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Times New Roman"/>
                <a:ea typeface="黑体"/>
              </a:rPr>
              <a:t>L3 长期记忆库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6000" y="2984400"/>
            <a:ext cx="2304000" cy="35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A1A1A"/>
                </a:solidFill>
                <a:latin typeface="Times New Roman"/>
                <a:ea typeface="宋体"/>
              </a:rPr>
              <a:t>跨会话事实，按用户与课程隔离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0000" y="3456000"/>
            <a:ext cx="5040000" cy="306000"/>
          </a:xfrm>
          <a:prstGeom prst="rect">
            <a:avLst/>
          </a:prstGeom>
          <a:solidFill>
            <a:srgbClr val="E8EEF4"/>
          </a:solidFill>
          <a:ln w="6350">
            <a:solidFill>
              <a:srgbClr val="2F4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1A1A1A"/>
                </a:solidFill>
                <a:latin typeface="Times New Roman"/>
                <a:ea typeface="黑体"/>
              </a:rPr>
              <a:t>本轮提示词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880000" y="522000"/>
            <a:ext cx="0" cy="108000"/>
          </a:xfrm>
          <a:prstGeom prst="line">
            <a:avLst/>
          </a:prstGeom>
          <a:ln w="6350">
            <a:solidFill>
              <a:srgbClr val="2F4A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512000" y="630000"/>
            <a:ext cx="2736000" cy="0"/>
          </a:xfrm>
          <a:prstGeom prst="line">
            <a:avLst/>
          </a:prstGeom>
          <a:ln w="6350">
            <a:solidFill>
              <a:srgbClr val="2F4A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512000" y="630000"/>
            <a:ext cx="0" cy="252000"/>
          </a:xfrm>
          <a:prstGeom prst="line">
            <a:avLst/>
          </a:prstGeom>
          <a:ln w="6350">
            <a:solidFill>
              <a:srgbClr val="2F4A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248000" y="630000"/>
            <a:ext cx="0" cy="252000"/>
          </a:xfrm>
          <a:prstGeom prst="line">
            <a:avLst/>
          </a:prstGeom>
          <a:ln w="6350">
            <a:solidFill>
              <a:srgbClr val="2F4A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512000" y="1472400"/>
            <a:ext cx="0" cy="345600"/>
          </a:xfrm>
          <a:prstGeom prst="line">
            <a:avLst/>
          </a:prstGeom>
          <a:ln w="6350">
            <a:solidFill>
              <a:srgbClr val="2F4A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248000" y="1472400"/>
            <a:ext cx="0" cy="345600"/>
          </a:xfrm>
          <a:prstGeom prst="line">
            <a:avLst/>
          </a:prstGeom>
          <a:ln w="6350">
            <a:solidFill>
              <a:srgbClr val="2F4A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248000" y="2408400"/>
            <a:ext cx="0" cy="345600"/>
          </a:xfrm>
          <a:prstGeom prst="line">
            <a:avLst/>
          </a:prstGeom>
          <a:ln w="6350">
            <a:solidFill>
              <a:srgbClr val="2F4A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512000" y="2408400"/>
            <a:ext cx="0" cy="1047600"/>
          </a:xfrm>
          <a:prstGeom prst="line">
            <a:avLst/>
          </a:prstGeom>
          <a:ln w="6350">
            <a:solidFill>
              <a:srgbClr val="2F4A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248000" y="3344400"/>
            <a:ext cx="0" cy="111600"/>
          </a:xfrm>
          <a:prstGeom prst="line">
            <a:avLst/>
          </a:prstGeom>
          <a:ln w="6350">
            <a:solidFill>
              <a:srgbClr val="2F4A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216000" y="1177200"/>
            <a:ext cx="144000" cy="0"/>
          </a:xfrm>
          <a:prstGeom prst="line">
            <a:avLst/>
          </a:prstGeom>
          <a:ln w="6350">
            <a:solidFill>
              <a:srgbClr val="2F4A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16000" y="1177200"/>
            <a:ext cx="0" cy="2431800"/>
          </a:xfrm>
          <a:prstGeom prst="line">
            <a:avLst/>
          </a:prstGeom>
          <a:ln w="6350">
            <a:solidFill>
              <a:srgbClr val="2F4A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16000" y="3609000"/>
            <a:ext cx="144000" cy="0"/>
          </a:xfrm>
          <a:prstGeom prst="line">
            <a:avLst/>
          </a:prstGeom>
          <a:ln w="6350">
            <a:solidFill>
              <a:srgbClr val="2F4A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584000" y="1566000"/>
            <a:ext cx="100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1A1A1A"/>
                </a:solidFill>
                <a:latin typeface="Times New Roman"/>
                <a:ea typeface="宋体"/>
              </a:rPr>
              <a:t>超出窗口的历史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20000" y="2502000"/>
            <a:ext cx="79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1A1A1A"/>
                </a:solidFill>
                <a:latin typeface="Times New Roman"/>
                <a:ea typeface="宋体"/>
              </a:rPr>
              <a:t>写入记忆库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84000" y="2853000"/>
            <a:ext cx="64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1A1A1A"/>
                </a:solidFill>
                <a:latin typeface="Times New Roman"/>
                <a:ea typeface="宋体"/>
              </a:rPr>
              <a:t>直接拼入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8000" y="3434400"/>
            <a:ext cx="25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1A1A1A"/>
                </a:solidFill>
                <a:latin typeface="Times New Roman"/>
                <a:ea typeface="宋体"/>
              </a:rPr>
              <a:t>从记忆库检索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8000" y="3567600"/>
            <a:ext cx="25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1A1A1A"/>
                </a:solidFill>
                <a:latin typeface="Times New Roman"/>
                <a:ea typeface="宋体"/>
              </a:rPr>
              <a:t>语义 + 时间衰减 + 矛盾抑制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